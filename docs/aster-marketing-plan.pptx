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E0"/>
              </a:solidFill>
              <a:effectLst/>
            </c:spPr>
          </c:dPt>
          <c:dPt>
            <c:idx val="1"/>
            <c:bubble3D val="0"/>
            <c:spPr>
              <a:solidFill>
                <a:srgbClr val="3550EE"/>
              </a:solidFill>
              <a:effectLst/>
            </c:spPr>
          </c:dPt>
          <c:dPt>
            <c:idx val="2"/>
            <c:bubble3D val="0"/>
            <c:spPr>
              <a:solidFill>
                <a:srgbClr val="5570F5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bubble3D val="0"/>
            <c:spPr>
              <a:solidFill>
                <a:srgbClr val="9FB0F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Content &amp; SEO</c:v>
                </c:pt>
                <c:pt idx="1">
                  <c:v>Paid experiments</c:v>
                </c:pt>
                <c:pt idx="2">
                  <c:v>Partnerships &amp; community</c:v>
                </c:pt>
                <c:pt idx="3">
                  <c:v>Tools &amp; software</c:v>
                </c:pt>
                <c:pt idx="4">
                  <c:v>PR, referral &amp; buffer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5570F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3291840"/>
            <a:ext cx="6217920" cy="6217920"/>
          </a:xfrm>
          <a:prstGeom prst="ellipse">
            <a:avLst/>
          </a:prstGeom>
          <a:solidFill>
            <a:srgbClr val="0B2AE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6928"/>
            <a:ext cx="2057400" cy="497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go-to-market plan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" y="3017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first paying customers in Malaysia.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launch-focused plan to take Aster from built to booked: organic-first, founder-led, and product-led, aimed at the first cohort of paying accounts.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983480"/>
            <a:ext cx="169712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83480"/>
            <a:ext cx="16971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first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21254" y="4983480"/>
            <a:ext cx="264810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21254" y="4983480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budget (&lt; RM10k/mo)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570525" y="4983480"/>
            <a:ext cx="2553005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0525" y="4983480"/>
            <a:ext cx="2553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first customers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this year: prove people will pay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plan serves a single goal, get the first cohort of paying accounts in Malaysia, cheaply enough to learn what works before we spend to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0B2AE0"/>
          </a:solidFill>
          <a:ln w="12700">
            <a:solidFill>
              <a:srgbClr val="0B2A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603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paying accounts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path from signup to paid, proven with real customers.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5603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12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944368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paying accounts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4069080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RM60k MRR (≈ RM720k ARR): the base the Series A scales from.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5603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2944368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RM10k / month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4069080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Organic-first spend. Win on focus and founder effort, not ad budget.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plan goals to steer and measure against, not commitments.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product, a tight market, and no budget to waste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read on our starting position. Two of these are advantages if we use them, and the constraint forces the right discipline.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79192" cy="32918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96312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live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is built and in market. We are selling something real, not a waitlist or a promise.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46704" y="2240280"/>
            <a:ext cx="2679192" cy="32918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496312"/>
            <a:ext cx="512064" cy="512064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5304" y="3154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is winnable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75304" y="36118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tight, connected startup and HR community where word of mouth travels fast and CAC stays low.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4768" y="2240280"/>
            <a:ext cx="2679192" cy="32918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73368" y="2496312"/>
            <a:ext cx="512064" cy="512064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3368" y="3154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feel the pain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368" y="36118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and agencies here drown in applicants with legacy tools. The problem is urgent and unsolved.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42832" y="2240280"/>
            <a:ext cx="2679192" cy="32918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71432" y="2496312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71432" y="3154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traction yet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71432" y="36118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Pre-launch: no logos or reviews to point to. Early proof and case studies are the first thing to build.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plan: turn "live product + winnable market" into first customers, and manufacture the proof we're missing.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message, repeated everywhere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says the same thing in the same voice: plain-spoken, outcome-first, no hype. Consistency is how a small brand gets remembered.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A1FC2"/>
          </a:solidFill>
          <a:ln w="12700">
            <a:solidFill>
              <a:srgbClr val="0A1FC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"Hire the right person, without reading every CV."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shortlist, not a pile.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2679192" cy="1920240"/>
          </a:xfrm>
          <a:prstGeom prst="roundRect">
            <a:avLst>
              <a:gd name="adj" fmla="val 4762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831336"/>
            <a:ext cx="457200" cy="457200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44165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CV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skills and a summary in seconds.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04" y="3611880"/>
            <a:ext cx="2679192" cy="1920240"/>
          </a:xfrm>
          <a:prstGeom prst="roundRect">
            <a:avLst>
              <a:gd name="adj" fmla="val 4762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7872" y="3831336"/>
            <a:ext cx="457200" cy="457200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44165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against the role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score with reasons, best fits on top.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3611880"/>
            <a:ext cx="2679192" cy="1920240"/>
          </a:xfrm>
          <a:prstGeom prst="roundRect">
            <a:avLst>
              <a:gd name="adj" fmla="val 4762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3831336"/>
            <a:ext cx="457200" cy="457200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44165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interviews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self-book; links created automatically.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42832" y="3611880"/>
            <a:ext cx="2679192" cy="1920240"/>
          </a:xfrm>
          <a:prstGeom prst="roundRect">
            <a:avLst>
              <a:gd name="adj" fmla="val 4762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3831336"/>
            <a:ext cx="457200" cy="457200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0" y="44165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pipeline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0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on one board, nothing lost.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plain-spoken, confident not hype-y, benefit before mechanism. No em dashes. Sentence case. One primary CTA.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 in Malaysia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segments feel the CV-pile pain here. We rank them by how fast they adopt, how acute the pain is, and how easily we can reach them on a lean budget.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2313432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buy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startups &amp; scaleups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constantly, digital-native, feel the pain, adopt SaaS in a day.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LinkedIn, communities, accelerators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Beachhead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Recruitment agencies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 across clients; reuse candidates as a talent CRM.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outreach, referrals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Beachhead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hirers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Retail, F&amp;B, BPO, logistics: floods of applicants per role.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sales, partnerships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Expand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SMEs hiring first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proper hires; want a credible career site fast.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SEO, content, job boards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Expand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 HR teams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SSO, audit, white-label; longer cycle, biggest budgets.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Founder-led sales,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reflects launch focus, not long-term value. Enterprise matters most later; startups and agencies get us paying customers now.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narrow beachhead 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launch can't chase everyone. We concentrate all effort on two segments we can reach for free and convert fast, then expand from a base of happy customers.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78608"/>
            <a:ext cx="621792" cy="621792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69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615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startups &amp; scaleups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3832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KL, Cyberjaya, Penang. They hire monthly, live on LinkedIn, and switch tools without a committee. One happy founder tells ten others.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912" y="22860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578608"/>
            <a:ext cx="621792" cy="621792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69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51192" y="2615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3832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screen the highest volume and reuse candidates across searches, exactly what Aster is built for. High usage means fast expansion revenue.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A1FC2"/>
          </a:solidFill>
          <a:ln w="12700">
            <a:solidFill>
              <a:srgbClr val="0A1FC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narrow wins:  </a:t>
            </a:r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segment, one message, one set of channels. We become the obvious choice for a small group instead of a forgettable option for everyone. Expansion comes after proof.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Product-led, with founder-led sales on top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try it themselves, help the ones who show intent, and grow revenue inside every account as they hire more.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919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87752"/>
            <a:ext cx="512064" cy="512064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founder posts, SEO and outreach bring the right people to the site.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9544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46704" y="2331720"/>
            <a:ext cx="267919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587752"/>
            <a:ext cx="512064" cy="512064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75304" y="32461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75304" y="370332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self-serve trial: post a job, run the first AI screen, feel the value fast.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07608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44768" y="2331720"/>
            <a:ext cx="267919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73368" y="2587752"/>
            <a:ext cx="512064" cy="512064"/>
          </a:xfrm>
          <a:prstGeom prst="ellipse">
            <a:avLst/>
          </a:prstGeom>
          <a:solidFill>
            <a:srgbClr val="0B2AE0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3368" y="32461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3368" y="370332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nudge at intent: a call for agencies and teams, self-serve for the rest.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05672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42832" y="2331720"/>
            <a:ext cx="2679192" cy="2651760"/>
          </a:xfrm>
          <a:prstGeom prst="roundRect">
            <a:avLst>
              <a:gd name="adj" fmla="val 3448"/>
            </a:avLst>
          </a:prstGeom>
          <a:solidFill>
            <a:srgbClr val="DCFCE7"/>
          </a:solidFill>
          <a:ln w="12700">
            <a:solidFill>
              <a:srgbClr val="BBE6C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71432" y="2587752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171432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71432" y="32461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71432" y="370332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credits and higher tiers grow revenue as each account hires more.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to start, revenue that compounds.  </a:t>
            </a:r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lands on one board free; every extra hire consumes credits, so accounts grow themselves.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ranked for a lean budget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and founder effort first, because they compound and cost little. Paid stays small and experimental until we know what converts.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212080"/>
                <a:gridCol w="1399032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Founder-led LinkedIn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posts on hiring pain and Aster's take; DMs to target accounts.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on screening and hiring in Malaysia; free tools as lead magnets.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Product-led trial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free trial that shows value in one job post.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boards, accelerators, coworking, HR communities and consultants.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Referrals &amp; word of mouth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rewards for referrals; make happy customers visible.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paid experiments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LinkedIn / Google tests on high-intent keywords, capped.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channel scales with paid spend until it works organically first.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ranks, and gives before it 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compounding channel we own. Free, useful content that pulls in buyers searching for hiring help, plus free tools that turn readers into signups.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420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that rank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127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screen resumes faster"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"Hiring guide for Malaysian SMEs"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 a job description"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in recruitment, explained"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hiring benchmarks (MY)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5420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(lead magnets)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108960"/>
            <a:ext cx="3127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job-description generator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resume-screening trial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Hiring-cost calculator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Career-site template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54203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&amp; reuse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3108960"/>
            <a:ext cx="3127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pillar article / week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into 3–5 LinkedIn posts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email to the list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posts on MY tech media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wins into case studies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free tool is Aster in miniature: it delivers value, then invites a signup. SEO takes 3–6 months to pay off, so we start day one.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Founder-led, community and partnerships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reach a startup has is the founder's own voice and network, plus partners who already have the audience we want.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23744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999232"/>
            <a:ext cx="308152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312724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daily on LinkedIn: hiring pain, hot takes, product wins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DMs to target startups and agencies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and add value in HR and founder threads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public: share the journey and the numbers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523744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572000" y="2999232"/>
            <a:ext cx="308152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154680"/>
            <a:ext cx="312724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KL / Penang startup and HR meetups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MDEC, accelerators, coworking hubs (WORQ, Common Ground)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career offices for high-volume graduate hiring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founders + recruiters WhatsApp / Slack circle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63016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523744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321040" y="2999232"/>
            <a:ext cx="308152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154680"/>
            <a:ext cx="312724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boards: Hiredly, Maukerja, Jobstore integrations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 and VCs offering Aster to portfolios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consultants and PEOs as referral partners</a:t>
            </a:r>
            <a:endParaRPr lang="en-US" sz="12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with adjacent SaaS (payroll, HRIS)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are the highest-leverage lean channel: one integration or referral deal can outproduce months of ads.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90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sprint: line up proof, launch loud in a small pond, then double down on whatever converts.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0B2AE0"/>
          </a:solidFill>
          <a:ln w="12700">
            <a:solidFill>
              <a:srgbClr val="0B2A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237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5–10 beta users for case studies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landing page + free trial flow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analytics, CRM, email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first content, open the waitlist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5237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8163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launch: LinkedIn, PR to MY tech media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outreach to 100 target accounts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2–3 case studies live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referral rewards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F7F8FC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5237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8163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channel that converts best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small paid experiments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partnership / integration live</a:t>
            </a:r>
            <a:endParaRPr lang="en-US" sz="1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funnel, cut what doesn't 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by day 90: a repeatable signup-to-paid path and the first 40 paying accounts.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launch to a repeatable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quarters of compounding after launch: prove the motion, then pour fuel only on what already works.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724912" cy="32004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5877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081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3566160"/>
            <a:ext cx="221284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70332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segments, first 40 paying accounts, case studies, channels tested.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5284" y="2331720"/>
            <a:ext cx="2724912" cy="32004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1316" y="25877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71316" y="3081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71316" y="3566160"/>
            <a:ext cx="221284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1316" y="370332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winning channels, referral loop humming, expand to SMEs, first partnerships scaling.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2331720"/>
            <a:ext cx="2724912" cy="32004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5877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081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3566160"/>
            <a:ext cx="2212848" cy="0"/>
          </a:xfrm>
          <a:prstGeom prst="line">
            <a:avLst/>
          </a:prstGeom>
          <a:noFill/>
          <a:ln w="12700">
            <a:solidFill>
              <a:srgbClr val="DE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70332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acquisition, controlled paid on proven keywords, expansion revenue from credits growing.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8572" y="2331720"/>
            <a:ext cx="2724912" cy="3200400"/>
          </a:xfrm>
          <a:prstGeom prst="roundRect">
            <a:avLst>
              <a:gd name="adj" fmla="val 3356"/>
            </a:avLst>
          </a:prstGeom>
          <a:solidFill>
            <a:srgbClr val="0B2AE0"/>
          </a:solidFill>
          <a:ln w="12700">
            <a:solidFill>
              <a:srgbClr val="0B2AE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04604" y="25877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04604" y="3081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engine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4604" y="3566160"/>
            <a:ext cx="2212848" cy="0"/>
          </a:xfrm>
          <a:prstGeom prst="line">
            <a:avLst/>
          </a:prstGeom>
          <a:noFill/>
          <a:ln w="12700">
            <a:solidFill>
              <a:srgbClr val="355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4604" y="370332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≈200 paying accounts, ≈RM60k MRR, clear CAC and payback: the case for the Series A raise.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 earns the next. We don't scale spend until the motion is proven and cheap.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&lt; RM10k a month goes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 channels that compound. Most of the budget buys reach we keep, not clicks we rent.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210312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0B2AE0"/>
          </a:solidFill>
          <a:ln/>
        </p:spPr>
      </p:sp>
      <p:sp>
        <p:nvSpPr>
          <p:cNvPr id="7" name="Text 4"/>
          <p:cNvSpPr/>
          <p:nvPr/>
        </p:nvSpPr>
        <p:spPr>
          <a:xfrm>
            <a:off x="6336792" y="2048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372600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RM3,000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36792" y="237744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Writer/design help, tools, the compounding core.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8895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550EE"/>
          </a:solidFill>
          <a:ln/>
        </p:spPr>
      </p:sp>
      <p:sp>
        <p:nvSpPr>
          <p:cNvPr id="11" name="Text 8"/>
          <p:cNvSpPr/>
          <p:nvPr/>
        </p:nvSpPr>
        <p:spPr>
          <a:xfrm>
            <a:off x="6336792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experiments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7260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55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RM2,500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36792" y="3163824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capped LinkedIn/Google tests on intent.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367588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570F5"/>
          </a:solidFill>
          <a:ln/>
        </p:spPr>
      </p:sp>
      <p:sp>
        <p:nvSpPr>
          <p:cNvPr id="15" name="Text 12"/>
          <p:cNvSpPr/>
          <p:nvPr/>
        </p:nvSpPr>
        <p:spPr>
          <a:xfrm>
            <a:off x="6336792" y="3621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community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372600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57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RM1,500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36792" y="395020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meetups, co-marketing, integrations.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89320" y="44622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6336792" y="4407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software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372600" y="4407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RM1,500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36792" y="4736592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analytics, CRM, scheduling, design.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52486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9FB0F0"/>
          </a:solidFill>
          <a:ln/>
        </p:spPr>
      </p:sp>
      <p:sp>
        <p:nvSpPr>
          <p:cNvPr id="23" name="Text 20"/>
          <p:cNvSpPr/>
          <p:nvPr/>
        </p:nvSpPr>
        <p:spPr>
          <a:xfrm>
            <a:off x="6336792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referral &amp; buffer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372600" y="5193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RM1,500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336792" y="5522976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outreach, referral rewards, flex.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9320" y="5971032"/>
            <a:ext cx="5650992" cy="457200"/>
          </a:xfrm>
          <a:prstGeom prst="roundRect">
            <a:avLst>
              <a:gd name="adj" fmla="val 20000"/>
            </a:avLst>
          </a:prstGeom>
          <a:solidFill>
            <a:srgbClr val="F7F8FC"/>
          </a:solidFill>
          <a:ln w="12700">
            <a:solidFill>
              <a:srgbClr val="DE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72200" y="5971032"/>
            <a:ext cx="537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pPr algn="l" indent="0" marL="0">
              <a:buNone/>
            </a:pPr>
            <a:r>
              <a:rPr lang="en-US" sz="1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RM10,000 / month</a:t>
            </a:r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reallocated toward whatever converts.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we steer by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funnel, watched weekly. If a stage stalls, that's where the week's work goes. Steady-state targets by month 3.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0A1FC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3,000   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visitors / mo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11810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0B2AE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18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  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 / mo (~3%)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390448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3550EE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39044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  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/ mo (first job or screen)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4690872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46908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  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paying / 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launch funnel; refined against real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2450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→ paid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2724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10528" y="327355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self-serve conversion, with founder assist on high-value accounts.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34272" y="2286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450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2724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~RM650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35440" y="327355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by organic-first acquisition.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05079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4215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0528" y="44897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months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10528" y="5038344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contribution margin. Capital-efficient growth.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34272" y="405079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EEFE"/>
          </a:solidFill>
          <a:ln w="12700">
            <a:solidFill>
              <a:srgbClr val="D7DEF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35440" y="4215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goal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44897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paid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235440" y="5038344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RM12k MRR from the first cohort.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217920" cy="6217920"/>
          </a:xfrm>
          <a:prstGeom prst="ellipse">
            <a:avLst/>
          </a:prstGeom>
          <a:solidFill>
            <a:srgbClr val="0B2AE0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669280" cy="5669280"/>
          </a:xfrm>
          <a:prstGeom prst="ellipse">
            <a:avLst/>
          </a:prstGeom>
          <a:solidFill>
            <a:srgbClr val="5570F5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few things well, starting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0E23C9"/>
          </a:solidFill>
          <a:ln w="12700">
            <a:solidFill>
              <a:srgbClr val="355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two segments in Malaysia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with content + founder voice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happy customers visible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funnel weekly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8288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0E23C9"/>
          </a:solidFill>
          <a:ln w="12700">
            <a:solidFill>
              <a:srgbClr val="3550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(yet)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395728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enterprise or overseas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big on ads before proof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 over selling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every channel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272491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937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landing page + free trial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15284" y="4754880"/>
            <a:ext cx="272491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8164" y="4937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98164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98164" y="54406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5–10 beta users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1928" y="4754880"/>
            <a:ext cx="272491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4937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54406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daily founder posts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8572" y="4754880"/>
            <a:ext cx="272491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1452" y="4937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331452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31452" y="54406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first 4 articles + a free tool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 ·  Marketing &amp; go-to-market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2026-08-12T03:51:15Z</dcterms:created>
  <dcterms:modified xsi:type="dcterms:W3CDTF">2026-08-12T03:51:15Z</dcterms:modified>
</cp:coreProperties>
</file>