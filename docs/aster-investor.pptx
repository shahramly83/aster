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 margin %</c:v>
                </c:pt>
              </c:strCache>
            </c:strRef>
          </c:tx>
          <c:spPr>
            <a:solidFill>
              <a:srgbClr val="5570F5"/>
            </a:solidFill>
            <a:effectLst/>
          </c:spPr>
          <c:invertIfNegative val="0"/>
          <c:dLbls>
            <c:numFmt formatCode="0&quot;%&quot;" sourceLinked="0"/>
            <c:txPr>
              <a:bodyPr/>
              <a:lstStyle/>
              <a:p>
                <a:pPr>
                  <a:defRPr b="1" i="0" strike="noStrike" sz="1400" u="none">
                    <a:solidFill>
                      <a:srgbClr val="12132A"/>
                    </a:solidFill>
                    <a:latin typeface="Calibri"/>
                  </a:defRPr>
                </a:pPr>
              </a:p>
            </c:txPr>
            <c:showLegendKey val="0"/>
            <c:showVal val="1"/>
            <c:showCatName val="0"/>
            <c:showSerName val="0"/>
            <c:showPercent val="0"/>
            <c:showBubbleSize val="0"/>
            <c:showLeaderLines val="0"/>
          </c:dLbls>
          <c:dPt>
            <c:idx val="0"/>
            <c:invertIfNegative val="0"/>
            <c:bubble3D val="0"/>
            <c:spPr>
              <a:solidFill>
                <a:srgbClr val="5570F5"/>
              </a:solidFill>
              <a:effectLst/>
            </c:spPr>
          </c:dPt>
          <c:dPt>
            <c:idx val="1"/>
            <c:invertIfNegative val="0"/>
            <c:bubble3D val="0"/>
            <c:spPr>
              <a:solidFill>
                <a:srgbClr val="3550EE"/>
              </a:solidFill>
              <a:effectLst/>
            </c:spPr>
          </c:dPt>
          <c:dPt>
            <c:idx val="2"/>
            <c:invertIfNegative val="0"/>
            <c:bubble3D val="0"/>
            <c:spPr>
              <a:solidFill>
                <a:srgbClr val="0B2AE0"/>
              </a:solidFill>
              <a:effectLst/>
            </c:spPr>
          </c:dPt>
          <c:cat>
            <c:multiLvlStrRef>
              <c:f>Sheet1!$A$2:$A$4</c:f>
              <c:multiLvlStrCache>
                <c:ptCount val="3"/>
                <c:lvl>
                  <c:pt idx="0">
                    <c:v>Plan
subscriptions</c:v>
                  </c:pt>
                  <c:pt idx="1">
                    <c:v>AI credit
top-ups</c:v>
                  </c:pt>
                  <c:pt idx="2">
                    <c:v>Enterprise
(BYO AI)</c:v>
                  </c:pt>
                </c:lvl>
              </c:multiLvlStrCache>
            </c:multiLvlStrRef>
          </c:cat>
          <c:val>
            <c:numRef>
              <c:f>Sheet1!$B$2:$B$4</c:f>
              <c:numCache>
                <c:formatCode>General</c:formatCode>
                <c:ptCount val="3"/>
                <c:pt idx="0">
                  <c:v>68</c:v>
                </c:pt>
                <c:pt idx="1">
                  <c:v>85</c:v>
                </c:pt>
                <c:pt idx="2">
                  <c:v>95</c:v>
                </c:pt>
              </c:numCache>
            </c:numRef>
          </c:val>
        </c:ser>
        <c:dLbls>
          <c:numFmt formatCode="0&quot;%&quot;" sourceLinked="0"/>
          <c:txPr>
            <a:bodyPr/>
            <a:lstStyle/>
            <a:p>
              <a:pPr>
                <a:defRPr b="1" i="0" strike="noStrike" sz="1400" u="none">
                  <a:solidFill>
                    <a:srgbClr val="12132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2132A"/>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 size (US$B)</c:v>
                </c:pt>
              </c:strCache>
            </c:strRef>
          </c:tx>
          <c:spPr>
            <a:solidFill>
              <a:srgbClr val="0B2AE0"/>
            </a:solidFill>
            <a:effectLst/>
          </c:spPr>
          <c:invertIfNegative val="0"/>
          <c:dLbls>
            <c:numFmt formatCode="&quot;$&quot;0.0&quot;B&quot;" sourceLinked="0"/>
            <c:txPr>
              <a:bodyPr/>
              <a:lstStyle/>
              <a:p>
                <a:pPr>
                  <a:defRPr b="1" i="0" strike="noStrike" sz="1100" u="none">
                    <a:solidFill>
                      <a:srgbClr val="1213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2026</c:v>
                  </c:pt>
                  <c:pt idx="1">
                    <c:v>2028</c:v>
                  </c:pt>
                  <c:pt idx="2">
                    <c:v>2030</c:v>
                  </c:pt>
                  <c:pt idx="3">
                    <c:v>2032</c:v>
                  </c:pt>
                  <c:pt idx="4">
                    <c:v>2034</c:v>
                  </c:pt>
                </c:lvl>
              </c:multiLvlStrCache>
            </c:multiLvlStrRef>
          </c:cat>
          <c:val>
            <c:numRef>
              <c:f>Sheet1!$B$2:$B$6</c:f>
              <c:numCache>
                <c:formatCode>General</c:formatCode>
                <c:ptCount val="5"/>
                <c:pt idx="0">
                  <c:v>6.1</c:v>
                </c:pt>
                <c:pt idx="1">
                  <c:v>8</c:v>
                </c:pt>
                <c:pt idx="2">
                  <c:v>10.4</c:v>
                </c:pt>
                <c:pt idx="3">
                  <c:v>13.6</c:v>
                </c:pt>
                <c:pt idx="4">
                  <c:v>17.9</c:v>
                </c:pt>
              </c:numCache>
            </c:numRef>
          </c:val>
        </c:ser>
        <c:dLbls>
          <c:numFmt formatCode="&quot;$&quot;0.0&quot;B&quot;" sourceLinked="0"/>
          <c:txPr>
            <a:bodyPr/>
            <a:lstStyle/>
            <a:p>
              <a:pPr>
                <a:defRPr b="1" i="0" strike="noStrike" sz="1100" u="none">
                  <a:solidFill>
                    <a:srgbClr val="12132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2132A"/>
                </a:solidFill>
                <a:latin typeface="Calibri"/>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2011680" y="-2377440"/>
            <a:ext cx="5943600" cy="5943600"/>
          </a:xfrm>
          <a:prstGeom prst="ellipse">
            <a:avLst/>
          </a:prstGeom>
          <a:solidFill>
            <a:srgbClr val="5570F5">
              <a:alpha val="28000"/>
            </a:srgbClr>
          </a:solidFill>
          <a:ln/>
        </p:spPr>
      </p:sp>
      <p:sp>
        <p:nvSpPr>
          <p:cNvPr id="3" name="Shape 1"/>
          <p:cNvSpPr/>
          <p:nvPr/>
        </p:nvSpPr>
        <p:spPr>
          <a:xfrm>
            <a:off x="8412480" y="3291840"/>
            <a:ext cx="6217920" cy="6217920"/>
          </a:xfrm>
          <a:prstGeom prst="ellipse">
            <a:avLst/>
          </a:prstGeom>
          <a:solidFill>
            <a:srgbClr val="0B2AE0">
              <a:alpha val="40000"/>
            </a:srgbClr>
          </a:solidFill>
          <a:ln/>
        </p:spPr>
      </p:sp>
      <p:pic>
        <p:nvPicPr>
          <p:cNvPr id="4" name="Image 0" descr="preencoded.png">    </p:cNvPr>
          <p:cNvPicPr>
            <a:picLocks noChangeAspect="1"/>
          </p:cNvPicPr>
          <p:nvPr/>
        </p:nvPicPr>
        <p:blipFill>
          <a:blip r:embed="rId1"/>
          <a:stretch>
            <a:fillRect/>
          </a:stretch>
        </p:blipFill>
        <p:spPr>
          <a:xfrm>
            <a:off x="777240" y="548640"/>
            <a:ext cx="2057400" cy="497205"/>
          </a:xfrm>
          <a:prstGeom prst="rect">
            <a:avLst/>
          </a:prstGeom>
        </p:spPr>
      </p:pic>
      <p:sp>
        <p:nvSpPr>
          <p:cNvPr id="5" name="Text 2"/>
          <p:cNvSpPr/>
          <p:nvPr/>
        </p:nvSpPr>
        <p:spPr>
          <a:xfrm>
            <a:off x="777240" y="1965960"/>
            <a:ext cx="10698480" cy="77724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Every company gets 5× the applicants.</a:t>
            </a:r>
            <a:endParaRPr lang="en-US" sz="4000" dirty="0"/>
          </a:p>
        </p:txBody>
      </p:sp>
      <p:sp>
        <p:nvSpPr>
          <p:cNvPr id="6" name="Text 3"/>
          <p:cNvSpPr/>
          <p:nvPr/>
        </p:nvSpPr>
        <p:spPr>
          <a:xfrm>
            <a:off x="777240" y="2743200"/>
            <a:ext cx="10698480" cy="777240"/>
          </a:xfrm>
          <a:prstGeom prst="rect">
            <a:avLst/>
          </a:prstGeom>
          <a:noFill/>
          <a:ln/>
        </p:spPr>
        <p:txBody>
          <a:bodyPr wrap="square" lIns="0" tIns="0" rIns="0" bIns="0" rtlCol="0" anchor="ctr"/>
          <a:lstStyle/>
          <a:p>
            <a:pPr algn="l" indent="0" marL="0">
              <a:buNone/>
            </a:pPr>
            <a:r>
              <a:rPr lang="en-US" sz="4000" b="1" dirty="0">
                <a:solidFill>
                  <a:srgbClr val="CADCFC"/>
                </a:solidFill>
                <a:latin typeface="Calibri" pitchFamily="34" charset="0"/>
                <a:ea typeface="Calibri" pitchFamily="34" charset="-122"/>
                <a:cs typeface="Calibri" pitchFamily="34" charset="-120"/>
              </a:rPr>
              <a:t>Nobody added 5× the recruiters.</a:t>
            </a:r>
            <a:endParaRPr lang="en-US" sz="4000" dirty="0"/>
          </a:p>
        </p:txBody>
      </p:sp>
      <p:sp>
        <p:nvSpPr>
          <p:cNvPr id="7" name="Text 4"/>
          <p:cNvSpPr/>
          <p:nvPr/>
        </p:nvSpPr>
        <p:spPr>
          <a:xfrm>
            <a:off x="822960" y="3886200"/>
            <a:ext cx="9966960" cy="731520"/>
          </a:xfrm>
          <a:prstGeom prst="rect">
            <a:avLst/>
          </a:prstGeom>
          <a:noFill/>
          <a:ln/>
        </p:spPr>
        <p:txBody>
          <a:bodyPr wrap="square" lIns="0" tIns="0" rIns="0" bIns="0" rtlCol="0" anchor="ctr"/>
          <a:lstStyle/>
          <a:p>
            <a:pPr algn="l" indent="0" marL="0">
              <a:buNone/>
            </a:pPr>
            <a:r>
              <a:rPr lang="en-US" sz="1650" dirty="0">
                <a:solidFill>
                  <a:srgbClr val="CADCFC"/>
                </a:solidFill>
                <a:latin typeface="Calibri" pitchFamily="34" charset="0"/>
                <a:ea typeface="Calibri" pitchFamily="34" charset="-122"/>
                <a:cs typeface="Calibri" pitchFamily="34" charset="-120"/>
              </a:rPr>
              <a:t>Aster is the AI recruitment platform that reads every resume, ranks applicants against the role, and books the interviews, so hiring starts from a shortlist instead of a pile.</a:t>
            </a:r>
            <a:endParaRPr lang="en-US" sz="1650" dirty="0"/>
          </a:p>
        </p:txBody>
      </p:sp>
      <p:sp>
        <p:nvSpPr>
          <p:cNvPr id="8" name="Shape 5"/>
          <p:cNvSpPr/>
          <p:nvPr/>
        </p:nvSpPr>
        <p:spPr>
          <a:xfrm>
            <a:off x="822960" y="4892040"/>
            <a:ext cx="2538374"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9" name="Text 6"/>
          <p:cNvSpPr/>
          <p:nvPr/>
        </p:nvSpPr>
        <p:spPr>
          <a:xfrm>
            <a:off x="822960" y="4892040"/>
            <a:ext cx="253837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screening &amp; ranking</a:t>
            </a:r>
            <a:endParaRPr lang="en-US" sz="1300" dirty="0"/>
          </a:p>
        </p:txBody>
      </p:sp>
      <p:sp>
        <p:nvSpPr>
          <p:cNvPr id="10" name="Shape 7"/>
          <p:cNvSpPr/>
          <p:nvPr/>
        </p:nvSpPr>
        <p:spPr>
          <a:xfrm>
            <a:off x="3589934" y="4892040"/>
            <a:ext cx="2340864"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11" name="Text 8"/>
          <p:cNvSpPr/>
          <p:nvPr/>
        </p:nvSpPr>
        <p:spPr>
          <a:xfrm>
            <a:off x="3589934" y="4892040"/>
            <a:ext cx="234086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Interview scheduling</a:t>
            </a:r>
            <a:endParaRPr lang="en-US" sz="1300" dirty="0"/>
          </a:p>
        </p:txBody>
      </p:sp>
      <p:sp>
        <p:nvSpPr>
          <p:cNvPr id="12" name="Shape 9"/>
          <p:cNvSpPr/>
          <p:nvPr/>
        </p:nvSpPr>
        <p:spPr>
          <a:xfrm>
            <a:off x="6159398" y="4892040"/>
            <a:ext cx="2242109" cy="457200"/>
          </a:xfrm>
          <a:prstGeom prst="roundRect">
            <a:avLst>
              <a:gd name="adj" fmla="val 50000"/>
            </a:avLst>
          </a:prstGeom>
          <a:solidFill>
            <a:srgbClr val="FFFFFF">
              <a:alpha val="14000"/>
            </a:srgbClr>
          </a:solidFill>
          <a:ln w="12700">
            <a:solidFill>
              <a:srgbClr val="FFFFFF">
                <a:alpha val="40000"/>
              </a:srgbClr>
            </a:solidFill>
            <a:prstDash val="solid"/>
          </a:ln>
        </p:spPr>
      </p:sp>
      <p:sp>
        <p:nvSpPr>
          <p:cNvPr id="13" name="Text 10"/>
          <p:cNvSpPr/>
          <p:nvPr/>
        </p:nvSpPr>
        <p:spPr>
          <a:xfrm>
            <a:off x="6159398" y="4892040"/>
            <a:ext cx="2242109"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One shared pipeline</a:t>
            </a:r>
            <a:endParaRPr lang="en-US" sz="1300" dirty="0"/>
          </a:p>
        </p:txBody>
      </p:sp>
      <p:sp>
        <p:nvSpPr>
          <p:cNvPr id="14" name="Text 11"/>
          <p:cNvSpPr/>
          <p:nvPr/>
        </p:nvSpPr>
        <p:spPr>
          <a:xfrm>
            <a:off x="822960" y="6172200"/>
            <a:ext cx="10058400" cy="365760"/>
          </a:xfrm>
          <a:prstGeom prst="rect">
            <a:avLst/>
          </a:prstGeom>
          <a:noFill/>
          <a:ln/>
        </p:spPr>
        <p:txBody>
          <a:bodyPr wrap="square" lIns="0" tIns="0" rIns="0" bIns="0" rtlCol="0" anchor="ctr"/>
          <a:lstStyle/>
          <a:p>
            <a:pPr algn="l" indent="0" marL="0">
              <a:buNone/>
            </a:pPr>
            <a:r>
              <a:rPr lang="en-US" sz="1200" i="1" dirty="0">
                <a:solidFill>
                  <a:srgbClr val="9FB0F0"/>
                </a:solidFill>
                <a:latin typeface="Calibri" pitchFamily="34" charset="0"/>
                <a:ea typeface="Calibri" pitchFamily="34" charset="-122"/>
                <a:cs typeface="Calibri" pitchFamily="34" charset="-120"/>
              </a:rPr>
              <a:t>Series A  ·  Investor deck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Screening is the bottleneck, and it's the task AI does best</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The shape of hiring changed. Applications exploded while recruiter capacity stayed flat, and the first pass, reading and ranking every CV, is exactly what modern AI does faster and more consistently than a person.</a:t>
            </a:r>
            <a:endParaRPr lang="en-US" sz="1350" dirty="0"/>
          </a:p>
        </p:txBody>
      </p:sp>
      <p:sp>
        <p:nvSpPr>
          <p:cNvPr id="5" name="Shape 3"/>
          <p:cNvSpPr/>
          <p:nvPr/>
        </p:nvSpPr>
        <p:spPr>
          <a:xfrm>
            <a:off x="548640" y="2331720"/>
            <a:ext cx="3630168" cy="2834640"/>
          </a:xfrm>
          <a:prstGeom prst="roundRect">
            <a:avLst>
              <a:gd name="adj" fmla="val 3226"/>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6" name="Shape 4"/>
          <p:cNvSpPr/>
          <p:nvPr/>
        </p:nvSpPr>
        <p:spPr>
          <a:xfrm>
            <a:off x="822960" y="2624328"/>
            <a:ext cx="566928" cy="566928"/>
          </a:xfrm>
          <a:prstGeom prst="ellipse">
            <a:avLst/>
          </a:prstGeom>
          <a:solidFill>
            <a:srgbClr val="0B2AE0"/>
          </a:solidFill>
          <a:ln/>
        </p:spPr>
      </p:sp>
      <p:sp>
        <p:nvSpPr>
          <p:cNvPr id="7" name="Text 5"/>
          <p:cNvSpPr/>
          <p:nvPr/>
        </p:nvSpPr>
        <p:spPr>
          <a:xfrm>
            <a:off x="822960" y="26151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822960" y="3337560"/>
            <a:ext cx="3081528" cy="365760"/>
          </a:xfrm>
          <a:prstGeom prst="rect">
            <a:avLst/>
          </a:prstGeom>
          <a:noFill/>
          <a:ln/>
        </p:spPr>
        <p:txBody>
          <a:bodyPr wrap="square" lIns="0" tIns="0" rIns="0" bIns="0" rtlCol="0" anchor="ctr"/>
          <a:lstStyle/>
          <a:p>
            <a:pPr algn="l" indent="0" marL="0">
              <a:buNone/>
            </a:pPr>
            <a:r>
              <a:rPr lang="en-US" sz="1700" b="1" dirty="0">
                <a:solidFill>
                  <a:srgbClr val="12132A"/>
                </a:solidFill>
                <a:latin typeface="Calibri" pitchFamily="34" charset="0"/>
                <a:ea typeface="Calibri" pitchFamily="34" charset="-122"/>
                <a:cs typeface="Calibri" pitchFamily="34" charset="-120"/>
              </a:rPr>
              <a:t>The volume</a:t>
            </a:r>
            <a:endParaRPr lang="en-US" sz="1700" dirty="0"/>
          </a:p>
        </p:txBody>
      </p:sp>
      <p:sp>
        <p:nvSpPr>
          <p:cNvPr id="9" name="Text 7"/>
          <p:cNvSpPr/>
          <p:nvPr/>
        </p:nvSpPr>
        <p:spPr>
          <a:xfrm>
            <a:off x="822960" y="3749040"/>
            <a:ext cx="3081528" cy="128016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One-click apply and job boards put dozens to hundreds of applicants on every open role. The pile grew; the day didn't.</a:t>
            </a:r>
            <a:endParaRPr lang="en-US" sz="1300" dirty="0"/>
          </a:p>
        </p:txBody>
      </p:sp>
      <p:sp>
        <p:nvSpPr>
          <p:cNvPr id="10" name="Shape 8"/>
          <p:cNvSpPr/>
          <p:nvPr/>
        </p:nvSpPr>
        <p:spPr>
          <a:xfrm>
            <a:off x="4297680" y="2331720"/>
            <a:ext cx="3630168" cy="2834640"/>
          </a:xfrm>
          <a:prstGeom prst="roundRect">
            <a:avLst>
              <a:gd name="adj" fmla="val 3226"/>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1" name="Shape 9"/>
          <p:cNvSpPr/>
          <p:nvPr/>
        </p:nvSpPr>
        <p:spPr>
          <a:xfrm>
            <a:off x="4572000" y="2624328"/>
            <a:ext cx="566928" cy="566928"/>
          </a:xfrm>
          <a:prstGeom prst="ellipse">
            <a:avLst/>
          </a:prstGeom>
          <a:solidFill>
            <a:srgbClr val="0B2AE0"/>
          </a:solidFill>
          <a:ln/>
        </p:spPr>
      </p:sp>
      <p:sp>
        <p:nvSpPr>
          <p:cNvPr id="12" name="Text 10"/>
          <p:cNvSpPr/>
          <p:nvPr/>
        </p:nvSpPr>
        <p:spPr>
          <a:xfrm>
            <a:off x="4572000" y="26151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4572000" y="3337560"/>
            <a:ext cx="3081528" cy="365760"/>
          </a:xfrm>
          <a:prstGeom prst="rect">
            <a:avLst/>
          </a:prstGeom>
          <a:noFill/>
          <a:ln/>
        </p:spPr>
        <p:txBody>
          <a:bodyPr wrap="square" lIns="0" tIns="0" rIns="0" bIns="0" rtlCol="0" anchor="ctr"/>
          <a:lstStyle/>
          <a:p>
            <a:pPr algn="l" indent="0" marL="0">
              <a:buNone/>
            </a:pPr>
            <a:r>
              <a:rPr lang="en-US" sz="1700" b="1" dirty="0">
                <a:solidFill>
                  <a:srgbClr val="12132A"/>
                </a:solidFill>
                <a:latin typeface="Calibri" pitchFamily="34" charset="0"/>
                <a:ea typeface="Calibri" pitchFamily="34" charset="-122"/>
                <a:cs typeface="Calibri" pitchFamily="34" charset="-120"/>
              </a:rPr>
              <a:t>The squeeze</a:t>
            </a:r>
            <a:endParaRPr lang="en-US" sz="1700" dirty="0"/>
          </a:p>
        </p:txBody>
      </p:sp>
      <p:sp>
        <p:nvSpPr>
          <p:cNvPr id="14" name="Text 12"/>
          <p:cNvSpPr/>
          <p:nvPr/>
        </p:nvSpPr>
        <p:spPr>
          <a:xfrm>
            <a:off x="4572000" y="3749040"/>
            <a:ext cx="3081528" cy="128016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Recruiter headcount is flat or shrinking. The same team is expected to screen far more, far faster.</a:t>
            </a:r>
            <a:endParaRPr lang="en-US" sz="1300" dirty="0"/>
          </a:p>
        </p:txBody>
      </p:sp>
      <p:sp>
        <p:nvSpPr>
          <p:cNvPr id="15" name="Shape 13"/>
          <p:cNvSpPr/>
          <p:nvPr/>
        </p:nvSpPr>
        <p:spPr>
          <a:xfrm>
            <a:off x="8046720" y="2331720"/>
            <a:ext cx="3630168" cy="2834640"/>
          </a:xfrm>
          <a:prstGeom prst="roundRect">
            <a:avLst>
              <a:gd name="adj" fmla="val 3226"/>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6" name="Shape 14"/>
          <p:cNvSpPr/>
          <p:nvPr/>
        </p:nvSpPr>
        <p:spPr>
          <a:xfrm>
            <a:off x="8321040" y="2624328"/>
            <a:ext cx="566928" cy="566928"/>
          </a:xfrm>
          <a:prstGeom prst="ellipse">
            <a:avLst/>
          </a:prstGeom>
          <a:solidFill>
            <a:srgbClr val="0B2AE0"/>
          </a:solidFill>
          <a:ln/>
        </p:spPr>
      </p:sp>
      <p:sp>
        <p:nvSpPr>
          <p:cNvPr id="17" name="Text 15"/>
          <p:cNvSpPr/>
          <p:nvPr/>
        </p:nvSpPr>
        <p:spPr>
          <a:xfrm>
            <a:off x="8321040" y="26151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8321040" y="3337560"/>
            <a:ext cx="3081528" cy="365760"/>
          </a:xfrm>
          <a:prstGeom prst="rect">
            <a:avLst/>
          </a:prstGeom>
          <a:noFill/>
          <a:ln/>
        </p:spPr>
        <p:txBody>
          <a:bodyPr wrap="square" lIns="0" tIns="0" rIns="0" bIns="0" rtlCol="0" anchor="ctr"/>
          <a:lstStyle/>
          <a:p>
            <a:pPr algn="l" indent="0" marL="0">
              <a:buNone/>
            </a:pPr>
            <a:r>
              <a:rPr lang="en-US" sz="1700" b="1" dirty="0">
                <a:solidFill>
                  <a:srgbClr val="12132A"/>
                </a:solidFill>
                <a:latin typeface="Calibri" pitchFamily="34" charset="0"/>
                <a:ea typeface="Calibri" pitchFamily="34" charset="-122"/>
                <a:cs typeface="Calibri" pitchFamily="34" charset="-120"/>
              </a:rPr>
              <a:t>The unlock</a:t>
            </a:r>
            <a:endParaRPr lang="en-US" sz="1700" dirty="0"/>
          </a:p>
        </p:txBody>
      </p:sp>
      <p:sp>
        <p:nvSpPr>
          <p:cNvPr id="19" name="Text 17"/>
          <p:cNvSpPr/>
          <p:nvPr/>
        </p:nvSpPr>
        <p:spPr>
          <a:xfrm>
            <a:off x="8321040" y="3749040"/>
            <a:ext cx="3081528" cy="128016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Generative AI reads, structures and scores a resume in seconds, at a cost measured in cents, for the first time.</a:t>
            </a:r>
            <a:endParaRPr lang="en-US" sz="1300" dirty="0"/>
          </a:p>
        </p:txBody>
      </p:sp>
      <p:sp>
        <p:nvSpPr>
          <p:cNvPr id="20" name="Shape 18"/>
          <p:cNvSpPr/>
          <p:nvPr/>
        </p:nvSpPr>
        <p:spPr>
          <a:xfrm>
            <a:off x="548640" y="5394960"/>
            <a:ext cx="11091672" cy="841248"/>
          </a:xfrm>
          <a:prstGeom prst="roundRect">
            <a:avLst>
              <a:gd name="adj" fmla="val 10870"/>
            </a:avLst>
          </a:prstGeom>
          <a:solidFill>
            <a:srgbClr val="0A1FC2"/>
          </a:solidFill>
          <a:ln w="12700">
            <a:solidFill>
              <a:srgbClr val="0A1FC2"/>
            </a:solidFill>
            <a:prstDash val="solid"/>
          </a:ln>
          <a:effectLst>
            <a:outerShdw sx="100000" sy="100000" kx="0" ky="0" algn="bl" rotWithShape="0" blurRad="101600" dist="25400" dir="5400000">
              <a:srgbClr val="9AA0B5">
                <a:alpha val="16000"/>
              </a:srgbClr>
            </a:outerShdw>
          </a:effectLst>
        </p:spPr>
      </p:sp>
      <p:sp>
        <p:nvSpPr>
          <p:cNvPr id="21" name="Text 19"/>
          <p:cNvSpPr/>
          <p:nvPr/>
        </p:nvSpPr>
        <p:spPr>
          <a:xfrm>
            <a:off x="822960" y="5394960"/>
            <a:ext cx="10515600" cy="84124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The window:  </a:t>
            </a:r>
            <a:pPr algn="l" indent="0" marL="0">
              <a:buNone/>
            </a:pPr>
            <a:r>
              <a:rPr lang="en-US" sz="1350" dirty="0">
                <a:solidFill>
                  <a:srgbClr val="CADCFC"/>
                </a:solidFill>
                <a:latin typeface="Calibri" pitchFamily="34" charset="0"/>
                <a:ea typeface="Calibri" pitchFamily="34" charset="-122"/>
                <a:cs typeface="Calibri" pitchFamily="34" charset="-120"/>
              </a:rPr>
              <a:t>the buyer now feels the pain and, for the first time, an AI-native platform can solve it at a price SMBs will pay. That gap is the opening Aster is built for.</a:t>
            </a:r>
            <a:endParaRPr lang="en-US" sz="1350" dirty="0"/>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23" name="Text 2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B45309"/>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Manual screening is slow, costly and hard to defend</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Reading CVs one at a time doesn't scale. The cost shows up in speed, in money, and in decisions nobody can explain later.</a:t>
            </a:r>
            <a:endParaRPr lang="en-US" sz="1350" dirty="0"/>
          </a:p>
        </p:txBody>
      </p:sp>
      <p:sp>
        <p:nvSpPr>
          <p:cNvPr id="5" name="Shape 3"/>
          <p:cNvSpPr/>
          <p:nvPr/>
        </p:nvSpPr>
        <p:spPr>
          <a:xfrm>
            <a:off x="548640" y="2286000"/>
            <a:ext cx="3630168" cy="2286000"/>
          </a:xfrm>
          <a:prstGeom prst="roundRect">
            <a:avLst>
              <a:gd name="adj" fmla="val 4000"/>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6" name="Text 4"/>
          <p:cNvSpPr/>
          <p:nvPr/>
        </p:nvSpPr>
        <p:spPr>
          <a:xfrm>
            <a:off x="822960" y="2542032"/>
            <a:ext cx="3081528" cy="640080"/>
          </a:xfrm>
          <a:prstGeom prst="rect">
            <a:avLst/>
          </a:prstGeom>
          <a:noFill/>
          <a:ln/>
        </p:spPr>
        <p:txBody>
          <a:bodyPr wrap="square" lIns="0" tIns="0" rIns="0" bIns="0" rtlCol="0" anchor="ctr"/>
          <a:lstStyle/>
          <a:p>
            <a:pPr algn="l" indent="0" marL="0">
              <a:buNone/>
            </a:pPr>
            <a:r>
              <a:rPr lang="en-US" sz="3000" b="1" dirty="0">
                <a:solidFill>
                  <a:srgbClr val="B45309"/>
                </a:solidFill>
                <a:latin typeface="Calibri" pitchFamily="34" charset="0"/>
                <a:ea typeface="Calibri" pitchFamily="34" charset="-122"/>
                <a:cs typeface="Calibri" pitchFamily="34" charset="-120"/>
              </a:rPr>
              <a:t>23 hrs</a:t>
            </a:r>
            <a:endParaRPr lang="en-US" sz="3000" dirty="0"/>
          </a:p>
        </p:txBody>
      </p:sp>
      <p:sp>
        <p:nvSpPr>
          <p:cNvPr id="7" name="Text 5"/>
          <p:cNvSpPr/>
          <p:nvPr/>
        </p:nvSpPr>
        <p:spPr>
          <a:xfrm>
            <a:off x="822960" y="3337560"/>
            <a:ext cx="3081528" cy="10972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spent screening per hire, on average, before the first real conversation.</a:t>
            </a:r>
            <a:endParaRPr lang="en-US" sz="1300" dirty="0"/>
          </a:p>
        </p:txBody>
      </p:sp>
      <p:sp>
        <p:nvSpPr>
          <p:cNvPr id="8" name="Shape 6"/>
          <p:cNvSpPr/>
          <p:nvPr/>
        </p:nvSpPr>
        <p:spPr>
          <a:xfrm>
            <a:off x="4297680" y="2286000"/>
            <a:ext cx="3630168" cy="2286000"/>
          </a:xfrm>
          <a:prstGeom prst="roundRect">
            <a:avLst>
              <a:gd name="adj" fmla="val 4000"/>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9" name="Text 7"/>
          <p:cNvSpPr/>
          <p:nvPr/>
        </p:nvSpPr>
        <p:spPr>
          <a:xfrm>
            <a:off x="4572000" y="2542032"/>
            <a:ext cx="3081528" cy="640080"/>
          </a:xfrm>
          <a:prstGeom prst="rect">
            <a:avLst/>
          </a:prstGeom>
          <a:noFill/>
          <a:ln/>
        </p:spPr>
        <p:txBody>
          <a:bodyPr wrap="square" lIns="0" tIns="0" rIns="0" bIns="0" rtlCol="0" anchor="ctr"/>
          <a:lstStyle/>
          <a:p>
            <a:pPr algn="l" indent="0" marL="0">
              <a:buNone/>
            </a:pPr>
            <a:r>
              <a:rPr lang="en-US" sz="3000" b="1" dirty="0">
                <a:solidFill>
                  <a:srgbClr val="B45309"/>
                </a:solidFill>
                <a:latin typeface="Calibri" pitchFamily="34" charset="0"/>
                <a:ea typeface="Calibri" pitchFamily="34" charset="-122"/>
                <a:cs typeface="Calibri" pitchFamily="34" charset="-120"/>
              </a:rPr>
              <a:t>The best leave first</a:t>
            </a:r>
            <a:endParaRPr lang="en-US" sz="3000" dirty="0"/>
          </a:p>
        </p:txBody>
      </p:sp>
      <p:sp>
        <p:nvSpPr>
          <p:cNvPr id="10" name="Text 8"/>
          <p:cNvSpPr/>
          <p:nvPr/>
        </p:nvSpPr>
        <p:spPr>
          <a:xfrm>
            <a:off x="4572000" y="3337560"/>
            <a:ext cx="3081528" cy="10972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Top candidates accept elsewhere while strong applications sit unread in the pile.</a:t>
            </a:r>
            <a:endParaRPr lang="en-US" sz="1300" dirty="0"/>
          </a:p>
        </p:txBody>
      </p:sp>
      <p:sp>
        <p:nvSpPr>
          <p:cNvPr id="11" name="Shape 9"/>
          <p:cNvSpPr/>
          <p:nvPr/>
        </p:nvSpPr>
        <p:spPr>
          <a:xfrm>
            <a:off x="8046720" y="2286000"/>
            <a:ext cx="3630168" cy="2286000"/>
          </a:xfrm>
          <a:prstGeom prst="roundRect">
            <a:avLst>
              <a:gd name="adj" fmla="val 4000"/>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2" name="Text 10"/>
          <p:cNvSpPr/>
          <p:nvPr/>
        </p:nvSpPr>
        <p:spPr>
          <a:xfrm>
            <a:off x="8321040" y="2542032"/>
            <a:ext cx="3081528" cy="640080"/>
          </a:xfrm>
          <a:prstGeom prst="rect">
            <a:avLst/>
          </a:prstGeom>
          <a:noFill/>
          <a:ln/>
        </p:spPr>
        <p:txBody>
          <a:bodyPr wrap="square" lIns="0" tIns="0" rIns="0" bIns="0" rtlCol="0" anchor="ctr"/>
          <a:lstStyle/>
          <a:p>
            <a:pPr algn="l" indent="0" marL="0">
              <a:buNone/>
            </a:pPr>
            <a:r>
              <a:rPr lang="en-US" sz="3000" b="1" dirty="0">
                <a:solidFill>
                  <a:srgbClr val="B45309"/>
                </a:solidFill>
                <a:latin typeface="Calibri" pitchFamily="34" charset="0"/>
                <a:ea typeface="Calibri" pitchFamily="34" charset="-122"/>
                <a:cs typeface="Calibri" pitchFamily="34" charset="-120"/>
              </a:rPr>
              <a:t>5 gut calls</a:t>
            </a:r>
            <a:endParaRPr lang="en-US" sz="3000" dirty="0"/>
          </a:p>
        </p:txBody>
      </p:sp>
      <p:sp>
        <p:nvSpPr>
          <p:cNvPr id="13" name="Text 11"/>
          <p:cNvSpPr/>
          <p:nvPr/>
        </p:nvSpPr>
        <p:spPr>
          <a:xfrm>
            <a:off x="8321040" y="3337560"/>
            <a:ext cx="3081528" cy="10972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Five interviewers, five opinions, no shared record. Good hires are luck, not process.</a:t>
            </a:r>
            <a:endParaRPr lang="en-US" sz="1300" dirty="0"/>
          </a:p>
        </p:txBody>
      </p:sp>
      <p:sp>
        <p:nvSpPr>
          <p:cNvPr id="14" name="Shape 12"/>
          <p:cNvSpPr/>
          <p:nvPr/>
        </p:nvSpPr>
        <p:spPr>
          <a:xfrm>
            <a:off x="548640" y="4800600"/>
            <a:ext cx="11091672" cy="1234440"/>
          </a:xfrm>
          <a:prstGeom prst="roundRect">
            <a:avLst>
              <a:gd name="adj" fmla="val 7407"/>
            </a:avLst>
          </a:prstGeom>
          <a:solidFill>
            <a:srgbClr val="F7F8FC"/>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5" name="Text 13"/>
          <p:cNvSpPr/>
          <p:nvPr/>
        </p:nvSpPr>
        <p:spPr>
          <a:xfrm>
            <a:off x="822960" y="4956048"/>
            <a:ext cx="10515600" cy="320040"/>
          </a:xfrm>
          <a:prstGeom prst="rect">
            <a:avLst/>
          </a:prstGeom>
          <a:noFill/>
          <a:ln/>
        </p:spPr>
        <p:txBody>
          <a:bodyPr wrap="square" lIns="0" tIns="0" rIns="0" bIns="0" rtlCol="0" anchor="ctr"/>
          <a:lstStyle/>
          <a:p>
            <a:pPr algn="l" indent="0" marL="0">
              <a:buNone/>
            </a:pPr>
            <a:r>
              <a:rPr lang="en-US" sz="1400" b="1" dirty="0">
                <a:solidFill>
                  <a:srgbClr val="12132A"/>
                </a:solidFill>
                <a:latin typeface="Calibri" pitchFamily="34" charset="0"/>
                <a:ea typeface="Calibri" pitchFamily="34" charset="-122"/>
                <a:cs typeface="Calibri" pitchFamily="34" charset="-120"/>
              </a:rPr>
              <a:t>The tooling makes it worse</a:t>
            </a:r>
            <a:endParaRPr lang="en-US" sz="1400" dirty="0"/>
          </a:p>
        </p:txBody>
      </p:sp>
      <p:sp>
        <p:nvSpPr>
          <p:cNvPr id="16" name="Text 14"/>
          <p:cNvSpPr/>
          <p:nvPr/>
        </p:nvSpPr>
        <p:spPr>
          <a:xfrm>
            <a:off x="822960" y="5285232"/>
            <a:ext cx="10515600" cy="6400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Legacy applicant tracking systems store CVs but don't read them. AI point tools screen but don't run the workflow. Everyone else lives in spreadsheets, inboxes and calendars, where candidates fall through the gaps.</a:t>
            </a:r>
            <a:endParaRPr lang="en-US" sz="1300" dirty="0"/>
          </a:p>
        </p:txBody>
      </p:sp>
      <p:sp>
        <p:nvSpPr>
          <p:cNvPr id="17" name="Text 15"/>
          <p:cNvSpPr/>
          <p:nvPr/>
        </p:nvSpPr>
        <p:spPr>
          <a:xfrm>
            <a:off x="548640" y="6172200"/>
            <a:ext cx="10972800" cy="256032"/>
          </a:xfrm>
          <a:prstGeom prst="rect">
            <a:avLst/>
          </a:prstGeom>
          <a:noFill/>
          <a:ln/>
        </p:spPr>
        <p:txBody>
          <a:bodyPr wrap="square" lIns="0" tIns="0" rIns="0" bIns="0" rtlCol="0" anchor="ctr"/>
          <a:lstStyle/>
          <a:p>
            <a:pPr algn="l" indent="0" marL="0">
              <a:buNone/>
            </a:pPr>
            <a:r>
              <a:rPr lang="en-US" sz="900" i="1" dirty="0">
                <a:solidFill>
                  <a:srgbClr val="6B7280"/>
                </a:solidFill>
                <a:latin typeface="Calibri" pitchFamily="34" charset="0"/>
                <a:ea typeface="Calibri" pitchFamily="34" charset="-122"/>
                <a:cs typeface="Calibri" pitchFamily="34" charset="-120"/>
              </a:rPr>
              <a:t>Screening-time figure is an industry-reported average; shown for context, not an Aster measurement.</a:t>
            </a:r>
            <a:endParaRPr lang="en-US" sz="900" dirty="0"/>
          </a:p>
        </p:txBody>
      </p:sp>
      <p:sp>
        <p:nvSpPr>
          <p:cNvPr id="18" name="Text 1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19" name="Text 17"/>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Start from a shortlist, not a pile</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Aster does the first pass on every applicant, so hiring managers open a ranked, reasoned shortlist the moment they log in.</a:t>
            </a:r>
            <a:endParaRPr lang="en-US" sz="1350" dirty="0"/>
          </a:p>
        </p:txBody>
      </p:sp>
      <p:sp>
        <p:nvSpPr>
          <p:cNvPr id="5" name="Shape 3"/>
          <p:cNvSpPr/>
          <p:nvPr/>
        </p:nvSpPr>
        <p:spPr>
          <a:xfrm>
            <a:off x="548640" y="2286000"/>
            <a:ext cx="3630168" cy="2606040"/>
          </a:xfrm>
          <a:prstGeom prst="roundRect">
            <a:avLst>
              <a:gd name="adj" fmla="val 3509"/>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6" name="Shape 4"/>
          <p:cNvSpPr/>
          <p:nvPr/>
        </p:nvSpPr>
        <p:spPr>
          <a:xfrm>
            <a:off x="822960" y="2560320"/>
            <a:ext cx="603504" cy="603504"/>
          </a:xfrm>
          <a:prstGeom prst="ellipse">
            <a:avLst/>
          </a:prstGeom>
          <a:solidFill>
            <a:srgbClr val="0B2AE0"/>
          </a:solidFill>
          <a:ln/>
        </p:spPr>
      </p:sp>
      <p:sp>
        <p:nvSpPr>
          <p:cNvPr id="7" name="Text 5"/>
          <p:cNvSpPr/>
          <p:nvPr/>
        </p:nvSpPr>
        <p:spPr>
          <a:xfrm>
            <a:off x="822960" y="2551176"/>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8" name="Text 6"/>
          <p:cNvSpPr/>
          <p:nvPr/>
        </p:nvSpPr>
        <p:spPr>
          <a:xfrm>
            <a:off x="822960" y="3273552"/>
            <a:ext cx="3081528" cy="411480"/>
          </a:xfrm>
          <a:prstGeom prst="rect">
            <a:avLst/>
          </a:prstGeom>
          <a:noFill/>
          <a:ln/>
        </p:spPr>
        <p:txBody>
          <a:bodyPr wrap="square" lIns="0" tIns="0" rIns="0" bIns="0" rtlCol="0" anchor="ctr"/>
          <a:lstStyle/>
          <a:p>
            <a:pPr algn="l" indent="0" marL="0">
              <a:buNone/>
            </a:pPr>
            <a:r>
              <a:rPr lang="en-US" sz="1750" b="1" dirty="0">
                <a:solidFill>
                  <a:srgbClr val="12132A"/>
                </a:solidFill>
                <a:latin typeface="Calibri" pitchFamily="34" charset="0"/>
                <a:ea typeface="Calibri" pitchFamily="34" charset="-122"/>
                <a:cs typeface="Calibri" pitchFamily="34" charset="-120"/>
              </a:rPr>
              <a:t>Reads every CV</a:t>
            </a:r>
            <a:endParaRPr lang="en-US" sz="1750" dirty="0"/>
          </a:p>
        </p:txBody>
      </p:sp>
      <p:sp>
        <p:nvSpPr>
          <p:cNvPr id="9" name="Text 7"/>
          <p:cNvSpPr/>
          <p:nvPr/>
        </p:nvSpPr>
        <p:spPr>
          <a:xfrm>
            <a:off x="822960" y="3703320"/>
            <a:ext cx="3081528" cy="10972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Structured skills, experience and a one-line summary in seconds, however each candidate wrote it.</a:t>
            </a:r>
            <a:endParaRPr lang="en-US" sz="1300" dirty="0"/>
          </a:p>
        </p:txBody>
      </p:sp>
      <p:sp>
        <p:nvSpPr>
          <p:cNvPr id="10" name="Shape 8"/>
          <p:cNvSpPr/>
          <p:nvPr/>
        </p:nvSpPr>
        <p:spPr>
          <a:xfrm>
            <a:off x="4297680" y="2286000"/>
            <a:ext cx="3630168" cy="2606040"/>
          </a:xfrm>
          <a:prstGeom prst="roundRect">
            <a:avLst>
              <a:gd name="adj" fmla="val 3509"/>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11" name="Shape 9"/>
          <p:cNvSpPr/>
          <p:nvPr/>
        </p:nvSpPr>
        <p:spPr>
          <a:xfrm>
            <a:off x="4572000" y="2560320"/>
            <a:ext cx="603504" cy="603504"/>
          </a:xfrm>
          <a:prstGeom prst="ellipse">
            <a:avLst/>
          </a:prstGeom>
          <a:solidFill>
            <a:srgbClr val="0B2AE0"/>
          </a:solidFill>
          <a:ln/>
        </p:spPr>
      </p:sp>
      <p:sp>
        <p:nvSpPr>
          <p:cNvPr id="12" name="Text 10"/>
          <p:cNvSpPr/>
          <p:nvPr/>
        </p:nvSpPr>
        <p:spPr>
          <a:xfrm>
            <a:off x="4572000" y="2551176"/>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13" name="Text 11"/>
          <p:cNvSpPr/>
          <p:nvPr/>
        </p:nvSpPr>
        <p:spPr>
          <a:xfrm>
            <a:off x="4572000" y="3273552"/>
            <a:ext cx="3081528" cy="411480"/>
          </a:xfrm>
          <a:prstGeom prst="rect">
            <a:avLst/>
          </a:prstGeom>
          <a:noFill/>
          <a:ln/>
        </p:spPr>
        <p:txBody>
          <a:bodyPr wrap="square" lIns="0" tIns="0" rIns="0" bIns="0" rtlCol="0" anchor="ctr"/>
          <a:lstStyle/>
          <a:p>
            <a:pPr algn="l" indent="0" marL="0">
              <a:buNone/>
            </a:pPr>
            <a:r>
              <a:rPr lang="en-US" sz="1750" b="1" dirty="0">
                <a:solidFill>
                  <a:srgbClr val="12132A"/>
                </a:solidFill>
                <a:latin typeface="Calibri" pitchFamily="34" charset="0"/>
                <a:ea typeface="Calibri" pitchFamily="34" charset="-122"/>
                <a:cs typeface="Calibri" pitchFamily="34" charset="-120"/>
              </a:rPr>
              <a:t>Ranks against the role</a:t>
            </a:r>
            <a:endParaRPr lang="en-US" sz="1750" dirty="0"/>
          </a:p>
        </p:txBody>
      </p:sp>
      <p:sp>
        <p:nvSpPr>
          <p:cNvPr id="14" name="Text 12"/>
          <p:cNvSpPr/>
          <p:nvPr/>
        </p:nvSpPr>
        <p:spPr>
          <a:xfrm>
            <a:off x="4572000" y="3703320"/>
            <a:ext cx="3081528" cy="10972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A match score with the reasons, strongest fits on top, so you know who to talk to first.</a:t>
            </a:r>
            <a:endParaRPr lang="en-US" sz="1300" dirty="0"/>
          </a:p>
        </p:txBody>
      </p:sp>
      <p:sp>
        <p:nvSpPr>
          <p:cNvPr id="15" name="Shape 13"/>
          <p:cNvSpPr/>
          <p:nvPr/>
        </p:nvSpPr>
        <p:spPr>
          <a:xfrm>
            <a:off x="8046720" y="2286000"/>
            <a:ext cx="3630168" cy="2606040"/>
          </a:xfrm>
          <a:prstGeom prst="roundRect">
            <a:avLst>
              <a:gd name="adj" fmla="val 3509"/>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16" name="Shape 14"/>
          <p:cNvSpPr/>
          <p:nvPr/>
        </p:nvSpPr>
        <p:spPr>
          <a:xfrm>
            <a:off x="8321040" y="2560320"/>
            <a:ext cx="603504" cy="603504"/>
          </a:xfrm>
          <a:prstGeom prst="ellipse">
            <a:avLst/>
          </a:prstGeom>
          <a:solidFill>
            <a:srgbClr val="0B2AE0"/>
          </a:solidFill>
          <a:ln/>
        </p:spPr>
      </p:sp>
      <p:sp>
        <p:nvSpPr>
          <p:cNvPr id="17" name="Text 15"/>
          <p:cNvSpPr/>
          <p:nvPr/>
        </p:nvSpPr>
        <p:spPr>
          <a:xfrm>
            <a:off x="8321040" y="2551176"/>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8321040" y="3273552"/>
            <a:ext cx="3081528" cy="411480"/>
          </a:xfrm>
          <a:prstGeom prst="rect">
            <a:avLst/>
          </a:prstGeom>
          <a:noFill/>
          <a:ln/>
        </p:spPr>
        <p:txBody>
          <a:bodyPr wrap="square" lIns="0" tIns="0" rIns="0" bIns="0" rtlCol="0" anchor="ctr"/>
          <a:lstStyle/>
          <a:p>
            <a:pPr algn="l" indent="0" marL="0">
              <a:buNone/>
            </a:pPr>
            <a:r>
              <a:rPr lang="en-US" sz="1750" b="1" dirty="0">
                <a:solidFill>
                  <a:srgbClr val="12132A"/>
                </a:solidFill>
                <a:latin typeface="Calibri" pitchFamily="34" charset="0"/>
                <a:ea typeface="Calibri" pitchFamily="34" charset="-122"/>
                <a:cs typeface="Calibri" pitchFamily="34" charset="-120"/>
              </a:rPr>
              <a:t>Books the interviews</a:t>
            </a:r>
            <a:endParaRPr lang="en-US" sz="1750" dirty="0"/>
          </a:p>
        </p:txBody>
      </p:sp>
      <p:sp>
        <p:nvSpPr>
          <p:cNvPr id="19" name="Text 17"/>
          <p:cNvSpPr/>
          <p:nvPr/>
        </p:nvSpPr>
        <p:spPr>
          <a:xfrm>
            <a:off x="8321040" y="3703320"/>
            <a:ext cx="3081528" cy="109728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Candidates self-book, a Meet or Teams link is created automatically, and reminders cut no-shows.</a:t>
            </a:r>
            <a:endParaRPr lang="en-US" sz="1300" dirty="0"/>
          </a:p>
        </p:txBody>
      </p:sp>
      <p:sp>
        <p:nvSpPr>
          <p:cNvPr id="20" name="Shape 18"/>
          <p:cNvSpPr/>
          <p:nvPr/>
        </p:nvSpPr>
        <p:spPr>
          <a:xfrm>
            <a:off x="548640" y="5166360"/>
            <a:ext cx="11091672" cy="1005840"/>
          </a:xfrm>
          <a:prstGeom prst="roundRect">
            <a:avLst>
              <a:gd name="adj" fmla="val 9091"/>
            </a:avLst>
          </a:prstGeom>
          <a:solidFill>
            <a:srgbClr val="0A1FC2"/>
          </a:solidFill>
          <a:ln w="12700">
            <a:solidFill>
              <a:srgbClr val="0A1FC2"/>
            </a:solidFill>
            <a:prstDash val="solid"/>
          </a:ln>
          <a:effectLst>
            <a:outerShdw sx="100000" sy="100000" kx="0" ky="0" algn="bl" rotWithShape="0" blurRad="101600" dist="25400" dir="5400000">
              <a:srgbClr val="9AA0B5">
                <a:alpha val="16000"/>
              </a:srgbClr>
            </a:outerShdw>
          </a:effectLst>
        </p:spPr>
      </p:sp>
      <p:sp>
        <p:nvSpPr>
          <p:cNvPr id="21" name="Text 19"/>
          <p:cNvSpPr/>
          <p:nvPr/>
        </p:nvSpPr>
        <p:spPr>
          <a:xfrm>
            <a:off x="914400" y="5166360"/>
            <a:ext cx="3566160" cy="10058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3×   </a:t>
            </a:r>
            <a:pPr algn="l" indent="0" marL="0">
              <a:buNone/>
            </a:pPr>
            <a:r>
              <a:rPr lang="en-US" sz="1300" dirty="0">
                <a:solidFill>
                  <a:srgbClr val="CADCFC"/>
                </a:solidFill>
                <a:latin typeface="Calibri" pitchFamily="34" charset="0"/>
                <a:ea typeface="Calibri" pitchFamily="34" charset="-122"/>
                <a:cs typeface="Calibri" pitchFamily="34" charset="-120"/>
              </a:rPr>
              <a:t>faster shortlists</a:t>
            </a:r>
            <a:endParaRPr lang="en-US" sz="2200" dirty="0"/>
          </a:p>
        </p:txBody>
      </p:sp>
      <p:sp>
        <p:nvSpPr>
          <p:cNvPr id="22" name="Shape 20"/>
          <p:cNvSpPr/>
          <p:nvPr/>
        </p:nvSpPr>
        <p:spPr>
          <a:xfrm>
            <a:off x="4343400" y="5394960"/>
            <a:ext cx="0" cy="548640"/>
          </a:xfrm>
          <a:prstGeom prst="line">
            <a:avLst/>
          </a:prstGeom>
          <a:noFill/>
          <a:ln w="12700">
            <a:solidFill>
              <a:srgbClr val="3550EE"/>
            </a:solidFill>
            <a:prstDash val="solid"/>
          </a:ln>
        </p:spPr>
      </p:sp>
      <p:sp>
        <p:nvSpPr>
          <p:cNvPr id="23" name="Text 21"/>
          <p:cNvSpPr/>
          <p:nvPr/>
        </p:nvSpPr>
        <p:spPr>
          <a:xfrm>
            <a:off x="4526280" y="5166360"/>
            <a:ext cx="3566160" cy="10058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46 → 3   </a:t>
            </a:r>
            <a:pPr algn="l" indent="0" marL="0">
              <a:buNone/>
            </a:pPr>
            <a:r>
              <a:rPr lang="en-US" sz="1300" dirty="0">
                <a:solidFill>
                  <a:srgbClr val="CADCFC"/>
                </a:solidFill>
                <a:latin typeface="Calibri" pitchFamily="34" charset="0"/>
                <a:ea typeface="Calibri" pitchFamily="34" charset="-122"/>
                <a:cs typeface="Calibri" pitchFamily="34" charset="-120"/>
              </a:rPr>
              <a:t>applicants to shortlist</a:t>
            </a:r>
            <a:endParaRPr lang="en-US" sz="2200" dirty="0"/>
          </a:p>
        </p:txBody>
      </p:sp>
      <p:sp>
        <p:nvSpPr>
          <p:cNvPr id="24" name="Shape 22"/>
          <p:cNvSpPr/>
          <p:nvPr/>
        </p:nvSpPr>
        <p:spPr>
          <a:xfrm>
            <a:off x="7955280" y="5394960"/>
            <a:ext cx="0" cy="548640"/>
          </a:xfrm>
          <a:prstGeom prst="line">
            <a:avLst/>
          </a:prstGeom>
          <a:noFill/>
          <a:ln w="12700">
            <a:solidFill>
              <a:srgbClr val="3550EE"/>
            </a:solidFill>
            <a:prstDash val="solid"/>
          </a:ln>
        </p:spPr>
      </p:sp>
      <p:sp>
        <p:nvSpPr>
          <p:cNvPr id="25" name="Text 23"/>
          <p:cNvSpPr/>
          <p:nvPr/>
        </p:nvSpPr>
        <p:spPr>
          <a:xfrm>
            <a:off x="8138160" y="5166360"/>
            <a:ext cx="3566160" cy="100584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~2 weeks   </a:t>
            </a:r>
            <a:pPr algn="l" indent="0" marL="0">
              <a:buNone/>
            </a:pPr>
            <a:r>
              <a:rPr lang="en-US" sz="1300" dirty="0">
                <a:solidFill>
                  <a:srgbClr val="CADCFC"/>
                </a:solidFill>
                <a:latin typeface="Calibri" pitchFamily="34" charset="0"/>
                <a:ea typeface="Calibri" pitchFamily="34" charset="-122"/>
                <a:cs typeface="Calibri" pitchFamily="34" charset="-120"/>
              </a:rPr>
              <a:t>sooner to hire</a:t>
            </a:r>
            <a:endParaRPr lang="en-US" sz="2200" dirty="0"/>
          </a:p>
        </p:txBody>
      </p:sp>
      <p:sp>
        <p:nvSpPr>
          <p:cNvPr id="26" name="Text 24"/>
          <p:cNvSpPr/>
          <p:nvPr/>
        </p:nvSpPr>
        <p:spPr>
          <a:xfrm>
            <a:off x="548640" y="6236208"/>
            <a:ext cx="10972800" cy="228600"/>
          </a:xfrm>
          <a:prstGeom prst="rect">
            <a:avLst/>
          </a:prstGeom>
          <a:noFill/>
          <a:ln/>
        </p:spPr>
        <p:txBody>
          <a:bodyPr wrap="square" lIns="0" tIns="0" rIns="0" bIns="0" rtlCol="0" anchor="ctr"/>
          <a:lstStyle/>
          <a:p>
            <a:pPr algn="l" indent="0" marL="0">
              <a:buNone/>
            </a:pPr>
            <a:r>
              <a:rPr lang="en-US" sz="900" i="1" dirty="0">
                <a:solidFill>
                  <a:srgbClr val="6B7280"/>
                </a:solidFill>
                <a:latin typeface="Calibri" pitchFamily="34" charset="0"/>
                <a:ea typeface="Calibri" pitchFamily="34" charset="-122"/>
                <a:cs typeface="Calibri" pitchFamily="34" charset="-120"/>
              </a:rPr>
              <a:t>Aster product outcomes; results vary by role and volume.</a:t>
            </a:r>
            <a:endParaRPr lang="en-US" sz="900" dirty="0"/>
          </a:p>
        </p:txBody>
      </p:sp>
      <p:sp>
        <p:nvSpPr>
          <p:cNvPr id="27" name="Text 2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28" name="Text 2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PRODUCT</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One hiring command center</a:t>
            </a:r>
            <a:endParaRPr lang="en-US" sz="3300" dirty="0"/>
          </a:p>
        </p:txBody>
      </p:sp>
      <p:sp>
        <p:nvSpPr>
          <p:cNvPr id="4" name="Shape 2"/>
          <p:cNvSpPr/>
          <p:nvPr/>
        </p:nvSpPr>
        <p:spPr>
          <a:xfrm>
            <a:off x="457200" y="1572768"/>
            <a:ext cx="6830568" cy="4804981"/>
          </a:xfrm>
          <a:prstGeom prst="roundRect">
            <a:avLst>
              <a:gd name="adj" fmla="val 1903"/>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pic>
        <p:nvPicPr>
          <p:cNvPr id="5" name="Image 0" descr="preencoded.png">    </p:cNvPr>
          <p:cNvPicPr>
            <a:picLocks noChangeAspect="1"/>
          </p:cNvPicPr>
          <p:nvPr/>
        </p:nvPicPr>
        <p:blipFill>
          <a:blip r:embed="rId1"/>
          <a:stretch>
            <a:fillRect/>
          </a:stretch>
        </p:blipFill>
        <p:spPr>
          <a:xfrm>
            <a:off x="512064" y="1627632"/>
            <a:ext cx="6720840" cy="4695253"/>
          </a:xfrm>
          <a:prstGeom prst="rect">
            <a:avLst/>
          </a:prstGeom>
        </p:spPr>
      </p:pic>
      <p:sp>
        <p:nvSpPr>
          <p:cNvPr id="6" name="Text 3"/>
          <p:cNvSpPr/>
          <p:nvPr/>
        </p:nvSpPr>
        <p:spPr>
          <a:xfrm>
            <a:off x="457200" y="6469189"/>
            <a:ext cx="672084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Live Aster hiring dashboard.</a:t>
            </a:r>
            <a:endParaRPr lang="en-US" sz="1000" dirty="0"/>
          </a:p>
        </p:txBody>
      </p:sp>
      <p:sp>
        <p:nvSpPr>
          <p:cNvPr id="7" name="Text 4"/>
          <p:cNvSpPr/>
          <p:nvPr/>
        </p:nvSpPr>
        <p:spPr>
          <a:xfrm>
            <a:off x="7498080" y="1737360"/>
            <a:ext cx="4206240" cy="365760"/>
          </a:xfrm>
          <a:prstGeom prst="rect">
            <a:avLst/>
          </a:prstGeom>
          <a:noFill/>
          <a:ln/>
        </p:spPr>
        <p:txBody>
          <a:bodyPr wrap="square" lIns="0" tIns="0" rIns="0" bIns="0" rtlCol="0" anchor="ctr"/>
          <a:lstStyle/>
          <a:p>
            <a:pPr algn="l" indent="0" marL="0">
              <a:buNone/>
            </a:pPr>
            <a:r>
              <a:rPr lang="en-US" sz="1700" b="1" dirty="0">
                <a:solidFill>
                  <a:srgbClr val="12132A"/>
                </a:solidFill>
                <a:latin typeface="Calibri" pitchFamily="34" charset="0"/>
                <a:ea typeface="Calibri" pitchFamily="34" charset="-122"/>
                <a:cs typeface="Calibri" pitchFamily="34" charset="-120"/>
              </a:rPr>
              <a:t>Built and shipping today</a:t>
            </a:r>
            <a:endParaRPr lang="en-US" sz="1700" dirty="0"/>
          </a:p>
        </p:txBody>
      </p:sp>
      <p:sp>
        <p:nvSpPr>
          <p:cNvPr id="8" name="Text 5"/>
          <p:cNvSpPr/>
          <p:nvPr/>
        </p:nvSpPr>
        <p:spPr>
          <a:xfrm>
            <a:off x="7498080" y="2331720"/>
            <a:ext cx="4160520" cy="3291840"/>
          </a:xfrm>
          <a:prstGeom prst="rect">
            <a:avLst/>
          </a:prstGeom>
          <a:noFill/>
          <a:ln/>
        </p:spPr>
        <p:txBody>
          <a:bodyPr wrap="square" lIns="0" tIns="0" rIns="0" bIns="0" rtlCol="0" anchor="t"/>
          <a:lstStyle/>
          <a:p>
            <a:pPr algn="l" marL="203200" indent="-203200">
              <a:spcAft>
                <a:spcPts val="1400"/>
              </a:spcAft>
              <a:buSzPct val="100000"/>
              <a:buChar char="•"/>
            </a:pPr>
            <a:r>
              <a:rPr lang="en-US" sz="1350" dirty="0">
                <a:solidFill>
                  <a:srgbClr val="4A5568"/>
                </a:solidFill>
                <a:latin typeface="Calibri" pitchFamily="34" charset="0"/>
                <a:ea typeface="Calibri" pitchFamily="34" charset="-122"/>
                <a:cs typeface="Calibri" pitchFamily="34" charset="-120"/>
              </a:rPr>
              <a:t>A live funnel from Applied to Interview to Offer to Hired.</a:t>
            </a:r>
            <a:endParaRPr lang="en-US" sz="1350" dirty="0"/>
          </a:p>
          <a:p>
            <a:pPr algn="l" marL="203200" indent="-203200">
              <a:spcAft>
                <a:spcPts val="1400"/>
              </a:spcAft>
              <a:buSzPct val="100000"/>
              <a:buChar char="•"/>
            </a:pPr>
            <a:r>
              <a:rPr lang="en-US" sz="1350" dirty="0">
                <a:solidFill>
                  <a:srgbClr val="4A5568"/>
                </a:solidFill>
                <a:latin typeface="Calibri" pitchFamily="34" charset="0"/>
                <a:ea typeface="Calibri" pitchFamily="34" charset="-122"/>
                <a:cs typeface="Calibri" pitchFamily="34" charset="-120"/>
              </a:rPr>
              <a:t>Ranked shortlists with a match score and reasons on every applicant.</a:t>
            </a:r>
            <a:endParaRPr lang="en-US" sz="1350" dirty="0"/>
          </a:p>
          <a:p>
            <a:pPr algn="l" marL="203200" indent="-203200">
              <a:spcAft>
                <a:spcPts val="1400"/>
              </a:spcAft>
              <a:buSzPct val="100000"/>
              <a:buChar char="•"/>
            </a:pPr>
            <a:r>
              <a:rPr lang="en-US" sz="1350" dirty="0">
                <a:solidFill>
                  <a:srgbClr val="4A5568"/>
                </a:solidFill>
                <a:latin typeface="Calibri" pitchFamily="34" charset="0"/>
                <a:ea typeface="Calibri" pitchFamily="34" charset="-122"/>
                <a:cs typeface="Calibri" pitchFamily="34" charset="-120"/>
              </a:rPr>
              <a:t>Interviews, scorecards and offers tracked on one candidate record.</a:t>
            </a:r>
            <a:endParaRPr lang="en-US" sz="1350" dirty="0"/>
          </a:p>
          <a:p>
            <a:pPr algn="l" marL="203200" indent="-203200">
              <a:spcAft>
                <a:spcPts val="1400"/>
              </a:spcAft>
              <a:buSzPct val="100000"/>
              <a:buChar char="•"/>
            </a:pPr>
            <a:r>
              <a:rPr lang="en-US" sz="1350" dirty="0">
                <a:solidFill>
                  <a:srgbClr val="4A5568"/>
                </a:solidFill>
                <a:latin typeface="Calibri" pitchFamily="34" charset="0"/>
                <a:ea typeface="Calibri" pitchFamily="34" charset="-122"/>
                <a:cs typeface="Calibri" pitchFamily="34" charset="-120"/>
              </a:rPr>
              <a:t>Source performance and time-in-stage analytics.</a:t>
            </a:r>
            <a:endParaRPr lang="en-US" sz="1350" dirty="0"/>
          </a:p>
          <a:p>
            <a:pPr algn="l" marL="203200" indent="-203200">
              <a:spcAft>
                <a:spcPts val="1400"/>
              </a:spcAft>
              <a:buSzPct val="100000"/>
              <a:buChar char="•"/>
            </a:pPr>
            <a:r>
              <a:rPr lang="en-US" sz="1350" dirty="0">
                <a:solidFill>
                  <a:srgbClr val="4A5568"/>
                </a:solidFill>
                <a:latin typeface="Calibri" pitchFamily="34" charset="0"/>
                <a:ea typeface="Calibri" pitchFamily="34" charset="-122"/>
                <a:cs typeface="Calibri" pitchFamily="34" charset="-120"/>
              </a:rPr>
              <a:t>Usage and plan limits, always visible.</a:t>
            </a:r>
            <a:endParaRPr lang="en-US" sz="1350" dirty="0"/>
          </a:p>
        </p:txBody>
      </p:sp>
      <p:sp>
        <p:nvSpPr>
          <p:cNvPr id="9" name="Shape 6"/>
          <p:cNvSpPr/>
          <p:nvPr/>
        </p:nvSpPr>
        <p:spPr>
          <a:xfrm>
            <a:off x="7498080" y="5349240"/>
            <a:ext cx="4142232" cy="868680"/>
          </a:xfrm>
          <a:prstGeom prst="roundRect">
            <a:avLst>
              <a:gd name="adj" fmla="val 10526"/>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10" name="Text 7"/>
          <p:cNvSpPr/>
          <p:nvPr/>
        </p:nvSpPr>
        <p:spPr>
          <a:xfrm>
            <a:off x="7699248" y="5349240"/>
            <a:ext cx="3794760" cy="868680"/>
          </a:xfrm>
          <a:prstGeom prst="rect">
            <a:avLst/>
          </a:prstGeom>
          <a:noFill/>
          <a:ln/>
        </p:spPr>
        <p:txBody>
          <a:bodyPr wrap="square" lIns="0" tIns="0" rIns="0" bIns="0" rtlCol="0" anchor="ctr"/>
          <a:lstStyle/>
          <a:p>
            <a:pPr algn="l" indent="0" marL="0">
              <a:buNone/>
            </a:pPr>
            <a:r>
              <a:rPr lang="en-US" sz="1200" b="1" dirty="0">
                <a:solidFill>
                  <a:srgbClr val="0B2AE0"/>
                </a:solidFill>
                <a:latin typeface="Calibri" pitchFamily="34" charset="0"/>
                <a:ea typeface="Calibri" pitchFamily="34" charset="-122"/>
                <a:cs typeface="Calibri" pitchFamily="34" charset="-120"/>
              </a:rPr>
              <a:t>Not a prototype.  </a:t>
            </a:r>
            <a:pPr algn="l" indent="0" marL="0">
              <a:buNone/>
            </a:pPr>
            <a:r>
              <a:rPr lang="en-US" sz="1200" dirty="0">
                <a:solidFill>
                  <a:srgbClr val="4A5568"/>
                </a:solidFill>
                <a:latin typeface="Calibri" pitchFamily="34" charset="0"/>
                <a:ea typeface="Calibri" pitchFamily="34" charset="-122"/>
                <a:cs typeface="Calibri" pitchFamily="34" charset="-120"/>
              </a:rPr>
              <a:t>A working platform, in market, that a team can run a real hire on today.</a:t>
            </a:r>
            <a:endParaRPr lang="en-US" sz="1200" dirty="0"/>
          </a:p>
        </p:txBody>
      </p:sp>
      <p:sp>
        <p:nvSpPr>
          <p:cNvPr id="11" name="Text 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12" name="Text 9"/>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8686800" y="-2377440"/>
            <a:ext cx="5943600" cy="5943600"/>
          </a:xfrm>
          <a:prstGeom prst="ellipse">
            <a:avLst/>
          </a:prstGeom>
          <a:solidFill>
            <a:srgbClr val="0B2AE0">
              <a:alpha val="34000"/>
            </a:srgbClr>
          </a:solidFill>
          <a:ln/>
        </p:spPr>
      </p:sp>
      <p:sp>
        <p:nvSpPr>
          <p:cNvPr id="3" name="Text 1"/>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CADCFC"/>
                </a:solidFill>
                <a:latin typeface="Calibri" pitchFamily="34" charset="0"/>
                <a:ea typeface="Calibri" pitchFamily="34" charset="-122"/>
                <a:cs typeface="Calibri" pitchFamily="34" charset="-120"/>
              </a:rPr>
              <a:t>THE MOAT</a:t>
            </a:r>
            <a:endParaRPr lang="en-US" sz="1200" dirty="0"/>
          </a:p>
        </p:txBody>
      </p:sp>
      <p:sp>
        <p:nvSpPr>
          <p:cNvPr id="4" name="Text 2"/>
          <p:cNvSpPr/>
          <p:nvPr/>
        </p:nvSpPr>
        <p:spPr>
          <a:xfrm>
            <a:off x="548640" y="777240"/>
            <a:ext cx="11064240" cy="640080"/>
          </a:xfrm>
          <a:prstGeom prst="rect">
            <a:avLst/>
          </a:prstGeom>
          <a:noFill/>
          <a:ln/>
        </p:spPr>
        <p:txBody>
          <a:bodyPr wrap="square" lIns="0" tIns="0" rIns="0" bIns="0" rtlCol="0" anchor="ctr"/>
          <a:lstStyle/>
          <a:p>
            <a:pPr algn="l" indent="0" marL="0">
              <a:buNone/>
            </a:pPr>
            <a:r>
              <a:rPr lang="en-US" sz="3300" b="1" dirty="0">
                <a:solidFill>
                  <a:srgbClr val="FFFFFF"/>
                </a:solidFill>
                <a:latin typeface="Calibri" pitchFamily="34" charset="0"/>
                <a:ea typeface="Calibri" pitchFamily="34" charset="-122"/>
                <a:cs typeface="Calibri" pitchFamily="34" charset="-120"/>
              </a:rPr>
              <a:t>We engineered our cost of goods</a:t>
            </a:r>
            <a:endParaRPr lang="en-US" sz="3300" dirty="0"/>
          </a:p>
        </p:txBody>
      </p:sp>
      <p:sp>
        <p:nvSpPr>
          <p:cNvPr id="5" name="Text 3"/>
          <p:cNvSpPr/>
          <p:nvPr/>
        </p:nvSpPr>
        <p:spPr>
          <a:xfrm>
            <a:off x="548640" y="1463040"/>
            <a:ext cx="11064240" cy="548640"/>
          </a:xfrm>
          <a:prstGeom prst="rect">
            <a:avLst/>
          </a:prstGeom>
          <a:noFill/>
          <a:ln/>
        </p:spPr>
        <p:txBody>
          <a:bodyPr wrap="square" lIns="0" tIns="0" rIns="0" bIns="0" rtlCol="0" anchor="ctr"/>
          <a:lstStyle/>
          <a:p>
            <a:pPr algn="l" indent="0" marL="0">
              <a:buNone/>
            </a:pPr>
            <a:r>
              <a:rPr lang="en-US" sz="1350" dirty="0">
                <a:solidFill>
                  <a:srgbClr val="CADCFC"/>
                </a:solidFill>
                <a:latin typeface="Calibri" pitchFamily="34" charset="0"/>
                <a:ea typeface="Calibri" pitchFamily="34" charset="-122"/>
                <a:cs typeface="Calibri" pitchFamily="34" charset="-120"/>
              </a:rPr>
              <a:t>Every AI task runs on the cheapest model that does it well. Our cost per hire stays low as volume scales, a structural margin edge over tools that route everything through one frontier model.</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1672" cy="914400"/>
        </p:xfrm>
        <a:graphic>
          <a:graphicData uri="http://schemas.openxmlformats.org/drawingml/2006/table">
            <a:tbl>
              <a:tblPr/>
              <a:tblGrid>
                <a:gridCol w="3840480"/>
                <a:gridCol w="2651760"/>
                <a:gridCol w="459943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AI task</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this model</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r>
              <a:tr h="502920">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Job description drafting</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Opus (top tier)</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Low volume, highest writing quality where it shows.</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r>
              <a:tr h="502920">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Resume screening &amp; parsing</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Sonnet (mid tier)</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Accurate structured extraction at high volume.</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r>
              <a:tr h="502920">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Candidate ranking</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Sonnet (mid tier)</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Reasoned scoring against the role, with explanations.</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r>
              <a:tr h="502920">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Experience insights</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Haiku (fast tier)</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High volume, fast and cheap, quality is sufficient.</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r>
              <a:tr h="502920">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Interview questions</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Haiku (fast tier)</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c>
                  <a:txBody>
                    <a:bodyPr/>
                    <a:lstStyle/>
                    <a:p>
                      <a:pPr indent="0" marL="0">
                        <a:buNone/>
                      </a:pPr>
                      <a:r>
                        <a:rPr lang="en-US" sz="1250" dirty="0">
                          <a:solidFill>
                            <a:srgbClr val="CADCFC"/>
                          </a:solidFill>
                          <a:latin typeface="Calibri" pitchFamily="34" charset="0"/>
                          <a:ea typeface="Calibri" pitchFamily="34" charset="-122"/>
                          <a:cs typeface="Calibri" pitchFamily="34" charset="-120"/>
                        </a:rPr>
                        <a:t>High volume, fast and cheap, quality is sufficient.</a:t>
                      </a:r>
                      <a:endParaRPr lang="en-US" sz="1250" dirty="0">
                        <a:latin typeface="Calibri" charset="0"/>
                        <a:ea typeface="Calibri" charset="0"/>
                        <a:cs typeface="Calibri" charset="0"/>
                      </a:endParaRPr>
                    </a:p>
                  </a:txBody>
                  <a:tcPr marL="101600" marR="101600" marT="50800" marB="50800" anchor="ctr">
                    <a:lnL w="12700" cap="flat" cmpd="sng" algn="ctr">
                      <a:solidFill>
                        <a:srgbClr val="3550EE"/>
                      </a:solidFill>
                      <a:prstDash val="solid"/>
                      <a:round/>
                      <a:headEnd type="none" w="med" len="med"/>
                      <a:tailEnd type="none" w="med" len="med"/>
                    </a:lnL>
                    <a:lnR w="12700" cap="flat" cmpd="sng" algn="ctr">
                      <a:solidFill>
                        <a:srgbClr val="3550EE"/>
                      </a:solidFill>
                      <a:prstDash val="solid"/>
                      <a:round/>
                      <a:headEnd type="none" w="med" len="med"/>
                      <a:tailEnd type="none" w="med" len="med"/>
                    </a:lnR>
                    <a:lnT w="12700" cap="flat" cmpd="sng" algn="ctr">
                      <a:solidFill>
                        <a:srgbClr val="3550EE"/>
                      </a:solidFill>
                      <a:prstDash val="solid"/>
                      <a:round/>
                      <a:headEnd type="none" w="med" len="med"/>
                      <a:tailEnd type="none" w="med" len="med"/>
                    </a:lnT>
                    <a:lnB w="12700" cap="flat" cmpd="sng" algn="ctr">
                      <a:solidFill>
                        <a:srgbClr val="3550EE"/>
                      </a:solidFill>
                      <a:prstDash val="solid"/>
                      <a:round/>
                      <a:headEnd type="none" w="med" len="med"/>
                      <a:tailEnd type="none" w="med" len="med"/>
                    </a:lnB>
                    <a:solidFill>
                      <a:srgbClr val="0E23C9"/>
                    </a:solidFill>
                  </a:tcPr>
                </a:tc>
              </a:tr>
            </a:tbl>
          </a:graphicData>
        </a:graphic>
      </p:graphicFrame>
      <p:sp>
        <p:nvSpPr>
          <p:cNvPr id="7" name="Shape 4"/>
          <p:cNvSpPr/>
          <p:nvPr/>
        </p:nvSpPr>
        <p:spPr>
          <a:xfrm>
            <a:off x="548640" y="5623560"/>
            <a:ext cx="11091672" cy="685800"/>
          </a:xfrm>
          <a:prstGeom prst="roundRect">
            <a:avLst>
              <a:gd name="adj" fmla="val 13333"/>
            </a:avLst>
          </a:prstGeom>
          <a:solidFill>
            <a:srgbClr val="0E23C9"/>
          </a:solidFill>
          <a:ln w="12700">
            <a:solidFill>
              <a:srgbClr val="3550EE"/>
            </a:solidFill>
            <a:prstDash val="solid"/>
          </a:ln>
          <a:effectLst>
            <a:outerShdw sx="100000" sy="100000" kx="0" ky="0" algn="bl" rotWithShape="0" blurRad="101600" dist="25400" dir="5400000">
              <a:srgbClr val="9AA0B5">
                <a:alpha val="16000"/>
              </a:srgbClr>
            </a:outerShdw>
          </a:effectLst>
        </p:spPr>
      </p:sp>
      <p:sp>
        <p:nvSpPr>
          <p:cNvPr id="8" name="Text 5"/>
          <p:cNvSpPr/>
          <p:nvPr/>
        </p:nvSpPr>
        <p:spPr>
          <a:xfrm>
            <a:off x="822960" y="5623560"/>
            <a:ext cx="10515600" cy="6858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The result:  </a:t>
            </a:r>
            <a:pPr algn="l" indent="0" marL="0">
              <a:buNone/>
            </a:pPr>
            <a:r>
              <a:rPr lang="en-US" sz="1250" dirty="0">
                <a:solidFill>
                  <a:srgbClr val="CADCFC"/>
                </a:solidFill>
                <a:latin typeface="Calibri" pitchFamily="34" charset="0"/>
                <a:ea typeface="Calibri" pitchFamily="34" charset="-122"/>
                <a:cs typeface="Calibri" pitchFamily="34" charset="-120"/>
              </a:rPr>
              <a:t>80–91% gross margin on AI usage, held by design, not by hoping model prices fall. Competitors copying the features still can't copy the cost structure.</a:t>
            </a:r>
            <a:endParaRPr lang="en-US" sz="1250" dirty="0"/>
          </a:p>
        </p:txBody>
      </p:sp>
      <p:sp>
        <p:nvSpPr>
          <p:cNvPr id="9" name="Text 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9FB0F0"/>
                </a:solidFill>
                <a:latin typeface="Calibri" pitchFamily="34" charset="0"/>
                <a:ea typeface="Calibri" pitchFamily="34" charset="-122"/>
                <a:cs typeface="Calibri" pitchFamily="34" charset="-120"/>
              </a:rPr>
              <a:t>Aster · Investor deck</a:t>
            </a:r>
            <a:endParaRPr lang="en-US" sz="900" dirty="0"/>
          </a:p>
        </p:txBody>
      </p:sp>
      <p:sp>
        <p:nvSpPr>
          <p:cNvPr id="10" name="Text 7"/>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9FB0F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Recurring subscriptions, plus usage that expands</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Four tiers with unlimited seats remove the adoption barrier; usage-based AI credits then grow revenue inside every account as they hire more.</a:t>
            </a:r>
            <a:endParaRPr lang="en-US" sz="1350" dirty="0"/>
          </a:p>
        </p:txBody>
      </p:sp>
      <p:sp>
        <p:nvSpPr>
          <p:cNvPr id="5" name="Shape 3"/>
          <p:cNvSpPr/>
          <p:nvPr/>
        </p:nvSpPr>
        <p:spPr>
          <a:xfrm>
            <a:off x="548640" y="2148840"/>
            <a:ext cx="2724912" cy="1554480"/>
          </a:xfrm>
          <a:prstGeom prst="roundRect">
            <a:avLst>
              <a:gd name="adj" fmla="val 5882"/>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6" name="Text 4"/>
          <p:cNvSpPr/>
          <p:nvPr/>
        </p:nvSpPr>
        <p:spPr>
          <a:xfrm>
            <a:off x="768096" y="2331720"/>
            <a:ext cx="2359152" cy="36576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Launch</a:t>
            </a:r>
            <a:endParaRPr lang="en-US" sz="1500" dirty="0"/>
          </a:p>
        </p:txBody>
      </p:sp>
      <p:sp>
        <p:nvSpPr>
          <p:cNvPr id="7" name="Text 5"/>
          <p:cNvSpPr/>
          <p:nvPr/>
        </p:nvSpPr>
        <p:spPr>
          <a:xfrm>
            <a:off x="768096" y="2697480"/>
            <a:ext cx="2359152" cy="45720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RM99 / mo</a:t>
            </a:r>
            <a:endParaRPr lang="en-US" sz="1800" dirty="0"/>
          </a:p>
        </p:txBody>
      </p:sp>
      <p:sp>
        <p:nvSpPr>
          <p:cNvPr id="8" name="Text 6"/>
          <p:cNvSpPr/>
          <p:nvPr/>
        </p:nvSpPr>
        <p:spPr>
          <a:xfrm>
            <a:off x="768096" y="3191256"/>
            <a:ext cx="2359152" cy="36576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First roles</a:t>
            </a:r>
            <a:endParaRPr lang="en-US" sz="1150" dirty="0"/>
          </a:p>
        </p:txBody>
      </p:sp>
      <p:sp>
        <p:nvSpPr>
          <p:cNvPr id="9" name="Shape 7"/>
          <p:cNvSpPr/>
          <p:nvPr/>
        </p:nvSpPr>
        <p:spPr>
          <a:xfrm>
            <a:off x="3415284" y="2148840"/>
            <a:ext cx="2724912" cy="1554480"/>
          </a:xfrm>
          <a:prstGeom prst="roundRect">
            <a:avLst>
              <a:gd name="adj" fmla="val 5882"/>
            </a:avLst>
          </a:prstGeom>
          <a:solidFill>
            <a:srgbClr val="0B2AE0"/>
          </a:solidFill>
          <a:ln w="12700">
            <a:solidFill>
              <a:srgbClr val="0B2AE0"/>
            </a:solidFill>
            <a:prstDash val="solid"/>
          </a:ln>
          <a:effectLst>
            <a:outerShdw sx="100000" sy="100000" kx="0" ky="0" algn="bl" rotWithShape="0" blurRad="101600" dist="25400" dir="5400000">
              <a:srgbClr val="9AA0B5">
                <a:alpha val="16000"/>
              </a:srgbClr>
            </a:outerShdw>
          </a:effectLst>
        </p:spPr>
      </p:sp>
      <p:sp>
        <p:nvSpPr>
          <p:cNvPr id="10" name="Text 8"/>
          <p:cNvSpPr/>
          <p:nvPr/>
        </p:nvSpPr>
        <p:spPr>
          <a:xfrm>
            <a:off x="3634740" y="2331720"/>
            <a:ext cx="2359152"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Scale</a:t>
            </a:r>
            <a:endParaRPr lang="en-US" sz="1500" dirty="0"/>
          </a:p>
        </p:txBody>
      </p:sp>
      <p:sp>
        <p:nvSpPr>
          <p:cNvPr id="11" name="Text 9"/>
          <p:cNvSpPr/>
          <p:nvPr/>
        </p:nvSpPr>
        <p:spPr>
          <a:xfrm>
            <a:off x="3634740" y="2697480"/>
            <a:ext cx="2359152" cy="4572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RM599 / mo</a:t>
            </a:r>
            <a:endParaRPr lang="en-US" sz="1800" dirty="0"/>
          </a:p>
        </p:txBody>
      </p:sp>
      <p:sp>
        <p:nvSpPr>
          <p:cNvPr id="12" name="Text 10"/>
          <p:cNvSpPr/>
          <p:nvPr/>
        </p:nvSpPr>
        <p:spPr>
          <a:xfrm>
            <a:off x="3634740" y="3191256"/>
            <a:ext cx="2359152" cy="365760"/>
          </a:xfrm>
          <a:prstGeom prst="rect">
            <a:avLst/>
          </a:prstGeom>
          <a:noFill/>
          <a:ln/>
        </p:spPr>
        <p:txBody>
          <a:bodyPr wrap="square" lIns="0" tIns="0" rIns="0" bIns="0" rtlCol="0" anchor="ctr"/>
          <a:lstStyle/>
          <a:p>
            <a:pPr algn="l" indent="0" marL="0">
              <a:buNone/>
            </a:pPr>
            <a:r>
              <a:rPr lang="en-US" sz="1150" dirty="0">
                <a:solidFill>
                  <a:srgbClr val="CADCFC"/>
                </a:solidFill>
                <a:latin typeface="Calibri" pitchFamily="34" charset="0"/>
                <a:ea typeface="Calibri" pitchFamily="34" charset="-122"/>
                <a:cs typeface="Calibri" pitchFamily="34" charset="-120"/>
              </a:rPr>
              <a:t>Small teams</a:t>
            </a:r>
            <a:endParaRPr lang="en-US" sz="1150" dirty="0"/>
          </a:p>
        </p:txBody>
      </p:sp>
      <p:sp>
        <p:nvSpPr>
          <p:cNvPr id="13" name="Shape 11"/>
          <p:cNvSpPr/>
          <p:nvPr/>
        </p:nvSpPr>
        <p:spPr>
          <a:xfrm>
            <a:off x="6281928" y="2148840"/>
            <a:ext cx="2724912" cy="1554480"/>
          </a:xfrm>
          <a:prstGeom prst="roundRect">
            <a:avLst>
              <a:gd name="adj" fmla="val 5882"/>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4" name="Text 12"/>
          <p:cNvSpPr/>
          <p:nvPr/>
        </p:nvSpPr>
        <p:spPr>
          <a:xfrm>
            <a:off x="6501384" y="2331720"/>
            <a:ext cx="2359152" cy="36576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Elite</a:t>
            </a:r>
            <a:endParaRPr lang="en-US" sz="1500" dirty="0"/>
          </a:p>
        </p:txBody>
      </p:sp>
      <p:sp>
        <p:nvSpPr>
          <p:cNvPr id="15" name="Text 13"/>
          <p:cNvSpPr/>
          <p:nvPr/>
        </p:nvSpPr>
        <p:spPr>
          <a:xfrm>
            <a:off x="6501384" y="2697480"/>
            <a:ext cx="2359152" cy="45720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RM1,399 / mo</a:t>
            </a:r>
            <a:endParaRPr lang="en-US" sz="1800" dirty="0"/>
          </a:p>
        </p:txBody>
      </p:sp>
      <p:sp>
        <p:nvSpPr>
          <p:cNvPr id="16" name="Text 14"/>
          <p:cNvSpPr/>
          <p:nvPr/>
        </p:nvSpPr>
        <p:spPr>
          <a:xfrm>
            <a:off x="6501384" y="3191256"/>
            <a:ext cx="2359152" cy="36576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Hiring at volume</a:t>
            </a:r>
            <a:endParaRPr lang="en-US" sz="1150" dirty="0"/>
          </a:p>
        </p:txBody>
      </p:sp>
      <p:sp>
        <p:nvSpPr>
          <p:cNvPr id="17" name="Shape 15"/>
          <p:cNvSpPr/>
          <p:nvPr/>
        </p:nvSpPr>
        <p:spPr>
          <a:xfrm>
            <a:off x="9148572" y="2148840"/>
            <a:ext cx="2724912" cy="1554480"/>
          </a:xfrm>
          <a:prstGeom prst="roundRect">
            <a:avLst>
              <a:gd name="adj" fmla="val 5882"/>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8" name="Text 16"/>
          <p:cNvSpPr/>
          <p:nvPr/>
        </p:nvSpPr>
        <p:spPr>
          <a:xfrm>
            <a:off x="9368028" y="2331720"/>
            <a:ext cx="2359152" cy="365760"/>
          </a:xfrm>
          <a:prstGeom prst="rect">
            <a:avLst/>
          </a:prstGeom>
          <a:noFill/>
          <a:ln/>
        </p:spPr>
        <p:txBody>
          <a:bodyPr wrap="square" lIns="0" tIns="0" rIns="0" bIns="0" rtlCol="0" anchor="ctr"/>
          <a:lstStyle/>
          <a:p>
            <a:pPr algn="l" indent="0" marL="0">
              <a:buNone/>
            </a:pPr>
            <a:r>
              <a:rPr lang="en-US" sz="1500" b="1" dirty="0">
                <a:solidFill>
                  <a:srgbClr val="12132A"/>
                </a:solidFill>
                <a:latin typeface="Calibri" pitchFamily="34" charset="0"/>
                <a:ea typeface="Calibri" pitchFamily="34" charset="-122"/>
                <a:cs typeface="Calibri" pitchFamily="34" charset="-120"/>
              </a:rPr>
              <a:t>Enterprise</a:t>
            </a:r>
            <a:endParaRPr lang="en-US" sz="1500" dirty="0"/>
          </a:p>
        </p:txBody>
      </p:sp>
      <p:sp>
        <p:nvSpPr>
          <p:cNvPr id="19" name="Text 17"/>
          <p:cNvSpPr/>
          <p:nvPr/>
        </p:nvSpPr>
        <p:spPr>
          <a:xfrm>
            <a:off x="9368028" y="2697480"/>
            <a:ext cx="2359152" cy="457200"/>
          </a:xfrm>
          <a:prstGeom prst="rect">
            <a:avLst/>
          </a:prstGeom>
          <a:noFill/>
          <a:ln/>
        </p:spPr>
        <p:txBody>
          <a:bodyPr wrap="square" lIns="0" tIns="0" rIns="0" bIns="0" rtlCol="0" anchor="ctr"/>
          <a:lstStyle/>
          <a:p>
            <a:pPr algn="l" indent="0" marL="0">
              <a:buNone/>
            </a:pPr>
            <a:r>
              <a:rPr lang="en-US" sz="1800" b="1" dirty="0">
                <a:solidFill>
                  <a:srgbClr val="12132A"/>
                </a:solidFill>
                <a:latin typeface="Calibri" pitchFamily="34" charset="0"/>
                <a:ea typeface="Calibri" pitchFamily="34" charset="-122"/>
                <a:cs typeface="Calibri" pitchFamily="34" charset="-120"/>
              </a:rPr>
              <a:t>Custom</a:t>
            </a:r>
            <a:endParaRPr lang="en-US" sz="1800" dirty="0"/>
          </a:p>
        </p:txBody>
      </p:sp>
      <p:sp>
        <p:nvSpPr>
          <p:cNvPr id="20" name="Text 18"/>
          <p:cNvSpPr/>
          <p:nvPr/>
        </p:nvSpPr>
        <p:spPr>
          <a:xfrm>
            <a:off x="9368028" y="3191256"/>
            <a:ext cx="2359152" cy="365760"/>
          </a:xfrm>
          <a:prstGeom prst="rect">
            <a:avLst/>
          </a:prstGeom>
          <a:noFill/>
          <a:ln/>
        </p:spPr>
        <p:txBody>
          <a:bodyPr wrap="square" lIns="0" tIns="0" rIns="0" bIns="0"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Own AI account</a:t>
            </a:r>
            <a:endParaRPr lang="en-US" sz="1150" dirty="0"/>
          </a:p>
        </p:txBody>
      </p:sp>
      <p:sp>
        <p:nvSpPr>
          <p:cNvPr id="21" name="Shape 19"/>
          <p:cNvSpPr/>
          <p:nvPr/>
        </p:nvSpPr>
        <p:spPr>
          <a:xfrm>
            <a:off x="548640" y="3977640"/>
            <a:ext cx="2724912" cy="1965960"/>
          </a:xfrm>
          <a:prstGeom prst="roundRect">
            <a:avLst>
              <a:gd name="adj" fmla="val 4651"/>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22" name="Shape 20"/>
          <p:cNvSpPr/>
          <p:nvPr/>
        </p:nvSpPr>
        <p:spPr>
          <a:xfrm>
            <a:off x="768096" y="4197096"/>
            <a:ext cx="457200" cy="457200"/>
          </a:xfrm>
          <a:prstGeom prst="ellipse">
            <a:avLst/>
          </a:prstGeom>
          <a:solidFill>
            <a:srgbClr val="0B2AE0"/>
          </a:solidFill>
          <a:ln/>
        </p:spPr>
      </p:sp>
      <p:sp>
        <p:nvSpPr>
          <p:cNvPr id="23" name="Text 21"/>
          <p:cNvSpPr/>
          <p:nvPr/>
        </p:nvSpPr>
        <p:spPr>
          <a:xfrm>
            <a:off x="768096" y="41879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4" name="Text 22"/>
          <p:cNvSpPr/>
          <p:nvPr/>
        </p:nvSpPr>
        <p:spPr>
          <a:xfrm>
            <a:off x="1325880" y="4215384"/>
            <a:ext cx="1810512" cy="411480"/>
          </a:xfrm>
          <a:prstGeom prst="rect">
            <a:avLst/>
          </a:prstGeom>
          <a:noFill/>
          <a:ln/>
        </p:spPr>
        <p:txBody>
          <a:bodyPr wrap="square" lIns="0" tIns="0" rIns="0" bIns="0" rtlCol="0" anchor="ctr"/>
          <a:lstStyle/>
          <a:p>
            <a:pPr algn="l" indent="0" marL="0">
              <a:buNone/>
            </a:pPr>
            <a:r>
              <a:rPr lang="en-US" sz="1500" b="1" dirty="0">
                <a:solidFill>
                  <a:srgbClr val="0B2AE0"/>
                </a:solidFill>
                <a:latin typeface="Calibri" pitchFamily="34" charset="0"/>
                <a:ea typeface="Calibri" pitchFamily="34" charset="-122"/>
                <a:cs typeface="Calibri" pitchFamily="34" charset="-120"/>
              </a:rPr>
              <a:t>Land</a:t>
            </a:r>
            <a:endParaRPr lang="en-US" sz="1500" dirty="0"/>
          </a:p>
        </p:txBody>
      </p:sp>
      <p:sp>
        <p:nvSpPr>
          <p:cNvPr id="25" name="Text 23"/>
          <p:cNvSpPr/>
          <p:nvPr/>
        </p:nvSpPr>
        <p:spPr>
          <a:xfrm>
            <a:off x="768096" y="4754880"/>
            <a:ext cx="2304288" cy="10972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Unlimited seats and a low entry price get the whole team onto one board fast.</a:t>
            </a:r>
            <a:endParaRPr lang="en-US" sz="1200" dirty="0"/>
          </a:p>
        </p:txBody>
      </p:sp>
      <p:sp>
        <p:nvSpPr>
          <p:cNvPr id="26" name="Shape 24"/>
          <p:cNvSpPr/>
          <p:nvPr/>
        </p:nvSpPr>
        <p:spPr>
          <a:xfrm>
            <a:off x="3415284" y="3977640"/>
            <a:ext cx="2724912" cy="1965960"/>
          </a:xfrm>
          <a:prstGeom prst="roundRect">
            <a:avLst>
              <a:gd name="adj" fmla="val 4651"/>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27" name="Shape 25"/>
          <p:cNvSpPr/>
          <p:nvPr/>
        </p:nvSpPr>
        <p:spPr>
          <a:xfrm>
            <a:off x="3634740" y="4197096"/>
            <a:ext cx="457200" cy="457200"/>
          </a:xfrm>
          <a:prstGeom prst="ellipse">
            <a:avLst/>
          </a:prstGeom>
          <a:solidFill>
            <a:srgbClr val="0B2AE0"/>
          </a:solidFill>
          <a:ln/>
        </p:spPr>
      </p:sp>
      <p:sp>
        <p:nvSpPr>
          <p:cNvPr id="28" name="Text 26"/>
          <p:cNvSpPr/>
          <p:nvPr/>
        </p:nvSpPr>
        <p:spPr>
          <a:xfrm>
            <a:off x="3634740" y="41879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7"/>
          <p:cNvSpPr/>
          <p:nvPr/>
        </p:nvSpPr>
        <p:spPr>
          <a:xfrm>
            <a:off x="4192524" y="4215384"/>
            <a:ext cx="1810512" cy="411480"/>
          </a:xfrm>
          <a:prstGeom prst="rect">
            <a:avLst/>
          </a:prstGeom>
          <a:noFill/>
          <a:ln/>
        </p:spPr>
        <p:txBody>
          <a:bodyPr wrap="square" lIns="0" tIns="0" rIns="0" bIns="0" rtlCol="0" anchor="ctr"/>
          <a:lstStyle/>
          <a:p>
            <a:pPr algn="l" indent="0" marL="0">
              <a:buNone/>
            </a:pPr>
            <a:r>
              <a:rPr lang="en-US" sz="1500" b="1" dirty="0">
                <a:solidFill>
                  <a:srgbClr val="0B2AE0"/>
                </a:solidFill>
                <a:latin typeface="Calibri" pitchFamily="34" charset="0"/>
                <a:ea typeface="Calibri" pitchFamily="34" charset="-122"/>
                <a:cs typeface="Calibri" pitchFamily="34" charset="-120"/>
              </a:rPr>
              <a:t>Expand</a:t>
            </a:r>
            <a:endParaRPr lang="en-US" sz="1500" dirty="0"/>
          </a:p>
        </p:txBody>
      </p:sp>
      <p:sp>
        <p:nvSpPr>
          <p:cNvPr id="30" name="Text 28"/>
          <p:cNvSpPr/>
          <p:nvPr/>
        </p:nvSpPr>
        <p:spPr>
          <a:xfrm>
            <a:off x="3634740" y="4754880"/>
            <a:ext cx="2304288" cy="10972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Every extra hire consumes AI credits, so revenue grows with the customer's success.</a:t>
            </a:r>
            <a:endParaRPr lang="en-US" sz="1200" dirty="0"/>
          </a:p>
        </p:txBody>
      </p:sp>
      <p:sp>
        <p:nvSpPr>
          <p:cNvPr id="31" name="Shape 29"/>
          <p:cNvSpPr/>
          <p:nvPr/>
        </p:nvSpPr>
        <p:spPr>
          <a:xfrm>
            <a:off x="6281928" y="3977640"/>
            <a:ext cx="2724912" cy="1965960"/>
          </a:xfrm>
          <a:prstGeom prst="roundRect">
            <a:avLst>
              <a:gd name="adj" fmla="val 4651"/>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32" name="Shape 30"/>
          <p:cNvSpPr/>
          <p:nvPr/>
        </p:nvSpPr>
        <p:spPr>
          <a:xfrm>
            <a:off x="6501384" y="4197096"/>
            <a:ext cx="457200" cy="457200"/>
          </a:xfrm>
          <a:prstGeom prst="ellipse">
            <a:avLst/>
          </a:prstGeom>
          <a:solidFill>
            <a:srgbClr val="0B2AE0"/>
          </a:solidFill>
          <a:ln/>
        </p:spPr>
      </p:sp>
      <p:sp>
        <p:nvSpPr>
          <p:cNvPr id="33" name="Text 31"/>
          <p:cNvSpPr/>
          <p:nvPr/>
        </p:nvSpPr>
        <p:spPr>
          <a:xfrm>
            <a:off x="6501384" y="41879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4" name="Text 32"/>
          <p:cNvSpPr/>
          <p:nvPr/>
        </p:nvSpPr>
        <p:spPr>
          <a:xfrm>
            <a:off x="7059168" y="4215384"/>
            <a:ext cx="1810512" cy="411480"/>
          </a:xfrm>
          <a:prstGeom prst="rect">
            <a:avLst/>
          </a:prstGeom>
          <a:noFill/>
          <a:ln/>
        </p:spPr>
        <p:txBody>
          <a:bodyPr wrap="square" lIns="0" tIns="0" rIns="0" bIns="0" rtlCol="0" anchor="ctr"/>
          <a:lstStyle/>
          <a:p>
            <a:pPr algn="l" indent="0" marL="0">
              <a:buNone/>
            </a:pPr>
            <a:r>
              <a:rPr lang="en-US" sz="1500" b="1" dirty="0">
                <a:solidFill>
                  <a:srgbClr val="0B2AE0"/>
                </a:solidFill>
                <a:latin typeface="Calibri" pitchFamily="34" charset="0"/>
                <a:ea typeface="Calibri" pitchFamily="34" charset="-122"/>
                <a:cs typeface="Calibri" pitchFamily="34" charset="-120"/>
              </a:rPr>
              <a:t>Ascend</a:t>
            </a:r>
            <a:endParaRPr lang="en-US" sz="1500" dirty="0"/>
          </a:p>
        </p:txBody>
      </p:sp>
      <p:sp>
        <p:nvSpPr>
          <p:cNvPr id="35" name="Text 33"/>
          <p:cNvSpPr/>
          <p:nvPr/>
        </p:nvSpPr>
        <p:spPr>
          <a:xfrm>
            <a:off x="6501384" y="4754880"/>
            <a:ext cx="2304288" cy="10972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Volume hirers move to Elite and Enterprise, where the biggest budgets live.</a:t>
            </a:r>
            <a:endParaRPr lang="en-US" sz="1200" dirty="0"/>
          </a:p>
        </p:txBody>
      </p:sp>
      <p:sp>
        <p:nvSpPr>
          <p:cNvPr id="36" name="Shape 34"/>
          <p:cNvSpPr/>
          <p:nvPr/>
        </p:nvSpPr>
        <p:spPr>
          <a:xfrm>
            <a:off x="9148572" y="3977640"/>
            <a:ext cx="2724912" cy="1965960"/>
          </a:xfrm>
          <a:prstGeom prst="roundRect">
            <a:avLst>
              <a:gd name="adj" fmla="val 4651"/>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37" name="Shape 35"/>
          <p:cNvSpPr/>
          <p:nvPr/>
        </p:nvSpPr>
        <p:spPr>
          <a:xfrm>
            <a:off x="9368028" y="4197096"/>
            <a:ext cx="457200" cy="457200"/>
          </a:xfrm>
          <a:prstGeom prst="ellipse">
            <a:avLst/>
          </a:prstGeom>
          <a:solidFill>
            <a:srgbClr val="0B2AE0"/>
          </a:solidFill>
          <a:ln/>
        </p:spPr>
      </p:sp>
      <p:sp>
        <p:nvSpPr>
          <p:cNvPr id="38" name="Text 36"/>
          <p:cNvSpPr/>
          <p:nvPr/>
        </p:nvSpPr>
        <p:spPr>
          <a:xfrm>
            <a:off x="9368028" y="41879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9" name="Text 37"/>
          <p:cNvSpPr/>
          <p:nvPr/>
        </p:nvSpPr>
        <p:spPr>
          <a:xfrm>
            <a:off x="9925812" y="4215384"/>
            <a:ext cx="1810512" cy="411480"/>
          </a:xfrm>
          <a:prstGeom prst="rect">
            <a:avLst/>
          </a:prstGeom>
          <a:noFill/>
          <a:ln/>
        </p:spPr>
        <p:txBody>
          <a:bodyPr wrap="square" lIns="0" tIns="0" rIns="0" bIns="0" rtlCol="0" anchor="ctr"/>
          <a:lstStyle/>
          <a:p>
            <a:pPr algn="l" indent="0" marL="0">
              <a:buNone/>
            </a:pPr>
            <a:r>
              <a:rPr lang="en-US" sz="1500" b="1" dirty="0">
                <a:solidFill>
                  <a:srgbClr val="0B2AE0"/>
                </a:solidFill>
                <a:latin typeface="Calibri" pitchFamily="34" charset="0"/>
                <a:ea typeface="Calibri" pitchFamily="34" charset="-122"/>
                <a:cs typeface="Calibri" pitchFamily="34" charset="-120"/>
              </a:rPr>
              <a:t>Retain</a:t>
            </a:r>
            <a:endParaRPr lang="en-US" sz="1500" dirty="0"/>
          </a:p>
        </p:txBody>
      </p:sp>
      <p:sp>
        <p:nvSpPr>
          <p:cNvPr id="40" name="Text 38"/>
          <p:cNvSpPr/>
          <p:nvPr/>
        </p:nvSpPr>
        <p:spPr>
          <a:xfrm>
            <a:off x="9368028" y="4754880"/>
            <a:ext cx="2304288" cy="10972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The pipeline becomes the system of record, and the switching cost, for hiring.</a:t>
            </a:r>
            <a:endParaRPr lang="en-US" sz="1200" dirty="0"/>
          </a:p>
        </p:txBody>
      </p:sp>
      <p:sp>
        <p:nvSpPr>
          <p:cNvPr id="41" name="Text 39"/>
          <p:cNvSpPr/>
          <p:nvPr/>
        </p:nvSpPr>
        <p:spPr>
          <a:xfrm>
            <a:off x="548640" y="6053328"/>
            <a:ext cx="10972800" cy="274320"/>
          </a:xfrm>
          <a:prstGeom prst="rect">
            <a:avLst/>
          </a:prstGeom>
          <a:noFill/>
          <a:ln/>
        </p:spPr>
        <p:txBody>
          <a:bodyPr wrap="square" lIns="0" tIns="0" rIns="0" bIns="0" rtlCol="0" anchor="ctr"/>
          <a:lstStyle/>
          <a:p>
            <a:pPr algn="l" indent="0" marL="0">
              <a:buNone/>
            </a:pPr>
            <a:r>
              <a:rPr lang="en-US" sz="1000" i="1" dirty="0">
                <a:solidFill>
                  <a:srgbClr val="6B7280"/>
                </a:solidFill>
                <a:latin typeface="Calibri" pitchFamily="34" charset="0"/>
                <a:ea typeface="Calibri" pitchFamily="34" charset="-122"/>
                <a:cs typeface="Calibri" pitchFamily="34" charset="-120"/>
              </a:rPr>
              <a:t>Land-and-expand: low friction to start, revenue that compounds as each account hires more.</a:t>
            </a:r>
            <a:endParaRPr lang="en-US" sz="1000" dirty="0"/>
          </a:p>
        </p:txBody>
      </p:sp>
      <p:sp>
        <p:nvSpPr>
          <p:cNvPr id="42" name="Text 4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43" name="Text 4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UNIT ECONOMICS</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Every layer of revenue is higher-margin than the last</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Gross margin rises as an account grows: from subscription, to AI credit top-ups, to Enterprise running AI on its own account.</a:t>
            </a:r>
            <a:endParaRPr lang="en-US" sz="1350" dirty="0"/>
          </a:p>
        </p:txBody>
      </p:sp>
      <p:graphicFrame>
        <p:nvGraphicFramePr>
          <p:cNvPr id="5" name="Chart 0" descr=""/>
          <p:cNvGraphicFramePr/>
          <p:nvPr/>
        </p:nvGraphicFramePr>
        <p:xfrm>
          <a:off x="548640" y="2148840"/>
          <a:ext cx="6126480" cy="3794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086600" y="2240280"/>
            <a:ext cx="4553712" cy="365760"/>
          </a:xfrm>
          <a:prstGeom prst="rect">
            <a:avLst/>
          </a:prstGeom>
          <a:noFill/>
          <a:ln/>
        </p:spPr>
        <p:txBody>
          <a:bodyPr wrap="square" lIns="0" tIns="0" rIns="0" bIns="0" rtlCol="0" anchor="ctr"/>
          <a:lstStyle/>
          <a:p>
            <a:pPr algn="l" indent="0" marL="0">
              <a:buNone/>
            </a:pPr>
            <a:r>
              <a:rPr lang="en-US" sz="1450" b="1" dirty="0">
                <a:solidFill>
                  <a:srgbClr val="0B2AE0"/>
                </a:solidFill>
                <a:latin typeface="Calibri" pitchFamily="34" charset="0"/>
                <a:ea typeface="Calibri" pitchFamily="34" charset="-122"/>
                <a:cs typeface="Calibri" pitchFamily="34" charset="-120"/>
              </a:rPr>
              <a:t>Plan subscriptions ~68%</a:t>
            </a:r>
            <a:endParaRPr lang="en-US" sz="1450" dirty="0"/>
          </a:p>
        </p:txBody>
      </p:sp>
      <p:sp>
        <p:nvSpPr>
          <p:cNvPr id="7" name="Text 4"/>
          <p:cNvSpPr/>
          <p:nvPr/>
        </p:nvSpPr>
        <p:spPr>
          <a:xfrm>
            <a:off x="7086600" y="2606040"/>
            <a:ext cx="4553712" cy="8686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Blended across tiers, after AI cost, Stripe fees, infrastructure and the 10% channel-partner share on plan revenue.</a:t>
            </a:r>
            <a:endParaRPr lang="en-US" sz="1200" dirty="0"/>
          </a:p>
        </p:txBody>
      </p:sp>
      <p:sp>
        <p:nvSpPr>
          <p:cNvPr id="8" name="Text 5"/>
          <p:cNvSpPr/>
          <p:nvPr/>
        </p:nvSpPr>
        <p:spPr>
          <a:xfrm>
            <a:off x="7086600" y="3538728"/>
            <a:ext cx="4553712" cy="365760"/>
          </a:xfrm>
          <a:prstGeom prst="rect">
            <a:avLst/>
          </a:prstGeom>
          <a:noFill/>
          <a:ln/>
        </p:spPr>
        <p:txBody>
          <a:bodyPr wrap="square" lIns="0" tIns="0" rIns="0" bIns="0" rtlCol="0" anchor="ctr"/>
          <a:lstStyle/>
          <a:p>
            <a:pPr algn="l" indent="0" marL="0">
              <a:buNone/>
            </a:pPr>
            <a:r>
              <a:rPr lang="en-US" sz="1450" b="1" dirty="0">
                <a:solidFill>
                  <a:srgbClr val="0B2AE0"/>
                </a:solidFill>
                <a:latin typeface="Calibri" pitchFamily="34" charset="0"/>
                <a:ea typeface="Calibri" pitchFamily="34" charset="-122"/>
                <a:cs typeface="Calibri" pitchFamily="34" charset="-120"/>
              </a:rPr>
              <a:t>AI credit top-ups ~80–91%</a:t>
            </a:r>
            <a:endParaRPr lang="en-US" sz="1450" dirty="0"/>
          </a:p>
        </p:txBody>
      </p:sp>
      <p:sp>
        <p:nvSpPr>
          <p:cNvPr id="9" name="Text 6"/>
          <p:cNvSpPr/>
          <p:nvPr/>
        </p:nvSpPr>
        <p:spPr>
          <a:xfrm>
            <a:off x="7086600" y="3904488"/>
            <a:ext cx="4553712" cy="8686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Priced per action with a minimum top-up. Pure margin expansion on top of the subscription, no partner share.</a:t>
            </a:r>
            <a:endParaRPr lang="en-US" sz="1200" dirty="0"/>
          </a:p>
        </p:txBody>
      </p:sp>
      <p:sp>
        <p:nvSpPr>
          <p:cNvPr id="10" name="Text 7"/>
          <p:cNvSpPr/>
          <p:nvPr/>
        </p:nvSpPr>
        <p:spPr>
          <a:xfrm>
            <a:off x="7086600" y="4837176"/>
            <a:ext cx="4553712" cy="365760"/>
          </a:xfrm>
          <a:prstGeom prst="rect">
            <a:avLst/>
          </a:prstGeom>
          <a:noFill/>
          <a:ln/>
        </p:spPr>
        <p:txBody>
          <a:bodyPr wrap="square" lIns="0" tIns="0" rIns="0" bIns="0" rtlCol="0" anchor="ctr"/>
          <a:lstStyle/>
          <a:p>
            <a:pPr algn="l" indent="0" marL="0">
              <a:buNone/>
            </a:pPr>
            <a:r>
              <a:rPr lang="en-US" sz="1450" b="1" dirty="0">
                <a:solidFill>
                  <a:srgbClr val="0B2AE0"/>
                </a:solidFill>
                <a:latin typeface="Calibri" pitchFamily="34" charset="0"/>
                <a:ea typeface="Calibri" pitchFamily="34" charset="-122"/>
                <a:cs typeface="Calibri" pitchFamily="34" charset="-120"/>
              </a:rPr>
              <a:t>Enterprise ~95%+</a:t>
            </a:r>
            <a:endParaRPr lang="en-US" sz="1450" dirty="0"/>
          </a:p>
        </p:txBody>
      </p:sp>
      <p:sp>
        <p:nvSpPr>
          <p:cNvPr id="11" name="Text 8"/>
          <p:cNvSpPr/>
          <p:nvPr/>
        </p:nvSpPr>
        <p:spPr>
          <a:xfrm>
            <a:off x="7086600" y="5202936"/>
            <a:ext cx="4553712" cy="86868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Customer connects its own AI account, so Aster carries almost no variable AI cost. Licence from RM30k/mo.</a:t>
            </a:r>
            <a:endParaRPr lang="en-US" sz="1200" dirty="0"/>
          </a:p>
        </p:txBody>
      </p:sp>
      <p:sp>
        <p:nvSpPr>
          <p:cNvPr id="12" name="Text 9"/>
          <p:cNvSpPr/>
          <p:nvPr/>
        </p:nvSpPr>
        <p:spPr>
          <a:xfrm>
            <a:off x="548640" y="6144768"/>
            <a:ext cx="109728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Margins modeled from provider pricing (Anthropic, Stripe, infrastructure). Detail in the pricing model.</a:t>
            </a:r>
            <a:endParaRPr lang="en-US" sz="950" dirty="0"/>
          </a:p>
        </p:txBody>
      </p:sp>
      <p:sp>
        <p:nvSpPr>
          <p:cNvPr id="13"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14" name="Text 1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MARKET</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A large market, growing fast, at the AI inflection</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AI recruitment is the fastest-growing slice of HR tech, and it is moving from experiment to default workflow right now.</a:t>
            </a:r>
            <a:endParaRPr lang="en-US" sz="1350" dirty="0"/>
          </a:p>
        </p:txBody>
      </p:sp>
      <p:graphicFrame>
        <p:nvGraphicFramePr>
          <p:cNvPr id="5" name="Chart 0" descr=""/>
          <p:cNvGraphicFramePr/>
          <p:nvPr/>
        </p:nvGraphicFramePr>
        <p:xfrm>
          <a:off x="548640" y="219456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2960" y="2286000"/>
            <a:ext cx="1965960" cy="502920"/>
          </a:xfrm>
          <a:prstGeom prst="roundRect">
            <a:avLst>
              <a:gd name="adj" fmla="val 50909"/>
            </a:avLst>
          </a:prstGeom>
          <a:solidFill>
            <a:srgbClr val="EAEEFE"/>
          </a:solidFill>
          <a:ln w="12700">
            <a:solidFill>
              <a:srgbClr val="D7DEFB"/>
            </a:solidFill>
            <a:prstDash val="solid"/>
          </a:ln>
        </p:spPr>
      </p:sp>
      <p:sp>
        <p:nvSpPr>
          <p:cNvPr id="7" name="Text 4"/>
          <p:cNvSpPr/>
          <p:nvPr/>
        </p:nvSpPr>
        <p:spPr>
          <a:xfrm>
            <a:off x="822960" y="2286000"/>
            <a:ext cx="1965960" cy="502920"/>
          </a:xfrm>
          <a:prstGeom prst="rect">
            <a:avLst/>
          </a:prstGeom>
          <a:noFill/>
          <a:ln/>
        </p:spPr>
        <p:txBody>
          <a:bodyPr wrap="square" lIns="0" tIns="0" rIns="0" bIns="0" rtlCol="0" anchor="ctr"/>
          <a:lstStyle/>
          <a:p>
            <a:pPr algn="ctr" indent="0" marL="0">
              <a:buNone/>
            </a:pPr>
            <a:r>
              <a:rPr lang="en-US" sz="1400" b="1" dirty="0">
                <a:solidFill>
                  <a:srgbClr val="0B2AE0"/>
                </a:solidFill>
                <a:latin typeface="Calibri" pitchFamily="34" charset="0"/>
                <a:ea typeface="Calibri" pitchFamily="34" charset="-122"/>
                <a:cs typeface="Calibri" pitchFamily="34" charset="-120"/>
              </a:rPr>
              <a:t>14.3% CAGR</a:t>
            </a:r>
            <a:endParaRPr lang="en-US" sz="1400" dirty="0"/>
          </a:p>
        </p:txBody>
      </p:sp>
      <p:sp>
        <p:nvSpPr>
          <p:cNvPr id="8" name="Text 5"/>
          <p:cNvSpPr/>
          <p:nvPr/>
        </p:nvSpPr>
        <p:spPr>
          <a:xfrm>
            <a:off x="6858000" y="2148840"/>
            <a:ext cx="4754880" cy="365760"/>
          </a:xfrm>
          <a:prstGeom prst="rect">
            <a:avLst/>
          </a:prstGeom>
          <a:noFill/>
          <a:ln/>
        </p:spPr>
        <p:txBody>
          <a:bodyPr wrap="square" lIns="0" tIns="0" rIns="0" bIns="0" rtlCol="0" anchor="ctr"/>
          <a:lstStyle/>
          <a:p>
            <a:pPr algn="l" indent="0" marL="0">
              <a:buNone/>
            </a:pPr>
            <a:r>
              <a:rPr lang="en-US" sz="1600" b="1" dirty="0">
                <a:solidFill>
                  <a:srgbClr val="12132A"/>
                </a:solidFill>
                <a:latin typeface="Calibri" pitchFamily="34" charset="0"/>
                <a:ea typeface="Calibri" pitchFamily="34" charset="-122"/>
                <a:cs typeface="Calibri" pitchFamily="34" charset="-120"/>
              </a:rPr>
              <a:t>What's driving it</a:t>
            </a:r>
            <a:endParaRPr lang="en-US" sz="1600" dirty="0"/>
          </a:p>
        </p:txBody>
      </p:sp>
      <p:sp>
        <p:nvSpPr>
          <p:cNvPr id="9" name="Text 6"/>
          <p:cNvSpPr/>
          <p:nvPr/>
        </p:nvSpPr>
        <p:spPr>
          <a:xfrm>
            <a:off x="6858000" y="2606040"/>
            <a:ext cx="4782312" cy="1920240"/>
          </a:xfrm>
          <a:prstGeom prst="rect">
            <a:avLst/>
          </a:prstGeom>
          <a:noFill/>
          <a:ln/>
        </p:spPr>
        <p:txBody>
          <a:bodyPr wrap="square" lIns="0" tIns="0" rIns="0" bIns="0" rtlCol="0" anchor="t"/>
          <a:lstStyle/>
          <a:p>
            <a:pPr algn="l" marL="203200" indent="-203200">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AI in HR crossing from pilot to standard practice.</a:t>
            </a:r>
            <a:endParaRPr lang="en-US" sz="1300" dirty="0"/>
          </a:p>
          <a:p>
            <a:pPr algn="l" marL="203200" indent="-203200">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Generative AI making per-hire screening genuinely cheap.</a:t>
            </a:r>
            <a:endParaRPr lang="en-US" sz="1300" dirty="0"/>
          </a:p>
          <a:p>
            <a:pPr algn="l" marL="203200" indent="-203200">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Hiring teams growing faster than recruiter headcount.</a:t>
            </a:r>
            <a:endParaRPr lang="en-US" sz="1300" dirty="0"/>
          </a:p>
          <a:p>
            <a:pPr algn="l" marL="203200" indent="-203200">
              <a:spcAft>
                <a:spcPts val="1100"/>
              </a:spcAft>
              <a:buSzPct val="100000"/>
              <a:buChar char="•"/>
            </a:pPr>
            <a:r>
              <a:rPr lang="en-US" sz="1300" dirty="0">
                <a:solidFill>
                  <a:srgbClr val="4A5568"/>
                </a:solidFill>
                <a:latin typeface="Calibri" pitchFamily="34" charset="0"/>
                <a:ea typeface="Calibri" pitchFamily="34" charset="-122"/>
                <a:cs typeface="Calibri" pitchFamily="34" charset="-120"/>
              </a:rPr>
              <a:t>Buyers consolidating off fragmented, manual tools.</a:t>
            </a:r>
            <a:endParaRPr lang="en-US" sz="1300" dirty="0"/>
          </a:p>
        </p:txBody>
      </p:sp>
      <p:sp>
        <p:nvSpPr>
          <p:cNvPr id="10" name="Shape 7"/>
          <p:cNvSpPr/>
          <p:nvPr/>
        </p:nvSpPr>
        <p:spPr>
          <a:xfrm>
            <a:off x="6858000" y="4572000"/>
            <a:ext cx="4782312" cy="1371600"/>
          </a:xfrm>
          <a:prstGeom prst="roundRect">
            <a:avLst>
              <a:gd name="adj" fmla="val 6667"/>
            </a:avLst>
          </a:prstGeom>
          <a:solidFill>
            <a:srgbClr val="0A1FC2"/>
          </a:solidFill>
          <a:ln w="12700">
            <a:solidFill>
              <a:srgbClr val="0A1FC2"/>
            </a:solidFill>
            <a:prstDash val="solid"/>
          </a:ln>
          <a:effectLst>
            <a:outerShdw sx="100000" sy="100000" kx="0" ky="0" algn="bl" rotWithShape="0" blurRad="101600" dist="25400" dir="5400000">
              <a:srgbClr val="9AA0B5">
                <a:alpha val="16000"/>
              </a:srgbClr>
            </a:outerShdw>
          </a:effectLst>
        </p:spPr>
      </p:sp>
      <p:sp>
        <p:nvSpPr>
          <p:cNvPr id="11" name="Text 8"/>
          <p:cNvSpPr/>
          <p:nvPr/>
        </p:nvSpPr>
        <p:spPr>
          <a:xfrm>
            <a:off x="7086600" y="4572000"/>
            <a:ext cx="4343400" cy="13716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Aster's wedge:  </a:t>
            </a:r>
            <a:pPr algn="l" indent="0" marL="0">
              <a:buNone/>
            </a:pPr>
            <a:r>
              <a:rPr lang="en-US" sz="1250" dirty="0">
                <a:solidFill>
                  <a:srgbClr val="CADCFC"/>
                </a:solidFill>
                <a:latin typeface="Calibri" pitchFamily="34" charset="0"/>
                <a:ea typeface="Calibri" pitchFamily="34" charset="-122"/>
                <a:cs typeface="Calibri" pitchFamily="34" charset="-120"/>
              </a:rPr>
              <a:t>AI-native, priced for SMB through enterprise, multi-currency, with a Southeast Asia home market that global players underserve.</a:t>
            </a:r>
            <a:endParaRPr lang="en-US" sz="1250" dirty="0"/>
          </a:p>
        </p:txBody>
      </p:sp>
      <p:sp>
        <p:nvSpPr>
          <p:cNvPr id="12" name="Text 9"/>
          <p:cNvSpPr/>
          <p:nvPr/>
        </p:nvSpPr>
        <p:spPr>
          <a:xfrm>
            <a:off x="548640" y="6144768"/>
            <a:ext cx="109728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Source: AI recruitment platform market outlook, 2026 (US$6.1B in 2026 to US$17.9B by 2034, 14.3% CAGR).</a:t>
            </a:r>
            <a:endParaRPr lang="en-US" sz="950" dirty="0"/>
          </a:p>
        </p:txBody>
      </p:sp>
      <p:sp>
        <p:nvSpPr>
          <p:cNvPr id="13"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14" name="Text 1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WHY WE WIN</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AI-native, full-workflow, priced for the mid-market</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Legacy ATS platforms store CVs but don't read them. AI point tools screen but don't run the hire. Aster does both, at a price the mid-market will pay.</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5056632"/>
                <a:gridCol w="2011680"/>
                <a:gridCol w="2011680"/>
                <a:gridCol w="2011680"/>
              </a:tblGrid>
              <a:tr h="457200">
                <a:tc>
                  <a:txBody>
                    <a:bodyPr/>
                    <a:lstStyle/>
                    <a:p>
                      <a:pPr algn="l" indent="0" marL="0">
                        <a:buNone/>
                      </a:pP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7F8F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Aster</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0B2AE0"/>
                    </a:solidFill>
                  </a:tcPr>
                </a:tc>
                <a:tc>
                  <a:txBody>
                    <a:bodyPr/>
                    <a:lstStyle/>
                    <a:p>
                      <a:pPr algn="ctr" indent="0" marL="0">
                        <a:buNone/>
                      </a:pPr>
                      <a:r>
                        <a:rPr lang="en-US" sz="1300" b="1" dirty="0">
                          <a:solidFill>
                            <a:srgbClr val="12132A"/>
                          </a:solidFill>
                          <a:latin typeface="Calibri" pitchFamily="34" charset="0"/>
                          <a:ea typeface="Calibri" pitchFamily="34" charset="-122"/>
                          <a:cs typeface="Calibri" pitchFamily="34" charset="-120"/>
                        </a:rPr>
                        <a:t>Legacy ATS</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7F8FC"/>
                    </a:solidFill>
                  </a:tcPr>
                </a:tc>
                <a:tc>
                  <a:txBody>
                    <a:bodyPr/>
                    <a:lstStyle/>
                    <a:p>
                      <a:pPr algn="ctr" indent="0" marL="0">
                        <a:buNone/>
                      </a:pPr>
                      <a:r>
                        <a:rPr lang="en-US" sz="1300" b="1" dirty="0">
                          <a:solidFill>
                            <a:srgbClr val="12132A"/>
                          </a:solidFill>
                          <a:latin typeface="Calibri" pitchFamily="34" charset="0"/>
                          <a:ea typeface="Calibri" pitchFamily="34" charset="-122"/>
                          <a:cs typeface="Calibri" pitchFamily="34" charset="-120"/>
                        </a:rPr>
                        <a:t>AI point tool</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7F8FC"/>
                    </a:solidFill>
                  </a:tcPr>
                </a:tc>
              </a:tr>
              <a:tr h="502920">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AI screening &amp; ranking built in</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EAEEFE"/>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Full workflow: career site to offer</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EAEEFE"/>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Unlimited seats</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EAEEFE"/>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Usage-based AI pricing</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EAEEFE"/>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Multi-currency, SEA focus</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EAEEFE"/>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2132A"/>
                          </a:solidFill>
                          <a:latin typeface="Calibri" pitchFamily="34" charset="0"/>
                          <a:ea typeface="Calibri" pitchFamily="34" charset="-122"/>
                          <a:cs typeface="Calibri" pitchFamily="34" charset="-120"/>
                        </a:rPr>
                        <a:t>Engineered, multi-model AI cost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EAEEFE"/>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DEDEE3"/>
                      </a:solidFill>
                      <a:prstDash val="solid"/>
                      <a:round/>
                      <a:headEnd type="none" w="med" len="med"/>
                      <a:tailEnd type="none" w="med" len="med"/>
                    </a:lnL>
                    <a:lnR w="12700" cap="flat" cmpd="sng" algn="ctr">
                      <a:solidFill>
                        <a:srgbClr val="DEDEE3"/>
                      </a:solidFill>
                      <a:prstDash val="solid"/>
                      <a:round/>
                      <a:headEnd type="none" w="med" len="med"/>
                      <a:tailEnd type="none" w="med" len="med"/>
                    </a:lnR>
                    <a:lnT w="12700" cap="flat" cmpd="sng" algn="ctr">
                      <a:solidFill>
                        <a:srgbClr val="DEDEE3"/>
                      </a:solidFill>
                      <a:prstDash val="solid"/>
                      <a:round/>
                      <a:headEnd type="none" w="med" len="med"/>
                      <a:tailEnd type="none" w="med" len="med"/>
                    </a:lnT>
                    <a:lnB w="12700" cap="flat" cmpd="sng" algn="ctr">
                      <a:solidFill>
                        <a:srgbClr val="DEDEE3"/>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72200"/>
            <a:ext cx="10972800" cy="256032"/>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Comparison is directional, across typical products in each category, not a specific vendor.</a:t>
            </a:r>
            <a:endParaRPr lang="en-US" sz="950" dirty="0"/>
          </a:p>
        </p:txBody>
      </p:sp>
      <p:sp>
        <p:nvSpPr>
          <p:cNvPr id="7" name="Text 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8" name="Text 5"/>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VISION</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From screening tool to hiring system of record</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Screening is the wedge. The pipeline is the platform. Every hire adds data that makes the next hire faster and the account harder to leave.</a:t>
            </a:r>
            <a:endParaRPr lang="en-US" sz="1350" dirty="0"/>
          </a:p>
        </p:txBody>
      </p:sp>
      <p:sp>
        <p:nvSpPr>
          <p:cNvPr id="5" name="Shape 3"/>
          <p:cNvSpPr/>
          <p:nvPr/>
        </p:nvSpPr>
        <p:spPr>
          <a:xfrm>
            <a:off x="548640" y="2286000"/>
            <a:ext cx="3630168" cy="3566160"/>
          </a:xfrm>
          <a:prstGeom prst="roundRect">
            <a:avLst>
              <a:gd name="adj" fmla="val 2564"/>
            </a:avLst>
          </a:prstGeom>
          <a:solidFill>
            <a:srgbClr val="0B2AE0"/>
          </a:solidFill>
          <a:ln w="12700">
            <a:solidFill>
              <a:srgbClr val="0B2AE0"/>
            </a:solidFill>
            <a:prstDash val="solid"/>
          </a:ln>
          <a:effectLst>
            <a:outerShdw sx="100000" sy="100000" kx="0" ky="0" algn="bl" rotWithShape="0" blurRad="101600" dist="25400" dir="5400000">
              <a:srgbClr val="9AA0B5">
                <a:alpha val="16000"/>
              </a:srgbClr>
            </a:outerShdw>
          </a:effectLst>
        </p:spPr>
      </p:sp>
      <p:sp>
        <p:nvSpPr>
          <p:cNvPr id="6" name="Text 4"/>
          <p:cNvSpPr/>
          <p:nvPr/>
        </p:nvSpPr>
        <p:spPr>
          <a:xfrm>
            <a:off x="822960" y="2523744"/>
            <a:ext cx="3081528" cy="45720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Now</a:t>
            </a:r>
            <a:endParaRPr lang="en-US" sz="2000" dirty="0"/>
          </a:p>
        </p:txBody>
      </p:sp>
      <p:sp>
        <p:nvSpPr>
          <p:cNvPr id="7" name="Text 5"/>
          <p:cNvSpPr/>
          <p:nvPr/>
        </p:nvSpPr>
        <p:spPr>
          <a:xfrm>
            <a:off x="822960" y="2999232"/>
            <a:ext cx="3081528" cy="274320"/>
          </a:xfrm>
          <a:prstGeom prst="rect">
            <a:avLst/>
          </a:prstGeom>
          <a:noFill/>
          <a:ln/>
        </p:spPr>
        <p:txBody>
          <a:bodyPr wrap="square" lIns="0" tIns="0" rIns="0" bIns="0" rtlCol="0" anchor="ctr"/>
          <a:lstStyle/>
          <a:p>
            <a:pPr algn="l" indent="0" marL="0">
              <a:buNone/>
            </a:pPr>
            <a:r>
              <a:rPr lang="en-US" sz="1050" b="1" spc="150" kern="0" dirty="0">
                <a:solidFill>
                  <a:srgbClr val="CADCFC"/>
                </a:solidFill>
                <a:latin typeface="Calibri" pitchFamily="34" charset="0"/>
                <a:ea typeface="Calibri" pitchFamily="34" charset="-122"/>
                <a:cs typeface="Calibri" pitchFamily="34" charset="-120"/>
              </a:rPr>
              <a:t>LIVE TODAY</a:t>
            </a:r>
            <a:endParaRPr lang="en-US" sz="1050" dirty="0"/>
          </a:p>
        </p:txBody>
      </p:sp>
      <p:sp>
        <p:nvSpPr>
          <p:cNvPr id="8" name="Text 6"/>
          <p:cNvSpPr/>
          <p:nvPr/>
        </p:nvSpPr>
        <p:spPr>
          <a:xfrm>
            <a:off x="822960" y="3429000"/>
            <a:ext cx="3127248" cy="2286000"/>
          </a:xfrm>
          <a:prstGeom prst="rect">
            <a:avLst/>
          </a:prstGeom>
          <a:noFill/>
          <a:ln/>
        </p:spPr>
        <p:txBody>
          <a:bodyPr wrap="square" lIns="0" tIns="0" rIns="0" bIns="0" rtlCol="0" anchor="t"/>
          <a:lstStyle/>
          <a:p>
            <a:pPr algn="l" marL="177800" indent="-177800">
              <a:spcAft>
                <a:spcPts val="1100"/>
              </a:spcAft>
              <a:buSzPct val="100000"/>
              <a:buChar char="•"/>
            </a:pPr>
            <a:r>
              <a:rPr lang="en-US" sz="1250" dirty="0">
                <a:solidFill>
                  <a:srgbClr val="CADCFC"/>
                </a:solidFill>
                <a:latin typeface="Calibri" pitchFamily="34" charset="0"/>
                <a:ea typeface="Calibri" pitchFamily="34" charset="-122"/>
                <a:cs typeface="Calibri" pitchFamily="34" charset="-120"/>
              </a:rPr>
              <a:t>AI screening, ranking &amp; insights</a:t>
            </a:r>
            <a:endParaRPr lang="en-US" sz="1250" dirty="0"/>
          </a:p>
          <a:p>
            <a:pPr algn="l" marL="177800" indent="-177800">
              <a:spcAft>
                <a:spcPts val="1100"/>
              </a:spcAft>
              <a:buSzPct val="100000"/>
              <a:buChar char="•"/>
            </a:pPr>
            <a:r>
              <a:rPr lang="en-US" sz="1250" dirty="0">
                <a:solidFill>
                  <a:srgbClr val="CADCFC"/>
                </a:solidFill>
                <a:latin typeface="Calibri" pitchFamily="34" charset="0"/>
                <a:ea typeface="Calibri" pitchFamily="34" charset="-122"/>
                <a:cs typeface="Calibri" pitchFamily="34" charset="-120"/>
              </a:rPr>
              <a:t>Interview self-scheduling</a:t>
            </a:r>
            <a:endParaRPr lang="en-US" sz="1250" dirty="0"/>
          </a:p>
          <a:p>
            <a:pPr algn="l" marL="177800" indent="-177800">
              <a:spcAft>
                <a:spcPts val="1100"/>
              </a:spcAft>
              <a:buSzPct val="100000"/>
              <a:buChar char="•"/>
            </a:pPr>
            <a:r>
              <a:rPr lang="en-US" sz="1250" dirty="0">
                <a:solidFill>
                  <a:srgbClr val="CADCFC"/>
                </a:solidFill>
                <a:latin typeface="Calibri" pitchFamily="34" charset="0"/>
                <a:ea typeface="Calibri" pitchFamily="34" charset="-122"/>
                <a:cs typeface="Calibri" pitchFamily="34" charset="-120"/>
              </a:rPr>
              <a:t>One shared pipeline &amp; scorecards</a:t>
            </a:r>
            <a:endParaRPr lang="en-US" sz="1250" dirty="0"/>
          </a:p>
          <a:p>
            <a:pPr algn="l" marL="177800" indent="-177800">
              <a:spcAft>
                <a:spcPts val="1100"/>
              </a:spcAft>
              <a:buSzPct val="100000"/>
              <a:buChar char="•"/>
            </a:pPr>
            <a:r>
              <a:rPr lang="en-US" sz="1250" dirty="0">
                <a:solidFill>
                  <a:srgbClr val="CADCFC"/>
                </a:solidFill>
                <a:latin typeface="Calibri" pitchFamily="34" charset="0"/>
                <a:ea typeface="Calibri" pitchFamily="34" charset="-122"/>
                <a:cs typeface="Calibri" pitchFamily="34" charset="-120"/>
              </a:rPr>
              <a:t>Usage-based AI credits</a:t>
            </a:r>
            <a:endParaRPr lang="en-US" sz="1250" dirty="0"/>
          </a:p>
        </p:txBody>
      </p:sp>
      <p:sp>
        <p:nvSpPr>
          <p:cNvPr id="9" name="Shape 7"/>
          <p:cNvSpPr/>
          <p:nvPr/>
        </p:nvSpPr>
        <p:spPr>
          <a:xfrm>
            <a:off x="4297680" y="2286000"/>
            <a:ext cx="3630168" cy="3566160"/>
          </a:xfrm>
          <a:prstGeom prst="roundRect">
            <a:avLst>
              <a:gd name="adj" fmla="val 2564"/>
            </a:avLst>
          </a:prstGeom>
          <a:solidFill>
            <a:srgbClr val="EAEEFE"/>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10" name="Text 8"/>
          <p:cNvSpPr/>
          <p:nvPr/>
        </p:nvSpPr>
        <p:spPr>
          <a:xfrm>
            <a:off x="4572000" y="2523744"/>
            <a:ext cx="3081528" cy="45720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Next</a:t>
            </a:r>
            <a:endParaRPr lang="en-US" sz="2000" dirty="0"/>
          </a:p>
        </p:txBody>
      </p:sp>
      <p:sp>
        <p:nvSpPr>
          <p:cNvPr id="11" name="Text 9"/>
          <p:cNvSpPr/>
          <p:nvPr/>
        </p:nvSpPr>
        <p:spPr>
          <a:xfrm>
            <a:off x="4572000" y="2999232"/>
            <a:ext cx="3081528" cy="274320"/>
          </a:xfrm>
          <a:prstGeom prst="rect">
            <a:avLst/>
          </a:prstGeom>
          <a:noFill/>
          <a:ln/>
        </p:spPr>
        <p:txBody>
          <a:bodyPr wrap="square" lIns="0" tIns="0" rIns="0" bIns="0" rtlCol="0" anchor="ctr"/>
          <a:lstStyle/>
          <a:p>
            <a:pPr algn="l" indent="0" marL="0">
              <a:buNone/>
            </a:pPr>
            <a:r>
              <a:rPr lang="en-US" sz="1050" b="1" spc="150" kern="0" dirty="0">
                <a:solidFill>
                  <a:srgbClr val="4A5568"/>
                </a:solidFill>
                <a:latin typeface="Calibri" pitchFamily="34" charset="0"/>
                <a:ea typeface="Calibri" pitchFamily="34" charset="-122"/>
                <a:cs typeface="Calibri" pitchFamily="34" charset="-120"/>
              </a:rPr>
              <a:t>12–18 MONTHS</a:t>
            </a:r>
            <a:endParaRPr lang="en-US" sz="1050" dirty="0"/>
          </a:p>
        </p:txBody>
      </p:sp>
      <p:sp>
        <p:nvSpPr>
          <p:cNvPr id="12" name="Text 10"/>
          <p:cNvSpPr/>
          <p:nvPr/>
        </p:nvSpPr>
        <p:spPr>
          <a:xfrm>
            <a:off x="4572000" y="3429000"/>
            <a:ext cx="3127248" cy="2286000"/>
          </a:xfrm>
          <a:prstGeom prst="rect">
            <a:avLst/>
          </a:prstGeom>
          <a:noFill/>
          <a:ln/>
        </p:spPr>
        <p:txBody>
          <a:bodyPr wrap="square" lIns="0" tIns="0" rIns="0" bIns="0" rtlCol="0" anchor="t"/>
          <a:lstStyle/>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Talent CRM &amp; candidate re-engagement</a:t>
            </a:r>
            <a:endParaRPr lang="en-US" sz="1250" dirty="0"/>
          </a:p>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HRIS &amp; job-board integrations</a:t>
            </a:r>
            <a:endParaRPr lang="en-US" sz="1250" dirty="0"/>
          </a:p>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Deeper hiring analytics</a:t>
            </a:r>
            <a:endParaRPr lang="en-US" sz="1250" dirty="0"/>
          </a:p>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SSO, audit &amp; white-label for Enterprise</a:t>
            </a:r>
            <a:endParaRPr lang="en-US" sz="1250" dirty="0"/>
          </a:p>
        </p:txBody>
      </p:sp>
      <p:sp>
        <p:nvSpPr>
          <p:cNvPr id="13" name="Shape 11"/>
          <p:cNvSpPr/>
          <p:nvPr/>
        </p:nvSpPr>
        <p:spPr>
          <a:xfrm>
            <a:off x="8046720" y="2286000"/>
            <a:ext cx="3630168" cy="3566160"/>
          </a:xfrm>
          <a:prstGeom prst="roundRect">
            <a:avLst>
              <a:gd name="adj" fmla="val 2564"/>
            </a:avLst>
          </a:prstGeom>
          <a:solidFill>
            <a:srgbClr val="F7F8FC"/>
          </a:solidFill>
          <a:ln w="12700">
            <a:solidFill>
              <a:srgbClr val="D7DEFB"/>
            </a:solidFill>
            <a:prstDash val="solid"/>
          </a:ln>
          <a:effectLst>
            <a:outerShdw sx="100000" sy="100000" kx="0" ky="0" algn="bl" rotWithShape="0" blurRad="101600" dist="25400" dir="5400000">
              <a:srgbClr val="9AA0B5">
                <a:alpha val="16000"/>
              </a:srgbClr>
            </a:outerShdw>
          </a:effectLst>
        </p:spPr>
      </p:sp>
      <p:sp>
        <p:nvSpPr>
          <p:cNvPr id="14" name="Text 12"/>
          <p:cNvSpPr/>
          <p:nvPr/>
        </p:nvSpPr>
        <p:spPr>
          <a:xfrm>
            <a:off x="8321040" y="2523744"/>
            <a:ext cx="3081528" cy="457200"/>
          </a:xfrm>
          <a:prstGeom prst="rect">
            <a:avLst/>
          </a:prstGeom>
          <a:noFill/>
          <a:ln/>
        </p:spPr>
        <p:txBody>
          <a:bodyPr wrap="square" lIns="0" tIns="0" rIns="0" bIns="0" rtlCol="0" anchor="ctr"/>
          <a:lstStyle/>
          <a:p>
            <a:pPr algn="l" indent="0" marL="0">
              <a:buNone/>
            </a:pPr>
            <a:r>
              <a:rPr lang="en-US" sz="2000" b="1" dirty="0">
                <a:solidFill>
                  <a:srgbClr val="12132A"/>
                </a:solidFill>
                <a:latin typeface="Calibri" pitchFamily="34" charset="0"/>
                <a:ea typeface="Calibri" pitchFamily="34" charset="-122"/>
                <a:cs typeface="Calibri" pitchFamily="34" charset="-120"/>
              </a:rPr>
              <a:t>Later</a:t>
            </a:r>
            <a:endParaRPr lang="en-US" sz="2000" dirty="0"/>
          </a:p>
        </p:txBody>
      </p:sp>
      <p:sp>
        <p:nvSpPr>
          <p:cNvPr id="15" name="Text 13"/>
          <p:cNvSpPr/>
          <p:nvPr/>
        </p:nvSpPr>
        <p:spPr>
          <a:xfrm>
            <a:off x="8321040" y="2999232"/>
            <a:ext cx="3081528" cy="274320"/>
          </a:xfrm>
          <a:prstGeom prst="rect">
            <a:avLst/>
          </a:prstGeom>
          <a:noFill/>
          <a:ln/>
        </p:spPr>
        <p:txBody>
          <a:bodyPr wrap="square" lIns="0" tIns="0" rIns="0" bIns="0" rtlCol="0" anchor="ctr"/>
          <a:lstStyle/>
          <a:p>
            <a:pPr algn="l" indent="0" marL="0">
              <a:buNone/>
            </a:pPr>
            <a:r>
              <a:rPr lang="en-US" sz="1050" b="1" spc="150" kern="0" dirty="0">
                <a:solidFill>
                  <a:srgbClr val="4A5568"/>
                </a:solidFill>
                <a:latin typeface="Calibri" pitchFamily="34" charset="0"/>
                <a:ea typeface="Calibri" pitchFamily="34" charset="-122"/>
                <a:cs typeface="Calibri" pitchFamily="34" charset="-120"/>
              </a:rPr>
              <a:t>THE PLATFORM</a:t>
            </a:r>
            <a:endParaRPr lang="en-US" sz="1050" dirty="0"/>
          </a:p>
        </p:txBody>
      </p:sp>
      <p:sp>
        <p:nvSpPr>
          <p:cNvPr id="16" name="Text 14"/>
          <p:cNvSpPr/>
          <p:nvPr/>
        </p:nvSpPr>
        <p:spPr>
          <a:xfrm>
            <a:off x="8321040" y="3429000"/>
            <a:ext cx="3127248" cy="2286000"/>
          </a:xfrm>
          <a:prstGeom prst="rect">
            <a:avLst/>
          </a:prstGeom>
          <a:noFill/>
          <a:ln/>
        </p:spPr>
        <p:txBody>
          <a:bodyPr wrap="square" lIns="0" tIns="0" rIns="0" bIns="0" rtlCol="0" anchor="t"/>
          <a:lstStyle/>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Predictive sourcing &amp; outreach</a:t>
            </a:r>
            <a:endParaRPr lang="en-US" sz="1250" dirty="0"/>
          </a:p>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Multi-language screening across SEA</a:t>
            </a:r>
            <a:endParaRPr lang="en-US" sz="1250" dirty="0"/>
          </a:p>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Partner &amp; template marketplace</a:t>
            </a:r>
            <a:endParaRPr lang="en-US" sz="1250" dirty="0"/>
          </a:p>
          <a:p>
            <a:pPr algn="l" marL="177800" indent="-177800">
              <a:spcAft>
                <a:spcPts val="1100"/>
              </a:spcAft>
              <a:buSzPct val="100000"/>
              <a:buChar char="•"/>
            </a:pPr>
            <a:r>
              <a:rPr lang="en-US" sz="1250" dirty="0">
                <a:solidFill>
                  <a:srgbClr val="4A5568"/>
                </a:solidFill>
                <a:latin typeface="Calibri" pitchFamily="34" charset="0"/>
                <a:ea typeface="Calibri" pitchFamily="34" charset="-122"/>
                <a:cs typeface="Calibri" pitchFamily="34" charset="-120"/>
              </a:rPr>
              <a:t>The hiring data layer for a region</a:t>
            </a:r>
            <a:endParaRPr lang="en-US" sz="1250" dirty="0"/>
          </a:p>
        </p:txBody>
      </p:sp>
      <p:sp>
        <p:nvSpPr>
          <p:cNvPr id="17" name="Text 15"/>
          <p:cNvSpPr/>
          <p:nvPr/>
        </p:nvSpPr>
        <p:spPr>
          <a:xfrm>
            <a:off x="548640" y="6053328"/>
            <a:ext cx="11064240" cy="274320"/>
          </a:xfrm>
          <a:prstGeom prst="rect">
            <a:avLst/>
          </a:prstGeom>
          <a:noFill/>
          <a:ln/>
        </p:spPr>
        <p:txBody>
          <a:bodyPr wrap="square" lIns="0" tIns="0" rIns="0" bIns="0" rtlCol="0" anchor="ctr"/>
          <a:lstStyle/>
          <a:p>
            <a:pPr algn="l" indent="0" marL="0">
              <a:buNone/>
            </a:pPr>
            <a:r>
              <a:rPr lang="en-US" sz="1050" i="1" dirty="0">
                <a:solidFill>
                  <a:srgbClr val="6B7280"/>
                </a:solidFill>
                <a:latin typeface="Calibri" pitchFamily="34" charset="0"/>
                <a:ea typeface="Calibri" pitchFamily="34" charset="-122"/>
                <a:cs typeface="Calibri" pitchFamily="34" charset="-120"/>
              </a:rPr>
              <a:t>The same pipeline serves a founder's first hire and an enterprise's thousandth, so the market expands underneath a single product.</a:t>
            </a:r>
            <a:endParaRPr lang="en-US" sz="1050" dirty="0"/>
          </a:p>
        </p:txBody>
      </p:sp>
      <p:sp>
        <p:nvSpPr>
          <p:cNvPr id="18" name="Text 1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19" name="Text 17"/>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0B2AE0"/>
                </a:solidFill>
                <a:latin typeface="Calibri" pitchFamily="34" charset="0"/>
                <a:ea typeface="Calibri" pitchFamily="34" charset="-122"/>
                <a:cs typeface="Calibri" pitchFamily="34" charset="-120"/>
              </a:rPr>
              <a:t>THE MODEL</a:t>
            </a:r>
            <a:endParaRPr lang="en-US" sz="12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algn="l" indent="0" marL="0">
              <a:buNone/>
            </a:pPr>
            <a:r>
              <a:rPr lang="en-US" sz="3300" b="1" dirty="0">
                <a:solidFill>
                  <a:srgbClr val="12132A"/>
                </a:solidFill>
                <a:latin typeface="Calibri" pitchFamily="34" charset="0"/>
                <a:ea typeface="Calibri" pitchFamily="34" charset="-122"/>
                <a:cs typeface="Calibri" pitchFamily="34" charset="-120"/>
              </a:rPr>
              <a:t>Revenue scales fast with a few enterprise logos</a:t>
            </a:r>
            <a:endParaRPr lang="en-US" sz="3300" dirty="0"/>
          </a:p>
        </p:txBody>
      </p:sp>
      <p:sp>
        <p:nvSpPr>
          <p:cNvPr id="4" name="Text 2"/>
          <p:cNvSpPr/>
          <p:nvPr/>
        </p:nvSpPr>
        <p:spPr>
          <a:xfrm>
            <a:off x="548640" y="1481328"/>
            <a:ext cx="11064240" cy="457200"/>
          </a:xfrm>
          <a:prstGeom prst="rect">
            <a:avLst/>
          </a:prstGeom>
          <a:noFill/>
          <a:ln/>
        </p:spPr>
        <p:txBody>
          <a:bodyPr wrap="square" lIns="0" tIns="0" rIns="0" bIns="0" rtlCol="0" anchor="ctr"/>
          <a:lstStyle/>
          <a:p>
            <a:pPr algn="l" indent="0" marL="0">
              <a:buNone/>
            </a:pPr>
            <a:r>
              <a:rPr lang="en-US" sz="1350" dirty="0">
                <a:solidFill>
                  <a:srgbClr val="4A5568"/>
                </a:solidFill>
                <a:latin typeface="Calibri" pitchFamily="34" charset="0"/>
                <a:ea typeface="Calibri" pitchFamily="34" charset="-122"/>
                <a:cs typeface="Calibri" pitchFamily="34" charset="-120"/>
              </a:rPr>
              <a:t>Illustrative account-mix scenarios on current pricing. A handful of Enterprise accounts (RM30k/mo floor) is the swing factor.</a:t>
            </a:r>
            <a:endParaRPr lang="en-US" sz="1350" dirty="0"/>
          </a:p>
        </p:txBody>
      </p:sp>
      <p:sp>
        <p:nvSpPr>
          <p:cNvPr id="5" name="Shape 3"/>
          <p:cNvSpPr/>
          <p:nvPr/>
        </p:nvSpPr>
        <p:spPr>
          <a:xfrm>
            <a:off x="548640" y="2240280"/>
            <a:ext cx="3630168" cy="2743200"/>
          </a:xfrm>
          <a:prstGeom prst="roundRect">
            <a:avLst>
              <a:gd name="adj" fmla="val 3333"/>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6" name="Text 4"/>
          <p:cNvSpPr/>
          <p:nvPr/>
        </p:nvSpPr>
        <p:spPr>
          <a:xfrm>
            <a:off x="822960" y="2496312"/>
            <a:ext cx="3081528" cy="320040"/>
          </a:xfrm>
          <a:prstGeom prst="rect">
            <a:avLst/>
          </a:prstGeom>
          <a:noFill/>
          <a:ln/>
        </p:spPr>
        <p:txBody>
          <a:bodyPr wrap="square" lIns="0" tIns="0" rIns="0" bIns="0" rtlCol="0" anchor="ctr"/>
          <a:lstStyle/>
          <a:p>
            <a:pPr algn="l" indent="0" marL="0">
              <a:buNone/>
            </a:pPr>
            <a:r>
              <a:rPr lang="en-US" sz="1200" b="1" spc="150" kern="0" dirty="0">
                <a:solidFill>
                  <a:srgbClr val="4A5568"/>
                </a:solidFill>
                <a:latin typeface="Calibri" pitchFamily="34" charset="0"/>
                <a:ea typeface="Calibri" pitchFamily="34" charset="-122"/>
                <a:cs typeface="Calibri" pitchFamily="34" charset="-120"/>
              </a:rPr>
              <a:t>CONSERVATIVE</a:t>
            </a:r>
            <a:endParaRPr lang="en-US" sz="1200" dirty="0"/>
          </a:p>
        </p:txBody>
      </p:sp>
      <p:sp>
        <p:nvSpPr>
          <p:cNvPr id="7" name="Text 5"/>
          <p:cNvSpPr/>
          <p:nvPr/>
        </p:nvSpPr>
        <p:spPr>
          <a:xfrm>
            <a:off x="822960" y="2862072"/>
            <a:ext cx="3081528" cy="822960"/>
          </a:xfrm>
          <a:prstGeom prst="rect">
            <a:avLst/>
          </a:prstGeom>
          <a:noFill/>
          <a:ln/>
        </p:spPr>
        <p:txBody>
          <a:bodyPr wrap="square" lIns="0" tIns="0" rIns="0" bIns="0" rtlCol="0" anchor="ctr"/>
          <a:lstStyle/>
          <a:p>
            <a:pPr algn="l" indent="0" marL="0">
              <a:buNone/>
            </a:pPr>
            <a:r>
              <a:rPr lang="en-US" sz="3800" b="1" dirty="0">
                <a:solidFill>
                  <a:srgbClr val="0B2AE0"/>
                </a:solidFill>
                <a:latin typeface="Calibri" pitchFamily="34" charset="0"/>
                <a:ea typeface="Calibri" pitchFamily="34" charset="-122"/>
                <a:cs typeface="Calibri" pitchFamily="34" charset="-120"/>
              </a:rPr>
              <a:t>RM883K</a:t>
            </a:r>
            <a:endParaRPr lang="en-US" sz="3800" dirty="0"/>
          </a:p>
        </p:txBody>
      </p:sp>
      <p:sp>
        <p:nvSpPr>
          <p:cNvPr id="8" name="Text 6"/>
          <p:cNvSpPr/>
          <p:nvPr/>
        </p:nvSpPr>
        <p:spPr>
          <a:xfrm>
            <a:off x="822960" y="3685032"/>
            <a:ext cx="3081528"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projected ARR</a:t>
            </a:r>
            <a:endParaRPr lang="en-US" sz="1300" dirty="0"/>
          </a:p>
        </p:txBody>
      </p:sp>
      <p:sp>
        <p:nvSpPr>
          <p:cNvPr id="9" name="Shape 7"/>
          <p:cNvSpPr/>
          <p:nvPr/>
        </p:nvSpPr>
        <p:spPr>
          <a:xfrm>
            <a:off x="822960" y="4160520"/>
            <a:ext cx="3081528" cy="0"/>
          </a:xfrm>
          <a:prstGeom prst="line">
            <a:avLst/>
          </a:prstGeom>
          <a:noFill/>
          <a:ln w="12700">
            <a:solidFill>
              <a:srgbClr val="DEDEE3"/>
            </a:solidFill>
            <a:prstDash val="solid"/>
          </a:ln>
        </p:spPr>
      </p:sp>
      <p:sp>
        <p:nvSpPr>
          <p:cNvPr id="10" name="Text 8"/>
          <p:cNvSpPr/>
          <p:nvPr/>
        </p:nvSpPr>
        <p:spPr>
          <a:xfrm>
            <a:off x="822960" y="4270248"/>
            <a:ext cx="3081528" cy="45720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Accounts  </a:t>
            </a:r>
            <a:pPr algn="l" indent="0" marL="0">
              <a:buNone/>
            </a:pPr>
            <a:r>
              <a:rPr lang="en-US" sz="1200" b="1" dirty="0">
                <a:solidFill>
                  <a:srgbClr val="12132A"/>
                </a:solidFill>
                <a:latin typeface="Calibri" pitchFamily="34" charset="0"/>
                <a:ea typeface="Calibri" pitchFamily="34" charset="-122"/>
                <a:cs typeface="Calibri" pitchFamily="34" charset="-120"/>
              </a:rPr>
              <a:t>60 · 30 · 10 · 1</a:t>
            </a:r>
            <a:endParaRPr lang="en-US" sz="1200" dirty="0"/>
          </a:p>
        </p:txBody>
      </p:sp>
      <p:sp>
        <p:nvSpPr>
          <p:cNvPr id="11" name="Shape 9"/>
          <p:cNvSpPr/>
          <p:nvPr/>
        </p:nvSpPr>
        <p:spPr>
          <a:xfrm>
            <a:off x="4297680" y="2240280"/>
            <a:ext cx="3630168" cy="2743200"/>
          </a:xfrm>
          <a:prstGeom prst="roundRect">
            <a:avLst>
              <a:gd name="adj" fmla="val 3333"/>
            </a:avLst>
          </a:prstGeom>
          <a:solidFill>
            <a:srgbClr val="0B2AE0"/>
          </a:solidFill>
          <a:ln w="12700">
            <a:solidFill>
              <a:srgbClr val="0B2AE0"/>
            </a:solidFill>
            <a:prstDash val="solid"/>
          </a:ln>
          <a:effectLst>
            <a:outerShdw sx="100000" sy="100000" kx="0" ky="0" algn="bl" rotWithShape="0" blurRad="101600" dist="25400" dir="5400000">
              <a:srgbClr val="9AA0B5">
                <a:alpha val="16000"/>
              </a:srgbClr>
            </a:outerShdw>
          </a:effectLst>
        </p:spPr>
      </p:sp>
      <p:sp>
        <p:nvSpPr>
          <p:cNvPr id="12" name="Text 10"/>
          <p:cNvSpPr/>
          <p:nvPr/>
        </p:nvSpPr>
        <p:spPr>
          <a:xfrm>
            <a:off x="4572000" y="2496312"/>
            <a:ext cx="3081528" cy="320040"/>
          </a:xfrm>
          <a:prstGeom prst="rect">
            <a:avLst/>
          </a:prstGeom>
          <a:noFill/>
          <a:ln/>
        </p:spPr>
        <p:txBody>
          <a:bodyPr wrap="square" lIns="0" tIns="0" rIns="0" bIns="0" rtlCol="0" anchor="ctr"/>
          <a:lstStyle/>
          <a:p>
            <a:pPr algn="l" indent="0" marL="0">
              <a:buNone/>
            </a:pPr>
            <a:r>
              <a:rPr lang="en-US" sz="1200" b="1" spc="150" kern="0" dirty="0">
                <a:solidFill>
                  <a:srgbClr val="CADCFC"/>
                </a:solidFill>
                <a:latin typeface="Calibri" pitchFamily="34" charset="0"/>
                <a:ea typeface="Calibri" pitchFamily="34" charset="-122"/>
                <a:cs typeface="Calibri" pitchFamily="34" charset="-120"/>
              </a:rPr>
              <a:t>BASE</a:t>
            </a:r>
            <a:endParaRPr lang="en-US" sz="1200" dirty="0"/>
          </a:p>
        </p:txBody>
      </p:sp>
      <p:sp>
        <p:nvSpPr>
          <p:cNvPr id="13" name="Text 11"/>
          <p:cNvSpPr/>
          <p:nvPr/>
        </p:nvSpPr>
        <p:spPr>
          <a:xfrm>
            <a:off x="4572000" y="2862072"/>
            <a:ext cx="3081528"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RM2.31M</a:t>
            </a:r>
            <a:endParaRPr lang="en-US" sz="3800" dirty="0"/>
          </a:p>
        </p:txBody>
      </p:sp>
      <p:sp>
        <p:nvSpPr>
          <p:cNvPr id="14" name="Text 12"/>
          <p:cNvSpPr/>
          <p:nvPr/>
        </p:nvSpPr>
        <p:spPr>
          <a:xfrm>
            <a:off x="4572000" y="3685032"/>
            <a:ext cx="3081528" cy="320040"/>
          </a:xfrm>
          <a:prstGeom prst="rect">
            <a:avLst/>
          </a:prstGeom>
          <a:noFill/>
          <a:ln/>
        </p:spPr>
        <p:txBody>
          <a:bodyPr wrap="square" lIns="0" tIns="0" rIns="0" bIns="0"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projected ARR</a:t>
            </a:r>
            <a:endParaRPr lang="en-US" sz="1300" dirty="0"/>
          </a:p>
        </p:txBody>
      </p:sp>
      <p:sp>
        <p:nvSpPr>
          <p:cNvPr id="15" name="Shape 13"/>
          <p:cNvSpPr/>
          <p:nvPr/>
        </p:nvSpPr>
        <p:spPr>
          <a:xfrm>
            <a:off x="4572000" y="4160520"/>
            <a:ext cx="3081528" cy="0"/>
          </a:xfrm>
          <a:prstGeom prst="line">
            <a:avLst/>
          </a:prstGeom>
          <a:noFill/>
          <a:ln w="12700">
            <a:solidFill>
              <a:srgbClr val="3550EE"/>
            </a:solidFill>
            <a:prstDash val="solid"/>
          </a:ln>
        </p:spPr>
      </p:sp>
      <p:sp>
        <p:nvSpPr>
          <p:cNvPr id="16" name="Text 14"/>
          <p:cNvSpPr/>
          <p:nvPr/>
        </p:nvSpPr>
        <p:spPr>
          <a:xfrm>
            <a:off x="4572000" y="4270248"/>
            <a:ext cx="3081528" cy="45720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Accounts  </a:t>
            </a:r>
            <a:pPr algn="l" indent="0" marL="0">
              <a:buNone/>
            </a:pPr>
            <a:r>
              <a:rPr lang="en-US" sz="1200" b="1" dirty="0">
                <a:solidFill>
                  <a:srgbClr val="FFFFFF"/>
                </a:solidFill>
                <a:latin typeface="Calibri" pitchFamily="34" charset="0"/>
                <a:ea typeface="Calibri" pitchFamily="34" charset="-122"/>
                <a:cs typeface="Calibri" pitchFamily="34" charset="-120"/>
              </a:rPr>
              <a:t>120 · 70 · 25 · 3</a:t>
            </a:r>
            <a:endParaRPr lang="en-US" sz="1200" dirty="0"/>
          </a:p>
        </p:txBody>
      </p:sp>
      <p:sp>
        <p:nvSpPr>
          <p:cNvPr id="17" name="Shape 15"/>
          <p:cNvSpPr/>
          <p:nvPr/>
        </p:nvSpPr>
        <p:spPr>
          <a:xfrm>
            <a:off x="8046720" y="2240280"/>
            <a:ext cx="3630168" cy="2743200"/>
          </a:xfrm>
          <a:prstGeom prst="roundRect">
            <a:avLst>
              <a:gd name="adj" fmla="val 3333"/>
            </a:avLst>
          </a:prstGeom>
          <a:solidFill>
            <a:srgbClr val="FFFFFF"/>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18" name="Text 16"/>
          <p:cNvSpPr/>
          <p:nvPr/>
        </p:nvSpPr>
        <p:spPr>
          <a:xfrm>
            <a:off x="8321040" y="2496312"/>
            <a:ext cx="3081528" cy="320040"/>
          </a:xfrm>
          <a:prstGeom prst="rect">
            <a:avLst/>
          </a:prstGeom>
          <a:noFill/>
          <a:ln/>
        </p:spPr>
        <p:txBody>
          <a:bodyPr wrap="square" lIns="0" tIns="0" rIns="0" bIns="0" rtlCol="0" anchor="ctr"/>
          <a:lstStyle/>
          <a:p>
            <a:pPr algn="l" indent="0" marL="0">
              <a:buNone/>
            </a:pPr>
            <a:r>
              <a:rPr lang="en-US" sz="1200" b="1" spc="150" kern="0" dirty="0">
                <a:solidFill>
                  <a:srgbClr val="4A5568"/>
                </a:solidFill>
                <a:latin typeface="Calibri" pitchFamily="34" charset="0"/>
                <a:ea typeface="Calibri" pitchFamily="34" charset="-122"/>
                <a:cs typeface="Calibri" pitchFamily="34" charset="-120"/>
              </a:rPr>
              <a:t>GROWTH</a:t>
            </a:r>
            <a:endParaRPr lang="en-US" sz="1200" dirty="0"/>
          </a:p>
        </p:txBody>
      </p:sp>
      <p:sp>
        <p:nvSpPr>
          <p:cNvPr id="19" name="Text 17"/>
          <p:cNvSpPr/>
          <p:nvPr/>
        </p:nvSpPr>
        <p:spPr>
          <a:xfrm>
            <a:off x="8321040" y="2862072"/>
            <a:ext cx="3081528" cy="822960"/>
          </a:xfrm>
          <a:prstGeom prst="rect">
            <a:avLst/>
          </a:prstGeom>
          <a:noFill/>
          <a:ln/>
        </p:spPr>
        <p:txBody>
          <a:bodyPr wrap="square" lIns="0" tIns="0" rIns="0" bIns="0" rtlCol="0" anchor="ctr"/>
          <a:lstStyle/>
          <a:p>
            <a:pPr algn="l" indent="0" marL="0">
              <a:buNone/>
            </a:pPr>
            <a:r>
              <a:rPr lang="en-US" sz="3800" b="1" dirty="0">
                <a:solidFill>
                  <a:srgbClr val="0B2AE0"/>
                </a:solidFill>
                <a:latin typeface="Calibri" pitchFamily="34" charset="0"/>
                <a:ea typeface="Calibri" pitchFamily="34" charset="-122"/>
                <a:cs typeface="Calibri" pitchFamily="34" charset="-120"/>
              </a:rPr>
              <a:t>RM5.62M</a:t>
            </a:r>
            <a:endParaRPr lang="en-US" sz="3800" dirty="0"/>
          </a:p>
        </p:txBody>
      </p:sp>
      <p:sp>
        <p:nvSpPr>
          <p:cNvPr id="20" name="Text 18"/>
          <p:cNvSpPr/>
          <p:nvPr/>
        </p:nvSpPr>
        <p:spPr>
          <a:xfrm>
            <a:off x="8321040" y="3685032"/>
            <a:ext cx="3081528" cy="320040"/>
          </a:xfrm>
          <a:prstGeom prst="rect">
            <a:avLst/>
          </a:prstGeom>
          <a:noFill/>
          <a:ln/>
        </p:spPr>
        <p:txBody>
          <a:bodyPr wrap="square" lIns="0" tIns="0" rIns="0" bIns="0" rtlCol="0" anchor="ctr"/>
          <a:lstStyle/>
          <a:p>
            <a:pPr algn="l" indent="0" marL="0">
              <a:buNone/>
            </a:pPr>
            <a:r>
              <a:rPr lang="en-US" sz="1300" dirty="0">
                <a:solidFill>
                  <a:srgbClr val="4A5568"/>
                </a:solidFill>
                <a:latin typeface="Calibri" pitchFamily="34" charset="0"/>
                <a:ea typeface="Calibri" pitchFamily="34" charset="-122"/>
                <a:cs typeface="Calibri" pitchFamily="34" charset="-120"/>
              </a:rPr>
              <a:t>projected ARR</a:t>
            </a:r>
            <a:endParaRPr lang="en-US" sz="1300" dirty="0"/>
          </a:p>
        </p:txBody>
      </p:sp>
      <p:sp>
        <p:nvSpPr>
          <p:cNvPr id="21" name="Shape 19"/>
          <p:cNvSpPr/>
          <p:nvPr/>
        </p:nvSpPr>
        <p:spPr>
          <a:xfrm>
            <a:off x="8321040" y="4160520"/>
            <a:ext cx="3081528" cy="0"/>
          </a:xfrm>
          <a:prstGeom prst="line">
            <a:avLst/>
          </a:prstGeom>
          <a:noFill/>
          <a:ln w="12700">
            <a:solidFill>
              <a:srgbClr val="DEDEE3"/>
            </a:solidFill>
            <a:prstDash val="solid"/>
          </a:ln>
        </p:spPr>
      </p:sp>
      <p:sp>
        <p:nvSpPr>
          <p:cNvPr id="22" name="Text 20"/>
          <p:cNvSpPr/>
          <p:nvPr/>
        </p:nvSpPr>
        <p:spPr>
          <a:xfrm>
            <a:off x="8321040" y="4270248"/>
            <a:ext cx="3081528" cy="457200"/>
          </a:xfrm>
          <a:prstGeom prst="rect">
            <a:avLst/>
          </a:prstGeom>
          <a:noFill/>
          <a:ln/>
        </p:spPr>
        <p:txBody>
          <a:bodyPr wrap="square" lIns="0" tIns="0" rIns="0" bIns="0"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Accounts  </a:t>
            </a:r>
            <a:pPr algn="l" indent="0" marL="0">
              <a:buNone/>
            </a:pPr>
            <a:r>
              <a:rPr lang="en-US" sz="1200" b="1" dirty="0">
                <a:solidFill>
                  <a:srgbClr val="12132A"/>
                </a:solidFill>
                <a:latin typeface="Calibri" pitchFamily="34" charset="0"/>
                <a:ea typeface="Calibri" pitchFamily="34" charset="-122"/>
                <a:cs typeface="Calibri" pitchFamily="34" charset="-120"/>
              </a:rPr>
              <a:t>250 · 150 · 60 · 8</a:t>
            </a:r>
            <a:endParaRPr lang="en-US" sz="1200" dirty="0"/>
          </a:p>
        </p:txBody>
      </p:sp>
      <p:sp>
        <p:nvSpPr>
          <p:cNvPr id="23" name="Shape 21"/>
          <p:cNvSpPr/>
          <p:nvPr/>
        </p:nvSpPr>
        <p:spPr>
          <a:xfrm>
            <a:off x="548640" y="5212080"/>
            <a:ext cx="11091672" cy="731520"/>
          </a:xfrm>
          <a:prstGeom prst="roundRect">
            <a:avLst>
              <a:gd name="adj" fmla="val 12500"/>
            </a:avLst>
          </a:prstGeom>
          <a:solidFill>
            <a:srgbClr val="F7F8FC"/>
          </a:solidFill>
          <a:ln w="12700">
            <a:solidFill>
              <a:srgbClr val="DEDEE3"/>
            </a:solidFill>
            <a:prstDash val="solid"/>
          </a:ln>
          <a:effectLst>
            <a:outerShdw sx="100000" sy="100000" kx="0" ky="0" algn="bl" rotWithShape="0" blurRad="101600" dist="25400" dir="5400000">
              <a:srgbClr val="9AA0B5">
                <a:alpha val="16000"/>
              </a:srgbClr>
            </a:outerShdw>
          </a:effectLst>
        </p:spPr>
      </p:sp>
      <p:sp>
        <p:nvSpPr>
          <p:cNvPr id="24" name="Text 22"/>
          <p:cNvSpPr/>
          <p:nvPr/>
        </p:nvSpPr>
        <p:spPr>
          <a:xfrm>
            <a:off x="822960" y="5212080"/>
            <a:ext cx="10515600" cy="731520"/>
          </a:xfrm>
          <a:prstGeom prst="rect">
            <a:avLst/>
          </a:prstGeom>
          <a:noFill/>
          <a:ln/>
        </p:spPr>
        <p:txBody>
          <a:bodyPr wrap="square" lIns="0" tIns="0" rIns="0" bIns="0" rtlCol="0" anchor="ctr"/>
          <a:lstStyle/>
          <a:p>
            <a:pPr algn="l" indent="0" marL="0">
              <a:buNone/>
            </a:pPr>
            <a:r>
              <a:rPr lang="en-US" sz="1250" b="1" dirty="0">
                <a:solidFill>
                  <a:srgbClr val="12132A"/>
                </a:solidFill>
                <a:latin typeface="Calibri" pitchFamily="34" charset="0"/>
                <a:ea typeface="Calibri" pitchFamily="34" charset="-122"/>
                <a:cs typeface="Calibri" pitchFamily="34" charset="-120"/>
              </a:rPr>
              <a:t>~68% blended gross margin at base case.  </a:t>
            </a:r>
            <a:pPr algn="l" indent="0" marL="0">
              <a:buNone/>
            </a:pPr>
            <a:r>
              <a:rPr lang="en-US" sz="1250" dirty="0">
                <a:solidFill>
                  <a:srgbClr val="4A5568"/>
                </a:solidFill>
                <a:latin typeface="Calibri" pitchFamily="34" charset="0"/>
                <a:ea typeface="Calibri" pitchFamily="34" charset="-122"/>
                <a:cs typeface="Calibri" pitchFamily="34" charset="-120"/>
              </a:rPr>
              <a:t>Accounts shown as Launch · Scale · Elite · Enterprise.</a:t>
            </a:r>
            <a:endParaRPr lang="en-US" sz="1250" dirty="0"/>
          </a:p>
        </p:txBody>
      </p:sp>
      <p:sp>
        <p:nvSpPr>
          <p:cNvPr id="25" name="Text 23"/>
          <p:cNvSpPr/>
          <p:nvPr/>
        </p:nvSpPr>
        <p:spPr>
          <a:xfrm>
            <a:off x="548640" y="6144768"/>
            <a:ext cx="109728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Illustrative scenarios on current pricing, not a forecast or committed revenue.</a:t>
            </a:r>
            <a:endParaRPr lang="en-US" sz="950" dirty="0"/>
          </a:p>
        </p:txBody>
      </p:sp>
      <p:sp>
        <p:nvSpPr>
          <p:cNvPr id="26" name="Text 2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Aster  ·  Investor deck</a:t>
            </a:r>
            <a:endParaRPr lang="en-US" sz="900" dirty="0"/>
          </a:p>
        </p:txBody>
      </p:sp>
      <p:sp>
        <p:nvSpPr>
          <p:cNvPr id="27" name="Text 25"/>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2194560" y="3291840"/>
            <a:ext cx="5943600" cy="5943600"/>
          </a:xfrm>
          <a:prstGeom prst="ellipse">
            <a:avLst/>
          </a:prstGeom>
          <a:solidFill>
            <a:srgbClr val="5570F5">
              <a:alpha val="26000"/>
            </a:srgbClr>
          </a:solidFill>
          <a:ln/>
        </p:spPr>
      </p:sp>
      <p:sp>
        <p:nvSpPr>
          <p:cNvPr id="3" name="Text 1"/>
          <p:cNvSpPr/>
          <p:nvPr/>
        </p:nvSpPr>
        <p:spPr>
          <a:xfrm>
            <a:off x="548640" y="502920"/>
            <a:ext cx="10058400" cy="274320"/>
          </a:xfrm>
          <a:prstGeom prst="rect">
            <a:avLst/>
          </a:prstGeom>
          <a:noFill/>
          <a:ln/>
        </p:spPr>
        <p:txBody>
          <a:bodyPr wrap="square" lIns="0" tIns="0" rIns="0" bIns="0" rtlCol="0" anchor="ctr"/>
          <a:lstStyle/>
          <a:p>
            <a:pPr algn="l" indent="0" marL="0">
              <a:buNone/>
            </a:pPr>
            <a:r>
              <a:rPr lang="en-US" sz="1200" b="1" spc="200" kern="0" dirty="0">
                <a:solidFill>
                  <a:srgbClr val="CADCFC"/>
                </a:solidFill>
                <a:latin typeface="Calibri" pitchFamily="34" charset="0"/>
                <a:ea typeface="Calibri" pitchFamily="34" charset="-122"/>
                <a:cs typeface="Calibri" pitchFamily="34" charset="-120"/>
              </a:rPr>
              <a:t>THE ASK</a:t>
            </a:r>
            <a:endParaRPr lang="en-US" sz="1200" dirty="0"/>
          </a:p>
        </p:txBody>
      </p:sp>
      <p:sp>
        <p:nvSpPr>
          <p:cNvPr id="4" name="Text 2"/>
          <p:cNvSpPr/>
          <p:nvPr/>
        </p:nvSpPr>
        <p:spPr>
          <a:xfrm>
            <a:off x="548640" y="777240"/>
            <a:ext cx="11064240" cy="914400"/>
          </a:xfrm>
          <a:prstGeom prst="rect">
            <a:avLst/>
          </a:prstGeom>
          <a:noFill/>
          <a:ln/>
        </p:spPr>
        <p:txBody>
          <a:bodyPr wrap="square" lIns="0" tIns="0" rIns="0" bIns="0" rtlCol="0" anchor="ctr"/>
          <a:lstStyle/>
          <a:p>
            <a:pPr algn="l" indent="0" marL="0">
              <a:buNone/>
            </a:pPr>
            <a:r>
              <a:rPr lang="en-US" sz="2900" b="1" dirty="0">
                <a:solidFill>
                  <a:srgbClr val="FFFFFF"/>
                </a:solidFill>
                <a:latin typeface="Calibri" pitchFamily="34" charset="0"/>
                <a:ea typeface="Calibri" pitchFamily="34" charset="-122"/>
                <a:cs typeface="Calibri" pitchFamily="34" charset="-120"/>
              </a:rPr>
              <a:t>Raising a Series A to turn the product into a category leader</a:t>
            </a:r>
            <a:endParaRPr lang="en-US" sz="2900" dirty="0"/>
          </a:p>
        </p:txBody>
      </p:sp>
      <p:sp>
        <p:nvSpPr>
          <p:cNvPr id="5" name="Shape 3"/>
          <p:cNvSpPr/>
          <p:nvPr/>
        </p:nvSpPr>
        <p:spPr>
          <a:xfrm>
            <a:off x="548640" y="2103120"/>
            <a:ext cx="3520440" cy="2194560"/>
          </a:xfrm>
          <a:prstGeom prst="roundRect">
            <a:avLst>
              <a:gd name="adj" fmla="val 4167"/>
            </a:avLst>
          </a:prstGeom>
          <a:solidFill>
            <a:srgbClr val="0E23C9"/>
          </a:solidFill>
          <a:ln w="12700">
            <a:solidFill>
              <a:srgbClr val="3550EE"/>
            </a:solidFill>
            <a:prstDash val="solid"/>
          </a:ln>
          <a:effectLst>
            <a:outerShdw sx="100000" sy="100000" kx="0" ky="0" algn="bl" rotWithShape="0" blurRad="101600" dist="25400" dir="5400000">
              <a:srgbClr val="9AA0B5">
                <a:alpha val="16000"/>
              </a:srgbClr>
            </a:outerShdw>
          </a:effectLst>
        </p:spPr>
      </p:sp>
      <p:sp>
        <p:nvSpPr>
          <p:cNvPr id="6" name="Text 4"/>
          <p:cNvSpPr/>
          <p:nvPr/>
        </p:nvSpPr>
        <p:spPr>
          <a:xfrm>
            <a:off x="777240" y="2331720"/>
            <a:ext cx="3108960" cy="274320"/>
          </a:xfrm>
          <a:prstGeom prst="rect">
            <a:avLst/>
          </a:prstGeom>
          <a:noFill/>
          <a:ln/>
        </p:spPr>
        <p:txBody>
          <a:bodyPr wrap="square" lIns="0" tIns="0" rIns="0" bIns="0" rtlCol="0" anchor="ctr"/>
          <a:lstStyle/>
          <a:p>
            <a:pPr algn="l" indent="0" marL="0">
              <a:buNone/>
            </a:pPr>
            <a:r>
              <a:rPr lang="en-US" sz="1200" b="1" spc="200" kern="0" dirty="0">
                <a:solidFill>
                  <a:srgbClr val="CADCFC"/>
                </a:solidFill>
                <a:latin typeface="Calibri" pitchFamily="34" charset="0"/>
                <a:ea typeface="Calibri" pitchFamily="34" charset="-122"/>
                <a:cs typeface="Calibri" pitchFamily="34" charset="-120"/>
              </a:rPr>
              <a:t>RAISING</a:t>
            </a:r>
            <a:endParaRPr lang="en-US" sz="1200" dirty="0"/>
          </a:p>
        </p:txBody>
      </p:sp>
      <p:sp>
        <p:nvSpPr>
          <p:cNvPr id="7" name="Text 5"/>
          <p:cNvSpPr/>
          <p:nvPr/>
        </p:nvSpPr>
        <p:spPr>
          <a:xfrm>
            <a:off x="777240" y="2697480"/>
            <a:ext cx="310896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 amount ]</a:t>
            </a:r>
            <a:endParaRPr lang="en-US" sz="3400" dirty="0"/>
          </a:p>
        </p:txBody>
      </p:sp>
      <p:sp>
        <p:nvSpPr>
          <p:cNvPr id="8" name="Text 6"/>
          <p:cNvSpPr/>
          <p:nvPr/>
        </p:nvSpPr>
        <p:spPr>
          <a:xfrm>
            <a:off x="777240" y="3474720"/>
            <a:ext cx="3108960" cy="731520"/>
          </a:xfrm>
          <a:prstGeom prst="rect">
            <a:avLst/>
          </a:prstGeom>
          <a:noFill/>
          <a:ln/>
        </p:spPr>
        <p:txBody>
          <a:bodyPr wrap="square" lIns="0" tIns="0" rIns="0" bIns="0" rtlCol="0" anchor="ctr"/>
          <a:lstStyle/>
          <a:p>
            <a:pPr algn="l" indent="0" marL="0">
              <a:buNone/>
            </a:pPr>
            <a:r>
              <a:rPr lang="en-US" sz="1200" i="1" dirty="0">
                <a:solidFill>
                  <a:srgbClr val="CADCFC"/>
                </a:solidFill>
                <a:latin typeface="Calibri" pitchFamily="34" charset="0"/>
                <a:ea typeface="Calibri" pitchFamily="34" charset="-122"/>
                <a:cs typeface="Calibri" pitchFamily="34" charset="-120"/>
              </a:rPr>
              <a:t>to reach [ milestone: e.g. RMx ARR / N logos ] in [ N ] months.</a:t>
            </a:r>
            <a:endParaRPr lang="en-US" sz="1200" dirty="0"/>
          </a:p>
        </p:txBody>
      </p:sp>
      <p:sp>
        <p:nvSpPr>
          <p:cNvPr id="9" name="Text 7"/>
          <p:cNvSpPr/>
          <p:nvPr/>
        </p:nvSpPr>
        <p:spPr>
          <a:xfrm>
            <a:off x="4480560" y="2148840"/>
            <a:ext cx="713232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Where it goes</a:t>
            </a:r>
            <a:endParaRPr lang="en-US" sz="1600" dirty="0"/>
          </a:p>
        </p:txBody>
      </p:sp>
      <p:sp>
        <p:nvSpPr>
          <p:cNvPr id="10" name="Shape 8"/>
          <p:cNvSpPr/>
          <p:nvPr/>
        </p:nvSpPr>
        <p:spPr>
          <a:xfrm>
            <a:off x="4480560" y="2606040"/>
            <a:ext cx="7159752" cy="749808"/>
          </a:xfrm>
          <a:prstGeom prst="roundRect">
            <a:avLst>
              <a:gd name="adj" fmla="val 7317"/>
            </a:avLst>
          </a:prstGeom>
          <a:solidFill>
            <a:srgbClr val="FFFFFF">
              <a:alpha val="10000"/>
            </a:srgbClr>
          </a:solidFill>
          <a:ln/>
        </p:spPr>
      </p:sp>
      <p:sp>
        <p:nvSpPr>
          <p:cNvPr id="11" name="Text 9"/>
          <p:cNvSpPr/>
          <p:nvPr/>
        </p:nvSpPr>
        <p:spPr>
          <a:xfrm>
            <a:off x="4617720" y="2606040"/>
            <a:ext cx="914400"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45%</a:t>
            </a:r>
            <a:endParaRPr lang="en-US" sz="2000" dirty="0"/>
          </a:p>
        </p:txBody>
      </p:sp>
      <p:sp>
        <p:nvSpPr>
          <p:cNvPr id="12" name="Text 10"/>
          <p:cNvSpPr/>
          <p:nvPr/>
        </p:nvSpPr>
        <p:spPr>
          <a:xfrm>
            <a:off x="5623560" y="2697480"/>
            <a:ext cx="5879592"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Product &amp; AI engineering</a:t>
            </a:r>
            <a:endParaRPr lang="en-US" sz="1350" dirty="0"/>
          </a:p>
        </p:txBody>
      </p:sp>
      <p:sp>
        <p:nvSpPr>
          <p:cNvPr id="13" name="Text 11"/>
          <p:cNvSpPr/>
          <p:nvPr/>
        </p:nvSpPr>
        <p:spPr>
          <a:xfrm>
            <a:off x="5623560" y="3008376"/>
            <a:ext cx="5879592" cy="292608"/>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Ship the Next roadmap: CRM, integrations, enterprise readiness.</a:t>
            </a:r>
            <a:endParaRPr lang="en-US" sz="1100" dirty="0"/>
          </a:p>
        </p:txBody>
      </p:sp>
      <p:sp>
        <p:nvSpPr>
          <p:cNvPr id="14" name="Shape 12"/>
          <p:cNvSpPr/>
          <p:nvPr/>
        </p:nvSpPr>
        <p:spPr>
          <a:xfrm>
            <a:off x="4480560" y="3465576"/>
            <a:ext cx="7159752" cy="749808"/>
          </a:xfrm>
          <a:prstGeom prst="roundRect">
            <a:avLst>
              <a:gd name="adj" fmla="val 7317"/>
            </a:avLst>
          </a:prstGeom>
          <a:solidFill>
            <a:srgbClr val="FFFFFF">
              <a:alpha val="10000"/>
            </a:srgbClr>
          </a:solidFill>
          <a:ln/>
        </p:spPr>
      </p:sp>
      <p:sp>
        <p:nvSpPr>
          <p:cNvPr id="15" name="Text 13"/>
          <p:cNvSpPr/>
          <p:nvPr/>
        </p:nvSpPr>
        <p:spPr>
          <a:xfrm>
            <a:off x="4617720" y="3465576"/>
            <a:ext cx="914400"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16" name="Text 14"/>
          <p:cNvSpPr/>
          <p:nvPr/>
        </p:nvSpPr>
        <p:spPr>
          <a:xfrm>
            <a:off x="5623560" y="3557016"/>
            <a:ext cx="5879592"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Go-to-market</a:t>
            </a:r>
            <a:endParaRPr lang="en-US" sz="1350" dirty="0"/>
          </a:p>
        </p:txBody>
      </p:sp>
      <p:sp>
        <p:nvSpPr>
          <p:cNvPr id="17" name="Text 15"/>
          <p:cNvSpPr/>
          <p:nvPr/>
        </p:nvSpPr>
        <p:spPr>
          <a:xfrm>
            <a:off x="5623560" y="3867912"/>
            <a:ext cx="5879592" cy="292608"/>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Sales and marketing to land and expand paying accounts.</a:t>
            </a:r>
            <a:endParaRPr lang="en-US" sz="1100" dirty="0"/>
          </a:p>
        </p:txBody>
      </p:sp>
      <p:sp>
        <p:nvSpPr>
          <p:cNvPr id="18" name="Shape 16"/>
          <p:cNvSpPr/>
          <p:nvPr/>
        </p:nvSpPr>
        <p:spPr>
          <a:xfrm>
            <a:off x="4480560" y="4325112"/>
            <a:ext cx="7159752" cy="749808"/>
          </a:xfrm>
          <a:prstGeom prst="roundRect">
            <a:avLst>
              <a:gd name="adj" fmla="val 7317"/>
            </a:avLst>
          </a:prstGeom>
          <a:solidFill>
            <a:srgbClr val="FFFFFF">
              <a:alpha val="10000"/>
            </a:srgbClr>
          </a:solidFill>
          <a:ln/>
        </p:spPr>
      </p:sp>
      <p:sp>
        <p:nvSpPr>
          <p:cNvPr id="19" name="Text 17"/>
          <p:cNvSpPr/>
          <p:nvPr/>
        </p:nvSpPr>
        <p:spPr>
          <a:xfrm>
            <a:off x="4617720" y="4325112"/>
            <a:ext cx="914400"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20" name="Text 18"/>
          <p:cNvSpPr/>
          <p:nvPr/>
        </p:nvSpPr>
        <p:spPr>
          <a:xfrm>
            <a:off x="5623560" y="4416552"/>
            <a:ext cx="5879592"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Customer success</a:t>
            </a:r>
            <a:endParaRPr lang="en-US" sz="1350" dirty="0"/>
          </a:p>
        </p:txBody>
      </p:sp>
      <p:sp>
        <p:nvSpPr>
          <p:cNvPr id="21" name="Text 19"/>
          <p:cNvSpPr/>
          <p:nvPr/>
        </p:nvSpPr>
        <p:spPr>
          <a:xfrm>
            <a:off x="5623560" y="4727448"/>
            <a:ext cx="5879592" cy="292608"/>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Onboarding and retention that drives net revenue expansion.</a:t>
            </a:r>
            <a:endParaRPr lang="en-US" sz="1100" dirty="0"/>
          </a:p>
        </p:txBody>
      </p:sp>
      <p:sp>
        <p:nvSpPr>
          <p:cNvPr id="22" name="Shape 20"/>
          <p:cNvSpPr/>
          <p:nvPr/>
        </p:nvSpPr>
        <p:spPr>
          <a:xfrm>
            <a:off x="4480560" y="5184648"/>
            <a:ext cx="7159752" cy="749808"/>
          </a:xfrm>
          <a:prstGeom prst="roundRect">
            <a:avLst>
              <a:gd name="adj" fmla="val 7317"/>
            </a:avLst>
          </a:prstGeom>
          <a:solidFill>
            <a:srgbClr val="FFFFFF">
              <a:alpha val="10000"/>
            </a:srgbClr>
          </a:solidFill>
          <a:ln/>
        </p:spPr>
      </p:sp>
      <p:sp>
        <p:nvSpPr>
          <p:cNvPr id="23" name="Text 21"/>
          <p:cNvSpPr/>
          <p:nvPr/>
        </p:nvSpPr>
        <p:spPr>
          <a:xfrm>
            <a:off x="4617720" y="5184648"/>
            <a:ext cx="914400"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24" name="Text 22"/>
          <p:cNvSpPr/>
          <p:nvPr/>
        </p:nvSpPr>
        <p:spPr>
          <a:xfrm>
            <a:off x="5623560" y="5276088"/>
            <a:ext cx="5879592"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G&amp;A</a:t>
            </a:r>
            <a:endParaRPr lang="en-US" sz="1350" dirty="0"/>
          </a:p>
        </p:txBody>
      </p:sp>
      <p:sp>
        <p:nvSpPr>
          <p:cNvPr id="25" name="Text 23"/>
          <p:cNvSpPr/>
          <p:nvPr/>
        </p:nvSpPr>
        <p:spPr>
          <a:xfrm>
            <a:off x="5623560" y="5586984"/>
            <a:ext cx="5879592" cy="292608"/>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Finance, compliance and the hires that support scale.</a:t>
            </a:r>
            <a:endParaRPr lang="en-US" sz="1100" dirty="0"/>
          </a:p>
        </p:txBody>
      </p:sp>
      <p:sp>
        <p:nvSpPr>
          <p:cNvPr id="26" name="Text 24"/>
          <p:cNvSpPr/>
          <p:nvPr/>
        </p:nvSpPr>
        <p:spPr>
          <a:xfrm>
            <a:off x="548640" y="6199632"/>
            <a:ext cx="10972800" cy="274320"/>
          </a:xfrm>
          <a:prstGeom prst="rect">
            <a:avLst/>
          </a:prstGeom>
          <a:noFill/>
          <a:ln/>
        </p:spPr>
        <p:txBody>
          <a:bodyPr wrap="square" lIns="0" tIns="0" rIns="0" bIns="0" rtlCol="0" anchor="ctr"/>
          <a:lstStyle/>
          <a:p>
            <a:pPr algn="l" indent="0" marL="0">
              <a:buNone/>
            </a:pPr>
            <a:r>
              <a:rPr lang="en-US" sz="950" i="1" dirty="0">
                <a:solidFill>
                  <a:srgbClr val="9FB0F0"/>
                </a:solidFill>
                <a:latin typeface="Calibri" pitchFamily="34" charset="0"/>
                <a:ea typeface="Calibri" pitchFamily="34" charset="-122"/>
                <a:cs typeface="Calibri" pitchFamily="34" charset="-120"/>
              </a:rPr>
              <a:t>Bracketed figures are placeholders. Set the raise amount, milestone and allocation to your plan.</a:t>
            </a:r>
            <a:endParaRPr lang="en-US" sz="950" dirty="0"/>
          </a:p>
        </p:txBody>
      </p:sp>
      <p:sp>
        <p:nvSpPr>
          <p:cNvPr id="27" name="Text 2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9FB0F0"/>
                </a:solidFill>
                <a:latin typeface="Calibri" pitchFamily="34" charset="0"/>
                <a:ea typeface="Calibri" pitchFamily="34" charset="-122"/>
                <a:cs typeface="Calibri" pitchFamily="34" charset="-120"/>
              </a:rPr>
              <a:t>Aster · Investor deck</a:t>
            </a:r>
            <a:endParaRPr lang="en-US" sz="900" dirty="0"/>
          </a:p>
        </p:txBody>
      </p:sp>
      <p:sp>
        <p:nvSpPr>
          <p:cNvPr id="28" name="Text 2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9FB0F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C2"/>
        </a:solidFill>
      </p:bgPr>
    </p:bg>
    <p:spTree>
      <p:nvGrpSpPr>
        <p:cNvPr id="1" name=""/>
        <p:cNvGrpSpPr/>
        <p:nvPr/>
      </p:nvGrpSpPr>
      <p:grpSpPr>
        <a:xfrm>
          <a:off x="0" y="0"/>
          <a:ext cx="0" cy="0"/>
          <a:chOff x="0" y="0"/>
          <a:chExt cx="0" cy="0"/>
        </a:xfrm>
      </p:grpSpPr>
      <p:sp>
        <p:nvSpPr>
          <p:cNvPr id="2" name="Shape 0"/>
          <p:cNvSpPr/>
          <p:nvPr/>
        </p:nvSpPr>
        <p:spPr>
          <a:xfrm>
            <a:off x="7772400" y="-2286000"/>
            <a:ext cx="6400800" cy="6400800"/>
          </a:xfrm>
          <a:prstGeom prst="ellipse">
            <a:avLst/>
          </a:prstGeom>
          <a:solidFill>
            <a:srgbClr val="0B2AE0">
              <a:alpha val="38000"/>
            </a:srgbClr>
          </a:solidFill>
          <a:ln/>
        </p:spPr>
      </p:sp>
      <p:sp>
        <p:nvSpPr>
          <p:cNvPr id="3" name="Shape 1"/>
          <p:cNvSpPr/>
          <p:nvPr/>
        </p:nvSpPr>
        <p:spPr>
          <a:xfrm>
            <a:off x="-2286000" y="3200400"/>
            <a:ext cx="5943600" cy="5943600"/>
          </a:xfrm>
          <a:prstGeom prst="ellipse">
            <a:avLst/>
          </a:prstGeom>
          <a:solidFill>
            <a:srgbClr val="5570F5">
              <a:alpha val="26000"/>
            </a:srgbClr>
          </a:solidFill>
          <a:ln/>
        </p:spPr>
      </p:sp>
      <p:pic>
        <p:nvPicPr>
          <p:cNvPr id="4" name="Image 0" descr="preencoded.png">    </p:cNvPr>
          <p:cNvPicPr>
            <a:picLocks noChangeAspect="1"/>
          </p:cNvPicPr>
          <p:nvPr/>
        </p:nvPicPr>
        <p:blipFill>
          <a:blip r:embed="rId1"/>
          <a:stretch>
            <a:fillRect/>
          </a:stretch>
        </p:blipFill>
        <p:spPr>
          <a:xfrm>
            <a:off x="777240" y="621792"/>
            <a:ext cx="1828800" cy="441960"/>
          </a:xfrm>
          <a:prstGeom prst="rect">
            <a:avLst/>
          </a:prstGeom>
        </p:spPr>
      </p:pic>
      <p:sp>
        <p:nvSpPr>
          <p:cNvPr id="5" name="Text 2"/>
          <p:cNvSpPr/>
          <p:nvPr/>
        </p:nvSpPr>
        <p:spPr>
          <a:xfrm>
            <a:off x="777240" y="2331720"/>
            <a:ext cx="1033272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Start from a shortlist,</a:t>
            </a:r>
            <a:endParaRPr lang="en-US" sz="4000" dirty="0"/>
          </a:p>
        </p:txBody>
      </p:sp>
      <p:sp>
        <p:nvSpPr>
          <p:cNvPr id="6" name="Text 3"/>
          <p:cNvSpPr/>
          <p:nvPr/>
        </p:nvSpPr>
        <p:spPr>
          <a:xfrm>
            <a:off x="777240" y="3154680"/>
            <a:ext cx="10332720" cy="822960"/>
          </a:xfrm>
          <a:prstGeom prst="rect">
            <a:avLst/>
          </a:prstGeom>
          <a:noFill/>
          <a:ln/>
        </p:spPr>
        <p:txBody>
          <a:bodyPr wrap="square" lIns="0" tIns="0" rIns="0" bIns="0" rtlCol="0" anchor="ctr"/>
          <a:lstStyle/>
          <a:p>
            <a:pPr algn="l" indent="0" marL="0">
              <a:buNone/>
            </a:pPr>
            <a:r>
              <a:rPr lang="en-US" sz="4000" b="1" dirty="0">
                <a:solidFill>
                  <a:srgbClr val="CADCFC"/>
                </a:solidFill>
                <a:latin typeface="Calibri" pitchFamily="34" charset="0"/>
                <a:ea typeface="Calibri" pitchFamily="34" charset="-122"/>
                <a:cs typeface="Calibri" pitchFamily="34" charset="-120"/>
              </a:rPr>
              <a:t>not a pile.</a:t>
            </a:r>
            <a:endParaRPr lang="en-US" sz="4000" dirty="0"/>
          </a:p>
        </p:txBody>
      </p:sp>
      <p:sp>
        <p:nvSpPr>
          <p:cNvPr id="7" name="Text 4"/>
          <p:cNvSpPr/>
          <p:nvPr/>
        </p:nvSpPr>
        <p:spPr>
          <a:xfrm>
            <a:off x="822960" y="4206240"/>
            <a:ext cx="10058400" cy="548640"/>
          </a:xfrm>
          <a:prstGeom prst="rect">
            <a:avLst/>
          </a:prstGeom>
          <a:noFill/>
          <a:ln/>
        </p:spPr>
        <p:txBody>
          <a:bodyPr wrap="square" lIns="0" tIns="0" rIns="0" bIns="0" rtlCol="0" anchor="ctr"/>
          <a:lstStyle/>
          <a:p>
            <a:pPr algn="l" indent="0" marL="0">
              <a:buNone/>
            </a:pPr>
            <a:r>
              <a:rPr lang="en-US" sz="1650" dirty="0">
                <a:solidFill>
                  <a:srgbClr val="CADCFC"/>
                </a:solidFill>
                <a:latin typeface="Calibri" pitchFamily="34" charset="0"/>
                <a:ea typeface="Calibri" pitchFamily="34" charset="-122"/>
                <a:cs typeface="Calibri" pitchFamily="34" charset="-120"/>
              </a:rPr>
              <a:t>AI recruitment for growing teams, from first hire to enterprise. Built, in market, and engineered to scale at margin.</a:t>
            </a:r>
            <a:endParaRPr lang="en-US" sz="1650" dirty="0"/>
          </a:p>
        </p:txBody>
      </p:sp>
      <p:sp>
        <p:nvSpPr>
          <p:cNvPr id="8" name="Text 5"/>
          <p:cNvSpPr/>
          <p:nvPr/>
        </p:nvSpPr>
        <p:spPr>
          <a:xfrm>
            <a:off x="822960" y="6035040"/>
            <a:ext cx="100584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hireaster.com</a:t>
            </a:r>
            <a:pPr algn="l" indent="0" marL="0">
              <a:buNone/>
            </a:pPr>
            <a:r>
              <a:rPr lang="en-US" sz="1300" dirty="0">
                <a:solidFill>
                  <a:srgbClr val="9FB0F0"/>
                </a:solidFill>
                <a:latin typeface="Calibri" pitchFamily="34" charset="0"/>
                <a:ea typeface="Calibri" pitchFamily="34" charset="-122"/>
                <a:cs typeface="Calibri" pitchFamily="34" charset="-120"/>
              </a:rPr>
              <a:t>     ·     shahramly83@gmail.com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2026-08-11T04:12:47Z</dcterms:created>
  <dcterms:modified xsi:type="dcterms:W3CDTF">2026-08-11T04:12:47Z</dcterms:modified>
</cp:coreProperties>
</file>