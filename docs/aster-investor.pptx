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943600" cy="5943600"/>
          </a:xfrm>
          <a:prstGeom prst="ellipse">
            <a:avLst/>
          </a:prstGeom>
          <a:solidFill>
            <a:srgbClr val="5570F5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291840"/>
            <a:ext cx="6217920" cy="6217920"/>
          </a:xfrm>
          <a:prstGeom prst="ellipse">
            <a:avLst/>
          </a:prstGeom>
          <a:solidFill>
            <a:srgbClr val="0B2AE0">
              <a:alpha val="40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6928"/>
            <a:ext cx="2148840" cy="5193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1488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the right person,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777240" y="2971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reading every CV.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39776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recruitment platform for growing teams. Aster reads every resume, ranks applicants against the role, and books the interviews.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4846320"/>
            <a:ext cx="2492654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4846320"/>
            <a:ext cx="24926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screening &amp; ranking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544214" y="4846320"/>
            <a:ext cx="2295144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44214" y="484632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scheduling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067958" y="4846320"/>
            <a:ext cx="2196389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67958" y="4846320"/>
            <a:ext cx="219638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pipeline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F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overview  · 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doesn't scale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role attracts a flood of CVs. Reading them one at a time doesn't scale, and the cost shows up everywhere: speed, quality, and fairness.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679192" cy="3200400"/>
          </a:xfrm>
          <a:prstGeom prst="roundRect">
            <a:avLst>
              <a:gd name="adj" fmla="val 409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587752"/>
            <a:ext cx="502920" cy="50292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Drowning in CVs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77240" y="3749040"/>
            <a:ext cx="22219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to hundreds of applicants per role. The strongest fits get buried under the rest.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46704" y="2331720"/>
            <a:ext cx="2679192" cy="3200400"/>
          </a:xfrm>
          <a:prstGeom prst="roundRect">
            <a:avLst>
              <a:gd name="adj" fmla="val 409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75304" y="2587752"/>
            <a:ext cx="502920" cy="50292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75304" y="324612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slow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575304" y="3749040"/>
            <a:ext cx="22219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of manual screening, and the best candidates have already accepted somewhere else.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44768" y="2331720"/>
            <a:ext cx="2679192" cy="3200400"/>
          </a:xfrm>
          <a:prstGeom prst="roundRect">
            <a:avLst>
              <a:gd name="adj" fmla="val 409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73368" y="2587752"/>
            <a:ext cx="502920" cy="50292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6373368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73368" y="324612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&amp; unfair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373368" y="3749040"/>
            <a:ext cx="22219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interviewers, five gut calls, no shared record. Decisions are hard to defend.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942832" y="2331720"/>
            <a:ext cx="2679192" cy="3200400"/>
          </a:xfrm>
          <a:prstGeom prst="roundRect">
            <a:avLst>
              <a:gd name="adj" fmla="val 409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71432" y="2587752"/>
            <a:ext cx="502920" cy="50292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9171432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71432" y="324612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tools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171432" y="3749040"/>
            <a:ext cx="22219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Spreadsheets, inboxes and calendars. Candidates fall through the gaps between them.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  ·  Investor overview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a shortlist, not a pile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 does the first pass on every applicant, so hiring managers open a ranked, reasoned shortlist instead of a stack of resumes.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8680" y="2377440"/>
            <a:ext cx="3383280" cy="3063240"/>
          </a:xfrm>
          <a:prstGeom prst="roundRect">
            <a:avLst>
              <a:gd name="adj" fmla="val 3582"/>
            </a:avLst>
          </a:prstGeom>
          <a:solidFill>
            <a:srgbClr val="EAEEFE"/>
          </a:solidFill>
          <a:ln w="12700">
            <a:solidFill>
              <a:srgbClr val="D7DEFB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2670048"/>
            <a:ext cx="621792" cy="621792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6609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43000" y="3429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every CV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3913632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skills, experience and a one-line summary in seconds, however each candidate wrote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0" y="2377440"/>
            <a:ext cx="3383280" cy="3063240"/>
          </a:xfrm>
          <a:prstGeom prst="roundRect">
            <a:avLst>
              <a:gd name="adj" fmla="val 3582"/>
            </a:avLst>
          </a:prstGeom>
          <a:solidFill>
            <a:srgbClr val="EAEEFE"/>
          </a:solidFill>
          <a:ln w="12700">
            <a:solidFill>
              <a:srgbClr val="D7DEFB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2670048"/>
            <a:ext cx="621792" cy="621792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6609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46320" y="3429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against the role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46320" y="3913632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match score with the reasons, strongest fits on top, so you know who to talk to first.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75320" y="2377440"/>
            <a:ext cx="3383280" cy="3063240"/>
          </a:xfrm>
          <a:prstGeom prst="roundRect">
            <a:avLst>
              <a:gd name="adj" fmla="val 3582"/>
            </a:avLst>
          </a:prstGeom>
          <a:solidFill>
            <a:srgbClr val="EAEEFE"/>
          </a:solidFill>
          <a:ln w="12700">
            <a:solidFill>
              <a:srgbClr val="D7DEFB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49640" y="2670048"/>
            <a:ext cx="621792" cy="621792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17" name="Text 15"/>
          <p:cNvSpPr/>
          <p:nvPr/>
        </p:nvSpPr>
        <p:spPr>
          <a:xfrm>
            <a:off x="8549640" y="26609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549640" y="3429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the interviews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549640" y="3913632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self-book, a Meet or Teams link is created automatically, and reminders cut no-shows.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  ·  Investor overview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01 · SPEED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two-week shortlist now takes an afternoon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68680" y="228600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43000" y="2697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1430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shortlists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43000" y="4206240"/>
            <a:ext cx="2834640" cy="0"/>
          </a:xfrm>
          <a:prstGeom prst="line">
            <a:avLst/>
          </a:prstGeom>
          <a:noFill/>
          <a:ln w="12700">
            <a:solidFill>
              <a:srgbClr val="DE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43159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that took days happens in minutes.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0" y="228600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2697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→ 3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84632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 to shortlist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846320" y="4206240"/>
            <a:ext cx="2834640" cy="0"/>
          </a:xfrm>
          <a:prstGeom prst="line">
            <a:avLst/>
          </a:prstGeom>
          <a:noFill/>
          <a:ln w="12700">
            <a:solidFill>
              <a:srgbClr val="DED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43159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flood of CVs becomes a handful worth a call.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75320" y="228600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549640" y="2697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weeks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5496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sooner to hire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549640" y="4206240"/>
            <a:ext cx="2834640" cy="0"/>
          </a:xfrm>
          <a:prstGeom prst="line">
            <a:avLst/>
          </a:prstGeom>
          <a:noFill/>
          <a:ln w="12700">
            <a:solidFill>
              <a:srgbClr val="DEDE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9640" y="431596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time in-stage means offers land before rivals'.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669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Aster's own product outcomes; independent results vary by role and volume.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  ·  Investor overview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02 · QUALITY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Better, more defensible hiring decisions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79192" cy="3566160"/>
          </a:xfrm>
          <a:prstGeom prst="roundRect">
            <a:avLst>
              <a:gd name="adj" fmla="val 409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176272"/>
            <a:ext cx="502920" cy="502920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67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the same way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22219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applicant is scored against the actual role, with the reasoning shown, so decisions rest on evidence not memory.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46704" y="1920240"/>
            <a:ext cx="2679192" cy="3566160"/>
          </a:xfrm>
          <a:prstGeom prst="roundRect">
            <a:avLst>
              <a:gd name="adj" fmla="val 409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75304" y="2176272"/>
            <a:ext cx="502920" cy="502920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11" name="Text 9"/>
          <p:cNvSpPr/>
          <p:nvPr/>
        </p:nvSpPr>
        <p:spPr>
          <a:xfrm>
            <a:off x="3575304" y="2167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75304" y="2834640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score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75304" y="3520440"/>
            <a:ext cx="22219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Interviewers rate on a shared 1–4 scale; scores roll up to a single team view attached to the candidate.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44768" y="1920240"/>
            <a:ext cx="2679192" cy="3566160"/>
          </a:xfrm>
          <a:prstGeom prst="roundRect">
            <a:avLst>
              <a:gd name="adj" fmla="val 409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73368" y="2176272"/>
            <a:ext cx="502920" cy="502920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3368" y="2167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73368" y="2834640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duplicates, no gaps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73368" y="3520440"/>
            <a:ext cx="22219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Re-applicants and cross-role duplicates merge into one record, so nobody is scored twice or lost.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942832" y="1920240"/>
            <a:ext cx="2679192" cy="3566160"/>
          </a:xfrm>
          <a:prstGeom prst="roundRect">
            <a:avLst>
              <a:gd name="adj" fmla="val 409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432" y="2176272"/>
            <a:ext cx="502920" cy="502920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21" name="Text 19"/>
          <p:cNvSpPr/>
          <p:nvPr/>
        </p:nvSpPr>
        <p:spPr>
          <a:xfrm>
            <a:off x="9171432" y="2167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71432" y="2834640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trail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71432" y="3520440"/>
            <a:ext cx="22219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change and access event is logged, so a hiring decision can be reconstructed months later.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  ·  Investor overview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03 · ONE PLATFORM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hiring workflow, in one place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first application to the signed offer, on one candidate record, so nothing is lost between stages.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481328" cy="2377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33272" y="2560320"/>
            <a:ext cx="512064" cy="512064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" y="25511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24612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Branded career site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148840" y="2286000"/>
            <a:ext cx="1481328" cy="2377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33472" y="2560320"/>
            <a:ext cx="512064" cy="512064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11" name="Text 9"/>
          <p:cNvSpPr/>
          <p:nvPr/>
        </p:nvSpPr>
        <p:spPr>
          <a:xfrm>
            <a:off x="2633472" y="25511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40280" y="324612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&amp; score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749040" y="2286000"/>
            <a:ext cx="1481328" cy="2377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233672" y="2560320"/>
            <a:ext cx="512064" cy="512064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15" name="Text 13"/>
          <p:cNvSpPr/>
          <p:nvPr/>
        </p:nvSpPr>
        <p:spPr>
          <a:xfrm>
            <a:off x="4233672" y="25511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840480" y="324612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Rank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349240" y="2286000"/>
            <a:ext cx="1481328" cy="2377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33872" y="2560320"/>
            <a:ext cx="512064" cy="512064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19" name="Text 17"/>
          <p:cNvSpPr/>
          <p:nvPr/>
        </p:nvSpPr>
        <p:spPr>
          <a:xfrm>
            <a:off x="5833872" y="25511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◷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40680" y="324612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Self-scheduling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949440" y="2286000"/>
            <a:ext cx="1481328" cy="2377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34072" y="2560320"/>
            <a:ext cx="512064" cy="512064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23" name="Text 21"/>
          <p:cNvSpPr/>
          <p:nvPr/>
        </p:nvSpPr>
        <p:spPr>
          <a:xfrm>
            <a:off x="7434072" y="25511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40880" y="324612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549640" y="2286000"/>
            <a:ext cx="1481328" cy="2377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034272" y="2560320"/>
            <a:ext cx="512064" cy="512064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27" name="Text 25"/>
          <p:cNvSpPr/>
          <p:nvPr/>
        </p:nvSpPr>
        <p:spPr>
          <a:xfrm>
            <a:off x="9034272" y="25511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641080" y="324612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&amp; e-sign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0149840" y="2286000"/>
            <a:ext cx="1481328" cy="2377440"/>
          </a:xfrm>
          <a:prstGeom prst="roundRect">
            <a:avLst>
              <a:gd name="adj" fmla="val 7407"/>
            </a:avLst>
          </a:prstGeom>
          <a:solidFill>
            <a:srgbClr val="EFFBF1"/>
          </a:solidFill>
          <a:ln w="12700">
            <a:solidFill>
              <a:srgbClr val="BBE6C6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634472" y="2560320"/>
            <a:ext cx="512064" cy="512064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1" name="Text 29"/>
          <p:cNvSpPr/>
          <p:nvPr/>
        </p:nvSpPr>
        <p:spPr>
          <a:xfrm>
            <a:off x="10634472" y="25511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0241280" y="324612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5029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team seats on every plan, with role-based access, so the whole team works the same pipeline.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  ·  Investor overview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hiring command center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6830568" cy="4804981"/>
          </a:xfrm>
          <a:prstGeom prst="roundRect">
            <a:avLst>
              <a:gd name="adj" fmla="val 2284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627632"/>
            <a:ext cx="6720840" cy="469525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87477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Aster hiring dashboard.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498080" y="1737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498080" y="2286000"/>
            <a:ext cx="4160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funnel from Applied → Interview → Offer → Hired.</a:t>
            </a:r>
            <a:endParaRPr lang="en-US" sz="13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shortlists with a match score and reasons on every applicant.</a:t>
            </a:r>
            <a:endParaRPr lang="en-US" sz="13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Interviews, scorecards and offers tracked on one record.</a:t>
            </a:r>
            <a:endParaRPr lang="en-US" sz="13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performance and time-in-stage analytics.</a:t>
            </a:r>
            <a:endParaRPr lang="en-US" sz="13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and plan limits, always visible.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  ·  Investor overview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IT'S FOR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from first hire to enterprise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148840" cy="320040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386584"/>
            <a:ext cx="457200" cy="457200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9900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49808" y="3474720"/>
            <a:ext cx="1764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credible career site and a pipeline a founder can run alone, on day one.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16352" y="2148840"/>
            <a:ext cx="2148840" cy="320040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17520" y="2386584"/>
            <a:ext cx="457200" cy="457200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11" name="Text 9"/>
          <p:cNvSpPr/>
          <p:nvPr/>
        </p:nvSpPr>
        <p:spPr>
          <a:xfrm>
            <a:off x="301752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017520" y="29900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Scaleups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017520" y="3474720"/>
            <a:ext cx="1764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roles, many managers, one shared board with role-based access.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84064" y="2148840"/>
            <a:ext cx="2148840" cy="320040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85232" y="2386584"/>
            <a:ext cx="457200" cy="457200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16" name="Text 14"/>
          <p:cNvSpPr/>
          <p:nvPr/>
        </p:nvSpPr>
        <p:spPr>
          <a:xfrm>
            <a:off x="5285232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285232" y="29900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Agencies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285232" y="3474720"/>
            <a:ext cx="1764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searchable talent CRM to reuse candidates across client searches.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1776" y="2148840"/>
            <a:ext cx="2148840" cy="320040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552944" y="2386584"/>
            <a:ext cx="457200" cy="457200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21" name="Text 19"/>
          <p:cNvSpPr/>
          <p:nvPr/>
        </p:nvSpPr>
        <p:spPr>
          <a:xfrm>
            <a:off x="7552944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552944" y="29900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552944" y="3474720"/>
            <a:ext cx="1764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SSO, audit logs and white-label branding inside an existing security posture.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19488" y="2148840"/>
            <a:ext cx="2148840" cy="320040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20656" y="2386584"/>
            <a:ext cx="457200" cy="457200"/>
          </a:xfrm>
          <a:prstGeom prst="ellipse">
            <a:avLst/>
          </a:prstGeom>
          <a:solidFill>
            <a:srgbClr val="0B2AE0"/>
          </a:solidFill>
          <a:ln/>
        </p:spPr>
      </p:sp>
      <p:sp>
        <p:nvSpPr>
          <p:cNvPr id="26" name="Text 24"/>
          <p:cNvSpPr/>
          <p:nvPr/>
        </p:nvSpPr>
        <p:spPr>
          <a:xfrm>
            <a:off x="9820656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820656" y="299008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820656" y="3474720"/>
            <a:ext cx="17647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Warehousing, retail and manufacturing surges screened and ranked at scale.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5577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logic scales down without feeling stripped, and up without feeling bolted together.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  ·  Investor overview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subscriptions + high-margin usage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subscription tiers with unlimited seats, plus usage-based AI credits that expand revenue as accounts grow.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2860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331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715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RM99 / mo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320954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roles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953512" y="2148840"/>
            <a:ext cx="2286000" cy="1600200"/>
          </a:xfrm>
          <a:prstGeom prst="roundRect">
            <a:avLst>
              <a:gd name="adj" fmla="val 6857"/>
            </a:avLst>
          </a:prstGeom>
          <a:solidFill>
            <a:srgbClr val="0B2AE0"/>
          </a:solidFill>
          <a:ln w="12700">
            <a:solidFill>
              <a:srgbClr val="0B2A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154680" y="2331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54680" y="2715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RM599 / mo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154680" y="320954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358384" y="2148840"/>
            <a:ext cx="22860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559552" y="2331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559552" y="2715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RM1,399 / mo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559552" y="320954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at volume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63256" y="2148840"/>
            <a:ext cx="22860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964424" y="2331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64424" y="2715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964424" y="320954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AI account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069080"/>
            <a:ext cx="2679192" cy="1874520"/>
          </a:xfrm>
          <a:prstGeom prst="roundRect">
            <a:avLst>
              <a:gd name="adj" fmla="val 5854"/>
            </a:avLst>
          </a:prstGeom>
          <a:solidFill>
            <a:srgbClr val="EAEEFE"/>
          </a:solidFill>
          <a:ln w="12700">
            <a:solidFill>
              <a:srgbClr val="D7DEFB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25196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seats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9808" y="4727448"/>
            <a:ext cx="2295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per-seat fees, so growing the team never blocks adoption.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346704" y="4069080"/>
            <a:ext cx="2679192" cy="1874520"/>
          </a:xfrm>
          <a:prstGeom prst="roundRect">
            <a:avLst>
              <a:gd name="adj" fmla="val 5854"/>
            </a:avLst>
          </a:prstGeom>
          <a:solidFill>
            <a:srgbClr val="EAEEFE"/>
          </a:solidFill>
          <a:ln w="12700">
            <a:solidFill>
              <a:srgbClr val="D7DEFB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547872" y="425196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expansion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547872" y="4727448"/>
            <a:ext cx="2295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credit top-ups add net-new, high-margin revenue on top of the subscription.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44768" y="4069080"/>
            <a:ext cx="2679192" cy="1874520"/>
          </a:xfrm>
          <a:prstGeom prst="roundRect">
            <a:avLst>
              <a:gd name="adj" fmla="val 5854"/>
            </a:avLst>
          </a:prstGeom>
          <a:solidFill>
            <a:srgbClr val="EAEEFE"/>
          </a:solidFill>
          <a:ln w="12700">
            <a:solidFill>
              <a:srgbClr val="D7DEFB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45936" y="425196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margins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45936" y="4727448"/>
            <a:ext cx="2295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~66–71% all-in on plans, ~80–91% on credit top-ups.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942832" y="4069080"/>
            <a:ext cx="2679192" cy="1874520"/>
          </a:xfrm>
          <a:prstGeom prst="roundRect">
            <a:avLst>
              <a:gd name="adj" fmla="val 5854"/>
            </a:avLst>
          </a:prstGeom>
          <a:solidFill>
            <a:srgbClr val="EAEEFE"/>
          </a:solidFill>
          <a:ln w="12700">
            <a:solidFill>
              <a:srgbClr val="D7DEFB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9144000" y="425196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BYO AI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144000" y="4727448"/>
            <a:ext cx="2295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licence from RM30k/mo; customer runs AI on its own account, so near-pure margin.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 are modeled from provider pricing (Anthropic, Stripe, infra); see the pricing model for detail.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  ·  Investor overview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· WHY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recruitment is the fast-growing wedge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12080" cy="3657600"/>
          </a:xfrm>
          <a:prstGeom prst="roundRect">
            <a:avLst>
              <a:gd name="adj" fmla="val 3000"/>
            </a:avLst>
          </a:prstGeom>
          <a:solidFill>
            <a:srgbClr val="0A1FC2"/>
          </a:solidFill>
          <a:ln w="12700">
            <a:solidFill>
              <a:srgbClr val="0A1FC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945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recruitment platforms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US$6.1B</a:t>
            </a:r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US$17.9B by 2034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2286000" cy="502920"/>
          </a:xfrm>
          <a:prstGeom prst="roundRect">
            <a:avLst>
              <a:gd name="adj" fmla="val 50909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0690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14.3% CAGR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0292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F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AI recruitment platform market outlook, 2026.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driving 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242316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HR crossing from experiment to default workflow.</a:t>
            </a:r>
            <a:endParaRPr lang="en-US" sz="13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+ generative AI making per-hire screening cheap.</a:t>
            </a:r>
            <a:endParaRPr lang="en-US" sz="13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teams growing faster than recruiter headcount.</a:t>
            </a:r>
            <a:endParaRPr lang="en-US" sz="13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pressure pushing teams off fragmented, manual tools.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513832" cy="1234440"/>
          </a:xfrm>
          <a:prstGeom prst="roundRect">
            <a:avLst>
              <a:gd name="adj" fmla="val 8889"/>
            </a:avLst>
          </a:prstGeom>
          <a:solidFill>
            <a:srgbClr val="EAEEFE"/>
          </a:solidFill>
          <a:ln w="12700">
            <a:solidFill>
              <a:srgbClr val="D7DEFB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55080" y="4617720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Aster's wedge:  </a:t>
            </a:r>
            <a:pPr algn="l" indent="0" marL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AI-native, priced for SMB→enterprise, multi-currency, with a Southeast Asia home market most global players underserve.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  ·  Investor overview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scales fast with a few enterprise logos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account-mix scenarios on the current pricing. Enterprise (RM30k/mo floor) is the swing factor.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63931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450592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RM883K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3675888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ARR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133088"/>
            <a:ext cx="3090672" cy="0"/>
          </a:xfrm>
          <a:prstGeom prst="line">
            <a:avLst/>
          </a:prstGeom>
          <a:noFill/>
          <a:ln w="12700">
            <a:solidFill>
              <a:srgbClr val="DE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25196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 </a:t>
            </a:r>
            <a:pPr algn="l" indent="0" marL="0">
              <a:buNone/>
            </a:pPr>
            <a:r>
              <a:rPr lang="en-US" sz="12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· 30 · 10 · 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06824" y="2194560"/>
            <a:ext cx="3639312" cy="2743200"/>
          </a:xfrm>
          <a:prstGeom prst="roundRect">
            <a:avLst>
              <a:gd name="adj" fmla="val 4000"/>
            </a:avLst>
          </a:prstGeom>
          <a:solidFill>
            <a:srgbClr val="0B2AE0"/>
          </a:solidFill>
          <a:ln w="12700">
            <a:solidFill>
              <a:srgbClr val="0B2AE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81144" y="2450592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81144" y="2834640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RM2.31M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581144" y="3675888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ARR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81144" y="4133088"/>
            <a:ext cx="3090672" cy="0"/>
          </a:xfrm>
          <a:prstGeom prst="line">
            <a:avLst/>
          </a:prstGeom>
          <a:noFill/>
          <a:ln w="12700">
            <a:solidFill>
              <a:srgbClr val="3550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81144" y="425196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 </a:t>
            </a:r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· 70 · 25 · 3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65008" y="2194560"/>
            <a:ext cx="363931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EDEE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B5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39328" y="2450592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39328" y="2834640"/>
            <a:ext cx="3090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2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RM5.62M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8339328" y="3675888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ARR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339328" y="4133088"/>
            <a:ext cx="3090672" cy="0"/>
          </a:xfrm>
          <a:prstGeom prst="line">
            <a:avLst/>
          </a:prstGeom>
          <a:noFill/>
          <a:ln w="12700">
            <a:solidFill>
              <a:srgbClr val="DEDE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425196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 </a:t>
            </a:r>
            <a:pPr algn="l" indent="0" marL="0">
              <a:buNone/>
            </a:pPr>
            <a:r>
              <a:rPr lang="en-US" sz="1200" b="1" dirty="0">
                <a:solidFill>
                  <a:srgbClr val="121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· 150 · 60 · 8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= Launch · Scale · Elite · Enterprise. ~68% blended gross margin at base case. Illustrative projections, not a forecast or committed revenue.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  ·  Investor overview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F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286000"/>
            <a:ext cx="6400800" cy="6400800"/>
          </a:xfrm>
          <a:prstGeom prst="ellipse">
            <a:avLst/>
          </a:prstGeom>
          <a:solidFill>
            <a:srgbClr val="0B2AE0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3200400"/>
            <a:ext cx="5943600" cy="5943600"/>
          </a:xfrm>
          <a:prstGeom prst="ellipse">
            <a:avLst/>
          </a:prstGeom>
          <a:solidFill>
            <a:srgbClr val="5570F5">
              <a:alpha val="26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21792"/>
            <a:ext cx="1874520" cy="4530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4688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a shortlist,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77240" y="32918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pile.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recruitment for growing teams, from first hire to enterprise.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F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hireaster.com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2026-08-11T03:57:29Z</dcterms:created>
  <dcterms:modified xsi:type="dcterms:W3CDTF">2026-08-11T03:57:29Z</dcterms:modified>
</cp:coreProperties>
</file>