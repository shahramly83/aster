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A1FC2"/>
        </a:solidFill>
      </p:bgPr>
    </p:bg>
    <p:spTree>
      <p:nvGrpSpPr>
        <p:cNvPr id="1" name=""/>
        <p:cNvGrpSpPr/>
        <p:nvPr/>
      </p:nvGrpSpPr>
      <p:grpSpPr>
        <a:xfrm>
          <a:off x="0" y="0"/>
          <a:ext cx="0" cy="0"/>
          <a:chOff x="0" y="0"/>
          <a:chExt cx="0" cy="0"/>
        </a:xfrm>
      </p:grpSpPr>
      <p:sp>
        <p:nvSpPr>
          <p:cNvPr id="2" name="Shape 0"/>
          <p:cNvSpPr/>
          <p:nvPr/>
        </p:nvSpPr>
        <p:spPr>
          <a:xfrm>
            <a:off x="-2011680" y="-2377440"/>
            <a:ext cx="5943600" cy="5943600"/>
          </a:xfrm>
          <a:prstGeom prst="ellipse">
            <a:avLst/>
          </a:prstGeom>
          <a:solidFill>
            <a:srgbClr val="5570F5">
              <a:alpha val="28000"/>
            </a:srgbClr>
          </a:solidFill>
          <a:ln/>
        </p:spPr>
      </p:sp>
      <p:sp>
        <p:nvSpPr>
          <p:cNvPr id="3" name="Shape 1"/>
          <p:cNvSpPr/>
          <p:nvPr/>
        </p:nvSpPr>
        <p:spPr>
          <a:xfrm>
            <a:off x="8412480" y="3291840"/>
            <a:ext cx="6217920" cy="6217920"/>
          </a:xfrm>
          <a:prstGeom prst="ellipse">
            <a:avLst/>
          </a:prstGeom>
          <a:solidFill>
            <a:srgbClr val="0B2AE0">
              <a:alpha val="40000"/>
            </a:srgbClr>
          </a:solidFill>
          <a:ln/>
        </p:spPr>
      </p:sp>
      <p:pic>
        <p:nvPicPr>
          <p:cNvPr id="4" name="Image 0" descr="preencoded.png">    </p:cNvPr>
          <p:cNvPicPr>
            <a:picLocks noChangeAspect="1"/>
          </p:cNvPicPr>
          <p:nvPr/>
        </p:nvPicPr>
        <p:blipFill>
          <a:blip r:embed="rId1"/>
          <a:stretch>
            <a:fillRect/>
          </a:stretch>
        </p:blipFill>
        <p:spPr>
          <a:xfrm>
            <a:off x="777240" y="566928"/>
            <a:ext cx="2148840" cy="519303"/>
          </a:xfrm>
          <a:prstGeom prst="rect">
            <a:avLst/>
          </a:prstGeom>
        </p:spPr>
      </p:pic>
      <p:sp>
        <p:nvSpPr>
          <p:cNvPr id="5" name="Text 2"/>
          <p:cNvSpPr/>
          <p:nvPr/>
        </p:nvSpPr>
        <p:spPr>
          <a:xfrm>
            <a:off x="777240" y="2286000"/>
            <a:ext cx="10607040" cy="914400"/>
          </a:xfrm>
          <a:prstGeom prst="rect">
            <a:avLst/>
          </a:prstGeom>
          <a:noFill/>
          <a:ln/>
        </p:spPr>
        <p:txBody>
          <a:bodyPr wrap="square" lIns="0" tIns="0" rIns="0" bIns="0" rtlCol="0" anchor="ctr"/>
          <a:lstStyle/>
          <a:p>
            <a:pPr algn="l" indent="0" marL="0">
              <a:buNone/>
            </a:pPr>
            <a:r>
              <a:rPr lang="en-US" sz="5400" b="1" dirty="0">
                <a:solidFill>
                  <a:srgbClr val="FFFFFF"/>
                </a:solidFill>
                <a:latin typeface="Calibri" pitchFamily="34" charset="0"/>
                <a:ea typeface="Calibri" pitchFamily="34" charset="-122"/>
                <a:cs typeface="Calibri" pitchFamily="34" charset="-120"/>
              </a:rPr>
              <a:t>Pricing model</a:t>
            </a:r>
            <a:endParaRPr lang="en-US" sz="5400" dirty="0"/>
          </a:p>
        </p:txBody>
      </p:sp>
      <p:sp>
        <p:nvSpPr>
          <p:cNvPr id="6" name="Text 3"/>
          <p:cNvSpPr/>
          <p:nvPr/>
        </p:nvSpPr>
        <p:spPr>
          <a:xfrm>
            <a:off x="822960" y="3310128"/>
            <a:ext cx="10058400" cy="548640"/>
          </a:xfrm>
          <a:prstGeom prst="rect">
            <a:avLst/>
          </a:prstGeom>
          <a:noFill/>
          <a:ln/>
        </p:spPr>
        <p:txBody>
          <a:bodyPr wrap="square" lIns="0" tIns="0" rIns="0" bIns="0" rtlCol="0" anchor="ctr"/>
          <a:lstStyle/>
          <a:p>
            <a:pPr algn="l" indent="0" marL="0">
              <a:buNone/>
            </a:pPr>
            <a:r>
              <a:rPr lang="en-US" sz="2000" dirty="0">
                <a:solidFill>
                  <a:srgbClr val="CADCFC"/>
                </a:solidFill>
                <a:latin typeface="Calibri" pitchFamily="34" charset="0"/>
                <a:ea typeface="Calibri" pitchFamily="34" charset="-122"/>
                <a:cs typeface="Calibri" pitchFamily="34" charset="-120"/>
              </a:rPr>
              <a:t>A full proposal for CFO review: tiers, credit economics, and margins</a:t>
            </a:r>
            <a:endParaRPr lang="en-US" sz="2000" dirty="0"/>
          </a:p>
        </p:txBody>
      </p:sp>
      <p:sp>
        <p:nvSpPr>
          <p:cNvPr id="7" name="Shape 4"/>
          <p:cNvSpPr/>
          <p:nvPr/>
        </p:nvSpPr>
        <p:spPr>
          <a:xfrm>
            <a:off x="822960" y="4251960"/>
            <a:ext cx="2221992" cy="457200"/>
          </a:xfrm>
          <a:prstGeom prst="roundRect">
            <a:avLst>
              <a:gd name="adj" fmla="val 50000"/>
            </a:avLst>
          </a:prstGeom>
          <a:solidFill>
            <a:srgbClr val="FFFFFF">
              <a:alpha val="14000"/>
            </a:srgbClr>
          </a:solidFill>
          <a:ln w="12700">
            <a:solidFill>
              <a:srgbClr val="FFFFFF">
                <a:alpha val="40000"/>
              </a:srgbClr>
            </a:solidFill>
            <a:prstDash val="solid"/>
          </a:ln>
        </p:spPr>
      </p:sp>
      <p:sp>
        <p:nvSpPr>
          <p:cNvPr id="8" name="Text 5"/>
          <p:cNvSpPr/>
          <p:nvPr/>
        </p:nvSpPr>
        <p:spPr>
          <a:xfrm>
            <a:off x="822960" y="4251960"/>
            <a:ext cx="2221992"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 subscription tiers</a:t>
            </a:r>
            <a:endParaRPr lang="en-US" sz="1300" dirty="0"/>
          </a:p>
        </p:txBody>
      </p:sp>
      <p:sp>
        <p:nvSpPr>
          <p:cNvPr id="9" name="Shape 6"/>
          <p:cNvSpPr/>
          <p:nvPr/>
        </p:nvSpPr>
        <p:spPr>
          <a:xfrm>
            <a:off x="3273552" y="4251960"/>
            <a:ext cx="2412187" cy="457200"/>
          </a:xfrm>
          <a:prstGeom prst="roundRect">
            <a:avLst>
              <a:gd name="adj" fmla="val 50000"/>
            </a:avLst>
          </a:prstGeom>
          <a:solidFill>
            <a:srgbClr val="FFFFFF">
              <a:alpha val="14000"/>
            </a:srgbClr>
          </a:solidFill>
          <a:ln w="12700">
            <a:solidFill>
              <a:srgbClr val="FFFFFF">
                <a:alpha val="40000"/>
              </a:srgbClr>
            </a:solidFill>
            <a:prstDash val="solid"/>
          </a:ln>
        </p:spPr>
      </p:sp>
      <p:sp>
        <p:nvSpPr>
          <p:cNvPr id="10" name="Text 7"/>
          <p:cNvSpPr/>
          <p:nvPr/>
        </p:nvSpPr>
        <p:spPr>
          <a:xfrm>
            <a:off x="3273552" y="4251960"/>
            <a:ext cx="2412187"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Usage-based AI credits</a:t>
            </a:r>
            <a:endParaRPr lang="en-US" sz="1300" dirty="0"/>
          </a:p>
        </p:txBody>
      </p:sp>
      <p:sp>
        <p:nvSpPr>
          <p:cNvPr id="11" name="Shape 8"/>
          <p:cNvSpPr/>
          <p:nvPr/>
        </p:nvSpPr>
        <p:spPr>
          <a:xfrm>
            <a:off x="5914339" y="4251960"/>
            <a:ext cx="3363163" cy="457200"/>
          </a:xfrm>
          <a:prstGeom prst="roundRect">
            <a:avLst>
              <a:gd name="adj" fmla="val 50000"/>
            </a:avLst>
          </a:prstGeom>
          <a:solidFill>
            <a:srgbClr val="FFFFFF">
              <a:alpha val="14000"/>
            </a:srgbClr>
          </a:solidFill>
          <a:ln w="12700">
            <a:solidFill>
              <a:srgbClr val="FFFFFF">
                <a:alpha val="40000"/>
              </a:srgbClr>
            </a:solidFill>
            <a:prstDash val="solid"/>
          </a:ln>
        </p:spPr>
      </p:sp>
      <p:sp>
        <p:nvSpPr>
          <p:cNvPr id="12" name="Text 9"/>
          <p:cNvSpPr/>
          <p:nvPr/>
        </p:nvSpPr>
        <p:spPr>
          <a:xfrm>
            <a:off x="5914339" y="4251960"/>
            <a:ext cx="3363163"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Cost per credit from real models</a:t>
            </a:r>
            <a:endParaRPr lang="en-US" sz="1300" dirty="0"/>
          </a:p>
        </p:txBody>
      </p:sp>
      <p:sp>
        <p:nvSpPr>
          <p:cNvPr id="13" name="Text 10"/>
          <p:cNvSpPr/>
          <p:nvPr/>
        </p:nvSpPr>
        <p:spPr>
          <a:xfrm>
            <a:off x="822960" y="6172200"/>
            <a:ext cx="10515600" cy="365760"/>
          </a:xfrm>
          <a:prstGeom prst="rect">
            <a:avLst/>
          </a:prstGeom>
          <a:noFill/>
          <a:ln/>
        </p:spPr>
        <p:txBody>
          <a:bodyPr wrap="square" lIns="0" tIns="0" rIns="0" bIns="0" rtlCol="0" anchor="ctr"/>
          <a:lstStyle/>
          <a:p>
            <a:pPr algn="l" indent="0" marL="0">
              <a:buNone/>
            </a:pPr>
            <a:r>
              <a:rPr lang="en-US" sz="1200" i="1" dirty="0">
                <a:solidFill>
                  <a:srgbClr val="9FB0F0"/>
                </a:solidFill>
                <a:latin typeface="Calibri" pitchFamily="34" charset="0"/>
                <a:ea typeface="Calibri" pitchFamily="34" charset="-122"/>
                <a:cs typeface="Calibri" pitchFamily="34" charset="-120"/>
              </a:rPr>
              <a:t>Prepared for internal discussion  ·  August 2026  ·  Proposed figures, not current live prices</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502920"/>
            <a:ext cx="8229600" cy="274320"/>
          </a:xfrm>
          <a:prstGeom prst="rect">
            <a:avLst/>
          </a:prstGeom>
          <a:noFill/>
          <a:ln/>
        </p:spPr>
        <p:txBody>
          <a:bodyPr wrap="square" lIns="0" tIns="0" rIns="0" bIns="0" rtlCol="0" anchor="ctr"/>
          <a:lstStyle/>
          <a:p>
            <a:pPr algn="l" indent="0" marL="0">
              <a:buNone/>
            </a:pPr>
            <a:r>
              <a:rPr lang="en-US" sz="1200" b="1" spc="200" kern="0" dirty="0">
                <a:solidFill>
                  <a:srgbClr val="0B2AE0"/>
                </a:solidFill>
                <a:latin typeface="Calibri" pitchFamily="34" charset="0"/>
                <a:ea typeface="Calibri" pitchFamily="34" charset="-122"/>
                <a:cs typeface="Calibri" pitchFamily="34" charset="-120"/>
              </a:rPr>
              <a:t>THE MODEL AT A GLANCE</a:t>
            </a:r>
            <a:endParaRPr lang="en-US" sz="1200" dirty="0"/>
          </a:p>
        </p:txBody>
      </p:sp>
      <p:sp>
        <p:nvSpPr>
          <p:cNvPr id="3" name="Text 1"/>
          <p:cNvSpPr/>
          <p:nvPr/>
        </p:nvSpPr>
        <p:spPr>
          <a:xfrm>
            <a:off x="548640" y="777240"/>
            <a:ext cx="11064240" cy="822960"/>
          </a:xfrm>
          <a:prstGeom prst="rect">
            <a:avLst/>
          </a:prstGeom>
          <a:noFill/>
          <a:ln/>
        </p:spPr>
        <p:txBody>
          <a:bodyPr wrap="square" lIns="0" tIns="0" rIns="0" bIns="0" rtlCol="0" anchor="ctr"/>
          <a:lstStyle/>
          <a:p>
            <a:pPr algn="l" indent="0" marL="0">
              <a:buNone/>
            </a:pPr>
            <a:r>
              <a:rPr lang="en-US" sz="3400" b="1" dirty="0">
                <a:solidFill>
                  <a:srgbClr val="12132A"/>
                </a:solidFill>
                <a:latin typeface="Calibri" pitchFamily="34" charset="0"/>
                <a:ea typeface="Calibri" pitchFamily="34" charset="-122"/>
                <a:cs typeface="Calibri" pitchFamily="34" charset="-120"/>
              </a:rPr>
              <a:t>Two revenue engines, one platform</a:t>
            </a:r>
            <a:endParaRPr lang="en-US" sz="3400" dirty="0"/>
          </a:p>
        </p:txBody>
      </p:sp>
      <p:sp>
        <p:nvSpPr>
          <p:cNvPr id="4" name="Text 2"/>
          <p:cNvSpPr/>
          <p:nvPr/>
        </p:nvSpPr>
        <p:spPr>
          <a:xfrm>
            <a:off x="548640" y="1554480"/>
            <a:ext cx="11064240" cy="640080"/>
          </a:xfrm>
          <a:prstGeom prst="rect">
            <a:avLst/>
          </a:prstGeom>
          <a:noFill/>
          <a:ln/>
        </p:spPr>
        <p:txBody>
          <a:bodyPr wrap="square" lIns="0" tIns="0" rIns="0" bIns="0" rtlCol="0" anchor="ctr"/>
          <a:lstStyle/>
          <a:p>
            <a:pPr algn="l" indent="0" marL="0">
              <a:buNone/>
            </a:pPr>
            <a:r>
              <a:rPr lang="en-US" sz="1400" dirty="0">
                <a:solidFill>
                  <a:srgbClr val="4A5568"/>
                </a:solidFill>
                <a:latin typeface="Calibri" pitchFamily="34" charset="0"/>
                <a:ea typeface="Calibri" pitchFamily="34" charset="-122"/>
                <a:cs typeface="Calibri" pitchFamily="34" charset="-120"/>
              </a:rPr>
              <a:t>Aster charges a monthly subscription for platform access plus a bundle of AI usage, then sells more AI usage as credit top-ups. Seats are unlimited on every plan, so we compete on hiring outcomes, not per-seat price.</a:t>
            </a:r>
            <a:endParaRPr lang="en-US" sz="1400" dirty="0"/>
          </a:p>
        </p:txBody>
      </p:sp>
      <p:sp>
        <p:nvSpPr>
          <p:cNvPr id="5" name="Shape 3"/>
          <p:cNvSpPr/>
          <p:nvPr/>
        </p:nvSpPr>
        <p:spPr>
          <a:xfrm>
            <a:off x="548640" y="2331720"/>
            <a:ext cx="2679192" cy="1417320"/>
          </a:xfrm>
          <a:prstGeom prst="roundRect">
            <a:avLst>
              <a:gd name="adj" fmla="val 7742"/>
            </a:avLst>
          </a:prstGeom>
          <a:solidFill>
            <a:srgbClr val="EAEEFE"/>
          </a:solidFill>
          <a:ln w="12700">
            <a:solidFill>
              <a:srgbClr val="D7DEFB"/>
            </a:solidFill>
            <a:prstDash val="solid"/>
          </a:ln>
          <a:effectLst>
            <a:outerShdw sx="100000" sy="100000" kx="0" ky="0" algn="bl" rotWithShape="0" blurRad="101600" dist="25400" dir="5400000">
              <a:srgbClr val="9AA0B5">
                <a:alpha val="18000"/>
              </a:srgbClr>
            </a:outerShdw>
          </a:effectLst>
        </p:spPr>
      </p:sp>
      <p:sp>
        <p:nvSpPr>
          <p:cNvPr id="6" name="Text 4"/>
          <p:cNvSpPr/>
          <p:nvPr/>
        </p:nvSpPr>
        <p:spPr>
          <a:xfrm>
            <a:off x="731520" y="2487168"/>
            <a:ext cx="2313432" cy="548640"/>
          </a:xfrm>
          <a:prstGeom prst="rect">
            <a:avLst/>
          </a:prstGeom>
          <a:noFill/>
          <a:ln/>
        </p:spPr>
        <p:txBody>
          <a:bodyPr wrap="square" lIns="0" tIns="0" rIns="0" bIns="0" rtlCol="0" anchor="ctr"/>
          <a:lstStyle/>
          <a:p>
            <a:pPr algn="l" indent="0" marL="0">
              <a:buNone/>
            </a:pPr>
            <a:r>
              <a:rPr lang="en-US" sz="3000" b="1" dirty="0">
                <a:solidFill>
                  <a:srgbClr val="0B2AE0"/>
                </a:solidFill>
                <a:latin typeface="Calibri" pitchFamily="34" charset="0"/>
                <a:ea typeface="Calibri" pitchFamily="34" charset="-122"/>
                <a:cs typeface="Calibri" pitchFamily="34" charset="-120"/>
              </a:rPr>
              <a:t>4 tiers</a:t>
            </a:r>
            <a:endParaRPr lang="en-US" sz="3000" dirty="0"/>
          </a:p>
        </p:txBody>
      </p:sp>
      <p:sp>
        <p:nvSpPr>
          <p:cNvPr id="7" name="Text 5"/>
          <p:cNvSpPr/>
          <p:nvPr/>
        </p:nvSpPr>
        <p:spPr>
          <a:xfrm>
            <a:off x="731520" y="3108960"/>
            <a:ext cx="2313432" cy="548640"/>
          </a:xfrm>
          <a:prstGeom prst="rect">
            <a:avLst/>
          </a:prstGeom>
          <a:noFill/>
          <a:ln/>
        </p:spPr>
        <p:txBody>
          <a:bodyPr wrap="square" lIns="0" tIns="0" rIns="0" bIns="0" rtlCol="0" anchor="ctr"/>
          <a:lstStyle/>
          <a:p>
            <a:pPr algn="l" indent="0" marL="0">
              <a:buNone/>
            </a:pPr>
            <a:r>
              <a:rPr lang="en-US" sz="1250" dirty="0">
                <a:solidFill>
                  <a:srgbClr val="4A5568"/>
                </a:solidFill>
                <a:latin typeface="Calibri" pitchFamily="34" charset="0"/>
                <a:ea typeface="Calibri" pitchFamily="34" charset="-122"/>
                <a:cs typeface="Calibri" pitchFamily="34" charset="-120"/>
              </a:rPr>
              <a:t>Launch · Scale · Elite · Enterprise</a:t>
            </a:r>
            <a:endParaRPr lang="en-US" sz="1250" dirty="0"/>
          </a:p>
        </p:txBody>
      </p:sp>
      <p:sp>
        <p:nvSpPr>
          <p:cNvPr id="8" name="Shape 6"/>
          <p:cNvSpPr/>
          <p:nvPr/>
        </p:nvSpPr>
        <p:spPr>
          <a:xfrm>
            <a:off x="3346704" y="2331720"/>
            <a:ext cx="2679192" cy="1417320"/>
          </a:xfrm>
          <a:prstGeom prst="roundRect">
            <a:avLst>
              <a:gd name="adj" fmla="val 7742"/>
            </a:avLst>
          </a:prstGeom>
          <a:solidFill>
            <a:srgbClr val="EAEEFE"/>
          </a:solidFill>
          <a:ln w="12700">
            <a:solidFill>
              <a:srgbClr val="D7DEFB"/>
            </a:solidFill>
            <a:prstDash val="solid"/>
          </a:ln>
          <a:effectLst>
            <a:outerShdw sx="100000" sy="100000" kx="0" ky="0" algn="bl" rotWithShape="0" blurRad="101600" dist="25400" dir="5400000">
              <a:srgbClr val="9AA0B5">
                <a:alpha val="18000"/>
              </a:srgbClr>
            </a:outerShdw>
          </a:effectLst>
        </p:spPr>
      </p:sp>
      <p:sp>
        <p:nvSpPr>
          <p:cNvPr id="9" name="Text 7"/>
          <p:cNvSpPr/>
          <p:nvPr/>
        </p:nvSpPr>
        <p:spPr>
          <a:xfrm>
            <a:off x="3529584" y="2487168"/>
            <a:ext cx="2313432" cy="548640"/>
          </a:xfrm>
          <a:prstGeom prst="rect">
            <a:avLst/>
          </a:prstGeom>
          <a:noFill/>
          <a:ln/>
        </p:spPr>
        <p:txBody>
          <a:bodyPr wrap="square" lIns="0" tIns="0" rIns="0" bIns="0" rtlCol="0" anchor="ctr"/>
          <a:lstStyle/>
          <a:p>
            <a:pPr algn="l" indent="0" marL="0">
              <a:buNone/>
            </a:pPr>
            <a:r>
              <a:rPr lang="en-US" sz="3000" b="1" dirty="0">
                <a:solidFill>
                  <a:srgbClr val="0B2AE0"/>
                </a:solidFill>
                <a:latin typeface="Calibri" pitchFamily="34" charset="0"/>
                <a:ea typeface="Calibri" pitchFamily="34" charset="-122"/>
                <a:cs typeface="Calibri" pitchFamily="34" charset="-120"/>
              </a:rPr>
              <a:t>Unlimited</a:t>
            </a:r>
            <a:endParaRPr lang="en-US" sz="3000" dirty="0"/>
          </a:p>
        </p:txBody>
      </p:sp>
      <p:sp>
        <p:nvSpPr>
          <p:cNvPr id="10" name="Text 8"/>
          <p:cNvSpPr/>
          <p:nvPr/>
        </p:nvSpPr>
        <p:spPr>
          <a:xfrm>
            <a:off x="3529584" y="3108960"/>
            <a:ext cx="2313432" cy="548640"/>
          </a:xfrm>
          <a:prstGeom prst="rect">
            <a:avLst/>
          </a:prstGeom>
          <a:noFill/>
          <a:ln/>
        </p:spPr>
        <p:txBody>
          <a:bodyPr wrap="square" lIns="0" tIns="0" rIns="0" bIns="0" rtlCol="0" anchor="ctr"/>
          <a:lstStyle/>
          <a:p>
            <a:pPr algn="l" indent="0" marL="0">
              <a:buNone/>
            </a:pPr>
            <a:r>
              <a:rPr lang="en-US" sz="1250" dirty="0">
                <a:solidFill>
                  <a:srgbClr val="4A5568"/>
                </a:solidFill>
                <a:latin typeface="Calibri" pitchFamily="34" charset="0"/>
                <a:ea typeface="Calibri" pitchFamily="34" charset="-122"/>
                <a:cs typeface="Calibri" pitchFamily="34" charset="-120"/>
              </a:rPr>
              <a:t>team seats on every plan</a:t>
            </a:r>
            <a:endParaRPr lang="en-US" sz="1250" dirty="0"/>
          </a:p>
        </p:txBody>
      </p:sp>
      <p:sp>
        <p:nvSpPr>
          <p:cNvPr id="11" name="Shape 9"/>
          <p:cNvSpPr/>
          <p:nvPr/>
        </p:nvSpPr>
        <p:spPr>
          <a:xfrm>
            <a:off x="6144768" y="2331720"/>
            <a:ext cx="2679192" cy="1417320"/>
          </a:xfrm>
          <a:prstGeom prst="roundRect">
            <a:avLst>
              <a:gd name="adj" fmla="val 7742"/>
            </a:avLst>
          </a:prstGeom>
          <a:solidFill>
            <a:srgbClr val="EAEEFE"/>
          </a:solidFill>
          <a:ln w="12700">
            <a:solidFill>
              <a:srgbClr val="D7DEFB"/>
            </a:solidFill>
            <a:prstDash val="solid"/>
          </a:ln>
          <a:effectLst>
            <a:outerShdw sx="100000" sy="100000" kx="0" ky="0" algn="bl" rotWithShape="0" blurRad="101600" dist="25400" dir="5400000">
              <a:srgbClr val="9AA0B5">
                <a:alpha val="18000"/>
              </a:srgbClr>
            </a:outerShdw>
          </a:effectLst>
        </p:spPr>
      </p:sp>
      <p:sp>
        <p:nvSpPr>
          <p:cNvPr id="12" name="Text 10"/>
          <p:cNvSpPr/>
          <p:nvPr/>
        </p:nvSpPr>
        <p:spPr>
          <a:xfrm>
            <a:off x="6327648" y="2487168"/>
            <a:ext cx="2313432" cy="548640"/>
          </a:xfrm>
          <a:prstGeom prst="rect">
            <a:avLst/>
          </a:prstGeom>
          <a:noFill/>
          <a:ln/>
        </p:spPr>
        <p:txBody>
          <a:bodyPr wrap="square" lIns="0" tIns="0" rIns="0" bIns="0" rtlCol="0" anchor="ctr"/>
          <a:lstStyle/>
          <a:p>
            <a:pPr algn="l" indent="0" marL="0">
              <a:buNone/>
            </a:pPr>
            <a:r>
              <a:rPr lang="en-US" sz="3000" b="1" dirty="0">
                <a:solidFill>
                  <a:srgbClr val="16A34A"/>
                </a:solidFill>
                <a:latin typeface="Calibri" pitchFamily="34" charset="0"/>
                <a:ea typeface="Calibri" pitchFamily="34" charset="-122"/>
                <a:cs typeface="Calibri" pitchFamily="34" charset="-120"/>
              </a:rPr>
              <a:t>61–81%</a:t>
            </a:r>
            <a:endParaRPr lang="en-US" sz="3000" dirty="0"/>
          </a:p>
        </p:txBody>
      </p:sp>
      <p:sp>
        <p:nvSpPr>
          <p:cNvPr id="13" name="Text 11"/>
          <p:cNvSpPr/>
          <p:nvPr/>
        </p:nvSpPr>
        <p:spPr>
          <a:xfrm>
            <a:off x="6327648" y="3108960"/>
            <a:ext cx="2313432" cy="548640"/>
          </a:xfrm>
          <a:prstGeom prst="rect">
            <a:avLst/>
          </a:prstGeom>
          <a:noFill/>
          <a:ln/>
        </p:spPr>
        <p:txBody>
          <a:bodyPr wrap="square" lIns="0" tIns="0" rIns="0" bIns="0" rtlCol="0" anchor="ctr"/>
          <a:lstStyle/>
          <a:p>
            <a:pPr algn="l" indent="0" marL="0">
              <a:buNone/>
            </a:pPr>
            <a:r>
              <a:rPr lang="en-US" sz="1250" dirty="0">
                <a:solidFill>
                  <a:srgbClr val="4A5568"/>
                </a:solidFill>
                <a:latin typeface="Calibri" pitchFamily="34" charset="0"/>
                <a:ea typeface="Calibri" pitchFamily="34" charset="-122"/>
                <a:cs typeface="Calibri" pitchFamily="34" charset="-120"/>
              </a:rPr>
              <a:t>all-in gross margin per plan*</a:t>
            </a:r>
            <a:endParaRPr lang="en-US" sz="1250" dirty="0"/>
          </a:p>
        </p:txBody>
      </p:sp>
      <p:sp>
        <p:nvSpPr>
          <p:cNvPr id="14" name="Shape 12"/>
          <p:cNvSpPr/>
          <p:nvPr/>
        </p:nvSpPr>
        <p:spPr>
          <a:xfrm>
            <a:off x="8942832" y="2331720"/>
            <a:ext cx="2679192" cy="1417320"/>
          </a:xfrm>
          <a:prstGeom prst="roundRect">
            <a:avLst>
              <a:gd name="adj" fmla="val 7742"/>
            </a:avLst>
          </a:prstGeom>
          <a:solidFill>
            <a:srgbClr val="EAEEFE"/>
          </a:solidFill>
          <a:ln w="12700">
            <a:solidFill>
              <a:srgbClr val="D7DEFB"/>
            </a:solidFill>
            <a:prstDash val="solid"/>
          </a:ln>
          <a:effectLst>
            <a:outerShdw sx="100000" sy="100000" kx="0" ky="0" algn="bl" rotWithShape="0" blurRad="101600" dist="25400" dir="5400000">
              <a:srgbClr val="9AA0B5">
                <a:alpha val="18000"/>
              </a:srgbClr>
            </a:outerShdw>
          </a:effectLst>
        </p:spPr>
      </p:sp>
      <p:sp>
        <p:nvSpPr>
          <p:cNvPr id="15" name="Text 13"/>
          <p:cNvSpPr/>
          <p:nvPr/>
        </p:nvSpPr>
        <p:spPr>
          <a:xfrm>
            <a:off x="9125712" y="2487168"/>
            <a:ext cx="2313432" cy="548640"/>
          </a:xfrm>
          <a:prstGeom prst="rect">
            <a:avLst/>
          </a:prstGeom>
          <a:noFill/>
          <a:ln/>
        </p:spPr>
        <p:txBody>
          <a:bodyPr wrap="square" lIns="0" tIns="0" rIns="0" bIns="0" rtlCol="0" anchor="ctr"/>
          <a:lstStyle/>
          <a:p>
            <a:pPr algn="l" indent="0" marL="0">
              <a:buNone/>
            </a:pPr>
            <a:r>
              <a:rPr lang="en-US" sz="3000" b="1" dirty="0">
                <a:solidFill>
                  <a:srgbClr val="16A34A"/>
                </a:solidFill>
                <a:latin typeface="Calibri" pitchFamily="34" charset="0"/>
                <a:ea typeface="Calibri" pitchFamily="34" charset="-122"/>
                <a:cs typeface="Calibri" pitchFamily="34" charset="-120"/>
              </a:rPr>
              <a:t>70–97%</a:t>
            </a:r>
            <a:endParaRPr lang="en-US" sz="3000" dirty="0"/>
          </a:p>
        </p:txBody>
      </p:sp>
      <p:sp>
        <p:nvSpPr>
          <p:cNvPr id="16" name="Text 14"/>
          <p:cNvSpPr/>
          <p:nvPr/>
        </p:nvSpPr>
        <p:spPr>
          <a:xfrm>
            <a:off x="9125712" y="3108960"/>
            <a:ext cx="2313432" cy="548640"/>
          </a:xfrm>
          <a:prstGeom prst="rect">
            <a:avLst/>
          </a:prstGeom>
          <a:noFill/>
          <a:ln/>
        </p:spPr>
        <p:txBody>
          <a:bodyPr wrap="square" lIns="0" tIns="0" rIns="0" bIns="0" rtlCol="0" anchor="ctr"/>
          <a:lstStyle/>
          <a:p>
            <a:pPr algn="l" indent="0" marL="0">
              <a:buNone/>
            </a:pPr>
            <a:r>
              <a:rPr lang="en-US" sz="1250" dirty="0">
                <a:solidFill>
                  <a:srgbClr val="4A5568"/>
                </a:solidFill>
                <a:latin typeface="Calibri" pitchFamily="34" charset="0"/>
                <a:ea typeface="Calibri" pitchFamily="34" charset="-122"/>
                <a:cs typeface="Calibri" pitchFamily="34" charset="-120"/>
              </a:rPr>
              <a:t>margin per credit even at max cost*</a:t>
            </a:r>
            <a:endParaRPr lang="en-US" sz="1250" dirty="0"/>
          </a:p>
        </p:txBody>
      </p:sp>
      <p:sp>
        <p:nvSpPr>
          <p:cNvPr id="17" name="Shape 15"/>
          <p:cNvSpPr/>
          <p:nvPr/>
        </p:nvSpPr>
        <p:spPr>
          <a:xfrm>
            <a:off x="594360" y="4133088"/>
            <a:ext cx="384048" cy="384048"/>
          </a:xfrm>
          <a:prstGeom prst="ellipse">
            <a:avLst/>
          </a:prstGeom>
          <a:solidFill>
            <a:srgbClr val="0B2AE0"/>
          </a:solidFill>
          <a:ln/>
        </p:spPr>
      </p:sp>
      <p:sp>
        <p:nvSpPr>
          <p:cNvPr id="18" name="Text 16"/>
          <p:cNvSpPr/>
          <p:nvPr/>
        </p:nvSpPr>
        <p:spPr>
          <a:xfrm>
            <a:off x="594360" y="4123944"/>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19" name="Text 17"/>
          <p:cNvSpPr/>
          <p:nvPr/>
        </p:nvSpPr>
        <p:spPr>
          <a:xfrm>
            <a:off x="1143000" y="4059936"/>
            <a:ext cx="10424160" cy="320040"/>
          </a:xfrm>
          <a:prstGeom prst="rect">
            <a:avLst/>
          </a:prstGeom>
          <a:noFill/>
          <a:ln/>
        </p:spPr>
        <p:txBody>
          <a:bodyPr wrap="square" lIns="0" tIns="0" rIns="0" bIns="0" rtlCol="0" anchor="ctr"/>
          <a:lstStyle/>
          <a:p>
            <a:pPr algn="l" indent="0" marL="0">
              <a:buNone/>
            </a:pPr>
            <a:r>
              <a:rPr lang="en-US" sz="1500" b="1" dirty="0">
                <a:solidFill>
                  <a:srgbClr val="12132A"/>
                </a:solidFill>
                <a:latin typeface="Calibri" pitchFamily="34" charset="0"/>
                <a:ea typeface="Calibri" pitchFamily="34" charset="-122"/>
                <a:cs typeface="Calibri" pitchFamily="34" charset="-120"/>
              </a:rPr>
              <a:t>Subscription = access + a generous AI allowance</a:t>
            </a:r>
            <a:endParaRPr lang="en-US" sz="1500" dirty="0"/>
          </a:p>
        </p:txBody>
      </p:sp>
      <p:sp>
        <p:nvSpPr>
          <p:cNvPr id="20" name="Text 18"/>
          <p:cNvSpPr/>
          <p:nvPr/>
        </p:nvSpPr>
        <p:spPr>
          <a:xfrm>
            <a:off x="1143000" y="4370832"/>
            <a:ext cx="10424160" cy="457200"/>
          </a:xfrm>
          <a:prstGeom prst="rect">
            <a:avLst/>
          </a:prstGeom>
          <a:noFill/>
          <a:ln/>
        </p:spPr>
        <p:txBody>
          <a:bodyPr wrap="square" lIns="0" tIns="0" rIns="0" bIns="0" rtlCol="0" anchor="ctr"/>
          <a:lstStyle/>
          <a:p>
            <a:pPr algn="l" indent="0" marL="0">
              <a:buNone/>
            </a:pPr>
            <a:r>
              <a:rPr lang="en-US" sz="1250" dirty="0">
                <a:solidFill>
                  <a:srgbClr val="4A5568"/>
                </a:solidFill>
                <a:latin typeface="Calibri" pitchFamily="34" charset="0"/>
                <a:ea typeface="Calibri" pitchFamily="34" charset="-122"/>
                <a:cs typeface="Calibri" pitchFamily="34" charset="-120"/>
              </a:rPr>
              <a:t>Each tier bundles enough screening and AI credits to run its open roles. The bundle is worth 2–5× the plan price at list credit rates, which anchors upgrades.</a:t>
            </a:r>
            <a:endParaRPr lang="en-US" sz="1250" dirty="0"/>
          </a:p>
        </p:txBody>
      </p:sp>
      <p:sp>
        <p:nvSpPr>
          <p:cNvPr id="21" name="Shape 19"/>
          <p:cNvSpPr/>
          <p:nvPr/>
        </p:nvSpPr>
        <p:spPr>
          <a:xfrm>
            <a:off x="594360" y="4882896"/>
            <a:ext cx="384048" cy="384048"/>
          </a:xfrm>
          <a:prstGeom prst="ellipse">
            <a:avLst/>
          </a:prstGeom>
          <a:solidFill>
            <a:srgbClr val="0B2AE0"/>
          </a:solidFill>
          <a:ln/>
        </p:spPr>
      </p:sp>
      <p:sp>
        <p:nvSpPr>
          <p:cNvPr id="22" name="Text 20"/>
          <p:cNvSpPr/>
          <p:nvPr/>
        </p:nvSpPr>
        <p:spPr>
          <a:xfrm>
            <a:off x="594360" y="4873752"/>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23" name="Text 21"/>
          <p:cNvSpPr/>
          <p:nvPr/>
        </p:nvSpPr>
        <p:spPr>
          <a:xfrm>
            <a:off x="1143000" y="4809744"/>
            <a:ext cx="10424160" cy="320040"/>
          </a:xfrm>
          <a:prstGeom prst="rect">
            <a:avLst/>
          </a:prstGeom>
          <a:noFill/>
          <a:ln/>
        </p:spPr>
        <p:txBody>
          <a:bodyPr wrap="square" lIns="0" tIns="0" rIns="0" bIns="0" rtlCol="0" anchor="ctr"/>
          <a:lstStyle/>
          <a:p>
            <a:pPr algn="l" indent="0" marL="0">
              <a:buNone/>
            </a:pPr>
            <a:r>
              <a:rPr lang="en-US" sz="1500" b="1" dirty="0">
                <a:solidFill>
                  <a:srgbClr val="12132A"/>
                </a:solidFill>
                <a:latin typeface="Calibri" pitchFamily="34" charset="0"/>
                <a:ea typeface="Calibri" pitchFamily="34" charset="-122"/>
                <a:cs typeface="Calibri" pitchFamily="34" charset="-120"/>
              </a:rPr>
              <a:t>Credit top-ups are the margin engine</a:t>
            </a:r>
            <a:endParaRPr lang="en-US" sz="1500" dirty="0"/>
          </a:p>
        </p:txBody>
      </p:sp>
      <p:sp>
        <p:nvSpPr>
          <p:cNvPr id="24" name="Text 22"/>
          <p:cNvSpPr/>
          <p:nvPr/>
        </p:nvSpPr>
        <p:spPr>
          <a:xfrm>
            <a:off x="1143000" y="5120640"/>
            <a:ext cx="10424160" cy="457200"/>
          </a:xfrm>
          <a:prstGeom prst="rect">
            <a:avLst/>
          </a:prstGeom>
          <a:noFill/>
          <a:ln/>
        </p:spPr>
        <p:txBody>
          <a:bodyPr wrap="square" lIns="0" tIns="0" rIns="0" bIns="0" rtlCol="0" anchor="ctr"/>
          <a:lstStyle/>
          <a:p>
            <a:pPr algn="l" indent="0" marL="0">
              <a:buNone/>
            </a:pPr>
            <a:r>
              <a:rPr lang="en-US" sz="1250" dirty="0">
                <a:solidFill>
                  <a:srgbClr val="4A5568"/>
                </a:solidFill>
                <a:latin typeface="Calibri" pitchFamily="34" charset="0"/>
                <a:ea typeface="Calibri" pitchFamily="34" charset="-122"/>
                <a:cs typeface="Calibri" pitchFamily="34" charset="-120"/>
              </a:rPr>
              <a:t>Overage sells at RM4.09 / RM1.64 / RM2.05 per action against an AI cost of a few sen. This is where blended margin expands as accounts grow.</a:t>
            </a:r>
            <a:endParaRPr lang="en-US" sz="1250" dirty="0"/>
          </a:p>
        </p:txBody>
      </p:sp>
      <p:sp>
        <p:nvSpPr>
          <p:cNvPr id="25" name="Shape 23"/>
          <p:cNvSpPr/>
          <p:nvPr/>
        </p:nvSpPr>
        <p:spPr>
          <a:xfrm>
            <a:off x="594360" y="5632704"/>
            <a:ext cx="384048" cy="384048"/>
          </a:xfrm>
          <a:prstGeom prst="ellipse">
            <a:avLst/>
          </a:prstGeom>
          <a:solidFill>
            <a:srgbClr val="0B2AE0"/>
          </a:solidFill>
          <a:ln/>
        </p:spPr>
      </p:sp>
      <p:sp>
        <p:nvSpPr>
          <p:cNvPr id="26" name="Text 24"/>
          <p:cNvSpPr/>
          <p:nvPr/>
        </p:nvSpPr>
        <p:spPr>
          <a:xfrm>
            <a:off x="594360" y="5623560"/>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27" name="Text 25"/>
          <p:cNvSpPr/>
          <p:nvPr/>
        </p:nvSpPr>
        <p:spPr>
          <a:xfrm>
            <a:off x="1143000" y="5559552"/>
            <a:ext cx="10424160" cy="320040"/>
          </a:xfrm>
          <a:prstGeom prst="rect">
            <a:avLst/>
          </a:prstGeom>
          <a:noFill/>
          <a:ln/>
        </p:spPr>
        <p:txBody>
          <a:bodyPr wrap="square" lIns="0" tIns="0" rIns="0" bIns="0" rtlCol="0" anchor="ctr"/>
          <a:lstStyle/>
          <a:p>
            <a:pPr algn="l" indent="0" marL="0">
              <a:buNone/>
            </a:pPr>
            <a:r>
              <a:rPr lang="en-US" sz="1500" b="1" dirty="0">
                <a:solidFill>
                  <a:srgbClr val="12132A"/>
                </a:solidFill>
                <a:latin typeface="Calibri" pitchFamily="34" charset="0"/>
                <a:ea typeface="Calibri" pitchFamily="34" charset="-122"/>
                <a:cs typeface="Calibri" pitchFamily="34" charset="-120"/>
              </a:rPr>
              <a:t>The COGS here is grounded, not guessed</a:t>
            </a:r>
            <a:endParaRPr lang="en-US" sz="1500" dirty="0"/>
          </a:p>
        </p:txBody>
      </p:sp>
      <p:sp>
        <p:nvSpPr>
          <p:cNvPr id="28" name="Text 26"/>
          <p:cNvSpPr/>
          <p:nvPr/>
        </p:nvSpPr>
        <p:spPr>
          <a:xfrm>
            <a:off x="1143000" y="5870448"/>
            <a:ext cx="10424160" cy="457200"/>
          </a:xfrm>
          <a:prstGeom prst="rect">
            <a:avLst/>
          </a:prstGeom>
          <a:noFill/>
          <a:ln/>
        </p:spPr>
        <p:txBody>
          <a:bodyPr wrap="square" lIns="0" tIns="0" rIns="0" bIns="0" rtlCol="0" anchor="ctr"/>
          <a:lstStyle/>
          <a:p>
            <a:pPr algn="l" indent="0" marL="0">
              <a:buNone/>
            </a:pPr>
            <a:r>
              <a:rPr lang="en-US" sz="1250" dirty="0">
                <a:solidFill>
                  <a:srgbClr val="4A5568"/>
                </a:solidFill>
                <a:latin typeface="Calibri" pitchFamily="34" charset="0"/>
                <a:ea typeface="Calibri" pitchFamily="34" charset="-122"/>
                <a:cs typeface="Calibri" pitchFamily="34" charset="-120"/>
              </a:rPr>
              <a:t>Every AI action is priced against the actual model it runs on (Sonnet 5, Opus 5, Haiku 4.5). Recommend logging live token spend to confirm these estimates.</a:t>
            </a:r>
            <a:endParaRPr lang="en-US" sz="1250" dirty="0"/>
          </a:p>
        </p:txBody>
      </p:sp>
      <p:sp>
        <p:nvSpPr>
          <p:cNvPr id="29" name="Text 27"/>
          <p:cNvSpPr/>
          <p:nvPr/>
        </p:nvSpPr>
        <p:spPr>
          <a:xfrm>
            <a:off x="548640" y="6382512"/>
            <a:ext cx="10881360" cy="274320"/>
          </a:xfrm>
          <a:prstGeom prst="rect">
            <a:avLst/>
          </a:prstGeom>
          <a:noFill/>
          <a:ln/>
        </p:spPr>
        <p:txBody>
          <a:bodyPr wrap="square" lIns="0" tIns="0" rIns="0" bIns="0" rtlCol="0" anchor="ctr"/>
          <a:lstStyle/>
          <a:p>
            <a:pPr algn="l" indent="0" marL="0">
              <a:buNone/>
            </a:pPr>
            <a:r>
              <a:rPr lang="en-US" sz="950" i="1" dirty="0">
                <a:solidFill>
                  <a:srgbClr val="6B7280"/>
                </a:solidFill>
                <a:latin typeface="Calibri" pitchFamily="34" charset="0"/>
                <a:ea typeface="Calibri" pitchFamily="34" charset="-122"/>
                <a:cs typeface="Calibri" pitchFamily="34" charset="-120"/>
              </a:rPr>
              <a:t>* All-in = AI + email + video + payment fees + platform share (slide 10), at typical usage. From published provider pricing; confirm with live logs.</a:t>
            </a:r>
            <a:endParaRPr lang="en-US" sz="950" dirty="0"/>
          </a:p>
        </p:txBody>
      </p:sp>
      <p:sp>
        <p:nvSpPr>
          <p:cNvPr id="30" name="Text 28"/>
          <p:cNvSpPr/>
          <p:nvPr/>
        </p:nvSpPr>
        <p:spPr>
          <a:xfrm>
            <a:off x="548640" y="6455664"/>
            <a:ext cx="7315200" cy="274320"/>
          </a:xfrm>
          <a:prstGeom prst="rect">
            <a:avLst/>
          </a:prstGeom>
          <a:noFill/>
          <a:ln/>
        </p:spPr>
        <p:txBody>
          <a:bodyPr wrap="square" lIns="0" tIns="0" rIns="0" bIns="0" rtlCol="0" anchor="ctr"/>
          <a:lstStyle/>
          <a:p>
            <a:pPr algn="l" indent="0" marL="0">
              <a:buNone/>
            </a:pPr>
            <a:r>
              <a:rPr lang="en-US" sz="900" dirty="0">
                <a:solidFill>
                  <a:srgbClr val="6B7280"/>
                </a:solidFill>
                <a:latin typeface="Calibri" pitchFamily="34" charset="0"/>
                <a:ea typeface="Calibri" pitchFamily="34" charset="-122"/>
                <a:cs typeface="Calibri" pitchFamily="34" charset="-120"/>
              </a:rPr>
              <a:t>Aster  ·  Pricing model for CFO review</a:t>
            </a:r>
            <a:endParaRPr lang="en-US" sz="900" dirty="0"/>
          </a:p>
        </p:txBody>
      </p:sp>
      <p:sp>
        <p:nvSpPr>
          <p:cNvPr id="31" name="Text 29"/>
          <p:cNvSpPr/>
          <p:nvPr/>
        </p:nvSpPr>
        <p:spPr>
          <a:xfrm>
            <a:off x="11338560" y="6455664"/>
            <a:ext cx="36576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502920"/>
            <a:ext cx="8229600" cy="274320"/>
          </a:xfrm>
          <a:prstGeom prst="rect">
            <a:avLst/>
          </a:prstGeom>
          <a:noFill/>
          <a:ln/>
        </p:spPr>
        <p:txBody>
          <a:bodyPr wrap="square" lIns="0" tIns="0" rIns="0" bIns="0" rtlCol="0" anchor="ctr"/>
          <a:lstStyle/>
          <a:p>
            <a:pPr algn="l" indent="0" marL="0">
              <a:buNone/>
            </a:pPr>
            <a:r>
              <a:rPr lang="en-US" sz="1200" b="1" spc="200" kern="0" dirty="0">
                <a:solidFill>
                  <a:srgbClr val="0B2AE0"/>
                </a:solidFill>
                <a:latin typeface="Calibri" pitchFamily="34" charset="0"/>
                <a:ea typeface="Calibri" pitchFamily="34" charset="-122"/>
                <a:cs typeface="Calibri" pitchFamily="34" charset="-120"/>
              </a:rPr>
              <a:t>THE PRICING ARCHITECTURE</a:t>
            </a:r>
            <a:endParaRPr lang="en-US" sz="1200" dirty="0"/>
          </a:p>
        </p:txBody>
      </p:sp>
      <p:sp>
        <p:nvSpPr>
          <p:cNvPr id="3" name="Text 1"/>
          <p:cNvSpPr/>
          <p:nvPr/>
        </p:nvSpPr>
        <p:spPr>
          <a:xfrm>
            <a:off x="548640" y="777240"/>
            <a:ext cx="11064240" cy="822960"/>
          </a:xfrm>
          <a:prstGeom prst="rect">
            <a:avLst/>
          </a:prstGeom>
          <a:noFill/>
          <a:ln/>
        </p:spPr>
        <p:txBody>
          <a:bodyPr wrap="square" lIns="0" tIns="0" rIns="0" bIns="0" rtlCol="0" anchor="ctr"/>
          <a:lstStyle/>
          <a:p>
            <a:pPr algn="l" indent="0" marL="0">
              <a:buNone/>
            </a:pPr>
            <a:r>
              <a:rPr lang="en-US" sz="3400" b="1" dirty="0">
                <a:solidFill>
                  <a:srgbClr val="12132A"/>
                </a:solidFill>
                <a:latin typeface="Calibri" pitchFamily="34" charset="0"/>
                <a:ea typeface="Calibri" pitchFamily="34" charset="-122"/>
                <a:cs typeface="Calibri" pitchFamily="34" charset="-120"/>
              </a:rPr>
              <a:t>What a customer actually pays for</a:t>
            </a:r>
            <a:endParaRPr lang="en-US" sz="3400" dirty="0"/>
          </a:p>
        </p:txBody>
      </p:sp>
      <p:sp>
        <p:nvSpPr>
          <p:cNvPr id="4" name="Shape 2"/>
          <p:cNvSpPr/>
          <p:nvPr/>
        </p:nvSpPr>
        <p:spPr>
          <a:xfrm>
            <a:off x="548640" y="1965960"/>
            <a:ext cx="2679192" cy="3108960"/>
          </a:xfrm>
          <a:prstGeom prst="roundRect">
            <a:avLst>
              <a:gd name="adj" fmla="val 4096"/>
            </a:avLst>
          </a:prstGeom>
          <a:solidFill>
            <a:srgbClr val="FFFFFF"/>
          </a:solidFill>
          <a:ln w="12700">
            <a:solidFill>
              <a:srgbClr val="DEDEE3"/>
            </a:solidFill>
            <a:prstDash val="solid"/>
          </a:ln>
          <a:effectLst>
            <a:outerShdw sx="100000" sy="100000" kx="0" ky="0" algn="bl" rotWithShape="0" blurRad="101600" dist="25400" dir="5400000">
              <a:srgbClr val="9AA0B5">
                <a:alpha val="18000"/>
              </a:srgbClr>
            </a:outerShdw>
          </a:effectLst>
        </p:spPr>
      </p:sp>
      <p:sp>
        <p:nvSpPr>
          <p:cNvPr id="5" name="Shape 3"/>
          <p:cNvSpPr/>
          <p:nvPr/>
        </p:nvSpPr>
        <p:spPr>
          <a:xfrm>
            <a:off x="777240" y="2221992"/>
            <a:ext cx="566928" cy="566928"/>
          </a:xfrm>
          <a:prstGeom prst="ellipse">
            <a:avLst/>
          </a:prstGeom>
          <a:solidFill>
            <a:srgbClr val="0B2AE0"/>
          </a:solidFill>
          <a:ln/>
        </p:spPr>
      </p:sp>
      <p:sp>
        <p:nvSpPr>
          <p:cNvPr id="6" name="Text 4"/>
          <p:cNvSpPr/>
          <p:nvPr/>
        </p:nvSpPr>
        <p:spPr>
          <a:xfrm>
            <a:off x="777240" y="2212848"/>
            <a:ext cx="566928" cy="56692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P</a:t>
            </a:r>
            <a:endParaRPr lang="en-US" sz="1500" dirty="0"/>
          </a:p>
        </p:txBody>
      </p:sp>
      <p:sp>
        <p:nvSpPr>
          <p:cNvPr id="7" name="Text 5"/>
          <p:cNvSpPr/>
          <p:nvPr/>
        </p:nvSpPr>
        <p:spPr>
          <a:xfrm>
            <a:off x="777240" y="2926080"/>
            <a:ext cx="2221992" cy="457200"/>
          </a:xfrm>
          <a:prstGeom prst="rect">
            <a:avLst/>
          </a:prstGeom>
          <a:noFill/>
          <a:ln/>
        </p:spPr>
        <p:txBody>
          <a:bodyPr wrap="square" lIns="0" tIns="0" rIns="0" bIns="0" rtlCol="0" anchor="ctr"/>
          <a:lstStyle/>
          <a:p>
            <a:pPr algn="l" indent="0" marL="0">
              <a:buNone/>
            </a:pPr>
            <a:r>
              <a:rPr lang="en-US" sz="1650" b="1" dirty="0">
                <a:solidFill>
                  <a:srgbClr val="12132A"/>
                </a:solidFill>
                <a:latin typeface="Calibri" pitchFamily="34" charset="0"/>
                <a:ea typeface="Calibri" pitchFamily="34" charset="-122"/>
                <a:cs typeface="Calibri" pitchFamily="34" charset="-120"/>
              </a:rPr>
              <a:t>Platform access</a:t>
            </a:r>
            <a:endParaRPr lang="en-US" sz="1650" dirty="0"/>
          </a:p>
        </p:txBody>
      </p:sp>
      <p:sp>
        <p:nvSpPr>
          <p:cNvPr id="8" name="Text 6"/>
          <p:cNvSpPr/>
          <p:nvPr/>
        </p:nvSpPr>
        <p:spPr>
          <a:xfrm>
            <a:off x="777240" y="3383280"/>
            <a:ext cx="2221992" cy="1554480"/>
          </a:xfrm>
          <a:prstGeom prst="rect">
            <a:avLst/>
          </a:prstGeom>
          <a:noFill/>
          <a:ln/>
        </p:spPr>
        <p:txBody>
          <a:bodyPr wrap="square" lIns="0" tIns="0" rIns="0" bIns="0" rtlCol="0" anchor="ctr"/>
          <a:lstStyle/>
          <a:p>
            <a:pPr algn="l" indent="0" marL="0">
              <a:buNone/>
            </a:pPr>
            <a:r>
              <a:rPr lang="en-US" sz="1250" dirty="0">
                <a:solidFill>
                  <a:srgbClr val="4A5568"/>
                </a:solidFill>
                <a:latin typeface="Calibri" pitchFamily="34" charset="0"/>
                <a:ea typeface="Calibri" pitchFamily="34" charset="-122"/>
                <a:cs typeface="Calibri" pitchFamily="34" charset="-120"/>
              </a:rPr>
              <a:t>One subscription unlocks the whole workflow: branded career site, shared pipeline, scheduling, scorecards, offers and analytics.</a:t>
            </a:r>
            <a:endParaRPr lang="en-US" sz="1250" dirty="0"/>
          </a:p>
        </p:txBody>
      </p:sp>
      <p:sp>
        <p:nvSpPr>
          <p:cNvPr id="9" name="Shape 7"/>
          <p:cNvSpPr/>
          <p:nvPr/>
        </p:nvSpPr>
        <p:spPr>
          <a:xfrm>
            <a:off x="3346704" y="1965960"/>
            <a:ext cx="2679192" cy="3108960"/>
          </a:xfrm>
          <a:prstGeom prst="roundRect">
            <a:avLst>
              <a:gd name="adj" fmla="val 4096"/>
            </a:avLst>
          </a:prstGeom>
          <a:solidFill>
            <a:srgbClr val="FFFFFF"/>
          </a:solidFill>
          <a:ln w="12700">
            <a:solidFill>
              <a:srgbClr val="DEDEE3"/>
            </a:solidFill>
            <a:prstDash val="solid"/>
          </a:ln>
          <a:effectLst>
            <a:outerShdw sx="100000" sy="100000" kx="0" ky="0" algn="bl" rotWithShape="0" blurRad="101600" dist="25400" dir="5400000">
              <a:srgbClr val="9AA0B5">
                <a:alpha val="18000"/>
              </a:srgbClr>
            </a:outerShdw>
          </a:effectLst>
        </p:spPr>
      </p:sp>
      <p:sp>
        <p:nvSpPr>
          <p:cNvPr id="10" name="Shape 8"/>
          <p:cNvSpPr/>
          <p:nvPr/>
        </p:nvSpPr>
        <p:spPr>
          <a:xfrm>
            <a:off x="3575304" y="2221992"/>
            <a:ext cx="566928" cy="566928"/>
          </a:xfrm>
          <a:prstGeom prst="ellipse">
            <a:avLst/>
          </a:prstGeom>
          <a:solidFill>
            <a:srgbClr val="0B2AE0"/>
          </a:solidFill>
          <a:ln/>
        </p:spPr>
      </p:sp>
      <p:sp>
        <p:nvSpPr>
          <p:cNvPr id="11" name="Text 9"/>
          <p:cNvSpPr/>
          <p:nvPr/>
        </p:nvSpPr>
        <p:spPr>
          <a:xfrm>
            <a:off x="3575304" y="2212848"/>
            <a:ext cx="566928" cy="56692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J</a:t>
            </a:r>
            <a:endParaRPr lang="en-US" sz="1500" dirty="0"/>
          </a:p>
        </p:txBody>
      </p:sp>
      <p:sp>
        <p:nvSpPr>
          <p:cNvPr id="12" name="Text 10"/>
          <p:cNvSpPr/>
          <p:nvPr/>
        </p:nvSpPr>
        <p:spPr>
          <a:xfrm>
            <a:off x="3575304" y="2926080"/>
            <a:ext cx="2221992" cy="457200"/>
          </a:xfrm>
          <a:prstGeom prst="rect">
            <a:avLst/>
          </a:prstGeom>
          <a:noFill/>
          <a:ln/>
        </p:spPr>
        <p:txBody>
          <a:bodyPr wrap="square" lIns="0" tIns="0" rIns="0" bIns="0" rtlCol="0" anchor="ctr"/>
          <a:lstStyle/>
          <a:p>
            <a:pPr algn="l" indent="0" marL="0">
              <a:buNone/>
            </a:pPr>
            <a:r>
              <a:rPr lang="en-US" sz="1650" b="1" dirty="0">
                <a:solidFill>
                  <a:srgbClr val="12132A"/>
                </a:solidFill>
                <a:latin typeface="Calibri" pitchFamily="34" charset="0"/>
                <a:ea typeface="Calibri" pitchFamily="34" charset="-122"/>
                <a:cs typeface="Calibri" pitchFamily="34" charset="-120"/>
              </a:rPr>
              <a:t>Open job slots</a:t>
            </a:r>
            <a:endParaRPr lang="en-US" sz="1650" dirty="0"/>
          </a:p>
        </p:txBody>
      </p:sp>
      <p:sp>
        <p:nvSpPr>
          <p:cNvPr id="13" name="Text 11"/>
          <p:cNvSpPr/>
          <p:nvPr/>
        </p:nvSpPr>
        <p:spPr>
          <a:xfrm>
            <a:off x="3575304" y="3383280"/>
            <a:ext cx="2221992" cy="1554480"/>
          </a:xfrm>
          <a:prstGeom prst="rect">
            <a:avLst/>
          </a:prstGeom>
          <a:noFill/>
          <a:ln/>
        </p:spPr>
        <p:txBody>
          <a:bodyPr wrap="square" lIns="0" tIns="0" rIns="0" bIns="0" rtlCol="0" anchor="ctr"/>
          <a:lstStyle/>
          <a:p>
            <a:pPr algn="l" indent="0" marL="0">
              <a:buNone/>
            </a:pPr>
            <a:r>
              <a:rPr lang="en-US" sz="1250" dirty="0">
                <a:solidFill>
                  <a:srgbClr val="4A5568"/>
                </a:solidFill>
                <a:latin typeface="Calibri" pitchFamily="34" charset="0"/>
                <a:ea typeface="Calibri" pitchFamily="34" charset="-122"/>
                <a:cs typeface="Calibri" pitchFamily="34" charset="-120"/>
              </a:rPr>
              <a:t>The main value metric. Plans differ by how many roles can be open at once: 1 → 5 → 10 → unlimited.</a:t>
            </a:r>
            <a:endParaRPr lang="en-US" sz="1250" dirty="0"/>
          </a:p>
        </p:txBody>
      </p:sp>
      <p:sp>
        <p:nvSpPr>
          <p:cNvPr id="14" name="Shape 12"/>
          <p:cNvSpPr/>
          <p:nvPr/>
        </p:nvSpPr>
        <p:spPr>
          <a:xfrm>
            <a:off x="6144768" y="1965960"/>
            <a:ext cx="2679192" cy="3108960"/>
          </a:xfrm>
          <a:prstGeom prst="roundRect">
            <a:avLst>
              <a:gd name="adj" fmla="val 4096"/>
            </a:avLst>
          </a:prstGeom>
          <a:solidFill>
            <a:srgbClr val="FFFFFF"/>
          </a:solidFill>
          <a:ln w="12700">
            <a:solidFill>
              <a:srgbClr val="DEDEE3"/>
            </a:solidFill>
            <a:prstDash val="solid"/>
          </a:ln>
          <a:effectLst>
            <a:outerShdw sx="100000" sy="100000" kx="0" ky="0" algn="bl" rotWithShape="0" blurRad="101600" dist="25400" dir="5400000">
              <a:srgbClr val="9AA0B5">
                <a:alpha val="18000"/>
              </a:srgbClr>
            </a:outerShdw>
          </a:effectLst>
        </p:spPr>
      </p:sp>
      <p:sp>
        <p:nvSpPr>
          <p:cNvPr id="15" name="Shape 13"/>
          <p:cNvSpPr/>
          <p:nvPr/>
        </p:nvSpPr>
        <p:spPr>
          <a:xfrm>
            <a:off x="6373368" y="2221992"/>
            <a:ext cx="566928" cy="566928"/>
          </a:xfrm>
          <a:prstGeom prst="ellipse">
            <a:avLst/>
          </a:prstGeom>
          <a:solidFill>
            <a:srgbClr val="0B2AE0"/>
          </a:solidFill>
          <a:ln/>
        </p:spPr>
      </p:sp>
      <p:sp>
        <p:nvSpPr>
          <p:cNvPr id="16" name="Text 14"/>
          <p:cNvSpPr/>
          <p:nvPr/>
        </p:nvSpPr>
        <p:spPr>
          <a:xfrm>
            <a:off x="6373368" y="2212848"/>
            <a:ext cx="566928" cy="56692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AI</a:t>
            </a:r>
            <a:endParaRPr lang="en-US" sz="1500" dirty="0"/>
          </a:p>
        </p:txBody>
      </p:sp>
      <p:sp>
        <p:nvSpPr>
          <p:cNvPr id="17" name="Text 15"/>
          <p:cNvSpPr/>
          <p:nvPr/>
        </p:nvSpPr>
        <p:spPr>
          <a:xfrm>
            <a:off x="6373368" y="2926080"/>
            <a:ext cx="2221992" cy="457200"/>
          </a:xfrm>
          <a:prstGeom prst="rect">
            <a:avLst/>
          </a:prstGeom>
          <a:noFill/>
          <a:ln/>
        </p:spPr>
        <p:txBody>
          <a:bodyPr wrap="square" lIns="0" tIns="0" rIns="0" bIns="0" rtlCol="0" anchor="ctr"/>
          <a:lstStyle/>
          <a:p>
            <a:pPr algn="l" indent="0" marL="0">
              <a:buNone/>
            </a:pPr>
            <a:r>
              <a:rPr lang="en-US" sz="1650" b="1" dirty="0">
                <a:solidFill>
                  <a:srgbClr val="12132A"/>
                </a:solidFill>
                <a:latin typeface="Calibri" pitchFamily="34" charset="0"/>
                <a:ea typeface="Calibri" pitchFamily="34" charset="-122"/>
                <a:cs typeface="Calibri" pitchFamily="34" charset="-120"/>
              </a:rPr>
              <a:t>AI usage credits</a:t>
            </a:r>
            <a:endParaRPr lang="en-US" sz="1650" dirty="0"/>
          </a:p>
        </p:txBody>
      </p:sp>
      <p:sp>
        <p:nvSpPr>
          <p:cNvPr id="18" name="Text 16"/>
          <p:cNvSpPr/>
          <p:nvPr/>
        </p:nvSpPr>
        <p:spPr>
          <a:xfrm>
            <a:off x="6373368" y="3383280"/>
            <a:ext cx="2221992" cy="1554480"/>
          </a:xfrm>
          <a:prstGeom prst="rect">
            <a:avLst/>
          </a:prstGeom>
          <a:noFill/>
          <a:ln/>
        </p:spPr>
        <p:txBody>
          <a:bodyPr wrap="square" lIns="0" tIns="0" rIns="0" bIns="0" rtlCol="0" anchor="ctr"/>
          <a:lstStyle/>
          <a:p>
            <a:pPr algn="l" indent="0" marL="0">
              <a:buNone/>
            </a:pPr>
            <a:r>
              <a:rPr lang="en-US" sz="1250" dirty="0">
                <a:solidFill>
                  <a:srgbClr val="4A5568"/>
                </a:solidFill>
                <a:latin typeface="Calibri" pitchFamily="34" charset="0"/>
                <a:ea typeface="Calibri" pitchFamily="34" charset="-122"/>
                <a:cs typeface="Calibri" pitchFamily="34" charset="-120"/>
              </a:rPr>
              <a:t>Screening, ranking, insights, interview questions and job drafts each consume credits. Every plan includes a monthly allowance.</a:t>
            </a:r>
            <a:endParaRPr lang="en-US" sz="1250" dirty="0"/>
          </a:p>
        </p:txBody>
      </p:sp>
      <p:sp>
        <p:nvSpPr>
          <p:cNvPr id="19" name="Shape 17"/>
          <p:cNvSpPr/>
          <p:nvPr/>
        </p:nvSpPr>
        <p:spPr>
          <a:xfrm>
            <a:off x="8942832" y="1965960"/>
            <a:ext cx="2679192" cy="3108960"/>
          </a:xfrm>
          <a:prstGeom prst="roundRect">
            <a:avLst>
              <a:gd name="adj" fmla="val 4096"/>
            </a:avLst>
          </a:prstGeom>
          <a:solidFill>
            <a:srgbClr val="FFFFFF"/>
          </a:solidFill>
          <a:ln w="12700">
            <a:solidFill>
              <a:srgbClr val="DEDEE3"/>
            </a:solidFill>
            <a:prstDash val="solid"/>
          </a:ln>
          <a:effectLst>
            <a:outerShdw sx="100000" sy="100000" kx="0" ky="0" algn="bl" rotWithShape="0" blurRad="101600" dist="25400" dir="5400000">
              <a:srgbClr val="9AA0B5">
                <a:alpha val="18000"/>
              </a:srgbClr>
            </a:outerShdw>
          </a:effectLst>
        </p:spPr>
      </p:sp>
      <p:sp>
        <p:nvSpPr>
          <p:cNvPr id="20" name="Shape 18"/>
          <p:cNvSpPr/>
          <p:nvPr/>
        </p:nvSpPr>
        <p:spPr>
          <a:xfrm>
            <a:off x="9171432" y="2221992"/>
            <a:ext cx="566928" cy="566928"/>
          </a:xfrm>
          <a:prstGeom prst="ellipse">
            <a:avLst/>
          </a:prstGeom>
          <a:solidFill>
            <a:srgbClr val="0B2AE0"/>
          </a:solidFill>
          <a:ln/>
        </p:spPr>
      </p:sp>
      <p:sp>
        <p:nvSpPr>
          <p:cNvPr id="21" name="Text 19"/>
          <p:cNvSpPr/>
          <p:nvPr/>
        </p:nvSpPr>
        <p:spPr>
          <a:xfrm>
            <a:off x="9171432" y="2212848"/>
            <a:ext cx="566928" cy="56692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t>
            </a:r>
            <a:endParaRPr lang="en-US" sz="1500" dirty="0"/>
          </a:p>
        </p:txBody>
      </p:sp>
      <p:sp>
        <p:nvSpPr>
          <p:cNvPr id="22" name="Text 20"/>
          <p:cNvSpPr/>
          <p:nvPr/>
        </p:nvSpPr>
        <p:spPr>
          <a:xfrm>
            <a:off x="9171432" y="2926080"/>
            <a:ext cx="2221992" cy="457200"/>
          </a:xfrm>
          <a:prstGeom prst="rect">
            <a:avLst/>
          </a:prstGeom>
          <a:noFill/>
          <a:ln/>
        </p:spPr>
        <p:txBody>
          <a:bodyPr wrap="square" lIns="0" tIns="0" rIns="0" bIns="0" rtlCol="0" anchor="ctr"/>
          <a:lstStyle/>
          <a:p>
            <a:pPr algn="l" indent="0" marL="0">
              <a:buNone/>
            </a:pPr>
            <a:r>
              <a:rPr lang="en-US" sz="1650" b="1" dirty="0">
                <a:solidFill>
                  <a:srgbClr val="12132A"/>
                </a:solidFill>
                <a:latin typeface="Calibri" pitchFamily="34" charset="0"/>
                <a:ea typeface="Calibri" pitchFamily="34" charset="-122"/>
                <a:cs typeface="Calibri" pitchFamily="34" charset="-120"/>
              </a:rPr>
              <a:t>Credit top-ups</a:t>
            </a:r>
            <a:endParaRPr lang="en-US" sz="1650" dirty="0"/>
          </a:p>
        </p:txBody>
      </p:sp>
      <p:sp>
        <p:nvSpPr>
          <p:cNvPr id="23" name="Text 21"/>
          <p:cNvSpPr/>
          <p:nvPr/>
        </p:nvSpPr>
        <p:spPr>
          <a:xfrm>
            <a:off x="9171432" y="3383280"/>
            <a:ext cx="2221992" cy="1554480"/>
          </a:xfrm>
          <a:prstGeom prst="rect">
            <a:avLst/>
          </a:prstGeom>
          <a:noFill/>
          <a:ln/>
        </p:spPr>
        <p:txBody>
          <a:bodyPr wrap="square" lIns="0" tIns="0" rIns="0" bIns="0" rtlCol="0" anchor="ctr"/>
          <a:lstStyle/>
          <a:p>
            <a:pPr algn="l" indent="0" marL="0">
              <a:buNone/>
            </a:pPr>
            <a:r>
              <a:rPr lang="en-US" sz="1250" dirty="0">
                <a:solidFill>
                  <a:srgbClr val="4A5568"/>
                </a:solidFill>
                <a:latin typeface="Calibri" pitchFamily="34" charset="0"/>
                <a:ea typeface="Calibri" pitchFamily="34" charset="-122"/>
                <a:cs typeface="Calibri" pitchFamily="34" charset="-120"/>
              </a:rPr>
              <a:t>When the allowance runs out, workspaces buy more credits on demand, priced per action with a plan discount.</a:t>
            </a:r>
            <a:endParaRPr lang="en-US" sz="1250" dirty="0"/>
          </a:p>
        </p:txBody>
      </p:sp>
      <p:sp>
        <p:nvSpPr>
          <p:cNvPr id="24" name="Shape 22"/>
          <p:cNvSpPr/>
          <p:nvPr/>
        </p:nvSpPr>
        <p:spPr>
          <a:xfrm>
            <a:off x="548640" y="5349240"/>
            <a:ext cx="11091672" cy="868680"/>
          </a:xfrm>
          <a:prstGeom prst="roundRect">
            <a:avLst>
              <a:gd name="adj" fmla="val 12632"/>
            </a:avLst>
          </a:prstGeom>
          <a:solidFill>
            <a:srgbClr val="12132A"/>
          </a:solidFill>
          <a:ln w="12700">
            <a:solidFill>
              <a:srgbClr val="12132A"/>
            </a:solidFill>
            <a:prstDash val="solid"/>
          </a:ln>
          <a:effectLst>
            <a:outerShdw sx="100000" sy="100000" kx="0" ky="0" algn="bl" rotWithShape="0" blurRad="101600" dist="25400" dir="5400000">
              <a:srgbClr val="9AA0B5">
                <a:alpha val="18000"/>
              </a:srgbClr>
            </a:outerShdw>
          </a:effectLst>
        </p:spPr>
      </p:sp>
      <p:sp>
        <p:nvSpPr>
          <p:cNvPr id="25" name="Text 23"/>
          <p:cNvSpPr/>
          <p:nvPr/>
        </p:nvSpPr>
        <p:spPr>
          <a:xfrm>
            <a:off x="868680" y="5349240"/>
            <a:ext cx="10424160" cy="868680"/>
          </a:xfrm>
          <a:prstGeom prst="rect">
            <a:avLst/>
          </a:prstGeom>
          <a:noFill/>
          <a:ln/>
        </p:spPr>
        <p:txBody>
          <a:bodyPr wrap="square" lIns="0" tIns="0" rIns="0" bIns="0" rtlCol="0" anchor="ctr"/>
          <a:lstStyle/>
          <a:p>
            <a:pPr algn="l" indent="0" marL="0">
              <a:buNone/>
            </a:pPr>
            <a:r>
              <a:rPr lang="en-US" sz="1350" b="1" dirty="0">
                <a:solidFill>
                  <a:srgbClr val="FFFFFF"/>
                </a:solidFill>
                <a:latin typeface="Calibri" pitchFamily="34" charset="0"/>
                <a:ea typeface="Calibri" pitchFamily="34" charset="-122"/>
                <a:cs typeface="Calibri" pitchFamily="34" charset="-120"/>
              </a:rPr>
              <a:t>No per-seat pricing.  </a:t>
            </a:r>
            <a:pPr algn="l" indent="0" marL="0">
              <a:buNone/>
            </a:pPr>
            <a:r>
              <a:rPr lang="en-US" sz="1350" dirty="0">
                <a:solidFill>
                  <a:srgbClr val="CADCFC"/>
                </a:solidFill>
                <a:latin typeface="Calibri" pitchFamily="34" charset="0"/>
                <a:ea typeface="Calibri" pitchFamily="34" charset="-122"/>
                <a:cs typeface="Calibri" pitchFamily="34" charset="-120"/>
              </a:rPr>
              <a:t>Every plan includes unlimited hiring managers, recruiters and interviewers. Growing the team never raises the bill, which removes the usual reason buyers stall on an ATS.</a:t>
            </a:r>
            <a:endParaRPr lang="en-US" sz="1350" dirty="0"/>
          </a:p>
        </p:txBody>
      </p:sp>
      <p:sp>
        <p:nvSpPr>
          <p:cNvPr id="26" name="Text 24"/>
          <p:cNvSpPr/>
          <p:nvPr/>
        </p:nvSpPr>
        <p:spPr>
          <a:xfrm>
            <a:off x="548640" y="6455664"/>
            <a:ext cx="7315200" cy="274320"/>
          </a:xfrm>
          <a:prstGeom prst="rect">
            <a:avLst/>
          </a:prstGeom>
          <a:noFill/>
          <a:ln/>
        </p:spPr>
        <p:txBody>
          <a:bodyPr wrap="square" lIns="0" tIns="0" rIns="0" bIns="0" rtlCol="0" anchor="ctr"/>
          <a:lstStyle/>
          <a:p>
            <a:pPr algn="l" indent="0" marL="0">
              <a:buNone/>
            </a:pPr>
            <a:r>
              <a:rPr lang="en-US" sz="900" dirty="0">
                <a:solidFill>
                  <a:srgbClr val="6B7280"/>
                </a:solidFill>
                <a:latin typeface="Calibri" pitchFamily="34" charset="0"/>
                <a:ea typeface="Calibri" pitchFamily="34" charset="-122"/>
                <a:cs typeface="Calibri" pitchFamily="34" charset="-120"/>
              </a:rPr>
              <a:t>Aster  ·  Pricing model for CFO review</a:t>
            </a:r>
            <a:endParaRPr lang="en-US" sz="900" dirty="0"/>
          </a:p>
        </p:txBody>
      </p:sp>
      <p:sp>
        <p:nvSpPr>
          <p:cNvPr id="27" name="Text 25"/>
          <p:cNvSpPr/>
          <p:nvPr/>
        </p:nvSpPr>
        <p:spPr>
          <a:xfrm>
            <a:off x="11338560" y="6455664"/>
            <a:ext cx="36576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502920"/>
            <a:ext cx="8229600" cy="274320"/>
          </a:xfrm>
          <a:prstGeom prst="rect">
            <a:avLst/>
          </a:prstGeom>
          <a:noFill/>
          <a:ln/>
        </p:spPr>
        <p:txBody>
          <a:bodyPr wrap="square" lIns="0" tIns="0" rIns="0" bIns="0" rtlCol="0" anchor="ctr"/>
          <a:lstStyle/>
          <a:p>
            <a:pPr algn="l" indent="0" marL="0">
              <a:buNone/>
            </a:pPr>
            <a:r>
              <a:rPr lang="en-US" sz="1200" b="1" spc="200" kern="0" dirty="0">
                <a:solidFill>
                  <a:srgbClr val="0B2AE0"/>
                </a:solidFill>
                <a:latin typeface="Calibri" pitchFamily="34" charset="0"/>
                <a:ea typeface="Calibri" pitchFamily="34" charset="-122"/>
                <a:cs typeface="Calibri" pitchFamily="34" charset="-120"/>
              </a:rPr>
              <a:t>PROPOSED LIST PRICES</a:t>
            </a:r>
            <a:endParaRPr lang="en-US" sz="1200" dirty="0"/>
          </a:p>
        </p:txBody>
      </p:sp>
      <p:sp>
        <p:nvSpPr>
          <p:cNvPr id="3" name="Text 1"/>
          <p:cNvSpPr/>
          <p:nvPr/>
        </p:nvSpPr>
        <p:spPr>
          <a:xfrm>
            <a:off x="548640" y="777240"/>
            <a:ext cx="11064240" cy="822960"/>
          </a:xfrm>
          <a:prstGeom prst="rect">
            <a:avLst/>
          </a:prstGeom>
          <a:noFill/>
          <a:ln/>
        </p:spPr>
        <p:txBody>
          <a:bodyPr wrap="square" lIns="0" tIns="0" rIns="0" bIns="0" rtlCol="0" anchor="ctr"/>
          <a:lstStyle/>
          <a:p>
            <a:pPr algn="l" indent="0" marL="0">
              <a:buNone/>
            </a:pPr>
            <a:r>
              <a:rPr lang="en-US" sz="3400" b="1" dirty="0">
                <a:solidFill>
                  <a:srgbClr val="12132A"/>
                </a:solidFill>
                <a:latin typeface="Calibri" pitchFamily="34" charset="0"/>
                <a:ea typeface="Calibri" pitchFamily="34" charset="-122"/>
                <a:cs typeface="Calibri" pitchFamily="34" charset="-120"/>
              </a:rPr>
              <a:t>Subscription pricing</a:t>
            </a:r>
            <a:endParaRPr lang="en-US" sz="3400" dirty="0"/>
          </a:p>
        </p:txBody>
      </p:sp>
      <p:sp>
        <p:nvSpPr>
          <p:cNvPr id="4" name="Text 2"/>
          <p:cNvSpPr/>
          <p:nvPr/>
        </p:nvSpPr>
        <p:spPr>
          <a:xfrm>
            <a:off x="548640" y="1481328"/>
            <a:ext cx="10972800" cy="320040"/>
          </a:xfrm>
          <a:prstGeom prst="rect">
            <a:avLst/>
          </a:prstGeom>
          <a:noFill/>
          <a:ln/>
        </p:spPr>
        <p:txBody>
          <a:bodyPr wrap="square" lIns="0" tIns="0" rIns="0" bIns="0" rtlCol="0" anchor="ctr"/>
          <a:lstStyle/>
          <a:p>
            <a:pPr algn="l" indent="0" marL="0">
              <a:buNone/>
            </a:pPr>
            <a:r>
              <a:rPr lang="en-US" sz="1300" dirty="0">
                <a:solidFill>
                  <a:srgbClr val="4A5568"/>
                </a:solidFill>
                <a:latin typeface="Calibri" pitchFamily="34" charset="0"/>
                <a:ea typeface="Calibri" pitchFamily="34" charset="-122"/>
                <a:cs typeface="Calibri" pitchFamily="34" charset="-120"/>
              </a:rPr>
              <a:t>All prices in Malaysian Ringgit (MYR), the workspace default. Annual = 2 months free (17% off).</a:t>
            </a:r>
            <a:endParaRPr lang="en-US" sz="1300" dirty="0"/>
          </a:p>
        </p:txBody>
      </p:sp>
      <p:sp>
        <p:nvSpPr>
          <p:cNvPr id="5" name="Shape 3"/>
          <p:cNvSpPr/>
          <p:nvPr/>
        </p:nvSpPr>
        <p:spPr>
          <a:xfrm>
            <a:off x="548640" y="2011680"/>
            <a:ext cx="2679192" cy="3657600"/>
          </a:xfrm>
          <a:prstGeom prst="roundRect">
            <a:avLst>
              <a:gd name="adj" fmla="val 4096"/>
            </a:avLst>
          </a:prstGeom>
          <a:solidFill>
            <a:srgbClr val="FFFFFF"/>
          </a:solidFill>
          <a:ln w="12700">
            <a:solidFill>
              <a:srgbClr val="DEDEE3"/>
            </a:solidFill>
            <a:prstDash val="solid"/>
          </a:ln>
          <a:effectLst>
            <a:outerShdw sx="100000" sy="100000" kx="0" ky="0" algn="bl" rotWithShape="0" blurRad="101600" dist="25400" dir="5400000">
              <a:srgbClr val="9AA0B5">
                <a:alpha val="18000"/>
              </a:srgbClr>
            </a:outerShdw>
          </a:effectLst>
        </p:spPr>
      </p:sp>
      <p:sp>
        <p:nvSpPr>
          <p:cNvPr id="6" name="Text 4"/>
          <p:cNvSpPr/>
          <p:nvPr/>
        </p:nvSpPr>
        <p:spPr>
          <a:xfrm>
            <a:off x="804672" y="2267712"/>
            <a:ext cx="2221992" cy="411480"/>
          </a:xfrm>
          <a:prstGeom prst="rect">
            <a:avLst/>
          </a:prstGeom>
          <a:noFill/>
          <a:ln/>
        </p:spPr>
        <p:txBody>
          <a:bodyPr wrap="square" lIns="0" tIns="0" rIns="0" bIns="0" rtlCol="0" anchor="ctr"/>
          <a:lstStyle/>
          <a:p>
            <a:pPr algn="l" indent="0" marL="0">
              <a:buNone/>
            </a:pPr>
            <a:r>
              <a:rPr lang="en-US" sz="2000" b="1" dirty="0">
                <a:solidFill>
                  <a:srgbClr val="12132A"/>
                </a:solidFill>
                <a:latin typeface="Calibri" pitchFamily="34" charset="0"/>
                <a:ea typeface="Calibri" pitchFamily="34" charset="-122"/>
                <a:cs typeface="Calibri" pitchFamily="34" charset="-120"/>
              </a:rPr>
              <a:t>Launch</a:t>
            </a:r>
            <a:endParaRPr lang="en-US" sz="2000" dirty="0"/>
          </a:p>
        </p:txBody>
      </p:sp>
      <p:sp>
        <p:nvSpPr>
          <p:cNvPr id="7" name="Text 5"/>
          <p:cNvSpPr/>
          <p:nvPr/>
        </p:nvSpPr>
        <p:spPr>
          <a:xfrm>
            <a:off x="804672" y="2670048"/>
            <a:ext cx="2221992" cy="274320"/>
          </a:xfrm>
          <a:prstGeom prst="rect">
            <a:avLst/>
          </a:prstGeom>
          <a:noFill/>
          <a:ln/>
        </p:spPr>
        <p:txBody>
          <a:bodyPr wrap="square" lIns="0" tIns="0" rIns="0" bIns="0" rtlCol="0" anchor="ctr"/>
          <a:lstStyle/>
          <a:p>
            <a:pPr algn="l" indent="0" marL="0">
              <a:buNone/>
            </a:pPr>
            <a:r>
              <a:rPr lang="en-US" sz="1150" dirty="0">
                <a:solidFill>
                  <a:srgbClr val="4A5568"/>
                </a:solidFill>
                <a:latin typeface="Calibri" pitchFamily="34" charset="0"/>
                <a:ea typeface="Calibri" pitchFamily="34" charset="-122"/>
                <a:cs typeface="Calibri" pitchFamily="34" charset="-120"/>
              </a:rPr>
              <a:t>First roles</a:t>
            </a:r>
            <a:endParaRPr lang="en-US" sz="1150" dirty="0"/>
          </a:p>
        </p:txBody>
      </p:sp>
      <p:sp>
        <p:nvSpPr>
          <p:cNvPr id="8" name="Text 6"/>
          <p:cNvSpPr/>
          <p:nvPr/>
        </p:nvSpPr>
        <p:spPr>
          <a:xfrm>
            <a:off x="804672" y="3108960"/>
            <a:ext cx="2221992" cy="548640"/>
          </a:xfrm>
          <a:prstGeom prst="rect">
            <a:avLst/>
          </a:prstGeom>
          <a:noFill/>
          <a:ln/>
        </p:spPr>
        <p:txBody>
          <a:bodyPr wrap="square" lIns="0" tIns="0" rIns="0" bIns="0" rtlCol="0" anchor="ctr"/>
          <a:lstStyle/>
          <a:p>
            <a:pPr algn="l" indent="0" marL="0">
              <a:buNone/>
            </a:pPr>
            <a:r>
              <a:rPr lang="en-US" sz="3000" b="1" dirty="0">
                <a:solidFill>
                  <a:srgbClr val="12132A"/>
                </a:solidFill>
                <a:latin typeface="Calibri" pitchFamily="34" charset="0"/>
                <a:ea typeface="Calibri" pitchFamily="34" charset="-122"/>
                <a:cs typeface="Calibri" pitchFamily="34" charset="-120"/>
              </a:rPr>
              <a:t>RM199</a:t>
            </a:r>
            <a:pPr algn="l" indent="0" marL="0">
              <a:buNone/>
            </a:pPr>
            <a:r>
              <a:rPr lang="en-US" sz="1400" dirty="0">
                <a:solidFill>
                  <a:srgbClr val="4A5568"/>
                </a:solidFill>
                <a:latin typeface="Calibri" pitchFamily="34" charset="0"/>
                <a:ea typeface="Calibri" pitchFamily="34" charset="-122"/>
                <a:cs typeface="Calibri" pitchFamily="34" charset="-120"/>
              </a:rPr>
              <a:t> /mo</a:t>
            </a:r>
            <a:endParaRPr lang="en-US" sz="3000" dirty="0"/>
          </a:p>
        </p:txBody>
      </p:sp>
      <p:sp>
        <p:nvSpPr>
          <p:cNvPr id="9" name="Text 7"/>
          <p:cNvSpPr/>
          <p:nvPr/>
        </p:nvSpPr>
        <p:spPr>
          <a:xfrm>
            <a:off x="804672" y="3675888"/>
            <a:ext cx="2221992" cy="274320"/>
          </a:xfrm>
          <a:prstGeom prst="rect">
            <a:avLst/>
          </a:prstGeom>
          <a:noFill/>
          <a:ln/>
        </p:spPr>
        <p:txBody>
          <a:bodyPr wrap="square" lIns="0" tIns="0" rIns="0" bIns="0" rtlCol="0" anchor="ctr"/>
          <a:lstStyle/>
          <a:p>
            <a:pPr algn="l" indent="0" marL="0">
              <a:buNone/>
            </a:pPr>
            <a:r>
              <a:rPr lang="en-US" sz="1150" dirty="0">
                <a:solidFill>
                  <a:srgbClr val="4A5568"/>
                </a:solidFill>
                <a:latin typeface="Calibri" pitchFamily="34" charset="0"/>
                <a:ea typeface="Calibri" pitchFamily="34" charset="-122"/>
                <a:cs typeface="Calibri" pitchFamily="34" charset="-120"/>
              </a:rPr>
              <a:t>RM166 / mo on annual</a:t>
            </a:r>
            <a:endParaRPr lang="en-US" sz="1150" dirty="0"/>
          </a:p>
        </p:txBody>
      </p:sp>
      <p:sp>
        <p:nvSpPr>
          <p:cNvPr id="10" name="Text 8"/>
          <p:cNvSpPr/>
          <p:nvPr/>
        </p:nvSpPr>
        <p:spPr>
          <a:xfrm>
            <a:off x="804672" y="3977640"/>
            <a:ext cx="2221992" cy="274320"/>
          </a:xfrm>
          <a:prstGeom prst="rect">
            <a:avLst/>
          </a:prstGeom>
          <a:noFill/>
          <a:ln/>
        </p:spPr>
        <p:txBody>
          <a:bodyPr wrap="square" lIns="0" tIns="0" rIns="0" bIns="0" rtlCol="0" anchor="ctr"/>
          <a:lstStyle/>
          <a:p>
            <a:pPr algn="l" indent="0" marL="0">
              <a:buNone/>
            </a:pPr>
            <a:r>
              <a:rPr lang="en-US" sz="1150" i="1" dirty="0">
                <a:solidFill>
                  <a:srgbClr val="16A34A"/>
                </a:solidFill>
                <a:latin typeface="Calibri" pitchFamily="34" charset="0"/>
                <a:ea typeface="Calibri" pitchFamily="34" charset="-122"/>
                <a:cs typeface="Calibri" pitchFamily="34" charset="-120"/>
              </a:rPr>
              <a:t>RM1,990 billed yearly</a:t>
            </a:r>
            <a:endParaRPr lang="en-US" sz="1150" dirty="0"/>
          </a:p>
        </p:txBody>
      </p:sp>
      <p:sp>
        <p:nvSpPr>
          <p:cNvPr id="11" name="Shape 9"/>
          <p:cNvSpPr/>
          <p:nvPr/>
        </p:nvSpPr>
        <p:spPr>
          <a:xfrm>
            <a:off x="804672" y="4462272"/>
            <a:ext cx="2167128" cy="0"/>
          </a:xfrm>
          <a:prstGeom prst="line">
            <a:avLst/>
          </a:prstGeom>
          <a:noFill/>
          <a:ln w="12700">
            <a:solidFill>
              <a:srgbClr val="DEDEE3"/>
            </a:solidFill>
            <a:prstDash val="solid"/>
          </a:ln>
        </p:spPr>
      </p:sp>
      <p:sp>
        <p:nvSpPr>
          <p:cNvPr id="12" name="Text 10"/>
          <p:cNvSpPr/>
          <p:nvPr/>
        </p:nvSpPr>
        <p:spPr>
          <a:xfrm>
            <a:off x="804672" y="4572000"/>
            <a:ext cx="2221992" cy="320040"/>
          </a:xfrm>
          <a:prstGeom prst="rect">
            <a:avLst/>
          </a:prstGeom>
          <a:noFill/>
          <a:ln/>
        </p:spPr>
        <p:txBody>
          <a:bodyPr wrap="square" lIns="0" tIns="0" rIns="0" bIns="0" rtlCol="0" anchor="ctr"/>
          <a:lstStyle/>
          <a:p>
            <a:pPr algn="l" indent="0" marL="0">
              <a:buNone/>
            </a:pPr>
            <a:r>
              <a:rPr lang="en-US" sz="1350" b="1" dirty="0">
                <a:solidFill>
                  <a:srgbClr val="12132A"/>
                </a:solidFill>
                <a:latin typeface="Calibri" pitchFamily="34" charset="0"/>
                <a:ea typeface="Calibri" pitchFamily="34" charset="-122"/>
                <a:cs typeface="Calibri" pitchFamily="34" charset="-120"/>
              </a:rPr>
              <a:t>1 open job</a:t>
            </a:r>
            <a:endParaRPr lang="en-US" sz="1350" dirty="0"/>
          </a:p>
        </p:txBody>
      </p:sp>
      <p:sp>
        <p:nvSpPr>
          <p:cNvPr id="13" name="Text 11"/>
          <p:cNvSpPr/>
          <p:nvPr/>
        </p:nvSpPr>
        <p:spPr>
          <a:xfrm>
            <a:off x="804672" y="4919472"/>
            <a:ext cx="2221992" cy="320040"/>
          </a:xfrm>
          <a:prstGeom prst="rect">
            <a:avLst/>
          </a:prstGeom>
          <a:noFill/>
          <a:ln/>
        </p:spPr>
        <p:txBody>
          <a:bodyPr wrap="square" lIns="0" tIns="0" rIns="0" bIns="0" rtlCol="0" anchor="ctr"/>
          <a:lstStyle/>
          <a:p>
            <a:pPr algn="l" indent="0" marL="0">
              <a:buNone/>
            </a:pPr>
            <a:r>
              <a:rPr lang="en-US" sz="1250" dirty="0">
                <a:solidFill>
                  <a:srgbClr val="4A5568"/>
                </a:solidFill>
                <a:latin typeface="Calibri" pitchFamily="34" charset="0"/>
                <a:ea typeface="Calibri" pitchFamily="34" charset="-122"/>
                <a:cs typeface="Calibri" pitchFamily="34" charset="-120"/>
              </a:rPr>
              <a:t>Unlimited seats</a:t>
            </a:r>
            <a:endParaRPr lang="en-US" sz="1250" dirty="0"/>
          </a:p>
        </p:txBody>
      </p:sp>
      <p:sp>
        <p:nvSpPr>
          <p:cNvPr id="14" name="Text 12"/>
          <p:cNvSpPr/>
          <p:nvPr/>
        </p:nvSpPr>
        <p:spPr>
          <a:xfrm>
            <a:off x="804672" y="5230368"/>
            <a:ext cx="2221992" cy="320040"/>
          </a:xfrm>
          <a:prstGeom prst="rect">
            <a:avLst/>
          </a:prstGeom>
          <a:noFill/>
          <a:ln/>
        </p:spPr>
        <p:txBody>
          <a:bodyPr wrap="square" lIns="0" tIns="0" rIns="0" bIns="0" rtlCol="0" anchor="ctr"/>
          <a:lstStyle/>
          <a:p>
            <a:pPr algn="l" indent="0" marL="0">
              <a:buNone/>
            </a:pPr>
            <a:r>
              <a:rPr lang="en-US" sz="1100" i="1" dirty="0">
                <a:solidFill>
                  <a:srgbClr val="4A5568"/>
                </a:solidFill>
                <a:latin typeface="Calibri" pitchFamily="34" charset="0"/>
                <a:ea typeface="Calibri" pitchFamily="34" charset="-122"/>
                <a:cs typeface="Calibri" pitchFamily="34" charset="-120"/>
              </a:rPr>
              <a:t>14-day free trial of Scale</a:t>
            </a:r>
            <a:endParaRPr lang="en-US" sz="1100" dirty="0"/>
          </a:p>
        </p:txBody>
      </p:sp>
      <p:sp>
        <p:nvSpPr>
          <p:cNvPr id="15" name="Shape 13"/>
          <p:cNvSpPr/>
          <p:nvPr/>
        </p:nvSpPr>
        <p:spPr>
          <a:xfrm>
            <a:off x="3346704" y="2011680"/>
            <a:ext cx="2679192" cy="3657600"/>
          </a:xfrm>
          <a:prstGeom prst="roundRect">
            <a:avLst>
              <a:gd name="adj" fmla="val 4096"/>
            </a:avLst>
          </a:prstGeom>
          <a:solidFill>
            <a:srgbClr val="0B2AE0"/>
          </a:solidFill>
          <a:ln w="12700">
            <a:solidFill>
              <a:srgbClr val="0B2AE0"/>
            </a:solidFill>
            <a:prstDash val="solid"/>
          </a:ln>
          <a:effectLst>
            <a:outerShdw sx="100000" sy="100000" kx="0" ky="0" algn="bl" rotWithShape="0" blurRad="101600" dist="25400" dir="5400000">
              <a:srgbClr val="9AA0B5">
                <a:alpha val="18000"/>
              </a:srgbClr>
            </a:outerShdw>
          </a:effectLst>
        </p:spPr>
      </p:sp>
      <p:sp>
        <p:nvSpPr>
          <p:cNvPr id="16" name="Shape 14"/>
          <p:cNvSpPr/>
          <p:nvPr/>
        </p:nvSpPr>
        <p:spPr>
          <a:xfrm>
            <a:off x="4608576" y="2212848"/>
            <a:ext cx="1207008" cy="365760"/>
          </a:xfrm>
          <a:prstGeom prst="roundRect">
            <a:avLst>
              <a:gd name="adj" fmla="val 50000"/>
            </a:avLst>
          </a:prstGeom>
          <a:solidFill>
            <a:srgbClr val="FFFFFF"/>
          </a:solidFill>
          <a:ln/>
        </p:spPr>
      </p:sp>
      <p:sp>
        <p:nvSpPr>
          <p:cNvPr id="17" name="Text 15"/>
          <p:cNvSpPr/>
          <p:nvPr/>
        </p:nvSpPr>
        <p:spPr>
          <a:xfrm>
            <a:off x="4608576" y="2212848"/>
            <a:ext cx="1207008" cy="365760"/>
          </a:xfrm>
          <a:prstGeom prst="rect">
            <a:avLst/>
          </a:prstGeom>
          <a:noFill/>
          <a:ln/>
        </p:spPr>
        <p:txBody>
          <a:bodyPr wrap="square" lIns="0" tIns="0" rIns="0" bIns="0" rtlCol="0" anchor="ctr"/>
          <a:lstStyle/>
          <a:p>
            <a:pPr algn="ctr" indent="0" marL="0">
              <a:buNone/>
            </a:pPr>
            <a:r>
              <a:rPr lang="en-US" sz="850" b="1" spc="100" kern="0" dirty="0">
                <a:solidFill>
                  <a:srgbClr val="0B2AE0"/>
                </a:solidFill>
                <a:latin typeface="Calibri" pitchFamily="34" charset="0"/>
                <a:ea typeface="Calibri" pitchFamily="34" charset="-122"/>
                <a:cs typeface="Calibri" pitchFamily="34" charset="-120"/>
              </a:rPr>
              <a:t>MOST POPULAR</a:t>
            </a:r>
            <a:endParaRPr lang="en-US" sz="850" dirty="0"/>
          </a:p>
        </p:txBody>
      </p:sp>
      <p:sp>
        <p:nvSpPr>
          <p:cNvPr id="18" name="Text 16"/>
          <p:cNvSpPr/>
          <p:nvPr/>
        </p:nvSpPr>
        <p:spPr>
          <a:xfrm>
            <a:off x="3602736" y="2267712"/>
            <a:ext cx="2221992" cy="411480"/>
          </a:xfrm>
          <a:prstGeom prst="rect">
            <a:avLst/>
          </a:prstGeom>
          <a:noFill/>
          <a:ln/>
        </p:spPr>
        <p:txBody>
          <a:bodyPr wrap="square" lIns="0" tIns="0" rIns="0" bIns="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Scale</a:t>
            </a:r>
            <a:endParaRPr lang="en-US" sz="2000" dirty="0"/>
          </a:p>
        </p:txBody>
      </p:sp>
      <p:sp>
        <p:nvSpPr>
          <p:cNvPr id="19" name="Text 17"/>
          <p:cNvSpPr/>
          <p:nvPr/>
        </p:nvSpPr>
        <p:spPr>
          <a:xfrm>
            <a:off x="3602736" y="2670048"/>
            <a:ext cx="2221992" cy="274320"/>
          </a:xfrm>
          <a:prstGeom prst="rect">
            <a:avLst/>
          </a:prstGeom>
          <a:noFill/>
          <a:ln/>
        </p:spPr>
        <p:txBody>
          <a:bodyPr wrap="square" lIns="0" tIns="0" rIns="0" bIns="0" rtlCol="0" anchor="ctr"/>
          <a:lstStyle/>
          <a:p>
            <a:pPr algn="l" indent="0" marL="0">
              <a:buNone/>
            </a:pPr>
            <a:r>
              <a:rPr lang="en-US" sz="1150" dirty="0">
                <a:solidFill>
                  <a:srgbClr val="CADCFC"/>
                </a:solidFill>
                <a:latin typeface="Calibri" pitchFamily="34" charset="0"/>
                <a:ea typeface="Calibri" pitchFamily="34" charset="-122"/>
                <a:cs typeface="Calibri" pitchFamily="34" charset="-120"/>
              </a:rPr>
              <a:t>Most popular</a:t>
            </a:r>
            <a:endParaRPr lang="en-US" sz="1150" dirty="0"/>
          </a:p>
        </p:txBody>
      </p:sp>
      <p:sp>
        <p:nvSpPr>
          <p:cNvPr id="20" name="Text 18"/>
          <p:cNvSpPr/>
          <p:nvPr/>
        </p:nvSpPr>
        <p:spPr>
          <a:xfrm>
            <a:off x="3602736" y="3108960"/>
            <a:ext cx="2221992" cy="548640"/>
          </a:xfrm>
          <a:prstGeom prst="rect">
            <a:avLst/>
          </a:prstGeom>
          <a:noFill/>
          <a:ln/>
        </p:spPr>
        <p:txBody>
          <a:bodyPr wrap="square" lIns="0" tIns="0" rIns="0" bIns="0" rtlCol="0" anchor="ctr"/>
          <a:lstStyle/>
          <a:p>
            <a:pPr algn="l" indent="0" marL="0">
              <a:buNone/>
            </a:pPr>
            <a:r>
              <a:rPr lang="en-US" sz="3000" b="1" dirty="0">
                <a:solidFill>
                  <a:srgbClr val="FFFFFF"/>
                </a:solidFill>
                <a:latin typeface="Calibri" pitchFamily="34" charset="0"/>
                <a:ea typeface="Calibri" pitchFamily="34" charset="-122"/>
                <a:cs typeface="Calibri" pitchFamily="34" charset="-120"/>
              </a:rPr>
              <a:t>RM799</a:t>
            </a:r>
            <a:pPr algn="l" indent="0" marL="0">
              <a:buNone/>
            </a:pPr>
            <a:r>
              <a:rPr lang="en-US" sz="1400" dirty="0">
                <a:solidFill>
                  <a:srgbClr val="CADCFC"/>
                </a:solidFill>
                <a:latin typeface="Calibri" pitchFamily="34" charset="0"/>
                <a:ea typeface="Calibri" pitchFamily="34" charset="-122"/>
                <a:cs typeface="Calibri" pitchFamily="34" charset="-120"/>
              </a:rPr>
              <a:t> /mo</a:t>
            </a:r>
            <a:endParaRPr lang="en-US" sz="3000" dirty="0"/>
          </a:p>
        </p:txBody>
      </p:sp>
      <p:sp>
        <p:nvSpPr>
          <p:cNvPr id="21" name="Text 19"/>
          <p:cNvSpPr/>
          <p:nvPr/>
        </p:nvSpPr>
        <p:spPr>
          <a:xfrm>
            <a:off x="3602736" y="3675888"/>
            <a:ext cx="2221992" cy="274320"/>
          </a:xfrm>
          <a:prstGeom prst="rect">
            <a:avLst/>
          </a:prstGeom>
          <a:noFill/>
          <a:ln/>
        </p:spPr>
        <p:txBody>
          <a:bodyPr wrap="square" lIns="0" tIns="0" rIns="0" bIns="0" rtlCol="0" anchor="ctr"/>
          <a:lstStyle/>
          <a:p>
            <a:pPr algn="l" indent="0" marL="0">
              <a:buNone/>
            </a:pPr>
            <a:r>
              <a:rPr lang="en-US" sz="1150" dirty="0">
                <a:solidFill>
                  <a:srgbClr val="CADCFC"/>
                </a:solidFill>
                <a:latin typeface="Calibri" pitchFamily="34" charset="0"/>
                <a:ea typeface="Calibri" pitchFamily="34" charset="-122"/>
                <a:cs typeface="Calibri" pitchFamily="34" charset="-120"/>
              </a:rPr>
              <a:t>RM666 / mo on annual</a:t>
            </a:r>
            <a:endParaRPr lang="en-US" sz="1150" dirty="0"/>
          </a:p>
        </p:txBody>
      </p:sp>
      <p:sp>
        <p:nvSpPr>
          <p:cNvPr id="22" name="Text 20"/>
          <p:cNvSpPr/>
          <p:nvPr/>
        </p:nvSpPr>
        <p:spPr>
          <a:xfrm>
            <a:off x="3602736" y="3977640"/>
            <a:ext cx="2221992" cy="274320"/>
          </a:xfrm>
          <a:prstGeom prst="rect">
            <a:avLst/>
          </a:prstGeom>
          <a:noFill/>
          <a:ln/>
        </p:spPr>
        <p:txBody>
          <a:bodyPr wrap="square" lIns="0" tIns="0" rIns="0" bIns="0" rtlCol="0" anchor="ctr"/>
          <a:lstStyle/>
          <a:p>
            <a:pPr algn="l" indent="0" marL="0">
              <a:buNone/>
            </a:pPr>
            <a:r>
              <a:rPr lang="en-US" sz="1150" i="1" dirty="0">
                <a:solidFill>
                  <a:srgbClr val="FFFFFF"/>
                </a:solidFill>
                <a:latin typeface="Calibri" pitchFamily="34" charset="0"/>
                <a:ea typeface="Calibri" pitchFamily="34" charset="-122"/>
                <a:cs typeface="Calibri" pitchFamily="34" charset="-120"/>
              </a:rPr>
              <a:t>RM7,990 billed yearly</a:t>
            </a:r>
            <a:endParaRPr lang="en-US" sz="1150" dirty="0"/>
          </a:p>
        </p:txBody>
      </p:sp>
      <p:sp>
        <p:nvSpPr>
          <p:cNvPr id="23" name="Shape 21"/>
          <p:cNvSpPr/>
          <p:nvPr/>
        </p:nvSpPr>
        <p:spPr>
          <a:xfrm>
            <a:off x="3602736" y="4462272"/>
            <a:ext cx="2167128" cy="0"/>
          </a:xfrm>
          <a:prstGeom prst="line">
            <a:avLst/>
          </a:prstGeom>
          <a:noFill/>
          <a:ln w="12700">
            <a:solidFill>
              <a:srgbClr val="3550EE"/>
            </a:solidFill>
            <a:prstDash val="solid"/>
          </a:ln>
        </p:spPr>
      </p:sp>
      <p:sp>
        <p:nvSpPr>
          <p:cNvPr id="24" name="Text 22"/>
          <p:cNvSpPr/>
          <p:nvPr/>
        </p:nvSpPr>
        <p:spPr>
          <a:xfrm>
            <a:off x="3602736" y="4572000"/>
            <a:ext cx="2221992" cy="320040"/>
          </a:xfrm>
          <a:prstGeom prst="rect">
            <a:avLst/>
          </a:prstGeom>
          <a:noFill/>
          <a:ln/>
        </p:spPr>
        <p:txBody>
          <a:bodyPr wrap="square" lIns="0" tIns="0" rIns="0" bIns="0" rtlCol="0" anchor="ctr"/>
          <a:lstStyle/>
          <a:p>
            <a:pPr algn="l" indent="0" marL="0">
              <a:buNone/>
            </a:pPr>
            <a:r>
              <a:rPr lang="en-US" sz="1350" b="1" dirty="0">
                <a:solidFill>
                  <a:srgbClr val="FFFFFF"/>
                </a:solidFill>
                <a:latin typeface="Calibri" pitchFamily="34" charset="0"/>
                <a:ea typeface="Calibri" pitchFamily="34" charset="-122"/>
                <a:cs typeface="Calibri" pitchFamily="34" charset="-120"/>
              </a:rPr>
              <a:t>5 open jobs</a:t>
            </a:r>
            <a:endParaRPr lang="en-US" sz="1350" dirty="0"/>
          </a:p>
        </p:txBody>
      </p:sp>
      <p:sp>
        <p:nvSpPr>
          <p:cNvPr id="25" name="Text 23"/>
          <p:cNvSpPr/>
          <p:nvPr/>
        </p:nvSpPr>
        <p:spPr>
          <a:xfrm>
            <a:off x="3602736" y="4919472"/>
            <a:ext cx="2221992" cy="320040"/>
          </a:xfrm>
          <a:prstGeom prst="rect">
            <a:avLst/>
          </a:prstGeom>
          <a:noFill/>
          <a:ln/>
        </p:spPr>
        <p:txBody>
          <a:bodyPr wrap="square" lIns="0" tIns="0" rIns="0" bIns="0" rtlCol="0" anchor="ctr"/>
          <a:lstStyle/>
          <a:p>
            <a:pPr algn="l" indent="0" marL="0">
              <a:buNone/>
            </a:pPr>
            <a:r>
              <a:rPr lang="en-US" sz="1250" dirty="0">
                <a:solidFill>
                  <a:srgbClr val="CADCFC"/>
                </a:solidFill>
                <a:latin typeface="Calibri" pitchFamily="34" charset="0"/>
                <a:ea typeface="Calibri" pitchFamily="34" charset="-122"/>
                <a:cs typeface="Calibri" pitchFamily="34" charset="-120"/>
              </a:rPr>
              <a:t>Unlimited seats</a:t>
            </a:r>
            <a:endParaRPr lang="en-US" sz="1250" dirty="0"/>
          </a:p>
        </p:txBody>
      </p:sp>
      <p:sp>
        <p:nvSpPr>
          <p:cNvPr id="26" name="Text 24"/>
          <p:cNvSpPr/>
          <p:nvPr/>
        </p:nvSpPr>
        <p:spPr>
          <a:xfrm>
            <a:off x="3602736" y="5230368"/>
            <a:ext cx="2221992" cy="320040"/>
          </a:xfrm>
          <a:prstGeom prst="rect">
            <a:avLst/>
          </a:prstGeom>
          <a:noFill/>
          <a:ln/>
        </p:spPr>
        <p:txBody>
          <a:bodyPr wrap="square" lIns="0" tIns="0" rIns="0" bIns="0" rtlCol="0" anchor="ctr"/>
          <a:lstStyle/>
          <a:p>
            <a:pPr algn="l" indent="0" marL="0">
              <a:buNone/>
            </a:pPr>
            <a:r>
              <a:rPr lang="en-US" sz="1100" i="1" dirty="0">
                <a:solidFill>
                  <a:srgbClr val="CADCFC"/>
                </a:solidFill>
                <a:latin typeface="Calibri" pitchFamily="34" charset="0"/>
                <a:ea typeface="Calibri" pitchFamily="34" charset="-122"/>
                <a:cs typeface="Calibri" pitchFamily="34" charset="-120"/>
              </a:rPr>
              <a:t>14-day free trial of Scale</a:t>
            </a:r>
            <a:endParaRPr lang="en-US" sz="1100" dirty="0"/>
          </a:p>
        </p:txBody>
      </p:sp>
      <p:sp>
        <p:nvSpPr>
          <p:cNvPr id="27" name="Shape 25"/>
          <p:cNvSpPr/>
          <p:nvPr/>
        </p:nvSpPr>
        <p:spPr>
          <a:xfrm>
            <a:off x="6144768" y="2011680"/>
            <a:ext cx="2679192" cy="3657600"/>
          </a:xfrm>
          <a:prstGeom prst="roundRect">
            <a:avLst>
              <a:gd name="adj" fmla="val 4096"/>
            </a:avLst>
          </a:prstGeom>
          <a:solidFill>
            <a:srgbClr val="FFFFFF"/>
          </a:solidFill>
          <a:ln w="12700">
            <a:solidFill>
              <a:srgbClr val="DEDEE3"/>
            </a:solidFill>
            <a:prstDash val="solid"/>
          </a:ln>
          <a:effectLst>
            <a:outerShdw sx="100000" sy="100000" kx="0" ky="0" algn="bl" rotWithShape="0" blurRad="101600" dist="25400" dir="5400000">
              <a:srgbClr val="9AA0B5">
                <a:alpha val="18000"/>
              </a:srgbClr>
            </a:outerShdw>
          </a:effectLst>
        </p:spPr>
      </p:sp>
      <p:sp>
        <p:nvSpPr>
          <p:cNvPr id="28" name="Text 26"/>
          <p:cNvSpPr/>
          <p:nvPr/>
        </p:nvSpPr>
        <p:spPr>
          <a:xfrm>
            <a:off x="6400800" y="2267712"/>
            <a:ext cx="2221992" cy="411480"/>
          </a:xfrm>
          <a:prstGeom prst="rect">
            <a:avLst/>
          </a:prstGeom>
          <a:noFill/>
          <a:ln/>
        </p:spPr>
        <p:txBody>
          <a:bodyPr wrap="square" lIns="0" tIns="0" rIns="0" bIns="0" rtlCol="0" anchor="ctr"/>
          <a:lstStyle/>
          <a:p>
            <a:pPr algn="l" indent="0" marL="0">
              <a:buNone/>
            </a:pPr>
            <a:r>
              <a:rPr lang="en-US" sz="2000" b="1" dirty="0">
                <a:solidFill>
                  <a:srgbClr val="12132A"/>
                </a:solidFill>
                <a:latin typeface="Calibri" pitchFamily="34" charset="0"/>
                <a:ea typeface="Calibri" pitchFamily="34" charset="-122"/>
                <a:cs typeface="Calibri" pitchFamily="34" charset="-120"/>
              </a:rPr>
              <a:t>Elite</a:t>
            </a:r>
            <a:endParaRPr lang="en-US" sz="2000" dirty="0"/>
          </a:p>
        </p:txBody>
      </p:sp>
      <p:sp>
        <p:nvSpPr>
          <p:cNvPr id="29" name="Text 27"/>
          <p:cNvSpPr/>
          <p:nvPr/>
        </p:nvSpPr>
        <p:spPr>
          <a:xfrm>
            <a:off x="6400800" y="2670048"/>
            <a:ext cx="2221992" cy="274320"/>
          </a:xfrm>
          <a:prstGeom prst="rect">
            <a:avLst/>
          </a:prstGeom>
          <a:noFill/>
          <a:ln/>
        </p:spPr>
        <p:txBody>
          <a:bodyPr wrap="square" lIns="0" tIns="0" rIns="0" bIns="0" rtlCol="0" anchor="ctr"/>
          <a:lstStyle/>
          <a:p>
            <a:pPr algn="l" indent="0" marL="0">
              <a:buNone/>
            </a:pPr>
            <a:r>
              <a:rPr lang="en-US" sz="1150" dirty="0">
                <a:solidFill>
                  <a:srgbClr val="4A5568"/>
                </a:solidFill>
                <a:latin typeface="Calibri" pitchFamily="34" charset="0"/>
                <a:ea typeface="Calibri" pitchFamily="34" charset="-122"/>
                <a:cs typeface="Calibri" pitchFamily="34" charset="-120"/>
              </a:rPr>
              <a:t>Hiring at volume</a:t>
            </a:r>
            <a:endParaRPr lang="en-US" sz="1150" dirty="0"/>
          </a:p>
        </p:txBody>
      </p:sp>
      <p:sp>
        <p:nvSpPr>
          <p:cNvPr id="30" name="Text 28"/>
          <p:cNvSpPr/>
          <p:nvPr/>
        </p:nvSpPr>
        <p:spPr>
          <a:xfrm>
            <a:off x="6400800" y="3108960"/>
            <a:ext cx="2221992" cy="548640"/>
          </a:xfrm>
          <a:prstGeom prst="rect">
            <a:avLst/>
          </a:prstGeom>
          <a:noFill/>
          <a:ln/>
        </p:spPr>
        <p:txBody>
          <a:bodyPr wrap="square" lIns="0" tIns="0" rIns="0" bIns="0" rtlCol="0" anchor="ctr"/>
          <a:lstStyle/>
          <a:p>
            <a:pPr algn="l" indent="0" marL="0">
              <a:buNone/>
            </a:pPr>
            <a:r>
              <a:rPr lang="en-US" sz="3000" b="1" dirty="0">
                <a:solidFill>
                  <a:srgbClr val="12132A"/>
                </a:solidFill>
                <a:latin typeface="Calibri" pitchFamily="34" charset="0"/>
                <a:ea typeface="Calibri" pitchFamily="34" charset="-122"/>
                <a:cs typeface="Calibri" pitchFamily="34" charset="-120"/>
              </a:rPr>
              <a:t>RM999</a:t>
            </a:r>
            <a:pPr algn="l" indent="0" marL="0">
              <a:buNone/>
            </a:pPr>
            <a:r>
              <a:rPr lang="en-US" sz="1400" dirty="0">
                <a:solidFill>
                  <a:srgbClr val="4A5568"/>
                </a:solidFill>
                <a:latin typeface="Calibri" pitchFamily="34" charset="0"/>
                <a:ea typeface="Calibri" pitchFamily="34" charset="-122"/>
                <a:cs typeface="Calibri" pitchFamily="34" charset="-120"/>
              </a:rPr>
              <a:t> /mo</a:t>
            </a:r>
            <a:endParaRPr lang="en-US" sz="3000" dirty="0"/>
          </a:p>
        </p:txBody>
      </p:sp>
      <p:sp>
        <p:nvSpPr>
          <p:cNvPr id="31" name="Text 29"/>
          <p:cNvSpPr/>
          <p:nvPr/>
        </p:nvSpPr>
        <p:spPr>
          <a:xfrm>
            <a:off x="6400800" y="3675888"/>
            <a:ext cx="2221992" cy="274320"/>
          </a:xfrm>
          <a:prstGeom prst="rect">
            <a:avLst/>
          </a:prstGeom>
          <a:noFill/>
          <a:ln/>
        </p:spPr>
        <p:txBody>
          <a:bodyPr wrap="square" lIns="0" tIns="0" rIns="0" bIns="0" rtlCol="0" anchor="ctr"/>
          <a:lstStyle/>
          <a:p>
            <a:pPr algn="l" indent="0" marL="0">
              <a:buNone/>
            </a:pPr>
            <a:r>
              <a:rPr lang="en-US" sz="1150" dirty="0">
                <a:solidFill>
                  <a:srgbClr val="4A5568"/>
                </a:solidFill>
                <a:latin typeface="Calibri" pitchFamily="34" charset="0"/>
                <a:ea typeface="Calibri" pitchFamily="34" charset="-122"/>
                <a:cs typeface="Calibri" pitchFamily="34" charset="-120"/>
              </a:rPr>
              <a:t>RM833 / mo on annual</a:t>
            </a:r>
            <a:endParaRPr lang="en-US" sz="1150" dirty="0"/>
          </a:p>
        </p:txBody>
      </p:sp>
      <p:sp>
        <p:nvSpPr>
          <p:cNvPr id="32" name="Text 30"/>
          <p:cNvSpPr/>
          <p:nvPr/>
        </p:nvSpPr>
        <p:spPr>
          <a:xfrm>
            <a:off x="6400800" y="3977640"/>
            <a:ext cx="2221992" cy="274320"/>
          </a:xfrm>
          <a:prstGeom prst="rect">
            <a:avLst/>
          </a:prstGeom>
          <a:noFill/>
          <a:ln/>
        </p:spPr>
        <p:txBody>
          <a:bodyPr wrap="square" lIns="0" tIns="0" rIns="0" bIns="0" rtlCol="0" anchor="ctr"/>
          <a:lstStyle/>
          <a:p>
            <a:pPr algn="l" indent="0" marL="0">
              <a:buNone/>
            </a:pPr>
            <a:r>
              <a:rPr lang="en-US" sz="1150" i="1" dirty="0">
                <a:solidFill>
                  <a:srgbClr val="16A34A"/>
                </a:solidFill>
                <a:latin typeface="Calibri" pitchFamily="34" charset="0"/>
                <a:ea typeface="Calibri" pitchFamily="34" charset="-122"/>
                <a:cs typeface="Calibri" pitchFamily="34" charset="-120"/>
              </a:rPr>
              <a:t>RM9,990 billed yearly</a:t>
            </a:r>
            <a:endParaRPr lang="en-US" sz="1150" dirty="0"/>
          </a:p>
        </p:txBody>
      </p:sp>
      <p:sp>
        <p:nvSpPr>
          <p:cNvPr id="33" name="Shape 31"/>
          <p:cNvSpPr/>
          <p:nvPr/>
        </p:nvSpPr>
        <p:spPr>
          <a:xfrm>
            <a:off x="6400800" y="4462272"/>
            <a:ext cx="2167128" cy="0"/>
          </a:xfrm>
          <a:prstGeom prst="line">
            <a:avLst/>
          </a:prstGeom>
          <a:noFill/>
          <a:ln w="12700">
            <a:solidFill>
              <a:srgbClr val="DEDEE3"/>
            </a:solidFill>
            <a:prstDash val="solid"/>
          </a:ln>
        </p:spPr>
      </p:sp>
      <p:sp>
        <p:nvSpPr>
          <p:cNvPr id="34" name="Text 32"/>
          <p:cNvSpPr/>
          <p:nvPr/>
        </p:nvSpPr>
        <p:spPr>
          <a:xfrm>
            <a:off x="6400800" y="4572000"/>
            <a:ext cx="2221992" cy="320040"/>
          </a:xfrm>
          <a:prstGeom prst="rect">
            <a:avLst/>
          </a:prstGeom>
          <a:noFill/>
          <a:ln/>
        </p:spPr>
        <p:txBody>
          <a:bodyPr wrap="square" lIns="0" tIns="0" rIns="0" bIns="0" rtlCol="0" anchor="ctr"/>
          <a:lstStyle/>
          <a:p>
            <a:pPr algn="l" indent="0" marL="0">
              <a:buNone/>
            </a:pPr>
            <a:r>
              <a:rPr lang="en-US" sz="1350" b="1" dirty="0">
                <a:solidFill>
                  <a:srgbClr val="12132A"/>
                </a:solidFill>
                <a:latin typeface="Calibri" pitchFamily="34" charset="0"/>
                <a:ea typeface="Calibri" pitchFamily="34" charset="-122"/>
                <a:cs typeface="Calibri" pitchFamily="34" charset="-120"/>
              </a:rPr>
              <a:t>10 open jobs</a:t>
            </a:r>
            <a:endParaRPr lang="en-US" sz="1350" dirty="0"/>
          </a:p>
        </p:txBody>
      </p:sp>
      <p:sp>
        <p:nvSpPr>
          <p:cNvPr id="35" name="Text 33"/>
          <p:cNvSpPr/>
          <p:nvPr/>
        </p:nvSpPr>
        <p:spPr>
          <a:xfrm>
            <a:off x="6400800" y="4919472"/>
            <a:ext cx="2221992" cy="320040"/>
          </a:xfrm>
          <a:prstGeom prst="rect">
            <a:avLst/>
          </a:prstGeom>
          <a:noFill/>
          <a:ln/>
        </p:spPr>
        <p:txBody>
          <a:bodyPr wrap="square" lIns="0" tIns="0" rIns="0" bIns="0" rtlCol="0" anchor="ctr"/>
          <a:lstStyle/>
          <a:p>
            <a:pPr algn="l" indent="0" marL="0">
              <a:buNone/>
            </a:pPr>
            <a:r>
              <a:rPr lang="en-US" sz="1250" dirty="0">
                <a:solidFill>
                  <a:srgbClr val="4A5568"/>
                </a:solidFill>
                <a:latin typeface="Calibri" pitchFamily="34" charset="0"/>
                <a:ea typeface="Calibri" pitchFamily="34" charset="-122"/>
                <a:cs typeface="Calibri" pitchFamily="34" charset="-120"/>
              </a:rPr>
              <a:t>Unlimited seats</a:t>
            </a:r>
            <a:endParaRPr lang="en-US" sz="1250" dirty="0"/>
          </a:p>
        </p:txBody>
      </p:sp>
      <p:sp>
        <p:nvSpPr>
          <p:cNvPr id="36" name="Text 34"/>
          <p:cNvSpPr/>
          <p:nvPr/>
        </p:nvSpPr>
        <p:spPr>
          <a:xfrm>
            <a:off x="6400800" y="5230368"/>
            <a:ext cx="2221992" cy="320040"/>
          </a:xfrm>
          <a:prstGeom prst="rect">
            <a:avLst/>
          </a:prstGeom>
          <a:noFill/>
          <a:ln/>
        </p:spPr>
        <p:txBody>
          <a:bodyPr wrap="square" lIns="0" tIns="0" rIns="0" bIns="0" rtlCol="0" anchor="ctr"/>
          <a:lstStyle/>
          <a:p>
            <a:pPr algn="l" indent="0" marL="0">
              <a:buNone/>
            </a:pPr>
            <a:r>
              <a:rPr lang="en-US" sz="1100" i="1" dirty="0">
                <a:solidFill>
                  <a:srgbClr val="4A5568"/>
                </a:solidFill>
                <a:latin typeface="Calibri" pitchFamily="34" charset="0"/>
                <a:ea typeface="Calibri" pitchFamily="34" charset="-122"/>
                <a:cs typeface="Calibri" pitchFamily="34" charset="-120"/>
              </a:rPr>
              <a:t>14-day free trial of Scale</a:t>
            </a:r>
            <a:endParaRPr lang="en-US" sz="1100" dirty="0"/>
          </a:p>
        </p:txBody>
      </p:sp>
      <p:sp>
        <p:nvSpPr>
          <p:cNvPr id="37" name="Shape 35"/>
          <p:cNvSpPr/>
          <p:nvPr/>
        </p:nvSpPr>
        <p:spPr>
          <a:xfrm>
            <a:off x="8942832" y="2011680"/>
            <a:ext cx="2679192" cy="3657600"/>
          </a:xfrm>
          <a:prstGeom prst="roundRect">
            <a:avLst>
              <a:gd name="adj" fmla="val 4096"/>
            </a:avLst>
          </a:prstGeom>
          <a:solidFill>
            <a:srgbClr val="FFFFFF"/>
          </a:solidFill>
          <a:ln w="12700">
            <a:solidFill>
              <a:srgbClr val="DEDEE3"/>
            </a:solidFill>
            <a:prstDash val="solid"/>
          </a:ln>
          <a:effectLst>
            <a:outerShdw sx="100000" sy="100000" kx="0" ky="0" algn="bl" rotWithShape="0" blurRad="101600" dist="25400" dir="5400000">
              <a:srgbClr val="9AA0B5">
                <a:alpha val="18000"/>
              </a:srgbClr>
            </a:outerShdw>
          </a:effectLst>
        </p:spPr>
      </p:sp>
      <p:sp>
        <p:nvSpPr>
          <p:cNvPr id="38" name="Text 36"/>
          <p:cNvSpPr/>
          <p:nvPr/>
        </p:nvSpPr>
        <p:spPr>
          <a:xfrm>
            <a:off x="9198864" y="2267712"/>
            <a:ext cx="2221992" cy="411480"/>
          </a:xfrm>
          <a:prstGeom prst="rect">
            <a:avLst/>
          </a:prstGeom>
          <a:noFill/>
          <a:ln/>
        </p:spPr>
        <p:txBody>
          <a:bodyPr wrap="square" lIns="0" tIns="0" rIns="0" bIns="0" rtlCol="0" anchor="ctr"/>
          <a:lstStyle/>
          <a:p>
            <a:pPr algn="l" indent="0" marL="0">
              <a:buNone/>
            </a:pPr>
            <a:r>
              <a:rPr lang="en-US" sz="2000" b="1" dirty="0">
                <a:solidFill>
                  <a:srgbClr val="12132A"/>
                </a:solidFill>
                <a:latin typeface="Calibri" pitchFamily="34" charset="0"/>
                <a:ea typeface="Calibri" pitchFamily="34" charset="-122"/>
                <a:cs typeface="Calibri" pitchFamily="34" charset="-120"/>
              </a:rPr>
              <a:t>Enterprise</a:t>
            </a:r>
            <a:endParaRPr lang="en-US" sz="2000" dirty="0"/>
          </a:p>
        </p:txBody>
      </p:sp>
      <p:sp>
        <p:nvSpPr>
          <p:cNvPr id="39" name="Text 37"/>
          <p:cNvSpPr/>
          <p:nvPr/>
        </p:nvSpPr>
        <p:spPr>
          <a:xfrm>
            <a:off x="9198864" y="2670048"/>
            <a:ext cx="2221992" cy="274320"/>
          </a:xfrm>
          <a:prstGeom prst="rect">
            <a:avLst/>
          </a:prstGeom>
          <a:noFill/>
          <a:ln/>
        </p:spPr>
        <p:txBody>
          <a:bodyPr wrap="square" lIns="0" tIns="0" rIns="0" bIns="0" rtlCol="0" anchor="ctr"/>
          <a:lstStyle/>
          <a:p>
            <a:pPr algn="l" indent="0" marL="0">
              <a:buNone/>
            </a:pPr>
            <a:r>
              <a:rPr lang="en-US" sz="1150" dirty="0">
                <a:solidFill>
                  <a:srgbClr val="4A5568"/>
                </a:solidFill>
                <a:latin typeface="Calibri" pitchFamily="34" charset="0"/>
                <a:ea typeface="Calibri" pitchFamily="34" charset="-122"/>
                <a:cs typeface="Calibri" pitchFamily="34" charset="-120"/>
              </a:rPr>
              <a:t>Security &amp; scale</a:t>
            </a:r>
            <a:endParaRPr lang="en-US" sz="1150" dirty="0"/>
          </a:p>
        </p:txBody>
      </p:sp>
      <p:sp>
        <p:nvSpPr>
          <p:cNvPr id="40" name="Text 38"/>
          <p:cNvSpPr/>
          <p:nvPr/>
        </p:nvSpPr>
        <p:spPr>
          <a:xfrm>
            <a:off x="9198864" y="3108960"/>
            <a:ext cx="2221992" cy="548640"/>
          </a:xfrm>
          <a:prstGeom prst="rect">
            <a:avLst/>
          </a:prstGeom>
          <a:noFill/>
          <a:ln/>
        </p:spPr>
        <p:txBody>
          <a:bodyPr wrap="square" lIns="0" tIns="0" rIns="0" bIns="0" rtlCol="0" anchor="ctr"/>
          <a:lstStyle/>
          <a:p>
            <a:pPr algn="l" indent="0" marL="0">
              <a:buNone/>
            </a:pPr>
            <a:r>
              <a:rPr lang="en-US" sz="3000" b="1" dirty="0">
                <a:solidFill>
                  <a:srgbClr val="12132A"/>
                </a:solidFill>
                <a:latin typeface="Calibri" pitchFamily="34" charset="0"/>
                <a:ea typeface="Calibri" pitchFamily="34" charset="-122"/>
                <a:cs typeface="Calibri" pitchFamily="34" charset="-120"/>
              </a:rPr>
              <a:t>Let's talk</a:t>
            </a:r>
            <a:endParaRPr lang="en-US" sz="3000" dirty="0"/>
          </a:p>
        </p:txBody>
      </p:sp>
      <p:sp>
        <p:nvSpPr>
          <p:cNvPr id="41" name="Text 39"/>
          <p:cNvSpPr/>
          <p:nvPr/>
        </p:nvSpPr>
        <p:spPr>
          <a:xfrm>
            <a:off x="9198864" y="3675888"/>
            <a:ext cx="2221992" cy="274320"/>
          </a:xfrm>
          <a:prstGeom prst="rect">
            <a:avLst/>
          </a:prstGeom>
          <a:noFill/>
          <a:ln/>
        </p:spPr>
        <p:txBody>
          <a:bodyPr wrap="square" lIns="0" tIns="0" rIns="0" bIns="0" rtlCol="0" anchor="ctr"/>
          <a:lstStyle/>
          <a:p>
            <a:pPr algn="l" indent="0" marL="0">
              <a:buNone/>
            </a:pPr>
            <a:r>
              <a:rPr lang="en-US" sz="1150" dirty="0">
                <a:solidFill>
                  <a:srgbClr val="4A5568"/>
                </a:solidFill>
                <a:latin typeface="Calibri" pitchFamily="34" charset="0"/>
                <a:ea typeface="Calibri" pitchFamily="34" charset="-122"/>
                <a:cs typeface="Calibri" pitchFamily="34" charset="-120"/>
              </a:rPr>
              <a:t>Custom solution</a:t>
            </a:r>
            <a:endParaRPr lang="en-US" sz="1150" dirty="0"/>
          </a:p>
        </p:txBody>
      </p:sp>
      <p:sp>
        <p:nvSpPr>
          <p:cNvPr id="42" name="Text 40"/>
          <p:cNvSpPr/>
          <p:nvPr/>
        </p:nvSpPr>
        <p:spPr>
          <a:xfrm>
            <a:off x="9198864" y="3977640"/>
            <a:ext cx="2221992" cy="274320"/>
          </a:xfrm>
          <a:prstGeom prst="rect">
            <a:avLst/>
          </a:prstGeom>
          <a:noFill/>
          <a:ln/>
        </p:spPr>
        <p:txBody>
          <a:bodyPr wrap="square" lIns="0" tIns="0" rIns="0" bIns="0" rtlCol="0" anchor="ctr"/>
          <a:lstStyle/>
          <a:p>
            <a:pPr algn="l" indent="0" marL="0">
              <a:buNone/>
            </a:pPr>
            <a:r>
              <a:rPr lang="en-US" sz="1150" i="1" dirty="0">
                <a:solidFill>
                  <a:srgbClr val="4A5568"/>
                </a:solidFill>
                <a:latin typeface="Calibri" pitchFamily="34" charset="0"/>
                <a:ea typeface="Calibri" pitchFamily="34" charset="-122"/>
                <a:cs typeface="Calibri" pitchFamily="34" charset="-120"/>
              </a:rPr>
              <a:t>Tailored pricing</a:t>
            </a:r>
            <a:endParaRPr lang="en-US" sz="1150" dirty="0"/>
          </a:p>
        </p:txBody>
      </p:sp>
      <p:sp>
        <p:nvSpPr>
          <p:cNvPr id="43" name="Shape 41"/>
          <p:cNvSpPr/>
          <p:nvPr/>
        </p:nvSpPr>
        <p:spPr>
          <a:xfrm>
            <a:off x="9198864" y="4462272"/>
            <a:ext cx="2167128" cy="0"/>
          </a:xfrm>
          <a:prstGeom prst="line">
            <a:avLst/>
          </a:prstGeom>
          <a:noFill/>
          <a:ln w="12700">
            <a:solidFill>
              <a:srgbClr val="DEDEE3"/>
            </a:solidFill>
            <a:prstDash val="solid"/>
          </a:ln>
        </p:spPr>
      </p:sp>
      <p:sp>
        <p:nvSpPr>
          <p:cNvPr id="44" name="Text 42"/>
          <p:cNvSpPr/>
          <p:nvPr/>
        </p:nvSpPr>
        <p:spPr>
          <a:xfrm>
            <a:off x="9198864" y="4572000"/>
            <a:ext cx="2221992" cy="320040"/>
          </a:xfrm>
          <a:prstGeom prst="rect">
            <a:avLst/>
          </a:prstGeom>
          <a:noFill/>
          <a:ln/>
        </p:spPr>
        <p:txBody>
          <a:bodyPr wrap="square" lIns="0" tIns="0" rIns="0" bIns="0" rtlCol="0" anchor="ctr"/>
          <a:lstStyle/>
          <a:p>
            <a:pPr algn="l" indent="0" marL="0">
              <a:buNone/>
            </a:pPr>
            <a:r>
              <a:rPr lang="en-US" sz="1350" b="1" dirty="0">
                <a:solidFill>
                  <a:srgbClr val="12132A"/>
                </a:solidFill>
                <a:latin typeface="Calibri" pitchFamily="34" charset="0"/>
                <a:ea typeface="Calibri" pitchFamily="34" charset="-122"/>
                <a:cs typeface="Calibri" pitchFamily="34" charset="-120"/>
              </a:rPr>
              <a:t>Unlimited jobs</a:t>
            </a:r>
            <a:endParaRPr lang="en-US" sz="1350" dirty="0"/>
          </a:p>
        </p:txBody>
      </p:sp>
      <p:sp>
        <p:nvSpPr>
          <p:cNvPr id="45" name="Text 43"/>
          <p:cNvSpPr/>
          <p:nvPr/>
        </p:nvSpPr>
        <p:spPr>
          <a:xfrm>
            <a:off x="9198864" y="4919472"/>
            <a:ext cx="2221992" cy="320040"/>
          </a:xfrm>
          <a:prstGeom prst="rect">
            <a:avLst/>
          </a:prstGeom>
          <a:noFill/>
          <a:ln/>
        </p:spPr>
        <p:txBody>
          <a:bodyPr wrap="square" lIns="0" tIns="0" rIns="0" bIns="0" rtlCol="0" anchor="ctr"/>
          <a:lstStyle/>
          <a:p>
            <a:pPr algn="l" indent="0" marL="0">
              <a:buNone/>
            </a:pPr>
            <a:r>
              <a:rPr lang="en-US" sz="1250" dirty="0">
                <a:solidFill>
                  <a:srgbClr val="4A5568"/>
                </a:solidFill>
                <a:latin typeface="Calibri" pitchFamily="34" charset="0"/>
                <a:ea typeface="Calibri" pitchFamily="34" charset="-122"/>
                <a:cs typeface="Calibri" pitchFamily="34" charset="-120"/>
              </a:rPr>
              <a:t>Unlimited seats</a:t>
            </a:r>
            <a:endParaRPr lang="en-US" sz="1250" dirty="0"/>
          </a:p>
        </p:txBody>
      </p:sp>
      <p:sp>
        <p:nvSpPr>
          <p:cNvPr id="46" name="Text 44"/>
          <p:cNvSpPr/>
          <p:nvPr/>
        </p:nvSpPr>
        <p:spPr>
          <a:xfrm>
            <a:off x="9198864" y="5230368"/>
            <a:ext cx="2221992" cy="320040"/>
          </a:xfrm>
          <a:prstGeom prst="rect">
            <a:avLst/>
          </a:prstGeom>
          <a:noFill/>
          <a:ln/>
        </p:spPr>
        <p:txBody>
          <a:bodyPr wrap="square" lIns="0" tIns="0" rIns="0" bIns="0" rtlCol="0" anchor="ctr"/>
          <a:lstStyle/>
          <a:p>
            <a:pPr algn="l" indent="0" marL="0">
              <a:buNone/>
            </a:pPr>
            <a:r>
              <a:rPr lang="en-US" sz="1100" i="1" dirty="0">
                <a:solidFill>
                  <a:srgbClr val="4A5568"/>
                </a:solidFill>
                <a:latin typeface="Calibri" pitchFamily="34" charset="0"/>
                <a:ea typeface="Calibri" pitchFamily="34" charset="-122"/>
                <a:cs typeface="Calibri" pitchFamily="34" charset="-120"/>
              </a:rPr>
              <a:t>14-day free trial of Scale</a:t>
            </a:r>
            <a:endParaRPr lang="en-US" sz="1100" dirty="0"/>
          </a:p>
        </p:txBody>
      </p:sp>
      <p:sp>
        <p:nvSpPr>
          <p:cNvPr id="47" name="Text 45"/>
          <p:cNvSpPr/>
          <p:nvPr/>
        </p:nvSpPr>
        <p:spPr>
          <a:xfrm>
            <a:off x="548640" y="5943600"/>
            <a:ext cx="10515600" cy="274320"/>
          </a:xfrm>
          <a:prstGeom prst="rect">
            <a:avLst/>
          </a:prstGeom>
          <a:noFill/>
          <a:ln/>
        </p:spPr>
        <p:txBody>
          <a:bodyPr wrap="square" lIns="0" tIns="0" rIns="0" bIns="0" rtlCol="0" anchor="ctr"/>
          <a:lstStyle/>
          <a:p>
            <a:pPr algn="l" indent="0" marL="0">
              <a:buNone/>
            </a:pPr>
            <a:r>
              <a:rPr lang="en-US" sz="1100" i="1" dirty="0">
                <a:solidFill>
                  <a:srgbClr val="6B7280"/>
                </a:solidFill>
                <a:latin typeface="Calibri" pitchFamily="34" charset="0"/>
                <a:ea typeface="Calibri" pitchFamily="34" charset="-122"/>
                <a:cs typeface="Calibri" pitchFamily="34" charset="-120"/>
              </a:rPr>
              <a:t>Free trial applies to all new signups: 14 days of Scale, no card required.</a:t>
            </a:r>
            <a:endParaRPr lang="en-US" sz="1100" dirty="0"/>
          </a:p>
        </p:txBody>
      </p:sp>
      <p:sp>
        <p:nvSpPr>
          <p:cNvPr id="48" name="Text 46"/>
          <p:cNvSpPr/>
          <p:nvPr/>
        </p:nvSpPr>
        <p:spPr>
          <a:xfrm>
            <a:off x="548640" y="6455664"/>
            <a:ext cx="7315200" cy="274320"/>
          </a:xfrm>
          <a:prstGeom prst="rect">
            <a:avLst/>
          </a:prstGeom>
          <a:noFill/>
          <a:ln/>
        </p:spPr>
        <p:txBody>
          <a:bodyPr wrap="square" lIns="0" tIns="0" rIns="0" bIns="0" rtlCol="0" anchor="ctr"/>
          <a:lstStyle/>
          <a:p>
            <a:pPr algn="l" indent="0" marL="0">
              <a:buNone/>
            </a:pPr>
            <a:r>
              <a:rPr lang="en-US" sz="900" dirty="0">
                <a:solidFill>
                  <a:srgbClr val="6B7280"/>
                </a:solidFill>
                <a:latin typeface="Calibri" pitchFamily="34" charset="0"/>
                <a:ea typeface="Calibri" pitchFamily="34" charset="-122"/>
                <a:cs typeface="Calibri" pitchFamily="34" charset="-120"/>
              </a:rPr>
              <a:t>Aster  ·  Pricing model for CFO review</a:t>
            </a:r>
            <a:endParaRPr lang="en-US" sz="900" dirty="0"/>
          </a:p>
        </p:txBody>
      </p:sp>
      <p:sp>
        <p:nvSpPr>
          <p:cNvPr id="49" name="Text 47"/>
          <p:cNvSpPr/>
          <p:nvPr/>
        </p:nvSpPr>
        <p:spPr>
          <a:xfrm>
            <a:off x="11338560" y="6455664"/>
            <a:ext cx="36576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502920"/>
            <a:ext cx="8229600" cy="274320"/>
          </a:xfrm>
          <a:prstGeom prst="rect">
            <a:avLst/>
          </a:prstGeom>
          <a:noFill/>
          <a:ln/>
        </p:spPr>
        <p:txBody>
          <a:bodyPr wrap="square" lIns="0" tIns="0" rIns="0" bIns="0" rtlCol="0" anchor="ctr"/>
          <a:lstStyle/>
          <a:p>
            <a:pPr algn="l" indent="0" marL="0">
              <a:buNone/>
            </a:pPr>
            <a:r>
              <a:rPr lang="en-US" sz="1200" b="1" spc="200" kern="0" dirty="0">
                <a:solidFill>
                  <a:srgbClr val="0B2AE0"/>
                </a:solidFill>
                <a:latin typeface="Calibri" pitchFamily="34" charset="0"/>
                <a:ea typeface="Calibri" pitchFamily="34" charset="-122"/>
                <a:cs typeface="Calibri" pitchFamily="34" charset="-120"/>
              </a:rPr>
              <a:t>MONTHLY ALLOWANCES</a:t>
            </a:r>
            <a:endParaRPr lang="en-US" sz="1200" dirty="0"/>
          </a:p>
        </p:txBody>
      </p:sp>
      <p:sp>
        <p:nvSpPr>
          <p:cNvPr id="3" name="Text 1"/>
          <p:cNvSpPr/>
          <p:nvPr/>
        </p:nvSpPr>
        <p:spPr>
          <a:xfrm>
            <a:off x="548640" y="777240"/>
            <a:ext cx="11064240" cy="822960"/>
          </a:xfrm>
          <a:prstGeom prst="rect">
            <a:avLst/>
          </a:prstGeom>
          <a:noFill/>
          <a:ln/>
        </p:spPr>
        <p:txBody>
          <a:bodyPr wrap="square" lIns="0" tIns="0" rIns="0" bIns="0" rtlCol="0" anchor="ctr"/>
          <a:lstStyle/>
          <a:p>
            <a:pPr algn="l" indent="0" marL="0">
              <a:buNone/>
            </a:pPr>
            <a:r>
              <a:rPr lang="en-US" sz="3400" b="1" dirty="0">
                <a:solidFill>
                  <a:srgbClr val="12132A"/>
                </a:solidFill>
                <a:latin typeface="Calibri" pitchFamily="34" charset="0"/>
                <a:ea typeface="Calibri" pitchFamily="34" charset="-122"/>
                <a:cs typeface="Calibri" pitchFamily="34" charset="-120"/>
              </a:rPr>
              <a:t>What's included in each tier</a:t>
            </a:r>
            <a:endParaRPr lang="en-US" sz="34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11091672" cy="914400"/>
        </p:xfrm>
        <a:graphic>
          <a:graphicData uri="http://schemas.openxmlformats.org/drawingml/2006/table">
            <a:tbl>
              <a:tblPr/>
              <a:tblGrid>
                <a:gridCol w="3593592"/>
                <a:gridCol w="1874520"/>
                <a:gridCol w="1874520"/>
                <a:gridCol w="1874520"/>
                <a:gridCol w="1874520"/>
              </a:tblGrid>
              <a:tr h="365760">
                <a:tc>
                  <a:txBody>
                    <a:bodyPr/>
                    <a:lstStyle/>
                    <a:p>
                      <a:pPr algn="l" indent="0" marL="0">
                        <a:buNone/>
                      </a:pPr>
                      <a:endParaRPr lang="en-US" sz="13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Launch</a:t>
                      </a:r>
                      <a:endParaRPr lang="en-US" sz="13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0A1FC2"/>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Scale</a:t>
                      </a:r>
                      <a:endParaRPr lang="en-US" sz="13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0B2AE0"/>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Elite</a:t>
                      </a:r>
                      <a:endParaRPr lang="en-US" sz="13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0A1FC2"/>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Enterprise</a:t>
                      </a:r>
                      <a:endParaRPr lang="en-US" sz="13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0A1FC2"/>
                    </a:solidFill>
                  </a:tcPr>
                </a:tc>
              </a:tr>
              <a:tr h="365760">
                <a:tc>
                  <a:txBody>
                    <a:bodyPr/>
                    <a:lstStyle/>
                    <a:p>
                      <a:pPr algn="l" indent="0" marL="0">
                        <a:buNone/>
                      </a:pPr>
                      <a:r>
                        <a:rPr lang="en-US" sz="1150" b="1" dirty="0">
                          <a:solidFill>
                            <a:srgbClr val="12132A"/>
                          </a:solidFill>
                          <a:latin typeface="Calibri" pitchFamily="34" charset="0"/>
                          <a:ea typeface="Calibri" pitchFamily="34" charset="-122"/>
                          <a:cs typeface="Calibri" pitchFamily="34" charset="-120"/>
                        </a:rPr>
                        <a:t>Open jobs</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1</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5</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10</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Unlimited</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r>
              <a:tr h="365760">
                <a:tc>
                  <a:txBody>
                    <a:bodyPr/>
                    <a:lstStyle/>
                    <a:p>
                      <a:pPr algn="l" indent="0" marL="0">
                        <a:buNone/>
                      </a:pPr>
                      <a:r>
                        <a:rPr lang="en-US" sz="1150" b="1" dirty="0">
                          <a:solidFill>
                            <a:srgbClr val="12132A"/>
                          </a:solidFill>
                          <a:latin typeface="Calibri" pitchFamily="34" charset="0"/>
                          <a:ea typeface="Calibri" pitchFamily="34" charset="-122"/>
                          <a:cs typeface="Calibri" pitchFamily="34" charset="-120"/>
                        </a:rPr>
                        <a:t>Team seats</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Unlimited</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Unlimited</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Unlimited</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Unlimited</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r>
              <a:tr h="365760">
                <a:tc>
                  <a:txBody>
                    <a:bodyPr/>
                    <a:lstStyle/>
                    <a:p>
                      <a:pPr algn="l" indent="0" marL="0">
                        <a:buNone/>
                      </a:pPr>
                      <a:r>
                        <a:rPr lang="en-US" sz="1150" b="1" dirty="0">
                          <a:solidFill>
                            <a:srgbClr val="12132A"/>
                          </a:solidFill>
                          <a:latin typeface="Calibri" pitchFamily="34" charset="0"/>
                          <a:ea typeface="Calibri" pitchFamily="34" charset="-122"/>
                          <a:cs typeface="Calibri" pitchFamily="34" charset="-120"/>
                        </a:rPr>
                        <a:t>Applicant screening / mo</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100</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500</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1,000</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Unlimited</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r>
              <a:tr h="365760">
                <a:tc>
                  <a:txBody>
                    <a:bodyPr/>
                    <a:lstStyle/>
                    <a:p>
                      <a:pPr algn="l" indent="0" marL="0">
                        <a:buNone/>
                      </a:pPr>
                      <a:r>
                        <a:rPr lang="en-US" sz="1150" b="1" dirty="0">
                          <a:solidFill>
                            <a:srgbClr val="12132A"/>
                          </a:solidFill>
                          <a:latin typeface="Calibri" pitchFamily="34" charset="0"/>
                          <a:ea typeface="Calibri" pitchFamily="34" charset="-122"/>
                          <a:cs typeface="Calibri" pitchFamily="34" charset="-120"/>
                        </a:rPr>
                        <a:t>Bulk resume uploads / mo</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10</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50</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100</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Unlimited</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r>
              <a:tr h="365760">
                <a:tc>
                  <a:txBody>
                    <a:bodyPr/>
                    <a:lstStyle/>
                    <a:p>
                      <a:pPr algn="l" indent="0" marL="0">
                        <a:buNone/>
                      </a:pPr>
                      <a:r>
                        <a:rPr lang="en-US" sz="1150" b="1" dirty="0">
                          <a:solidFill>
                            <a:srgbClr val="12132A"/>
                          </a:solidFill>
                          <a:latin typeface="Calibri" pitchFamily="34" charset="0"/>
                          <a:ea typeface="Calibri" pitchFamily="34" charset="-122"/>
                          <a:cs typeface="Calibri" pitchFamily="34" charset="-120"/>
                        </a:rPr>
                        <a:t>AI Rank runs / mo</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5</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30</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100</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Unlimited</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r>
              <a:tr h="365760">
                <a:tc>
                  <a:txBody>
                    <a:bodyPr/>
                    <a:lstStyle/>
                    <a:p>
                      <a:pPr algn="l" indent="0" marL="0">
                        <a:buNone/>
                      </a:pPr>
                      <a:r>
                        <a:rPr lang="en-US" sz="1150" b="1" dirty="0">
                          <a:solidFill>
                            <a:srgbClr val="12132A"/>
                          </a:solidFill>
                          <a:latin typeface="Calibri" pitchFamily="34" charset="0"/>
                          <a:ea typeface="Calibri" pitchFamily="34" charset="-122"/>
                          <a:cs typeface="Calibri" pitchFamily="34" charset="-120"/>
                        </a:rPr>
                        <a:t>AI Insights / mo</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5</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100</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300</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Unlimited</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r>
              <a:tr h="365760">
                <a:tc>
                  <a:txBody>
                    <a:bodyPr/>
                    <a:lstStyle/>
                    <a:p>
                      <a:pPr algn="l" indent="0" marL="0">
                        <a:buNone/>
                      </a:pPr>
                      <a:r>
                        <a:rPr lang="en-US" sz="1150" b="1" dirty="0">
                          <a:solidFill>
                            <a:srgbClr val="12132A"/>
                          </a:solidFill>
                          <a:latin typeface="Calibri" pitchFamily="34" charset="0"/>
                          <a:ea typeface="Calibri" pitchFamily="34" charset="-122"/>
                          <a:cs typeface="Calibri" pitchFamily="34" charset="-120"/>
                        </a:rPr>
                        <a:t>Interview questions / mo</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5</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30</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100</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Unlimited</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r>
              <a:tr h="365760">
                <a:tc>
                  <a:txBody>
                    <a:bodyPr/>
                    <a:lstStyle/>
                    <a:p>
                      <a:pPr algn="l" indent="0" marL="0">
                        <a:buNone/>
                      </a:pPr>
                      <a:r>
                        <a:rPr lang="en-US" sz="1150" b="1" dirty="0">
                          <a:solidFill>
                            <a:srgbClr val="12132A"/>
                          </a:solidFill>
                          <a:latin typeface="Calibri" pitchFamily="34" charset="0"/>
                          <a:ea typeface="Calibri" pitchFamily="34" charset="-122"/>
                          <a:cs typeface="Calibri" pitchFamily="34" charset="-120"/>
                        </a:rPr>
                        <a:t>Job drafts</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Credits</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Credits</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Credits</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Credits</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r>
              <a:tr h="365760">
                <a:tc>
                  <a:txBody>
                    <a:bodyPr/>
                    <a:lstStyle/>
                    <a:p>
                      <a:pPr algn="l" indent="0" marL="0">
                        <a:buNone/>
                      </a:pPr>
                      <a:r>
                        <a:rPr lang="en-US" sz="1150" b="1" dirty="0">
                          <a:solidFill>
                            <a:srgbClr val="12132A"/>
                          </a:solidFill>
                          <a:latin typeface="Calibri" pitchFamily="34" charset="0"/>
                          <a:ea typeface="Calibri" pitchFamily="34" charset="-122"/>
                          <a:cs typeface="Calibri" pitchFamily="34" charset="-120"/>
                        </a:rPr>
                        <a:t>WhatsApp reminders</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B9BEC9"/>
                          </a:solidFill>
                          <a:latin typeface="Calibri" pitchFamily="34" charset="0"/>
                          <a:ea typeface="Calibri" pitchFamily="34" charset="-122"/>
                          <a:cs typeface="Calibri" pitchFamily="34" charset="-120"/>
                        </a:rPr>
                        <a:t>—</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B9BEC9"/>
                          </a:solidFill>
                          <a:latin typeface="Calibri" pitchFamily="34" charset="0"/>
                          <a:ea typeface="Calibri" pitchFamily="34" charset="-122"/>
                          <a:cs typeface="Calibri" pitchFamily="34" charset="-120"/>
                        </a:rPr>
                        <a:t>—</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Yes</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Yes</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r>
              <a:tr h="365760">
                <a:tc>
                  <a:txBody>
                    <a:bodyPr/>
                    <a:lstStyle/>
                    <a:p>
                      <a:pPr algn="l" indent="0" marL="0">
                        <a:buNone/>
                      </a:pPr>
                      <a:r>
                        <a:rPr lang="en-US" sz="1150" b="1" dirty="0">
                          <a:solidFill>
                            <a:srgbClr val="12132A"/>
                          </a:solidFill>
                          <a:latin typeface="Calibri" pitchFamily="34" charset="0"/>
                          <a:ea typeface="Calibri" pitchFamily="34" charset="-122"/>
                          <a:cs typeface="Calibri" pitchFamily="34" charset="-120"/>
                        </a:rPr>
                        <a:t>Self-scheduling calendar</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150" dirty="0">
                          <a:solidFill>
                            <a:srgbClr val="B9BEC9"/>
                          </a:solidFill>
                          <a:latin typeface="Calibri" pitchFamily="34" charset="0"/>
                          <a:ea typeface="Calibri" pitchFamily="34" charset="-122"/>
                          <a:cs typeface="Calibri" pitchFamily="34" charset="-120"/>
                        </a:rPr>
                        <a:t>—</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Yes</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Yes</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Yes</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r>
              <a:tr h="365760">
                <a:tc>
                  <a:txBody>
                    <a:bodyPr/>
                    <a:lstStyle/>
                    <a:p>
                      <a:pPr algn="l" indent="0" marL="0">
                        <a:buNone/>
                      </a:pPr>
                      <a:r>
                        <a:rPr lang="en-US" sz="1150" b="1" dirty="0">
                          <a:solidFill>
                            <a:srgbClr val="12132A"/>
                          </a:solidFill>
                          <a:latin typeface="Calibri" pitchFamily="34" charset="0"/>
                          <a:ea typeface="Calibri" pitchFamily="34" charset="-122"/>
                          <a:cs typeface="Calibri" pitchFamily="34" charset="-120"/>
                        </a:rPr>
                        <a:t>SSO · audit logs · white-label</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B9BEC9"/>
                          </a:solidFill>
                          <a:latin typeface="Calibri" pitchFamily="34" charset="0"/>
                          <a:ea typeface="Calibri" pitchFamily="34" charset="-122"/>
                          <a:cs typeface="Calibri" pitchFamily="34" charset="-120"/>
                        </a:rPr>
                        <a:t>—</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B9BEC9"/>
                          </a:solidFill>
                          <a:latin typeface="Calibri" pitchFamily="34" charset="0"/>
                          <a:ea typeface="Calibri" pitchFamily="34" charset="-122"/>
                          <a:cs typeface="Calibri" pitchFamily="34" charset="-120"/>
                        </a:rPr>
                        <a:t>—</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B9BEC9"/>
                          </a:solidFill>
                          <a:latin typeface="Calibri" pitchFamily="34" charset="0"/>
                          <a:ea typeface="Calibri" pitchFamily="34" charset="-122"/>
                          <a:cs typeface="Calibri" pitchFamily="34" charset="-120"/>
                        </a:rPr>
                        <a:t>—</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Yes</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r>
              <a:tr h="365760">
                <a:tc>
                  <a:txBody>
                    <a:bodyPr/>
                    <a:lstStyle/>
                    <a:p>
                      <a:pPr algn="l" indent="0" marL="0">
                        <a:buNone/>
                      </a:pPr>
                      <a:r>
                        <a:rPr lang="en-US" sz="1150" b="1" dirty="0">
                          <a:solidFill>
                            <a:srgbClr val="12132A"/>
                          </a:solidFill>
                          <a:latin typeface="Calibri" pitchFamily="34" charset="0"/>
                          <a:ea typeface="Calibri" pitchFamily="34" charset="-122"/>
                          <a:cs typeface="Calibri" pitchFamily="34" charset="-120"/>
                        </a:rPr>
                        <a:t>Support</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Ticket</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Ticket</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Priority</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Dedicated</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r>
            </a:tbl>
          </a:graphicData>
        </a:graphic>
      </p:graphicFrame>
      <p:sp>
        <p:nvSpPr>
          <p:cNvPr id="5" name="Text 2"/>
          <p:cNvSpPr/>
          <p:nvPr/>
        </p:nvSpPr>
        <p:spPr>
          <a:xfrm>
            <a:off x="548640" y="6400800"/>
            <a:ext cx="10972800" cy="274320"/>
          </a:xfrm>
          <a:prstGeom prst="rect">
            <a:avLst/>
          </a:prstGeom>
          <a:noFill/>
          <a:ln/>
        </p:spPr>
        <p:txBody>
          <a:bodyPr wrap="square" lIns="0" tIns="0" rIns="0" bIns="0" rtlCol="0" anchor="ctr"/>
          <a:lstStyle/>
          <a:p>
            <a:pPr algn="l" indent="0" marL="0">
              <a:buNone/>
            </a:pPr>
            <a:r>
              <a:rPr lang="en-US" sz="1000" i="1" dirty="0">
                <a:solidFill>
                  <a:srgbClr val="6B7280"/>
                </a:solidFill>
                <a:latin typeface="Calibri" pitchFamily="34" charset="0"/>
                <a:ea typeface="Calibri" pitchFamily="34" charset="-122"/>
                <a:cs typeface="Calibri" pitchFamily="34" charset="-120"/>
              </a:rPr>
              <a:t>Job drafts are sold only as credits on every tier, including Enterprise, so drafting is pure add-on revenue.</a:t>
            </a:r>
            <a:endParaRPr lang="en-US" sz="1000" dirty="0"/>
          </a:p>
        </p:txBody>
      </p:sp>
      <p:sp>
        <p:nvSpPr>
          <p:cNvPr id="6" name="Text 3"/>
          <p:cNvSpPr/>
          <p:nvPr/>
        </p:nvSpPr>
        <p:spPr>
          <a:xfrm>
            <a:off x="548640" y="6455664"/>
            <a:ext cx="7315200" cy="274320"/>
          </a:xfrm>
          <a:prstGeom prst="rect">
            <a:avLst/>
          </a:prstGeom>
          <a:noFill/>
          <a:ln/>
        </p:spPr>
        <p:txBody>
          <a:bodyPr wrap="square" lIns="0" tIns="0" rIns="0" bIns="0" rtlCol="0" anchor="ctr"/>
          <a:lstStyle/>
          <a:p>
            <a:pPr algn="l" indent="0" marL="0">
              <a:buNone/>
            </a:pPr>
            <a:r>
              <a:rPr lang="en-US" sz="900" dirty="0">
                <a:solidFill>
                  <a:srgbClr val="6B7280"/>
                </a:solidFill>
                <a:latin typeface="Calibri" pitchFamily="34" charset="0"/>
                <a:ea typeface="Calibri" pitchFamily="34" charset="-122"/>
                <a:cs typeface="Calibri" pitchFamily="34" charset="-120"/>
              </a:rPr>
              <a:t>Aster  ·  Pricing model for CFO review</a:t>
            </a:r>
            <a:endParaRPr lang="en-US" sz="900" dirty="0"/>
          </a:p>
        </p:txBody>
      </p:sp>
      <p:sp>
        <p:nvSpPr>
          <p:cNvPr id="7" name="Text 4"/>
          <p:cNvSpPr/>
          <p:nvPr/>
        </p:nvSpPr>
        <p:spPr>
          <a:xfrm>
            <a:off x="11338560" y="6455664"/>
            <a:ext cx="36576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502920"/>
            <a:ext cx="8229600" cy="274320"/>
          </a:xfrm>
          <a:prstGeom prst="rect">
            <a:avLst/>
          </a:prstGeom>
          <a:noFill/>
          <a:ln/>
        </p:spPr>
        <p:txBody>
          <a:bodyPr wrap="square" lIns="0" tIns="0" rIns="0" bIns="0" rtlCol="0" anchor="ctr"/>
          <a:lstStyle/>
          <a:p>
            <a:pPr algn="l" indent="0" marL="0">
              <a:buNone/>
            </a:pPr>
            <a:r>
              <a:rPr lang="en-US" sz="1200" b="1" spc="200" kern="0" dirty="0">
                <a:solidFill>
                  <a:srgbClr val="0B2AE0"/>
                </a:solidFill>
                <a:latin typeface="Calibri" pitchFamily="34" charset="0"/>
                <a:ea typeface="Calibri" pitchFamily="34" charset="-122"/>
                <a:cs typeface="Calibri" pitchFamily="34" charset="-120"/>
              </a:rPr>
              <a:t>WHY THE BUNDLE DRIVES UPGRADES</a:t>
            </a:r>
            <a:endParaRPr lang="en-US" sz="1200" dirty="0"/>
          </a:p>
        </p:txBody>
      </p:sp>
      <p:sp>
        <p:nvSpPr>
          <p:cNvPr id="3" name="Text 1"/>
          <p:cNvSpPr/>
          <p:nvPr/>
        </p:nvSpPr>
        <p:spPr>
          <a:xfrm>
            <a:off x="548640" y="777240"/>
            <a:ext cx="11064240" cy="822960"/>
          </a:xfrm>
          <a:prstGeom prst="rect">
            <a:avLst/>
          </a:prstGeom>
          <a:noFill/>
          <a:ln/>
        </p:spPr>
        <p:txBody>
          <a:bodyPr wrap="square" lIns="0" tIns="0" rIns="0" bIns="0" rtlCol="0" anchor="ctr"/>
          <a:lstStyle/>
          <a:p>
            <a:pPr algn="l" indent="0" marL="0">
              <a:buNone/>
            </a:pPr>
            <a:r>
              <a:rPr lang="en-US" sz="3400" b="1" dirty="0">
                <a:solidFill>
                  <a:srgbClr val="12132A"/>
                </a:solidFill>
                <a:latin typeface="Calibri" pitchFamily="34" charset="0"/>
                <a:ea typeface="Calibri" pitchFamily="34" charset="-122"/>
                <a:cs typeface="Calibri" pitchFamily="34" charset="-120"/>
              </a:rPr>
              <a:t>The included AI is worth 2–5× the plan price</a:t>
            </a:r>
            <a:endParaRPr lang="en-US" sz="3400" dirty="0"/>
          </a:p>
        </p:txBody>
      </p:sp>
      <p:sp>
        <p:nvSpPr>
          <p:cNvPr id="4" name="Text 2"/>
          <p:cNvSpPr/>
          <p:nvPr/>
        </p:nvSpPr>
        <p:spPr>
          <a:xfrm>
            <a:off x="548640" y="1554480"/>
            <a:ext cx="11064240" cy="640080"/>
          </a:xfrm>
          <a:prstGeom prst="rect">
            <a:avLst/>
          </a:prstGeom>
          <a:noFill/>
          <a:ln/>
        </p:spPr>
        <p:txBody>
          <a:bodyPr wrap="square" lIns="0" tIns="0" rIns="0" bIns="0" rtlCol="0" anchor="ctr"/>
          <a:lstStyle/>
          <a:p>
            <a:pPr algn="l" indent="0" marL="0">
              <a:buNone/>
            </a:pPr>
            <a:r>
              <a:rPr lang="en-US" sz="1400" dirty="0">
                <a:solidFill>
                  <a:srgbClr val="4A5568"/>
                </a:solidFill>
                <a:latin typeface="Calibri" pitchFamily="34" charset="0"/>
                <a:ea typeface="Calibri" pitchFamily="34" charset="-122"/>
                <a:cs typeface="Calibri" pitchFamily="34" charset="-120"/>
              </a:rPr>
              <a:t>Priced at list credit rates, each tier's monthly allowance is worth far more than the subscription. That gap is the upgrade story, and it is affordable because the underlying AI cost is a few cents per action (next slide).</a:t>
            </a:r>
            <a:endParaRPr lang="en-US" sz="1400" dirty="0"/>
          </a:p>
        </p:txBody>
      </p:sp>
      <p:sp>
        <p:nvSpPr>
          <p:cNvPr id="5" name="Shape 3"/>
          <p:cNvSpPr/>
          <p:nvPr/>
        </p:nvSpPr>
        <p:spPr>
          <a:xfrm>
            <a:off x="868680" y="2514600"/>
            <a:ext cx="3383280" cy="3017520"/>
          </a:xfrm>
          <a:prstGeom prst="roundRect">
            <a:avLst>
              <a:gd name="adj" fmla="val 3636"/>
            </a:avLst>
          </a:prstGeom>
          <a:solidFill>
            <a:srgbClr val="FFFFFF"/>
          </a:solidFill>
          <a:ln w="12700">
            <a:solidFill>
              <a:srgbClr val="DEDEE3"/>
            </a:solidFill>
            <a:prstDash val="solid"/>
          </a:ln>
          <a:effectLst>
            <a:outerShdw sx="100000" sy="100000" kx="0" ky="0" algn="bl" rotWithShape="0" blurRad="101600" dist="25400" dir="5400000">
              <a:srgbClr val="9AA0B5">
                <a:alpha val="18000"/>
              </a:srgbClr>
            </a:outerShdw>
          </a:effectLst>
        </p:spPr>
      </p:sp>
      <p:sp>
        <p:nvSpPr>
          <p:cNvPr id="6" name="Text 4"/>
          <p:cNvSpPr/>
          <p:nvPr/>
        </p:nvSpPr>
        <p:spPr>
          <a:xfrm>
            <a:off x="1143000" y="2770632"/>
            <a:ext cx="2834640" cy="365760"/>
          </a:xfrm>
          <a:prstGeom prst="rect">
            <a:avLst/>
          </a:prstGeom>
          <a:noFill/>
          <a:ln/>
        </p:spPr>
        <p:txBody>
          <a:bodyPr wrap="square" lIns="0" tIns="0" rIns="0" bIns="0" rtlCol="0" anchor="ctr"/>
          <a:lstStyle/>
          <a:p>
            <a:pPr algn="l" indent="0" marL="0">
              <a:buNone/>
            </a:pPr>
            <a:r>
              <a:rPr lang="en-US" sz="1800" b="1" dirty="0">
                <a:solidFill>
                  <a:srgbClr val="12132A"/>
                </a:solidFill>
                <a:latin typeface="Calibri" pitchFamily="34" charset="0"/>
                <a:ea typeface="Calibri" pitchFamily="34" charset="-122"/>
                <a:cs typeface="Calibri" pitchFamily="34" charset="-120"/>
              </a:rPr>
              <a:t>Launch</a:t>
            </a:r>
            <a:endParaRPr lang="en-US" sz="1800" dirty="0"/>
          </a:p>
        </p:txBody>
      </p:sp>
      <p:sp>
        <p:nvSpPr>
          <p:cNvPr id="7" name="Text 5"/>
          <p:cNvSpPr/>
          <p:nvPr/>
        </p:nvSpPr>
        <p:spPr>
          <a:xfrm>
            <a:off x="2880360" y="2715768"/>
            <a:ext cx="1097280" cy="457200"/>
          </a:xfrm>
          <a:prstGeom prst="rect">
            <a:avLst/>
          </a:prstGeom>
          <a:noFill/>
          <a:ln/>
        </p:spPr>
        <p:txBody>
          <a:bodyPr wrap="square" lIns="0" tIns="0" rIns="0" bIns="0" rtlCol="0" anchor="ctr"/>
          <a:lstStyle/>
          <a:p>
            <a:pPr algn="r" indent="0" marL="0">
              <a:buNone/>
            </a:pPr>
            <a:r>
              <a:rPr lang="en-US" sz="2400" b="1" dirty="0">
                <a:solidFill>
                  <a:srgbClr val="16A34A"/>
                </a:solidFill>
                <a:latin typeface="Calibri" pitchFamily="34" charset="0"/>
                <a:ea typeface="Calibri" pitchFamily="34" charset="-122"/>
                <a:cs typeface="Calibri" pitchFamily="34" charset="-120"/>
              </a:rPr>
              <a:t>2.4×</a:t>
            </a:r>
            <a:endParaRPr lang="en-US" sz="2400" dirty="0"/>
          </a:p>
        </p:txBody>
      </p:sp>
      <p:sp>
        <p:nvSpPr>
          <p:cNvPr id="8" name="Text 6"/>
          <p:cNvSpPr/>
          <p:nvPr/>
        </p:nvSpPr>
        <p:spPr>
          <a:xfrm>
            <a:off x="2697480" y="3172968"/>
            <a:ext cx="1280160" cy="274320"/>
          </a:xfrm>
          <a:prstGeom prst="rect">
            <a:avLst/>
          </a:prstGeom>
          <a:noFill/>
          <a:ln/>
        </p:spPr>
        <p:txBody>
          <a:bodyPr wrap="square" lIns="0" tIns="0" rIns="0" bIns="0"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value-to-price</a:t>
            </a:r>
            <a:endParaRPr lang="en-US" sz="1000" dirty="0"/>
          </a:p>
        </p:txBody>
      </p:sp>
      <p:sp>
        <p:nvSpPr>
          <p:cNvPr id="9" name="Text 7"/>
          <p:cNvSpPr/>
          <p:nvPr/>
        </p:nvSpPr>
        <p:spPr>
          <a:xfrm>
            <a:off x="1143000" y="3657600"/>
            <a:ext cx="2834640" cy="274320"/>
          </a:xfrm>
          <a:prstGeom prst="rect">
            <a:avLst/>
          </a:prstGeom>
          <a:noFill/>
          <a:ln/>
        </p:spPr>
        <p:txBody>
          <a:bodyPr wrap="square" lIns="0" tIns="0" rIns="0" bIns="0" rtlCol="0" anchor="ctr"/>
          <a:lstStyle/>
          <a:p>
            <a:pPr algn="l" indent="0" marL="0">
              <a:buNone/>
            </a:pPr>
            <a:r>
              <a:rPr lang="en-US" sz="1200" dirty="0">
                <a:solidFill>
                  <a:srgbClr val="4A5568"/>
                </a:solidFill>
                <a:latin typeface="Calibri" pitchFamily="34" charset="0"/>
                <a:ea typeface="Calibri" pitchFamily="34" charset="-122"/>
                <a:cs typeface="Calibri" pitchFamily="34" charset="-120"/>
              </a:rPr>
              <a:t>Included AI value / mo</a:t>
            </a:r>
            <a:endParaRPr lang="en-US" sz="1200" dirty="0"/>
          </a:p>
        </p:txBody>
      </p:sp>
      <p:sp>
        <p:nvSpPr>
          <p:cNvPr id="10" name="Text 8"/>
          <p:cNvSpPr/>
          <p:nvPr/>
        </p:nvSpPr>
        <p:spPr>
          <a:xfrm>
            <a:off x="1143000" y="3904488"/>
            <a:ext cx="2834640" cy="502920"/>
          </a:xfrm>
          <a:prstGeom prst="rect">
            <a:avLst/>
          </a:prstGeom>
          <a:noFill/>
          <a:ln/>
        </p:spPr>
        <p:txBody>
          <a:bodyPr wrap="square" lIns="0" tIns="0" rIns="0" bIns="0" rtlCol="0" anchor="ctr"/>
          <a:lstStyle/>
          <a:p>
            <a:pPr algn="l" indent="0" marL="0">
              <a:buNone/>
            </a:pPr>
            <a:r>
              <a:rPr lang="en-US" sz="2800" b="1" dirty="0">
                <a:solidFill>
                  <a:srgbClr val="0B2AE0"/>
                </a:solidFill>
                <a:latin typeface="Calibri" pitchFamily="34" charset="0"/>
                <a:ea typeface="Calibri" pitchFamily="34" charset="-122"/>
                <a:cs typeface="Calibri" pitchFamily="34" charset="-120"/>
              </a:rPr>
              <a:t>RM474</a:t>
            </a:r>
            <a:endParaRPr lang="en-US" sz="2800" dirty="0"/>
          </a:p>
        </p:txBody>
      </p:sp>
      <p:sp>
        <p:nvSpPr>
          <p:cNvPr id="11" name="Shape 9"/>
          <p:cNvSpPr/>
          <p:nvPr/>
        </p:nvSpPr>
        <p:spPr>
          <a:xfrm>
            <a:off x="1143000" y="4526280"/>
            <a:ext cx="2834640" cy="0"/>
          </a:xfrm>
          <a:prstGeom prst="line">
            <a:avLst/>
          </a:prstGeom>
          <a:noFill/>
          <a:ln w="12700">
            <a:solidFill>
              <a:srgbClr val="DEDEE3"/>
            </a:solidFill>
            <a:prstDash val="solid"/>
          </a:ln>
        </p:spPr>
      </p:sp>
      <p:sp>
        <p:nvSpPr>
          <p:cNvPr id="12" name="Text 10"/>
          <p:cNvSpPr/>
          <p:nvPr/>
        </p:nvSpPr>
        <p:spPr>
          <a:xfrm>
            <a:off x="1143000" y="4636008"/>
            <a:ext cx="2834640" cy="274320"/>
          </a:xfrm>
          <a:prstGeom prst="rect">
            <a:avLst/>
          </a:prstGeom>
          <a:noFill/>
          <a:ln/>
        </p:spPr>
        <p:txBody>
          <a:bodyPr wrap="square" lIns="0" tIns="0" rIns="0" bIns="0" rtlCol="0" anchor="ctr"/>
          <a:lstStyle/>
          <a:p>
            <a:pPr algn="l" indent="0" marL="0">
              <a:buNone/>
            </a:pPr>
            <a:r>
              <a:rPr lang="en-US" sz="1200" dirty="0">
                <a:solidFill>
                  <a:srgbClr val="4A5568"/>
                </a:solidFill>
                <a:latin typeface="Calibri" pitchFamily="34" charset="0"/>
                <a:ea typeface="Calibri" pitchFamily="34" charset="-122"/>
                <a:cs typeface="Calibri" pitchFamily="34" charset="-120"/>
              </a:rPr>
              <a:t>Plan price / mo</a:t>
            </a:r>
            <a:endParaRPr lang="en-US" sz="1200" dirty="0"/>
          </a:p>
        </p:txBody>
      </p:sp>
      <p:sp>
        <p:nvSpPr>
          <p:cNvPr id="13" name="Text 11"/>
          <p:cNvSpPr/>
          <p:nvPr/>
        </p:nvSpPr>
        <p:spPr>
          <a:xfrm>
            <a:off x="1143000" y="4873752"/>
            <a:ext cx="2834640" cy="457200"/>
          </a:xfrm>
          <a:prstGeom prst="rect">
            <a:avLst/>
          </a:prstGeom>
          <a:noFill/>
          <a:ln/>
        </p:spPr>
        <p:txBody>
          <a:bodyPr wrap="square" lIns="0" tIns="0" rIns="0" bIns="0" rtlCol="0" anchor="ctr"/>
          <a:lstStyle/>
          <a:p>
            <a:pPr algn="l" indent="0" marL="0">
              <a:buNone/>
            </a:pPr>
            <a:r>
              <a:rPr lang="en-US" sz="2400" b="1" dirty="0">
                <a:solidFill>
                  <a:srgbClr val="12132A"/>
                </a:solidFill>
                <a:latin typeface="Calibri" pitchFamily="34" charset="0"/>
                <a:ea typeface="Calibri" pitchFamily="34" charset="-122"/>
                <a:cs typeface="Calibri" pitchFamily="34" charset="-120"/>
              </a:rPr>
              <a:t>RM199</a:t>
            </a:r>
            <a:endParaRPr lang="en-US" sz="2400" dirty="0"/>
          </a:p>
        </p:txBody>
      </p:sp>
      <p:sp>
        <p:nvSpPr>
          <p:cNvPr id="14" name="Shape 12"/>
          <p:cNvSpPr/>
          <p:nvPr/>
        </p:nvSpPr>
        <p:spPr>
          <a:xfrm>
            <a:off x="4572000" y="2514600"/>
            <a:ext cx="3383280" cy="3017520"/>
          </a:xfrm>
          <a:prstGeom prst="roundRect">
            <a:avLst>
              <a:gd name="adj" fmla="val 3636"/>
            </a:avLst>
          </a:prstGeom>
          <a:solidFill>
            <a:srgbClr val="FFFFFF"/>
          </a:solidFill>
          <a:ln w="12700">
            <a:solidFill>
              <a:srgbClr val="DEDEE3"/>
            </a:solidFill>
            <a:prstDash val="solid"/>
          </a:ln>
          <a:effectLst>
            <a:outerShdw sx="100000" sy="100000" kx="0" ky="0" algn="bl" rotWithShape="0" blurRad="101600" dist="25400" dir="5400000">
              <a:srgbClr val="9AA0B5">
                <a:alpha val="18000"/>
              </a:srgbClr>
            </a:outerShdw>
          </a:effectLst>
        </p:spPr>
      </p:sp>
      <p:sp>
        <p:nvSpPr>
          <p:cNvPr id="15" name="Text 13"/>
          <p:cNvSpPr/>
          <p:nvPr/>
        </p:nvSpPr>
        <p:spPr>
          <a:xfrm>
            <a:off x="4846320" y="2770632"/>
            <a:ext cx="2834640" cy="365760"/>
          </a:xfrm>
          <a:prstGeom prst="rect">
            <a:avLst/>
          </a:prstGeom>
          <a:noFill/>
          <a:ln/>
        </p:spPr>
        <p:txBody>
          <a:bodyPr wrap="square" lIns="0" tIns="0" rIns="0" bIns="0" rtlCol="0" anchor="ctr"/>
          <a:lstStyle/>
          <a:p>
            <a:pPr algn="l" indent="0" marL="0">
              <a:buNone/>
            </a:pPr>
            <a:r>
              <a:rPr lang="en-US" sz="1800" b="1" dirty="0">
                <a:solidFill>
                  <a:srgbClr val="12132A"/>
                </a:solidFill>
                <a:latin typeface="Calibri" pitchFamily="34" charset="0"/>
                <a:ea typeface="Calibri" pitchFamily="34" charset="-122"/>
                <a:cs typeface="Calibri" pitchFamily="34" charset="-120"/>
              </a:rPr>
              <a:t>Scale</a:t>
            </a:r>
            <a:endParaRPr lang="en-US" sz="1800" dirty="0"/>
          </a:p>
        </p:txBody>
      </p:sp>
      <p:sp>
        <p:nvSpPr>
          <p:cNvPr id="16" name="Text 14"/>
          <p:cNvSpPr/>
          <p:nvPr/>
        </p:nvSpPr>
        <p:spPr>
          <a:xfrm>
            <a:off x="6583680" y="2715768"/>
            <a:ext cx="1097280" cy="457200"/>
          </a:xfrm>
          <a:prstGeom prst="rect">
            <a:avLst/>
          </a:prstGeom>
          <a:noFill/>
          <a:ln/>
        </p:spPr>
        <p:txBody>
          <a:bodyPr wrap="square" lIns="0" tIns="0" rIns="0" bIns="0" rtlCol="0" anchor="ctr"/>
          <a:lstStyle/>
          <a:p>
            <a:pPr algn="r" indent="0" marL="0">
              <a:buNone/>
            </a:pPr>
            <a:r>
              <a:rPr lang="en-US" sz="2400" b="1" dirty="0">
                <a:solidFill>
                  <a:srgbClr val="16A34A"/>
                </a:solidFill>
                <a:latin typeface="Calibri" pitchFamily="34" charset="0"/>
                <a:ea typeface="Calibri" pitchFamily="34" charset="-122"/>
                <a:cs typeface="Calibri" pitchFamily="34" charset="-120"/>
              </a:rPr>
              <a:t>3.1×</a:t>
            </a:r>
            <a:endParaRPr lang="en-US" sz="2400" dirty="0"/>
          </a:p>
        </p:txBody>
      </p:sp>
      <p:sp>
        <p:nvSpPr>
          <p:cNvPr id="17" name="Text 15"/>
          <p:cNvSpPr/>
          <p:nvPr/>
        </p:nvSpPr>
        <p:spPr>
          <a:xfrm>
            <a:off x="6400800" y="3172968"/>
            <a:ext cx="1280160" cy="274320"/>
          </a:xfrm>
          <a:prstGeom prst="rect">
            <a:avLst/>
          </a:prstGeom>
          <a:noFill/>
          <a:ln/>
        </p:spPr>
        <p:txBody>
          <a:bodyPr wrap="square" lIns="0" tIns="0" rIns="0" bIns="0"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value-to-price</a:t>
            </a:r>
            <a:endParaRPr lang="en-US" sz="1000" dirty="0"/>
          </a:p>
        </p:txBody>
      </p:sp>
      <p:sp>
        <p:nvSpPr>
          <p:cNvPr id="18" name="Text 16"/>
          <p:cNvSpPr/>
          <p:nvPr/>
        </p:nvSpPr>
        <p:spPr>
          <a:xfrm>
            <a:off x="4846320" y="3657600"/>
            <a:ext cx="2834640" cy="274320"/>
          </a:xfrm>
          <a:prstGeom prst="rect">
            <a:avLst/>
          </a:prstGeom>
          <a:noFill/>
          <a:ln/>
        </p:spPr>
        <p:txBody>
          <a:bodyPr wrap="square" lIns="0" tIns="0" rIns="0" bIns="0" rtlCol="0" anchor="ctr"/>
          <a:lstStyle/>
          <a:p>
            <a:pPr algn="l" indent="0" marL="0">
              <a:buNone/>
            </a:pPr>
            <a:r>
              <a:rPr lang="en-US" sz="1200" dirty="0">
                <a:solidFill>
                  <a:srgbClr val="4A5568"/>
                </a:solidFill>
                <a:latin typeface="Calibri" pitchFamily="34" charset="0"/>
                <a:ea typeface="Calibri" pitchFamily="34" charset="-122"/>
                <a:cs typeface="Calibri" pitchFamily="34" charset="-120"/>
              </a:rPr>
              <a:t>Included AI value / mo</a:t>
            </a:r>
            <a:endParaRPr lang="en-US" sz="1200" dirty="0"/>
          </a:p>
        </p:txBody>
      </p:sp>
      <p:sp>
        <p:nvSpPr>
          <p:cNvPr id="19" name="Text 17"/>
          <p:cNvSpPr/>
          <p:nvPr/>
        </p:nvSpPr>
        <p:spPr>
          <a:xfrm>
            <a:off x="4846320" y="3904488"/>
            <a:ext cx="2834640" cy="502920"/>
          </a:xfrm>
          <a:prstGeom prst="rect">
            <a:avLst/>
          </a:prstGeom>
          <a:noFill/>
          <a:ln/>
        </p:spPr>
        <p:txBody>
          <a:bodyPr wrap="square" lIns="0" tIns="0" rIns="0" bIns="0" rtlCol="0" anchor="ctr"/>
          <a:lstStyle/>
          <a:p>
            <a:pPr algn="l" indent="0" marL="0">
              <a:buNone/>
            </a:pPr>
            <a:r>
              <a:rPr lang="en-US" sz="2800" b="1" dirty="0">
                <a:solidFill>
                  <a:srgbClr val="0B2AE0"/>
                </a:solidFill>
                <a:latin typeface="Calibri" pitchFamily="34" charset="0"/>
                <a:ea typeface="Calibri" pitchFamily="34" charset="-122"/>
                <a:cs typeface="Calibri" pitchFamily="34" charset="-120"/>
              </a:rPr>
              <a:t>RM2,511</a:t>
            </a:r>
            <a:endParaRPr lang="en-US" sz="2800" dirty="0"/>
          </a:p>
        </p:txBody>
      </p:sp>
      <p:sp>
        <p:nvSpPr>
          <p:cNvPr id="20" name="Shape 18"/>
          <p:cNvSpPr/>
          <p:nvPr/>
        </p:nvSpPr>
        <p:spPr>
          <a:xfrm>
            <a:off x="4846320" y="4526280"/>
            <a:ext cx="2834640" cy="0"/>
          </a:xfrm>
          <a:prstGeom prst="line">
            <a:avLst/>
          </a:prstGeom>
          <a:noFill/>
          <a:ln w="12700">
            <a:solidFill>
              <a:srgbClr val="DEDEE3"/>
            </a:solidFill>
            <a:prstDash val="solid"/>
          </a:ln>
        </p:spPr>
      </p:sp>
      <p:sp>
        <p:nvSpPr>
          <p:cNvPr id="21" name="Text 19"/>
          <p:cNvSpPr/>
          <p:nvPr/>
        </p:nvSpPr>
        <p:spPr>
          <a:xfrm>
            <a:off x="4846320" y="4636008"/>
            <a:ext cx="2834640" cy="274320"/>
          </a:xfrm>
          <a:prstGeom prst="rect">
            <a:avLst/>
          </a:prstGeom>
          <a:noFill/>
          <a:ln/>
        </p:spPr>
        <p:txBody>
          <a:bodyPr wrap="square" lIns="0" tIns="0" rIns="0" bIns="0" rtlCol="0" anchor="ctr"/>
          <a:lstStyle/>
          <a:p>
            <a:pPr algn="l" indent="0" marL="0">
              <a:buNone/>
            </a:pPr>
            <a:r>
              <a:rPr lang="en-US" sz="1200" dirty="0">
                <a:solidFill>
                  <a:srgbClr val="4A5568"/>
                </a:solidFill>
                <a:latin typeface="Calibri" pitchFamily="34" charset="0"/>
                <a:ea typeface="Calibri" pitchFamily="34" charset="-122"/>
                <a:cs typeface="Calibri" pitchFamily="34" charset="-120"/>
              </a:rPr>
              <a:t>Plan price / mo</a:t>
            </a:r>
            <a:endParaRPr lang="en-US" sz="1200" dirty="0"/>
          </a:p>
        </p:txBody>
      </p:sp>
      <p:sp>
        <p:nvSpPr>
          <p:cNvPr id="22" name="Text 20"/>
          <p:cNvSpPr/>
          <p:nvPr/>
        </p:nvSpPr>
        <p:spPr>
          <a:xfrm>
            <a:off x="4846320" y="4873752"/>
            <a:ext cx="2834640" cy="457200"/>
          </a:xfrm>
          <a:prstGeom prst="rect">
            <a:avLst/>
          </a:prstGeom>
          <a:noFill/>
          <a:ln/>
        </p:spPr>
        <p:txBody>
          <a:bodyPr wrap="square" lIns="0" tIns="0" rIns="0" bIns="0" rtlCol="0" anchor="ctr"/>
          <a:lstStyle/>
          <a:p>
            <a:pPr algn="l" indent="0" marL="0">
              <a:buNone/>
            </a:pPr>
            <a:r>
              <a:rPr lang="en-US" sz="2400" b="1" dirty="0">
                <a:solidFill>
                  <a:srgbClr val="12132A"/>
                </a:solidFill>
                <a:latin typeface="Calibri" pitchFamily="34" charset="0"/>
                <a:ea typeface="Calibri" pitchFamily="34" charset="-122"/>
                <a:cs typeface="Calibri" pitchFamily="34" charset="-120"/>
              </a:rPr>
              <a:t>RM799</a:t>
            </a:r>
            <a:endParaRPr lang="en-US" sz="2400" dirty="0"/>
          </a:p>
        </p:txBody>
      </p:sp>
      <p:sp>
        <p:nvSpPr>
          <p:cNvPr id="23" name="Shape 21"/>
          <p:cNvSpPr/>
          <p:nvPr/>
        </p:nvSpPr>
        <p:spPr>
          <a:xfrm>
            <a:off x="8275320" y="2514600"/>
            <a:ext cx="3383280" cy="3017520"/>
          </a:xfrm>
          <a:prstGeom prst="roundRect">
            <a:avLst>
              <a:gd name="adj" fmla="val 3636"/>
            </a:avLst>
          </a:prstGeom>
          <a:solidFill>
            <a:srgbClr val="FFFFFF"/>
          </a:solidFill>
          <a:ln w="12700">
            <a:solidFill>
              <a:srgbClr val="DEDEE3"/>
            </a:solidFill>
            <a:prstDash val="solid"/>
          </a:ln>
          <a:effectLst>
            <a:outerShdw sx="100000" sy="100000" kx="0" ky="0" algn="bl" rotWithShape="0" blurRad="101600" dist="25400" dir="5400000">
              <a:srgbClr val="9AA0B5">
                <a:alpha val="18000"/>
              </a:srgbClr>
            </a:outerShdw>
          </a:effectLst>
        </p:spPr>
      </p:sp>
      <p:sp>
        <p:nvSpPr>
          <p:cNvPr id="24" name="Text 22"/>
          <p:cNvSpPr/>
          <p:nvPr/>
        </p:nvSpPr>
        <p:spPr>
          <a:xfrm>
            <a:off x="8549640" y="2770632"/>
            <a:ext cx="2834640" cy="365760"/>
          </a:xfrm>
          <a:prstGeom prst="rect">
            <a:avLst/>
          </a:prstGeom>
          <a:noFill/>
          <a:ln/>
        </p:spPr>
        <p:txBody>
          <a:bodyPr wrap="square" lIns="0" tIns="0" rIns="0" bIns="0" rtlCol="0" anchor="ctr"/>
          <a:lstStyle/>
          <a:p>
            <a:pPr algn="l" indent="0" marL="0">
              <a:buNone/>
            </a:pPr>
            <a:r>
              <a:rPr lang="en-US" sz="1800" b="1" dirty="0">
                <a:solidFill>
                  <a:srgbClr val="12132A"/>
                </a:solidFill>
                <a:latin typeface="Calibri" pitchFamily="34" charset="0"/>
                <a:ea typeface="Calibri" pitchFamily="34" charset="-122"/>
                <a:cs typeface="Calibri" pitchFamily="34" charset="-120"/>
              </a:rPr>
              <a:t>Elite</a:t>
            </a:r>
            <a:endParaRPr lang="en-US" sz="1800" dirty="0"/>
          </a:p>
        </p:txBody>
      </p:sp>
      <p:sp>
        <p:nvSpPr>
          <p:cNvPr id="25" name="Text 23"/>
          <p:cNvSpPr/>
          <p:nvPr/>
        </p:nvSpPr>
        <p:spPr>
          <a:xfrm>
            <a:off x="10287000" y="2715768"/>
            <a:ext cx="1097280" cy="457200"/>
          </a:xfrm>
          <a:prstGeom prst="rect">
            <a:avLst/>
          </a:prstGeom>
          <a:noFill/>
          <a:ln/>
        </p:spPr>
        <p:txBody>
          <a:bodyPr wrap="square" lIns="0" tIns="0" rIns="0" bIns="0" rtlCol="0" anchor="ctr"/>
          <a:lstStyle/>
          <a:p>
            <a:pPr algn="r" indent="0" marL="0">
              <a:buNone/>
            </a:pPr>
            <a:r>
              <a:rPr lang="en-US" sz="2400" b="1" dirty="0">
                <a:solidFill>
                  <a:srgbClr val="16A34A"/>
                </a:solidFill>
                <a:latin typeface="Calibri" pitchFamily="34" charset="0"/>
                <a:ea typeface="Calibri" pitchFamily="34" charset="-122"/>
                <a:cs typeface="Calibri" pitchFamily="34" charset="-120"/>
              </a:rPr>
              <a:t>5.3×</a:t>
            </a:r>
            <a:endParaRPr lang="en-US" sz="2400" dirty="0"/>
          </a:p>
        </p:txBody>
      </p:sp>
      <p:sp>
        <p:nvSpPr>
          <p:cNvPr id="26" name="Text 24"/>
          <p:cNvSpPr/>
          <p:nvPr/>
        </p:nvSpPr>
        <p:spPr>
          <a:xfrm>
            <a:off x="10104120" y="3172968"/>
            <a:ext cx="1280160" cy="274320"/>
          </a:xfrm>
          <a:prstGeom prst="rect">
            <a:avLst/>
          </a:prstGeom>
          <a:noFill/>
          <a:ln/>
        </p:spPr>
        <p:txBody>
          <a:bodyPr wrap="square" lIns="0" tIns="0" rIns="0" bIns="0"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value-to-price</a:t>
            </a:r>
            <a:endParaRPr lang="en-US" sz="1000" dirty="0"/>
          </a:p>
        </p:txBody>
      </p:sp>
      <p:sp>
        <p:nvSpPr>
          <p:cNvPr id="27" name="Text 25"/>
          <p:cNvSpPr/>
          <p:nvPr/>
        </p:nvSpPr>
        <p:spPr>
          <a:xfrm>
            <a:off x="8549640" y="3657600"/>
            <a:ext cx="2834640" cy="274320"/>
          </a:xfrm>
          <a:prstGeom prst="rect">
            <a:avLst/>
          </a:prstGeom>
          <a:noFill/>
          <a:ln/>
        </p:spPr>
        <p:txBody>
          <a:bodyPr wrap="square" lIns="0" tIns="0" rIns="0" bIns="0" rtlCol="0" anchor="ctr"/>
          <a:lstStyle/>
          <a:p>
            <a:pPr algn="l" indent="0" marL="0">
              <a:buNone/>
            </a:pPr>
            <a:r>
              <a:rPr lang="en-US" sz="1200" dirty="0">
                <a:solidFill>
                  <a:srgbClr val="4A5568"/>
                </a:solidFill>
                <a:latin typeface="Calibri" pitchFamily="34" charset="0"/>
                <a:ea typeface="Calibri" pitchFamily="34" charset="-122"/>
                <a:cs typeface="Calibri" pitchFamily="34" charset="-120"/>
              </a:rPr>
              <a:t>Included AI value / mo</a:t>
            </a:r>
            <a:endParaRPr lang="en-US" sz="1200" dirty="0"/>
          </a:p>
        </p:txBody>
      </p:sp>
      <p:sp>
        <p:nvSpPr>
          <p:cNvPr id="28" name="Text 26"/>
          <p:cNvSpPr/>
          <p:nvPr/>
        </p:nvSpPr>
        <p:spPr>
          <a:xfrm>
            <a:off x="8549640" y="3904488"/>
            <a:ext cx="2834640" cy="502920"/>
          </a:xfrm>
          <a:prstGeom prst="rect">
            <a:avLst/>
          </a:prstGeom>
          <a:noFill/>
          <a:ln/>
        </p:spPr>
        <p:txBody>
          <a:bodyPr wrap="square" lIns="0" tIns="0" rIns="0" bIns="0" rtlCol="0" anchor="ctr"/>
          <a:lstStyle/>
          <a:p>
            <a:pPr algn="l" indent="0" marL="0">
              <a:buNone/>
            </a:pPr>
            <a:r>
              <a:rPr lang="en-US" sz="2800" b="1" dirty="0">
                <a:solidFill>
                  <a:srgbClr val="0B2AE0"/>
                </a:solidFill>
                <a:latin typeface="Calibri" pitchFamily="34" charset="0"/>
                <a:ea typeface="Calibri" pitchFamily="34" charset="-122"/>
                <a:cs typeface="Calibri" pitchFamily="34" charset="-120"/>
              </a:rPr>
              <a:t>RM5,317</a:t>
            </a:r>
            <a:endParaRPr lang="en-US" sz="2800" dirty="0"/>
          </a:p>
        </p:txBody>
      </p:sp>
      <p:sp>
        <p:nvSpPr>
          <p:cNvPr id="29" name="Shape 27"/>
          <p:cNvSpPr/>
          <p:nvPr/>
        </p:nvSpPr>
        <p:spPr>
          <a:xfrm>
            <a:off x="8549640" y="4526280"/>
            <a:ext cx="2834640" cy="0"/>
          </a:xfrm>
          <a:prstGeom prst="line">
            <a:avLst/>
          </a:prstGeom>
          <a:noFill/>
          <a:ln w="12700">
            <a:solidFill>
              <a:srgbClr val="DEDEE3"/>
            </a:solidFill>
            <a:prstDash val="solid"/>
          </a:ln>
        </p:spPr>
      </p:sp>
      <p:sp>
        <p:nvSpPr>
          <p:cNvPr id="30" name="Text 28"/>
          <p:cNvSpPr/>
          <p:nvPr/>
        </p:nvSpPr>
        <p:spPr>
          <a:xfrm>
            <a:off x="8549640" y="4636008"/>
            <a:ext cx="2834640" cy="274320"/>
          </a:xfrm>
          <a:prstGeom prst="rect">
            <a:avLst/>
          </a:prstGeom>
          <a:noFill/>
          <a:ln/>
        </p:spPr>
        <p:txBody>
          <a:bodyPr wrap="square" lIns="0" tIns="0" rIns="0" bIns="0" rtlCol="0" anchor="ctr"/>
          <a:lstStyle/>
          <a:p>
            <a:pPr algn="l" indent="0" marL="0">
              <a:buNone/>
            </a:pPr>
            <a:r>
              <a:rPr lang="en-US" sz="1200" dirty="0">
                <a:solidFill>
                  <a:srgbClr val="4A5568"/>
                </a:solidFill>
                <a:latin typeface="Calibri" pitchFamily="34" charset="0"/>
                <a:ea typeface="Calibri" pitchFamily="34" charset="-122"/>
                <a:cs typeface="Calibri" pitchFamily="34" charset="-120"/>
              </a:rPr>
              <a:t>Plan price / mo</a:t>
            </a:r>
            <a:endParaRPr lang="en-US" sz="1200" dirty="0"/>
          </a:p>
        </p:txBody>
      </p:sp>
      <p:sp>
        <p:nvSpPr>
          <p:cNvPr id="31" name="Text 29"/>
          <p:cNvSpPr/>
          <p:nvPr/>
        </p:nvSpPr>
        <p:spPr>
          <a:xfrm>
            <a:off x="8549640" y="4873752"/>
            <a:ext cx="2834640" cy="457200"/>
          </a:xfrm>
          <a:prstGeom prst="rect">
            <a:avLst/>
          </a:prstGeom>
          <a:noFill/>
          <a:ln/>
        </p:spPr>
        <p:txBody>
          <a:bodyPr wrap="square" lIns="0" tIns="0" rIns="0" bIns="0" rtlCol="0" anchor="ctr"/>
          <a:lstStyle/>
          <a:p>
            <a:pPr algn="l" indent="0" marL="0">
              <a:buNone/>
            </a:pPr>
            <a:r>
              <a:rPr lang="en-US" sz="2400" b="1" dirty="0">
                <a:solidFill>
                  <a:srgbClr val="12132A"/>
                </a:solidFill>
                <a:latin typeface="Calibri" pitchFamily="34" charset="0"/>
                <a:ea typeface="Calibri" pitchFamily="34" charset="-122"/>
                <a:cs typeface="Calibri" pitchFamily="34" charset="-120"/>
              </a:rPr>
              <a:t>RM999</a:t>
            </a:r>
            <a:endParaRPr lang="en-US" sz="2400" dirty="0"/>
          </a:p>
        </p:txBody>
      </p:sp>
      <p:sp>
        <p:nvSpPr>
          <p:cNvPr id="32" name="Text 30"/>
          <p:cNvSpPr/>
          <p:nvPr/>
        </p:nvSpPr>
        <p:spPr>
          <a:xfrm>
            <a:off x="548640" y="5806440"/>
            <a:ext cx="10972800" cy="274320"/>
          </a:xfrm>
          <a:prstGeom prst="rect">
            <a:avLst/>
          </a:prstGeom>
          <a:noFill/>
          <a:ln/>
        </p:spPr>
        <p:txBody>
          <a:bodyPr wrap="square" lIns="0" tIns="0" rIns="0" bIns="0" rtlCol="0" anchor="ctr"/>
          <a:lstStyle/>
          <a:p>
            <a:pPr algn="l" indent="0" marL="0">
              <a:buNone/>
            </a:pPr>
            <a:r>
              <a:rPr lang="en-US" sz="1050" i="1" dirty="0">
                <a:solidFill>
                  <a:srgbClr val="6B7280"/>
                </a:solidFill>
                <a:latin typeface="Calibri" pitchFamily="34" charset="0"/>
                <a:ea typeface="Calibri" pitchFamily="34" charset="-122"/>
                <a:cs typeface="Calibri" pitchFamily="34" charset="-120"/>
              </a:rPr>
              <a:t>Included value = monthly allowance priced at list credit rates (RM4.09 screening · RM1.64 AI Rank / Insight / Questions).</a:t>
            </a:r>
            <a:endParaRPr lang="en-US" sz="1050" dirty="0"/>
          </a:p>
        </p:txBody>
      </p:sp>
      <p:sp>
        <p:nvSpPr>
          <p:cNvPr id="33" name="Text 31"/>
          <p:cNvSpPr/>
          <p:nvPr/>
        </p:nvSpPr>
        <p:spPr>
          <a:xfrm>
            <a:off x="548640" y="6455664"/>
            <a:ext cx="7315200" cy="274320"/>
          </a:xfrm>
          <a:prstGeom prst="rect">
            <a:avLst/>
          </a:prstGeom>
          <a:noFill/>
          <a:ln/>
        </p:spPr>
        <p:txBody>
          <a:bodyPr wrap="square" lIns="0" tIns="0" rIns="0" bIns="0" rtlCol="0" anchor="ctr"/>
          <a:lstStyle/>
          <a:p>
            <a:pPr algn="l" indent="0" marL="0">
              <a:buNone/>
            </a:pPr>
            <a:r>
              <a:rPr lang="en-US" sz="900" dirty="0">
                <a:solidFill>
                  <a:srgbClr val="6B7280"/>
                </a:solidFill>
                <a:latin typeface="Calibri" pitchFamily="34" charset="0"/>
                <a:ea typeface="Calibri" pitchFamily="34" charset="-122"/>
                <a:cs typeface="Calibri" pitchFamily="34" charset="-120"/>
              </a:rPr>
              <a:t>Aster  ·  Pricing model for CFO review</a:t>
            </a:r>
            <a:endParaRPr lang="en-US" sz="900" dirty="0"/>
          </a:p>
        </p:txBody>
      </p:sp>
      <p:sp>
        <p:nvSpPr>
          <p:cNvPr id="34" name="Text 32"/>
          <p:cNvSpPr/>
          <p:nvPr/>
        </p:nvSpPr>
        <p:spPr>
          <a:xfrm>
            <a:off x="11338560" y="6455664"/>
            <a:ext cx="36576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502920"/>
            <a:ext cx="8229600" cy="274320"/>
          </a:xfrm>
          <a:prstGeom prst="rect">
            <a:avLst/>
          </a:prstGeom>
          <a:noFill/>
          <a:ln/>
        </p:spPr>
        <p:txBody>
          <a:bodyPr wrap="square" lIns="0" tIns="0" rIns="0" bIns="0" rtlCol="0" anchor="ctr"/>
          <a:lstStyle/>
          <a:p>
            <a:pPr algn="l" indent="0" marL="0">
              <a:buNone/>
            </a:pPr>
            <a:r>
              <a:rPr lang="en-US" sz="1200" b="1" spc="200" kern="0" dirty="0">
                <a:solidFill>
                  <a:srgbClr val="0B2AE0"/>
                </a:solidFill>
                <a:latin typeface="Calibri" pitchFamily="34" charset="0"/>
                <a:ea typeface="Calibri" pitchFamily="34" charset="-122"/>
                <a:cs typeface="Calibri" pitchFamily="34" charset="-120"/>
              </a:rPr>
              <a:t>USAGE-BASED REVENUE</a:t>
            </a:r>
            <a:endParaRPr lang="en-US" sz="1200" dirty="0"/>
          </a:p>
        </p:txBody>
      </p:sp>
      <p:sp>
        <p:nvSpPr>
          <p:cNvPr id="3" name="Text 1"/>
          <p:cNvSpPr/>
          <p:nvPr/>
        </p:nvSpPr>
        <p:spPr>
          <a:xfrm>
            <a:off x="548640" y="777240"/>
            <a:ext cx="11064240" cy="822960"/>
          </a:xfrm>
          <a:prstGeom prst="rect">
            <a:avLst/>
          </a:prstGeom>
          <a:noFill/>
          <a:ln/>
        </p:spPr>
        <p:txBody>
          <a:bodyPr wrap="square" lIns="0" tIns="0" rIns="0" bIns="0" rtlCol="0" anchor="ctr"/>
          <a:lstStyle/>
          <a:p>
            <a:pPr algn="l" indent="0" marL="0">
              <a:buNone/>
            </a:pPr>
            <a:r>
              <a:rPr lang="en-US" sz="3400" b="1" dirty="0">
                <a:solidFill>
                  <a:srgbClr val="12132A"/>
                </a:solidFill>
                <a:latin typeface="Calibri" pitchFamily="34" charset="0"/>
                <a:ea typeface="Calibri" pitchFamily="34" charset="-122"/>
                <a:cs typeface="Calibri" pitchFamily="34" charset="-120"/>
              </a:rPr>
              <a:t>Credit top-up pricing</a:t>
            </a:r>
            <a:endParaRPr lang="en-US" sz="34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737360"/>
          <a:ext cx="5760720" cy="914400"/>
        </p:xfrm>
        <a:graphic>
          <a:graphicData uri="http://schemas.openxmlformats.org/drawingml/2006/table">
            <a:tbl>
              <a:tblPr/>
              <a:tblGrid>
                <a:gridCol w="3749040"/>
                <a:gridCol w="2011680"/>
              </a:tblGrid>
              <a:tr h="475488">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Credit</a:t>
                      </a:r>
                      <a:endParaRPr lang="en-US" sz="130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0A1FC2"/>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List price (MYR)</a:t>
                      </a:r>
                      <a:endParaRPr lang="en-US" sz="130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0A1FC2"/>
                    </a:solidFill>
                  </a:tcPr>
                </a:tc>
              </a:tr>
              <a:tr h="475488">
                <a:tc>
                  <a:txBody>
                    <a:bodyPr/>
                    <a:lstStyle/>
                    <a:p>
                      <a:pPr algn="l" indent="0" marL="0">
                        <a:buNone/>
                      </a:pPr>
                      <a:r>
                        <a:rPr lang="en-US" sz="1300" dirty="0">
                          <a:solidFill>
                            <a:srgbClr val="12132A"/>
                          </a:solidFill>
                          <a:latin typeface="Calibri" pitchFamily="34" charset="0"/>
                          <a:ea typeface="Calibri" pitchFamily="34" charset="-122"/>
                          <a:cs typeface="Calibri" pitchFamily="34" charset="-120"/>
                        </a:rPr>
                        <a:t>Applicant / resume screening</a:t>
                      </a:r>
                      <a:endParaRPr lang="en-US" sz="130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r" indent="0" marL="0">
                        <a:buNone/>
                      </a:pPr>
                      <a:r>
                        <a:rPr lang="en-US" sz="1300" b="1" dirty="0">
                          <a:solidFill>
                            <a:srgbClr val="0B2AE0"/>
                          </a:solidFill>
                          <a:latin typeface="Calibri" pitchFamily="34" charset="0"/>
                          <a:ea typeface="Calibri" pitchFamily="34" charset="-122"/>
                          <a:cs typeface="Calibri" pitchFamily="34" charset="-120"/>
                        </a:rPr>
                        <a:t>RM4.09</a:t>
                      </a:r>
                      <a:endParaRPr lang="en-US" sz="130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r>
              <a:tr h="475488">
                <a:tc>
                  <a:txBody>
                    <a:bodyPr/>
                    <a:lstStyle/>
                    <a:p>
                      <a:pPr algn="l" indent="0" marL="0">
                        <a:buNone/>
                      </a:pPr>
                      <a:r>
                        <a:rPr lang="en-US" sz="1300" dirty="0">
                          <a:solidFill>
                            <a:srgbClr val="12132A"/>
                          </a:solidFill>
                          <a:latin typeface="Calibri" pitchFamily="34" charset="0"/>
                          <a:ea typeface="Calibri" pitchFamily="34" charset="-122"/>
                          <a:cs typeface="Calibri" pitchFamily="34" charset="-120"/>
                        </a:rPr>
                        <a:t>AI Rank</a:t>
                      </a:r>
                      <a:endParaRPr lang="en-US" sz="130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r" indent="0" marL="0">
                        <a:buNone/>
                      </a:pPr>
                      <a:r>
                        <a:rPr lang="en-US" sz="1300" b="1" dirty="0">
                          <a:solidFill>
                            <a:srgbClr val="0B2AE0"/>
                          </a:solidFill>
                          <a:latin typeface="Calibri" pitchFamily="34" charset="0"/>
                          <a:ea typeface="Calibri" pitchFamily="34" charset="-122"/>
                          <a:cs typeface="Calibri" pitchFamily="34" charset="-120"/>
                        </a:rPr>
                        <a:t>RM1.64</a:t>
                      </a:r>
                      <a:endParaRPr lang="en-US" sz="130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r>
              <a:tr h="475488">
                <a:tc>
                  <a:txBody>
                    <a:bodyPr/>
                    <a:lstStyle/>
                    <a:p>
                      <a:pPr algn="l" indent="0" marL="0">
                        <a:buNone/>
                      </a:pPr>
                      <a:r>
                        <a:rPr lang="en-US" sz="1300" dirty="0">
                          <a:solidFill>
                            <a:srgbClr val="12132A"/>
                          </a:solidFill>
                          <a:latin typeface="Calibri" pitchFamily="34" charset="0"/>
                          <a:ea typeface="Calibri" pitchFamily="34" charset="-122"/>
                          <a:cs typeface="Calibri" pitchFamily="34" charset="-120"/>
                        </a:rPr>
                        <a:t>AI Insight</a:t>
                      </a:r>
                      <a:endParaRPr lang="en-US" sz="130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r" indent="0" marL="0">
                        <a:buNone/>
                      </a:pPr>
                      <a:r>
                        <a:rPr lang="en-US" sz="1300" b="1" dirty="0">
                          <a:solidFill>
                            <a:srgbClr val="0B2AE0"/>
                          </a:solidFill>
                          <a:latin typeface="Calibri" pitchFamily="34" charset="0"/>
                          <a:ea typeface="Calibri" pitchFamily="34" charset="-122"/>
                          <a:cs typeface="Calibri" pitchFamily="34" charset="-120"/>
                        </a:rPr>
                        <a:t>RM1.64</a:t>
                      </a:r>
                      <a:endParaRPr lang="en-US" sz="130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r>
              <a:tr h="475488">
                <a:tc>
                  <a:txBody>
                    <a:bodyPr/>
                    <a:lstStyle/>
                    <a:p>
                      <a:pPr algn="l" indent="0" marL="0">
                        <a:buNone/>
                      </a:pPr>
                      <a:r>
                        <a:rPr lang="en-US" sz="1300" dirty="0">
                          <a:solidFill>
                            <a:srgbClr val="12132A"/>
                          </a:solidFill>
                          <a:latin typeface="Calibri" pitchFamily="34" charset="0"/>
                          <a:ea typeface="Calibri" pitchFamily="34" charset="-122"/>
                          <a:cs typeface="Calibri" pitchFamily="34" charset="-120"/>
                        </a:rPr>
                        <a:t>Interview questions</a:t>
                      </a:r>
                      <a:endParaRPr lang="en-US" sz="130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r" indent="0" marL="0">
                        <a:buNone/>
                      </a:pPr>
                      <a:r>
                        <a:rPr lang="en-US" sz="1300" b="1" dirty="0">
                          <a:solidFill>
                            <a:srgbClr val="0B2AE0"/>
                          </a:solidFill>
                          <a:latin typeface="Calibri" pitchFamily="34" charset="0"/>
                          <a:ea typeface="Calibri" pitchFamily="34" charset="-122"/>
                          <a:cs typeface="Calibri" pitchFamily="34" charset="-120"/>
                        </a:rPr>
                        <a:t>RM1.64</a:t>
                      </a:r>
                      <a:endParaRPr lang="en-US" sz="130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r>
              <a:tr h="475488">
                <a:tc>
                  <a:txBody>
                    <a:bodyPr/>
                    <a:lstStyle/>
                    <a:p>
                      <a:pPr algn="l" indent="0" marL="0">
                        <a:buNone/>
                      </a:pPr>
                      <a:r>
                        <a:rPr lang="en-US" sz="1300" dirty="0">
                          <a:solidFill>
                            <a:srgbClr val="12132A"/>
                          </a:solidFill>
                          <a:latin typeface="Calibri" pitchFamily="34" charset="0"/>
                          <a:ea typeface="Calibri" pitchFamily="34" charset="-122"/>
                          <a:cs typeface="Calibri" pitchFamily="34" charset="-120"/>
                        </a:rPr>
                        <a:t>Job draft (Opus)</a:t>
                      </a:r>
                      <a:endParaRPr lang="en-US" sz="130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r" indent="0" marL="0">
                        <a:buNone/>
                      </a:pPr>
                      <a:r>
                        <a:rPr lang="en-US" sz="1300" b="1" dirty="0">
                          <a:solidFill>
                            <a:srgbClr val="0B2AE0"/>
                          </a:solidFill>
                          <a:latin typeface="Calibri" pitchFamily="34" charset="0"/>
                          <a:ea typeface="Calibri" pitchFamily="34" charset="-122"/>
                          <a:cs typeface="Calibri" pitchFamily="34" charset="-120"/>
                        </a:rPr>
                        <a:t>RM2.05</a:t>
                      </a:r>
                      <a:endParaRPr lang="en-US" sz="130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r>
            </a:tbl>
          </a:graphicData>
        </a:graphic>
      </p:graphicFrame>
      <p:sp>
        <p:nvSpPr>
          <p:cNvPr id="5" name="Text 2"/>
          <p:cNvSpPr/>
          <p:nvPr/>
        </p:nvSpPr>
        <p:spPr>
          <a:xfrm>
            <a:off x="548640" y="4800600"/>
            <a:ext cx="5760720" cy="274320"/>
          </a:xfrm>
          <a:prstGeom prst="rect">
            <a:avLst/>
          </a:prstGeom>
          <a:noFill/>
          <a:ln/>
        </p:spPr>
        <p:txBody>
          <a:bodyPr wrap="square" lIns="0" tIns="0" rIns="0" bIns="0" rtlCol="0" anchor="ctr"/>
          <a:lstStyle/>
          <a:p>
            <a:pPr algn="l" indent="0" marL="0">
              <a:buNone/>
            </a:pPr>
            <a:r>
              <a:rPr lang="en-US" sz="1200" b="1" dirty="0">
                <a:solidFill>
                  <a:srgbClr val="12132A"/>
                </a:solidFill>
                <a:latin typeface="Calibri" pitchFamily="34" charset="0"/>
                <a:ea typeface="Calibri" pitchFamily="34" charset="-122"/>
                <a:cs typeface="Calibri" pitchFamily="34" charset="-120"/>
              </a:rPr>
              <a:t>Formula (computed server-side, never trusted from the client):</a:t>
            </a:r>
            <a:endParaRPr lang="en-US" sz="1200" dirty="0"/>
          </a:p>
        </p:txBody>
      </p:sp>
      <p:sp>
        <p:nvSpPr>
          <p:cNvPr id="6" name="Shape 3"/>
          <p:cNvSpPr/>
          <p:nvPr/>
        </p:nvSpPr>
        <p:spPr>
          <a:xfrm>
            <a:off x="548640" y="5120640"/>
            <a:ext cx="5760720" cy="685800"/>
          </a:xfrm>
          <a:prstGeom prst="roundRect">
            <a:avLst>
              <a:gd name="adj" fmla="val 13333"/>
            </a:avLst>
          </a:prstGeom>
          <a:solidFill>
            <a:srgbClr val="EAEEFE"/>
          </a:solidFill>
          <a:ln w="12700">
            <a:solidFill>
              <a:srgbClr val="D7DEFB"/>
            </a:solidFill>
            <a:prstDash val="solid"/>
          </a:ln>
        </p:spPr>
      </p:sp>
      <p:sp>
        <p:nvSpPr>
          <p:cNvPr id="7" name="Text 4"/>
          <p:cNvSpPr/>
          <p:nvPr/>
        </p:nvSpPr>
        <p:spPr>
          <a:xfrm>
            <a:off x="640080" y="5120640"/>
            <a:ext cx="5577840" cy="685800"/>
          </a:xfrm>
          <a:prstGeom prst="rect">
            <a:avLst/>
          </a:prstGeom>
          <a:noFill/>
          <a:ln/>
        </p:spPr>
        <p:txBody>
          <a:bodyPr wrap="square" lIns="0" tIns="0" rIns="0" bIns="0" rtlCol="0" anchor="ctr"/>
          <a:lstStyle/>
          <a:p>
            <a:pPr algn="ctr" indent="0" marL="0">
              <a:buNone/>
            </a:pPr>
            <a:r>
              <a:rPr lang="en-US" sz="1400" b="1" dirty="0">
                <a:solidFill>
                  <a:srgbClr val="0B2AE0"/>
                </a:solidFill>
                <a:latin typeface="Calibri" pitchFamily="34" charset="0"/>
                <a:ea typeface="Calibri" pitchFamily="34" charset="-122"/>
                <a:cs typeface="Calibri" pitchFamily="34" charset="-120"/>
              </a:rPr>
              <a:t>price  =  base USD  ×  FX rate  ×  (1 − plan discount)</a:t>
            </a:r>
            <a:endParaRPr lang="en-US" sz="1400" dirty="0"/>
          </a:p>
        </p:txBody>
      </p:sp>
      <p:sp>
        <p:nvSpPr>
          <p:cNvPr id="8" name="Shape 5"/>
          <p:cNvSpPr/>
          <p:nvPr/>
        </p:nvSpPr>
        <p:spPr>
          <a:xfrm>
            <a:off x="6583680" y="1737360"/>
            <a:ext cx="5056632" cy="1920240"/>
          </a:xfrm>
          <a:prstGeom prst="roundRect">
            <a:avLst>
              <a:gd name="adj" fmla="val 5714"/>
            </a:avLst>
          </a:prstGeom>
          <a:solidFill>
            <a:srgbClr val="EAEEFE"/>
          </a:solidFill>
          <a:ln w="12700">
            <a:solidFill>
              <a:srgbClr val="D7DEFB"/>
            </a:solidFill>
            <a:prstDash val="solid"/>
          </a:ln>
          <a:effectLst>
            <a:outerShdw sx="100000" sy="100000" kx="0" ky="0" algn="bl" rotWithShape="0" blurRad="101600" dist="25400" dir="5400000">
              <a:srgbClr val="9AA0B5">
                <a:alpha val="18000"/>
              </a:srgbClr>
            </a:outerShdw>
          </a:effectLst>
        </p:spPr>
      </p:sp>
      <p:sp>
        <p:nvSpPr>
          <p:cNvPr id="9" name="Text 6"/>
          <p:cNvSpPr/>
          <p:nvPr/>
        </p:nvSpPr>
        <p:spPr>
          <a:xfrm>
            <a:off x="6858000" y="1920240"/>
            <a:ext cx="4572000" cy="320040"/>
          </a:xfrm>
          <a:prstGeom prst="rect">
            <a:avLst/>
          </a:prstGeom>
          <a:noFill/>
          <a:ln/>
        </p:spPr>
        <p:txBody>
          <a:bodyPr wrap="square" lIns="0" tIns="0" rIns="0" bIns="0" rtlCol="0" anchor="ctr"/>
          <a:lstStyle/>
          <a:p>
            <a:pPr algn="l" indent="0" marL="0">
              <a:buNone/>
            </a:pPr>
            <a:r>
              <a:rPr lang="en-US" sz="1500" b="1" dirty="0">
                <a:solidFill>
                  <a:srgbClr val="12132A"/>
                </a:solidFill>
                <a:latin typeface="Calibri" pitchFamily="34" charset="0"/>
                <a:ea typeface="Calibri" pitchFamily="34" charset="-122"/>
                <a:cs typeface="Calibri" pitchFamily="34" charset="-120"/>
              </a:rPr>
              <a:t>Plan discount on credits</a:t>
            </a:r>
            <a:endParaRPr lang="en-US" sz="1500" dirty="0"/>
          </a:p>
        </p:txBody>
      </p:sp>
      <p:sp>
        <p:nvSpPr>
          <p:cNvPr id="10" name="Text 7"/>
          <p:cNvSpPr/>
          <p:nvPr/>
        </p:nvSpPr>
        <p:spPr>
          <a:xfrm>
            <a:off x="6858000" y="2331720"/>
            <a:ext cx="3200400" cy="320040"/>
          </a:xfrm>
          <a:prstGeom prst="rect">
            <a:avLst/>
          </a:prstGeom>
          <a:noFill/>
          <a:ln/>
        </p:spPr>
        <p:txBody>
          <a:bodyPr wrap="square" lIns="0" tIns="0" rIns="0" bIns="0" rtlCol="0" anchor="ctr"/>
          <a:lstStyle/>
          <a:p>
            <a:pPr algn="l" indent="0" marL="0">
              <a:buNone/>
            </a:pPr>
            <a:r>
              <a:rPr lang="en-US" sz="1300" dirty="0">
                <a:solidFill>
                  <a:srgbClr val="4A5568"/>
                </a:solidFill>
                <a:latin typeface="Calibri" pitchFamily="34" charset="0"/>
                <a:ea typeface="Calibri" pitchFamily="34" charset="-122"/>
                <a:cs typeface="Calibri" pitchFamily="34" charset="-120"/>
              </a:rPr>
              <a:t>Launch</a:t>
            </a:r>
            <a:endParaRPr lang="en-US" sz="1300" dirty="0"/>
          </a:p>
        </p:txBody>
      </p:sp>
      <p:sp>
        <p:nvSpPr>
          <p:cNvPr id="11" name="Text 8"/>
          <p:cNvSpPr/>
          <p:nvPr/>
        </p:nvSpPr>
        <p:spPr>
          <a:xfrm>
            <a:off x="10058400" y="2331720"/>
            <a:ext cx="1371600" cy="320040"/>
          </a:xfrm>
          <a:prstGeom prst="rect">
            <a:avLst/>
          </a:prstGeom>
          <a:noFill/>
          <a:ln/>
        </p:spPr>
        <p:txBody>
          <a:bodyPr wrap="square" lIns="0" tIns="0" rIns="0" bIns="0" rtlCol="0" anchor="ctr"/>
          <a:lstStyle/>
          <a:p>
            <a:pPr algn="r" indent="0" marL="0">
              <a:buNone/>
            </a:pPr>
            <a:r>
              <a:rPr lang="en-US" sz="1400" b="1" dirty="0">
                <a:solidFill>
                  <a:srgbClr val="0B2AE0"/>
                </a:solidFill>
                <a:latin typeface="Calibri" pitchFamily="34" charset="0"/>
                <a:ea typeface="Calibri" pitchFamily="34" charset="-122"/>
                <a:cs typeface="Calibri" pitchFamily="34" charset="-120"/>
              </a:rPr>
              <a:t>0%</a:t>
            </a:r>
            <a:endParaRPr lang="en-US" sz="1400" dirty="0"/>
          </a:p>
        </p:txBody>
      </p:sp>
      <p:sp>
        <p:nvSpPr>
          <p:cNvPr id="12" name="Text 9"/>
          <p:cNvSpPr/>
          <p:nvPr/>
        </p:nvSpPr>
        <p:spPr>
          <a:xfrm>
            <a:off x="6858000" y="2715768"/>
            <a:ext cx="3200400" cy="320040"/>
          </a:xfrm>
          <a:prstGeom prst="rect">
            <a:avLst/>
          </a:prstGeom>
          <a:noFill/>
          <a:ln/>
        </p:spPr>
        <p:txBody>
          <a:bodyPr wrap="square" lIns="0" tIns="0" rIns="0" bIns="0" rtlCol="0" anchor="ctr"/>
          <a:lstStyle/>
          <a:p>
            <a:pPr algn="l" indent="0" marL="0">
              <a:buNone/>
            </a:pPr>
            <a:r>
              <a:rPr lang="en-US" sz="1300" dirty="0">
                <a:solidFill>
                  <a:srgbClr val="4A5568"/>
                </a:solidFill>
                <a:latin typeface="Calibri" pitchFamily="34" charset="0"/>
                <a:ea typeface="Calibri" pitchFamily="34" charset="-122"/>
                <a:cs typeface="Calibri" pitchFamily="34" charset="-120"/>
              </a:rPr>
              <a:t>Scale</a:t>
            </a:r>
            <a:endParaRPr lang="en-US" sz="1300" dirty="0"/>
          </a:p>
        </p:txBody>
      </p:sp>
      <p:sp>
        <p:nvSpPr>
          <p:cNvPr id="13" name="Text 10"/>
          <p:cNvSpPr/>
          <p:nvPr/>
        </p:nvSpPr>
        <p:spPr>
          <a:xfrm>
            <a:off x="10058400" y="2715768"/>
            <a:ext cx="1371600" cy="320040"/>
          </a:xfrm>
          <a:prstGeom prst="rect">
            <a:avLst/>
          </a:prstGeom>
          <a:noFill/>
          <a:ln/>
        </p:spPr>
        <p:txBody>
          <a:bodyPr wrap="square" lIns="0" tIns="0" rIns="0" bIns="0" rtlCol="0" anchor="ctr"/>
          <a:lstStyle/>
          <a:p>
            <a:pPr algn="r" indent="0" marL="0">
              <a:buNone/>
            </a:pPr>
            <a:r>
              <a:rPr lang="en-US" sz="1400" b="1" dirty="0">
                <a:solidFill>
                  <a:srgbClr val="0B2AE0"/>
                </a:solidFill>
                <a:latin typeface="Calibri" pitchFamily="34" charset="0"/>
                <a:ea typeface="Calibri" pitchFamily="34" charset="-122"/>
                <a:cs typeface="Calibri" pitchFamily="34" charset="-120"/>
              </a:rPr>
              <a:t>10%</a:t>
            </a:r>
            <a:endParaRPr lang="en-US" sz="1400" dirty="0"/>
          </a:p>
        </p:txBody>
      </p:sp>
      <p:sp>
        <p:nvSpPr>
          <p:cNvPr id="14" name="Text 11"/>
          <p:cNvSpPr/>
          <p:nvPr/>
        </p:nvSpPr>
        <p:spPr>
          <a:xfrm>
            <a:off x="6858000" y="3099816"/>
            <a:ext cx="3200400" cy="320040"/>
          </a:xfrm>
          <a:prstGeom prst="rect">
            <a:avLst/>
          </a:prstGeom>
          <a:noFill/>
          <a:ln/>
        </p:spPr>
        <p:txBody>
          <a:bodyPr wrap="square" lIns="0" tIns="0" rIns="0" bIns="0" rtlCol="0" anchor="ctr"/>
          <a:lstStyle/>
          <a:p>
            <a:pPr algn="l" indent="0" marL="0">
              <a:buNone/>
            </a:pPr>
            <a:r>
              <a:rPr lang="en-US" sz="1300" dirty="0">
                <a:solidFill>
                  <a:srgbClr val="4A5568"/>
                </a:solidFill>
                <a:latin typeface="Calibri" pitchFamily="34" charset="0"/>
                <a:ea typeface="Calibri" pitchFamily="34" charset="-122"/>
                <a:cs typeface="Calibri" pitchFamily="34" charset="-120"/>
              </a:rPr>
              <a:t>Elite / Enterprise</a:t>
            </a:r>
            <a:endParaRPr lang="en-US" sz="1300" dirty="0"/>
          </a:p>
        </p:txBody>
      </p:sp>
      <p:sp>
        <p:nvSpPr>
          <p:cNvPr id="15" name="Text 12"/>
          <p:cNvSpPr/>
          <p:nvPr/>
        </p:nvSpPr>
        <p:spPr>
          <a:xfrm>
            <a:off x="10058400" y="3099816"/>
            <a:ext cx="1371600" cy="320040"/>
          </a:xfrm>
          <a:prstGeom prst="rect">
            <a:avLst/>
          </a:prstGeom>
          <a:noFill/>
          <a:ln/>
        </p:spPr>
        <p:txBody>
          <a:bodyPr wrap="square" lIns="0" tIns="0" rIns="0" bIns="0" rtlCol="0" anchor="ctr"/>
          <a:lstStyle/>
          <a:p>
            <a:pPr algn="r" indent="0" marL="0">
              <a:buNone/>
            </a:pPr>
            <a:r>
              <a:rPr lang="en-US" sz="1400" b="1" dirty="0">
                <a:solidFill>
                  <a:srgbClr val="0B2AE0"/>
                </a:solidFill>
                <a:latin typeface="Calibri" pitchFamily="34" charset="0"/>
                <a:ea typeface="Calibri" pitchFamily="34" charset="-122"/>
                <a:cs typeface="Calibri" pitchFamily="34" charset="-120"/>
              </a:rPr>
              <a:t>20%</a:t>
            </a:r>
            <a:endParaRPr lang="en-US" sz="1400" dirty="0"/>
          </a:p>
        </p:txBody>
      </p:sp>
      <p:sp>
        <p:nvSpPr>
          <p:cNvPr id="16" name="Shape 13"/>
          <p:cNvSpPr/>
          <p:nvPr/>
        </p:nvSpPr>
        <p:spPr>
          <a:xfrm>
            <a:off x="6583680" y="3840480"/>
            <a:ext cx="5056632" cy="1965960"/>
          </a:xfrm>
          <a:prstGeom prst="roundRect">
            <a:avLst>
              <a:gd name="adj" fmla="val 5581"/>
            </a:avLst>
          </a:prstGeom>
          <a:solidFill>
            <a:srgbClr val="FFFFFF"/>
          </a:solidFill>
          <a:ln w="12700">
            <a:solidFill>
              <a:srgbClr val="DEDEE3"/>
            </a:solidFill>
            <a:prstDash val="solid"/>
          </a:ln>
          <a:effectLst>
            <a:outerShdw sx="100000" sy="100000" kx="0" ky="0" algn="bl" rotWithShape="0" blurRad="101600" dist="25400" dir="5400000">
              <a:srgbClr val="9AA0B5">
                <a:alpha val="18000"/>
              </a:srgbClr>
            </a:outerShdw>
          </a:effectLst>
        </p:spPr>
      </p:sp>
      <p:sp>
        <p:nvSpPr>
          <p:cNvPr id="17" name="Text 14"/>
          <p:cNvSpPr/>
          <p:nvPr/>
        </p:nvSpPr>
        <p:spPr>
          <a:xfrm>
            <a:off x="6858000" y="4023360"/>
            <a:ext cx="4572000" cy="320040"/>
          </a:xfrm>
          <a:prstGeom prst="rect">
            <a:avLst/>
          </a:prstGeom>
          <a:noFill/>
          <a:ln/>
        </p:spPr>
        <p:txBody>
          <a:bodyPr wrap="square" lIns="0" tIns="0" rIns="0" bIns="0" rtlCol="0" anchor="ctr"/>
          <a:lstStyle/>
          <a:p>
            <a:pPr algn="l" indent="0" marL="0">
              <a:buNone/>
            </a:pPr>
            <a:r>
              <a:rPr lang="en-US" sz="1500" b="1" dirty="0">
                <a:solidFill>
                  <a:srgbClr val="12132A"/>
                </a:solidFill>
                <a:latin typeface="Calibri" pitchFamily="34" charset="0"/>
                <a:ea typeface="Calibri" pitchFamily="34" charset="-122"/>
                <a:cs typeface="Calibri" pitchFamily="34" charset="-120"/>
              </a:rPr>
              <a:t>Currency (FX rate vs USD)</a:t>
            </a:r>
            <a:endParaRPr lang="en-US" sz="1500" dirty="0"/>
          </a:p>
        </p:txBody>
      </p:sp>
      <p:sp>
        <p:nvSpPr>
          <p:cNvPr id="18" name="Text 15"/>
          <p:cNvSpPr/>
          <p:nvPr/>
        </p:nvSpPr>
        <p:spPr>
          <a:xfrm>
            <a:off x="6858000" y="4434840"/>
            <a:ext cx="3200400" cy="320040"/>
          </a:xfrm>
          <a:prstGeom prst="rect">
            <a:avLst/>
          </a:prstGeom>
          <a:noFill/>
          <a:ln/>
        </p:spPr>
        <p:txBody>
          <a:bodyPr wrap="square" lIns="0" tIns="0" rIns="0" bIns="0" rtlCol="0" anchor="ctr"/>
          <a:lstStyle/>
          <a:p>
            <a:pPr algn="l" indent="0" marL="0">
              <a:buNone/>
            </a:pPr>
            <a:r>
              <a:rPr lang="en-US" sz="1300" dirty="0">
                <a:solidFill>
                  <a:srgbClr val="4A5568"/>
                </a:solidFill>
                <a:latin typeface="Calibri" pitchFamily="34" charset="0"/>
                <a:ea typeface="Calibri" pitchFamily="34" charset="-122"/>
                <a:cs typeface="Calibri" pitchFamily="34" charset="-120"/>
              </a:rPr>
              <a:t>USD</a:t>
            </a:r>
            <a:endParaRPr lang="en-US" sz="1300" dirty="0"/>
          </a:p>
        </p:txBody>
      </p:sp>
      <p:sp>
        <p:nvSpPr>
          <p:cNvPr id="19" name="Text 16"/>
          <p:cNvSpPr/>
          <p:nvPr/>
        </p:nvSpPr>
        <p:spPr>
          <a:xfrm>
            <a:off x="10058400" y="4434840"/>
            <a:ext cx="1371600" cy="320040"/>
          </a:xfrm>
          <a:prstGeom prst="rect">
            <a:avLst/>
          </a:prstGeom>
          <a:noFill/>
          <a:ln/>
        </p:spPr>
        <p:txBody>
          <a:bodyPr wrap="square" lIns="0" tIns="0" rIns="0" bIns="0" rtlCol="0" anchor="ctr"/>
          <a:lstStyle/>
          <a:p>
            <a:pPr algn="r" indent="0" marL="0">
              <a:buNone/>
            </a:pPr>
            <a:r>
              <a:rPr lang="en-US" sz="1400" b="1" dirty="0">
                <a:solidFill>
                  <a:srgbClr val="12132A"/>
                </a:solidFill>
                <a:latin typeface="Calibri" pitchFamily="34" charset="0"/>
                <a:ea typeface="Calibri" pitchFamily="34" charset="-122"/>
                <a:cs typeface="Calibri" pitchFamily="34" charset="-120"/>
              </a:rPr>
              <a:t>× 1.00</a:t>
            </a:r>
            <a:endParaRPr lang="en-US" sz="1400" dirty="0"/>
          </a:p>
        </p:txBody>
      </p:sp>
      <p:sp>
        <p:nvSpPr>
          <p:cNvPr id="20" name="Text 17"/>
          <p:cNvSpPr/>
          <p:nvPr/>
        </p:nvSpPr>
        <p:spPr>
          <a:xfrm>
            <a:off x="6858000" y="4818888"/>
            <a:ext cx="3200400" cy="320040"/>
          </a:xfrm>
          <a:prstGeom prst="rect">
            <a:avLst/>
          </a:prstGeom>
          <a:noFill/>
          <a:ln/>
        </p:spPr>
        <p:txBody>
          <a:bodyPr wrap="square" lIns="0" tIns="0" rIns="0" bIns="0" rtlCol="0" anchor="ctr"/>
          <a:lstStyle/>
          <a:p>
            <a:pPr algn="l" indent="0" marL="0">
              <a:buNone/>
            </a:pPr>
            <a:r>
              <a:rPr lang="en-US" sz="1300" dirty="0">
                <a:solidFill>
                  <a:srgbClr val="4A5568"/>
                </a:solidFill>
                <a:latin typeface="Calibri" pitchFamily="34" charset="0"/>
                <a:ea typeface="Calibri" pitchFamily="34" charset="-122"/>
                <a:cs typeface="Calibri" pitchFamily="34" charset="-120"/>
              </a:rPr>
              <a:t>MYR (default)</a:t>
            </a:r>
            <a:endParaRPr lang="en-US" sz="1300" dirty="0"/>
          </a:p>
        </p:txBody>
      </p:sp>
      <p:sp>
        <p:nvSpPr>
          <p:cNvPr id="21" name="Text 18"/>
          <p:cNvSpPr/>
          <p:nvPr/>
        </p:nvSpPr>
        <p:spPr>
          <a:xfrm>
            <a:off x="10058400" y="4818888"/>
            <a:ext cx="1371600" cy="320040"/>
          </a:xfrm>
          <a:prstGeom prst="rect">
            <a:avLst/>
          </a:prstGeom>
          <a:noFill/>
          <a:ln/>
        </p:spPr>
        <p:txBody>
          <a:bodyPr wrap="square" lIns="0" tIns="0" rIns="0" bIns="0" rtlCol="0" anchor="ctr"/>
          <a:lstStyle/>
          <a:p>
            <a:pPr algn="r" indent="0" marL="0">
              <a:buNone/>
            </a:pPr>
            <a:r>
              <a:rPr lang="en-US" sz="1400" b="1" dirty="0">
                <a:solidFill>
                  <a:srgbClr val="12132A"/>
                </a:solidFill>
                <a:latin typeface="Calibri" pitchFamily="34" charset="0"/>
                <a:ea typeface="Calibri" pitchFamily="34" charset="-122"/>
                <a:cs typeface="Calibri" pitchFamily="34" charset="-120"/>
              </a:rPr>
              <a:t>× 4.09</a:t>
            </a:r>
            <a:endParaRPr lang="en-US" sz="1400" dirty="0"/>
          </a:p>
        </p:txBody>
      </p:sp>
      <p:sp>
        <p:nvSpPr>
          <p:cNvPr id="22" name="Text 19"/>
          <p:cNvSpPr/>
          <p:nvPr/>
        </p:nvSpPr>
        <p:spPr>
          <a:xfrm>
            <a:off x="6858000" y="5202936"/>
            <a:ext cx="3200400" cy="320040"/>
          </a:xfrm>
          <a:prstGeom prst="rect">
            <a:avLst/>
          </a:prstGeom>
          <a:noFill/>
          <a:ln/>
        </p:spPr>
        <p:txBody>
          <a:bodyPr wrap="square" lIns="0" tIns="0" rIns="0" bIns="0" rtlCol="0" anchor="ctr"/>
          <a:lstStyle/>
          <a:p>
            <a:pPr algn="l" indent="0" marL="0">
              <a:buNone/>
            </a:pPr>
            <a:r>
              <a:rPr lang="en-US" sz="1300" dirty="0">
                <a:solidFill>
                  <a:srgbClr val="4A5568"/>
                </a:solidFill>
                <a:latin typeface="Calibri" pitchFamily="34" charset="0"/>
                <a:ea typeface="Calibri" pitchFamily="34" charset="-122"/>
                <a:cs typeface="Calibri" pitchFamily="34" charset="-120"/>
              </a:rPr>
              <a:t>SGD</a:t>
            </a:r>
            <a:endParaRPr lang="en-US" sz="1300" dirty="0"/>
          </a:p>
        </p:txBody>
      </p:sp>
      <p:sp>
        <p:nvSpPr>
          <p:cNvPr id="23" name="Text 20"/>
          <p:cNvSpPr/>
          <p:nvPr/>
        </p:nvSpPr>
        <p:spPr>
          <a:xfrm>
            <a:off x="10058400" y="5202936"/>
            <a:ext cx="1371600" cy="320040"/>
          </a:xfrm>
          <a:prstGeom prst="rect">
            <a:avLst/>
          </a:prstGeom>
          <a:noFill/>
          <a:ln/>
        </p:spPr>
        <p:txBody>
          <a:bodyPr wrap="square" lIns="0" tIns="0" rIns="0" bIns="0" rtlCol="0" anchor="ctr"/>
          <a:lstStyle/>
          <a:p>
            <a:pPr algn="r" indent="0" marL="0">
              <a:buNone/>
            </a:pPr>
            <a:r>
              <a:rPr lang="en-US" sz="1400" b="1" dirty="0">
                <a:solidFill>
                  <a:srgbClr val="12132A"/>
                </a:solidFill>
                <a:latin typeface="Calibri" pitchFamily="34" charset="0"/>
                <a:ea typeface="Calibri" pitchFamily="34" charset="-122"/>
                <a:cs typeface="Calibri" pitchFamily="34" charset="-120"/>
              </a:rPr>
              <a:t>× 1.29</a:t>
            </a:r>
            <a:endParaRPr lang="en-US" sz="1400" dirty="0"/>
          </a:p>
        </p:txBody>
      </p:sp>
      <p:sp>
        <p:nvSpPr>
          <p:cNvPr id="24" name="Text 21"/>
          <p:cNvSpPr/>
          <p:nvPr/>
        </p:nvSpPr>
        <p:spPr>
          <a:xfrm>
            <a:off x="548640" y="6455664"/>
            <a:ext cx="7315200" cy="274320"/>
          </a:xfrm>
          <a:prstGeom prst="rect">
            <a:avLst/>
          </a:prstGeom>
          <a:noFill/>
          <a:ln/>
        </p:spPr>
        <p:txBody>
          <a:bodyPr wrap="square" lIns="0" tIns="0" rIns="0" bIns="0" rtlCol="0" anchor="ctr"/>
          <a:lstStyle/>
          <a:p>
            <a:pPr algn="l" indent="0" marL="0">
              <a:buNone/>
            </a:pPr>
            <a:r>
              <a:rPr lang="en-US" sz="900" dirty="0">
                <a:solidFill>
                  <a:srgbClr val="6B7280"/>
                </a:solidFill>
                <a:latin typeface="Calibri" pitchFamily="34" charset="0"/>
                <a:ea typeface="Calibri" pitchFamily="34" charset="-122"/>
                <a:cs typeface="Calibri" pitchFamily="34" charset="-120"/>
              </a:rPr>
              <a:t>Aster  ·  Pricing model for CFO review</a:t>
            </a:r>
            <a:endParaRPr lang="en-US" sz="900" dirty="0"/>
          </a:p>
        </p:txBody>
      </p:sp>
      <p:sp>
        <p:nvSpPr>
          <p:cNvPr id="25" name="Text 22"/>
          <p:cNvSpPr/>
          <p:nvPr/>
        </p:nvSpPr>
        <p:spPr>
          <a:xfrm>
            <a:off x="11338560" y="6455664"/>
            <a:ext cx="36576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502920"/>
            <a:ext cx="8229600" cy="274320"/>
          </a:xfrm>
          <a:prstGeom prst="rect">
            <a:avLst/>
          </a:prstGeom>
          <a:noFill/>
          <a:ln/>
        </p:spPr>
        <p:txBody>
          <a:bodyPr wrap="square" lIns="0" tIns="0" rIns="0" bIns="0" rtlCol="0" anchor="ctr"/>
          <a:lstStyle/>
          <a:p>
            <a:pPr algn="l" indent="0" marL="0">
              <a:buNone/>
            </a:pPr>
            <a:r>
              <a:rPr lang="en-US" sz="1200" b="1" spc="200" kern="0" dirty="0">
                <a:solidFill>
                  <a:srgbClr val="0B2AE0"/>
                </a:solidFill>
                <a:latin typeface="Calibri" pitchFamily="34" charset="0"/>
                <a:ea typeface="Calibri" pitchFamily="34" charset="-122"/>
                <a:cs typeface="Calibri" pitchFamily="34" charset="-120"/>
              </a:rPr>
              <a:t>COST OF GOODS, PER ACTION</a:t>
            </a:r>
            <a:endParaRPr lang="en-US" sz="1200" dirty="0"/>
          </a:p>
        </p:txBody>
      </p:sp>
      <p:sp>
        <p:nvSpPr>
          <p:cNvPr id="3" name="Text 1"/>
          <p:cNvSpPr/>
          <p:nvPr/>
        </p:nvSpPr>
        <p:spPr>
          <a:xfrm>
            <a:off x="548640" y="777240"/>
            <a:ext cx="11064240" cy="822960"/>
          </a:xfrm>
          <a:prstGeom prst="rect">
            <a:avLst/>
          </a:prstGeom>
          <a:noFill/>
          <a:ln/>
        </p:spPr>
        <p:txBody>
          <a:bodyPr wrap="square" lIns="0" tIns="0" rIns="0" bIns="0" rtlCol="0" anchor="ctr"/>
          <a:lstStyle/>
          <a:p>
            <a:pPr algn="l" indent="0" marL="0">
              <a:buNone/>
            </a:pPr>
            <a:r>
              <a:rPr lang="en-US" sz="3400" b="1" dirty="0">
                <a:solidFill>
                  <a:srgbClr val="12132A"/>
                </a:solidFill>
                <a:latin typeface="Calibri" pitchFamily="34" charset="0"/>
                <a:ea typeface="Calibri" pitchFamily="34" charset="-122"/>
                <a:cs typeface="Calibri" pitchFamily="34" charset="-120"/>
              </a:rPr>
              <a:t>What each AI credit costs us to serve</a:t>
            </a:r>
            <a:endParaRPr lang="en-US" sz="3400" dirty="0"/>
          </a:p>
        </p:txBody>
      </p:sp>
      <p:sp>
        <p:nvSpPr>
          <p:cNvPr id="4" name="Text 2"/>
          <p:cNvSpPr/>
          <p:nvPr/>
        </p:nvSpPr>
        <p:spPr>
          <a:xfrm>
            <a:off x="548640" y="1463040"/>
            <a:ext cx="11064240" cy="548640"/>
          </a:xfrm>
          <a:prstGeom prst="rect">
            <a:avLst/>
          </a:prstGeom>
          <a:noFill/>
          <a:ln/>
        </p:spPr>
        <p:txBody>
          <a:bodyPr wrap="square" lIns="0" tIns="0" rIns="0" bIns="0" rtlCol="0" anchor="ctr"/>
          <a:lstStyle/>
          <a:p>
            <a:pPr algn="l" indent="0" marL="0">
              <a:buNone/>
            </a:pPr>
            <a:r>
              <a:rPr lang="en-US" sz="1300" dirty="0">
                <a:solidFill>
                  <a:srgbClr val="4A5568"/>
                </a:solidFill>
                <a:latin typeface="Calibri" pitchFamily="34" charset="0"/>
                <a:ea typeface="Calibri" pitchFamily="34" charset="-122"/>
                <a:cs typeface="Calibri" pitchFamily="34" charset="-120"/>
              </a:rPr>
              <a:t>Each action runs on a specific Claude model. Costs below use standard model pricing; "max" assumes a full-length output plus web-search company lookups. Even at the maximum, every credit keeps most of its price.</a:t>
            </a:r>
            <a:endParaRPr lang="en-US" sz="13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2148840"/>
          <a:ext cx="7635240" cy="914400"/>
        </p:xfrm>
        <a:graphic>
          <a:graphicData uri="http://schemas.openxmlformats.org/drawingml/2006/table">
            <a:tbl>
              <a:tblPr/>
              <a:tblGrid>
                <a:gridCol w="2286000"/>
                <a:gridCol w="960120"/>
                <a:gridCol w="914400"/>
                <a:gridCol w="1097280"/>
                <a:gridCol w="1005840"/>
                <a:gridCol w="1371600"/>
              </a:tblGrid>
              <a:tr h="548640">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Credit</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0A1FC2"/>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Runs on</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0A1FC2"/>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Sells for</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0A1FC2"/>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Typical cost</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0A1FC2"/>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Max cost</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0A1FC2"/>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Margin at max</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0B2AE0"/>
                    </a:solidFill>
                  </a:tcPr>
                </a:tc>
              </a:tr>
              <a:tr h="548640">
                <a:tc>
                  <a:txBody>
                    <a:bodyPr/>
                    <a:lstStyle/>
                    <a:p>
                      <a:pPr algn="l" indent="0" marL="0">
                        <a:buNone/>
                      </a:pPr>
                      <a:r>
                        <a:rPr lang="en-US" sz="1250" b="1" dirty="0">
                          <a:solidFill>
                            <a:srgbClr val="12132A"/>
                          </a:solidFill>
                          <a:latin typeface="Calibri" pitchFamily="34" charset="0"/>
                          <a:ea typeface="Calibri" pitchFamily="34" charset="-122"/>
                          <a:cs typeface="Calibri" pitchFamily="34" charset="-120"/>
                        </a:rPr>
                        <a:t>Resume / applicant screening</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Sonnet 5</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r" indent="0" marL="0">
                        <a:buNone/>
                      </a:pPr>
                      <a:r>
                        <a:rPr lang="en-US" sz="1250" dirty="0">
                          <a:solidFill>
                            <a:srgbClr val="4A5568"/>
                          </a:solidFill>
                          <a:latin typeface="Calibri" pitchFamily="34" charset="0"/>
                          <a:ea typeface="Calibri" pitchFamily="34" charset="-122"/>
                          <a:cs typeface="Calibri" pitchFamily="34" charset="-120"/>
                        </a:rPr>
                        <a:t>RM4.09</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r" indent="0" marL="0">
                        <a:buNone/>
                      </a:pPr>
                      <a:r>
                        <a:rPr lang="en-US" sz="1250" dirty="0">
                          <a:solidFill>
                            <a:srgbClr val="4A5568"/>
                          </a:solidFill>
                          <a:latin typeface="Calibri" pitchFamily="34" charset="0"/>
                          <a:ea typeface="Calibri" pitchFamily="34" charset="-122"/>
                          <a:cs typeface="Calibri" pitchFamily="34" charset="-120"/>
                        </a:rPr>
                        <a:t>~RM0.16</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r" indent="0" marL="0">
                        <a:buNone/>
                      </a:pPr>
                      <a:r>
                        <a:rPr lang="en-US" sz="1250" dirty="0">
                          <a:solidFill>
                            <a:srgbClr val="4A5568"/>
                          </a:solidFill>
                          <a:latin typeface="Calibri" pitchFamily="34" charset="0"/>
                          <a:ea typeface="Calibri" pitchFamily="34" charset="-122"/>
                          <a:cs typeface="Calibri" pitchFamily="34" charset="-120"/>
                        </a:rPr>
                        <a:t>~RM0.57</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r" indent="0" marL="0">
                        <a:buNone/>
                      </a:pPr>
                      <a:r>
                        <a:rPr lang="en-US" sz="1250" b="1" dirty="0">
                          <a:solidFill>
                            <a:srgbClr val="16A34A"/>
                          </a:solidFill>
                          <a:latin typeface="Calibri" pitchFamily="34" charset="0"/>
                          <a:ea typeface="Calibri" pitchFamily="34" charset="-122"/>
                          <a:cs typeface="Calibri" pitchFamily="34" charset="-120"/>
                        </a:rPr>
                        <a:t>86%</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r>
              <a:tr h="548640">
                <a:tc>
                  <a:txBody>
                    <a:bodyPr/>
                    <a:lstStyle/>
                    <a:p>
                      <a:pPr algn="l" indent="0" marL="0">
                        <a:buNone/>
                      </a:pPr>
                      <a:r>
                        <a:rPr lang="en-US" sz="1250" b="1" dirty="0">
                          <a:solidFill>
                            <a:srgbClr val="12132A"/>
                          </a:solidFill>
                          <a:latin typeface="Calibri" pitchFamily="34" charset="0"/>
                          <a:ea typeface="Calibri" pitchFamily="34" charset="-122"/>
                          <a:cs typeface="Calibri" pitchFamily="34" charset="-120"/>
                        </a:rPr>
                        <a:t>AI Rank / AI Insight</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Sonnet 5</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r" indent="0" marL="0">
                        <a:buNone/>
                      </a:pPr>
                      <a:r>
                        <a:rPr lang="en-US" sz="1250" dirty="0">
                          <a:solidFill>
                            <a:srgbClr val="4A5568"/>
                          </a:solidFill>
                          <a:latin typeface="Calibri" pitchFamily="34" charset="0"/>
                          <a:ea typeface="Calibri" pitchFamily="34" charset="-122"/>
                          <a:cs typeface="Calibri" pitchFamily="34" charset="-120"/>
                        </a:rPr>
                        <a:t>RM1.64</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r" indent="0" marL="0">
                        <a:buNone/>
                      </a:pPr>
                      <a:r>
                        <a:rPr lang="en-US" sz="1250" dirty="0">
                          <a:solidFill>
                            <a:srgbClr val="4A5568"/>
                          </a:solidFill>
                          <a:latin typeface="Calibri" pitchFamily="34" charset="0"/>
                          <a:ea typeface="Calibri" pitchFamily="34" charset="-122"/>
                          <a:cs typeface="Calibri" pitchFamily="34" charset="-120"/>
                        </a:rPr>
                        <a:t>~RM0.20</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r" indent="0" marL="0">
                        <a:buNone/>
                      </a:pPr>
                      <a:r>
                        <a:rPr lang="en-US" sz="1250" dirty="0">
                          <a:solidFill>
                            <a:srgbClr val="4A5568"/>
                          </a:solidFill>
                          <a:latin typeface="Calibri" pitchFamily="34" charset="0"/>
                          <a:ea typeface="Calibri" pitchFamily="34" charset="-122"/>
                          <a:cs typeface="Calibri" pitchFamily="34" charset="-120"/>
                        </a:rPr>
                        <a:t>~RM0.49</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r" indent="0" marL="0">
                        <a:buNone/>
                      </a:pPr>
                      <a:r>
                        <a:rPr lang="en-US" sz="1250" b="1" dirty="0">
                          <a:solidFill>
                            <a:srgbClr val="16A34A"/>
                          </a:solidFill>
                          <a:latin typeface="Calibri" pitchFamily="34" charset="0"/>
                          <a:ea typeface="Calibri" pitchFamily="34" charset="-122"/>
                          <a:cs typeface="Calibri" pitchFamily="34" charset="-120"/>
                        </a:rPr>
                        <a:t>70%</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r>
              <a:tr h="548640">
                <a:tc>
                  <a:txBody>
                    <a:bodyPr/>
                    <a:lstStyle/>
                    <a:p>
                      <a:pPr algn="l" indent="0" marL="0">
                        <a:buNone/>
                      </a:pPr>
                      <a:r>
                        <a:rPr lang="en-US" sz="1250" b="1" dirty="0">
                          <a:solidFill>
                            <a:srgbClr val="12132A"/>
                          </a:solidFill>
                          <a:latin typeface="Calibri" pitchFamily="34" charset="0"/>
                          <a:ea typeface="Calibri" pitchFamily="34" charset="-122"/>
                          <a:cs typeface="Calibri" pitchFamily="34" charset="-120"/>
                        </a:rPr>
                        <a:t>Interview questions</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Haiku 4.5</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r" indent="0" marL="0">
                        <a:buNone/>
                      </a:pPr>
                      <a:r>
                        <a:rPr lang="en-US" sz="1250" dirty="0">
                          <a:solidFill>
                            <a:srgbClr val="4A5568"/>
                          </a:solidFill>
                          <a:latin typeface="Calibri" pitchFamily="34" charset="0"/>
                          <a:ea typeface="Calibri" pitchFamily="34" charset="-122"/>
                          <a:cs typeface="Calibri" pitchFamily="34" charset="-120"/>
                        </a:rPr>
                        <a:t>RM1.64</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r" indent="0" marL="0">
                        <a:buNone/>
                      </a:pPr>
                      <a:r>
                        <a:rPr lang="en-US" sz="1250" dirty="0">
                          <a:solidFill>
                            <a:srgbClr val="4A5568"/>
                          </a:solidFill>
                          <a:latin typeface="Calibri" pitchFamily="34" charset="0"/>
                          <a:ea typeface="Calibri" pitchFamily="34" charset="-122"/>
                          <a:cs typeface="Calibri" pitchFamily="34" charset="-120"/>
                        </a:rPr>
                        <a:t>~RM0.04</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r" indent="0" marL="0">
                        <a:buNone/>
                      </a:pPr>
                      <a:r>
                        <a:rPr lang="en-US" sz="1250" dirty="0">
                          <a:solidFill>
                            <a:srgbClr val="4A5568"/>
                          </a:solidFill>
                          <a:latin typeface="Calibri" pitchFamily="34" charset="0"/>
                          <a:ea typeface="Calibri" pitchFamily="34" charset="-122"/>
                          <a:cs typeface="Calibri" pitchFamily="34" charset="-120"/>
                        </a:rPr>
                        <a:t>~RM0.04</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r" indent="0" marL="0">
                        <a:buNone/>
                      </a:pPr>
                      <a:r>
                        <a:rPr lang="en-US" sz="1250" b="1" dirty="0">
                          <a:solidFill>
                            <a:srgbClr val="16A34A"/>
                          </a:solidFill>
                          <a:latin typeface="Calibri" pitchFamily="34" charset="0"/>
                          <a:ea typeface="Calibri" pitchFamily="34" charset="-122"/>
                          <a:cs typeface="Calibri" pitchFamily="34" charset="-120"/>
                        </a:rPr>
                        <a:t>97%</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r>
              <a:tr h="548640">
                <a:tc>
                  <a:txBody>
                    <a:bodyPr/>
                    <a:lstStyle/>
                    <a:p>
                      <a:pPr algn="l" indent="0" marL="0">
                        <a:buNone/>
                      </a:pPr>
                      <a:r>
                        <a:rPr lang="en-US" sz="1250" b="1" dirty="0">
                          <a:solidFill>
                            <a:srgbClr val="12132A"/>
                          </a:solidFill>
                          <a:latin typeface="Calibri" pitchFamily="34" charset="0"/>
                          <a:ea typeface="Calibri" pitchFamily="34" charset="-122"/>
                          <a:cs typeface="Calibri" pitchFamily="34" charset="-120"/>
                        </a:rPr>
                        <a:t>Job draft</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Opus 5</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r" indent="0" marL="0">
                        <a:buNone/>
                      </a:pPr>
                      <a:r>
                        <a:rPr lang="en-US" sz="1250" dirty="0">
                          <a:solidFill>
                            <a:srgbClr val="4A5568"/>
                          </a:solidFill>
                          <a:latin typeface="Calibri" pitchFamily="34" charset="0"/>
                          <a:ea typeface="Calibri" pitchFamily="34" charset="-122"/>
                          <a:cs typeface="Calibri" pitchFamily="34" charset="-120"/>
                        </a:rPr>
                        <a:t>RM2.05</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r" indent="0" marL="0">
                        <a:buNone/>
                      </a:pPr>
                      <a:r>
                        <a:rPr lang="en-US" sz="1250" dirty="0">
                          <a:solidFill>
                            <a:srgbClr val="4A5568"/>
                          </a:solidFill>
                          <a:latin typeface="Calibri" pitchFamily="34" charset="0"/>
                          <a:ea typeface="Calibri" pitchFamily="34" charset="-122"/>
                          <a:cs typeface="Calibri" pitchFamily="34" charset="-120"/>
                        </a:rPr>
                        <a:t>~RM0.29</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r" indent="0" marL="0">
                        <a:buNone/>
                      </a:pPr>
                      <a:r>
                        <a:rPr lang="en-US" sz="1250" dirty="0">
                          <a:solidFill>
                            <a:srgbClr val="4A5568"/>
                          </a:solidFill>
                          <a:latin typeface="Calibri" pitchFamily="34" charset="0"/>
                          <a:ea typeface="Calibri" pitchFamily="34" charset="-122"/>
                          <a:cs typeface="Calibri" pitchFamily="34" charset="-120"/>
                        </a:rPr>
                        <a:t>~RM0.45</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r" indent="0" marL="0">
                        <a:buNone/>
                      </a:pPr>
                      <a:r>
                        <a:rPr lang="en-US" sz="1250" b="1" dirty="0">
                          <a:solidFill>
                            <a:srgbClr val="16A34A"/>
                          </a:solidFill>
                          <a:latin typeface="Calibri" pitchFamily="34" charset="0"/>
                          <a:ea typeface="Calibri" pitchFamily="34" charset="-122"/>
                          <a:cs typeface="Calibri" pitchFamily="34" charset="-120"/>
                        </a:rPr>
                        <a:t>78%</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r>
            </a:tbl>
          </a:graphicData>
        </a:graphic>
      </p:graphicFrame>
      <p:sp>
        <p:nvSpPr>
          <p:cNvPr id="6" name="Shape 3"/>
          <p:cNvSpPr/>
          <p:nvPr/>
        </p:nvSpPr>
        <p:spPr>
          <a:xfrm>
            <a:off x="8458200" y="2148840"/>
            <a:ext cx="3182112" cy="3291840"/>
          </a:xfrm>
          <a:prstGeom prst="roundRect">
            <a:avLst>
              <a:gd name="adj" fmla="val 3448"/>
            </a:avLst>
          </a:prstGeom>
          <a:solidFill>
            <a:srgbClr val="EAEEFE"/>
          </a:solidFill>
          <a:ln w="12700">
            <a:solidFill>
              <a:srgbClr val="D7DEFB"/>
            </a:solidFill>
            <a:prstDash val="solid"/>
          </a:ln>
          <a:effectLst>
            <a:outerShdw sx="100000" sy="100000" kx="0" ky="0" algn="bl" rotWithShape="0" blurRad="101600" dist="25400" dir="5400000">
              <a:srgbClr val="9AA0B5">
                <a:alpha val="18000"/>
              </a:srgbClr>
            </a:outerShdw>
          </a:effectLst>
        </p:spPr>
      </p:sp>
      <p:sp>
        <p:nvSpPr>
          <p:cNvPr id="7" name="Text 4"/>
          <p:cNvSpPr/>
          <p:nvPr/>
        </p:nvSpPr>
        <p:spPr>
          <a:xfrm>
            <a:off x="8686800" y="2331720"/>
            <a:ext cx="2743200" cy="274320"/>
          </a:xfrm>
          <a:prstGeom prst="rect">
            <a:avLst/>
          </a:prstGeom>
          <a:noFill/>
          <a:ln/>
        </p:spPr>
        <p:txBody>
          <a:bodyPr wrap="square" lIns="0" tIns="0" rIns="0" bIns="0" rtlCol="0" anchor="ctr"/>
          <a:lstStyle/>
          <a:p>
            <a:pPr algn="l" indent="0" marL="0">
              <a:buNone/>
            </a:pPr>
            <a:r>
              <a:rPr lang="en-US" sz="1100" b="1" spc="150" kern="0" dirty="0">
                <a:solidFill>
                  <a:srgbClr val="0B2AE0"/>
                </a:solidFill>
                <a:latin typeface="Calibri" pitchFamily="34" charset="0"/>
                <a:ea typeface="Calibri" pitchFamily="34" charset="-122"/>
                <a:cs typeface="Calibri" pitchFamily="34" charset="-120"/>
              </a:rPr>
              <a:t>WORKED EXAMPLE</a:t>
            </a:r>
            <a:endParaRPr lang="en-US" sz="1100" dirty="0"/>
          </a:p>
        </p:txBody>
      </p:sp>
      <p:sp>
        <p:nvSpPr>
          <p:cNvPr id="8" name="Text 5"/>
          <p:cNvSpPr/>
          <p:nvPr/>
        </p:nvSpPr>
        <p:spPr>
          <a:xfrm>
            <a:off x="8686800" y="2606040"/>
            <a:ext cx="2743200" cy="365760"/>
          </a:xfrm>
          <a:prstGeom prst="rect">
            <a:avLst/>
          </a:prstGeom>
          <a:noFill/>
          <a:ln/>
        </p:spPr>
        <p:txBody>
          <a:bodyPr wrap="square" lIns="0" tIns="0" rIns="0" bIns="0" rtlCol="0" anchor="ctr"/>
          <a:lstStyle/>
          <a:p>
            <a:pPr algn="l" indent="0" marL="0">
              <a:buNone/>
            </a:pPr>
            <a:r>
              <a:rPr lang="en-US" sz="1800" b="1" dirty="0">
                <a:solidFill>
                  <a:srgbClr val="12132A"/>
                </a:solidFill>
                <a:latin typeface="Calibri" pitchFamily="34" charset="0"/>
                <a:ea typeface="Calibri" pitchFamily="34" charset="-122"/>
                <a:cs typeface="Calibri" pitchFamily="34" charset="-120"/>
              </a:rPr>
              <a:t>A 3-page resume</a:t>
            </a:r>
            <a:endParaRPr lang="en-US" sz="1800" dirty="0"/>
          </a:p>
        </p:txBody>
      </p:sp>
      <p:sp>
        <p:nvSpPr>
          <p:cNvPr id="9" name="Text 6"/>
          <p:cNvSpPr/>
          <p:nvPr/>
        </p:nvSpPr>
        <p:spPr>
          <a:xfrm>
            <a:off x="8686800" y="3017520"/>
            <a:ext cx="2743200" cy="2286000"/>
          </a:xfrm>
          <a:prstGeom prst="rect">
            <a:avLst/>
          </a:prstGeom>
          <a:noFill/>
          <a:ln/>
        </p:spPr>
        <p:txBody>
          <a:bodyPr wrap="square" lIns="0" tIns="0" rIns="0" bIns="0" rtlCol="0" anchor="t"/>
          <a:lstStyle/>
          <a:p>
            <a:pPr algn="l" indent="0" marL="0">
              <a:lnSpc>
                <a:spcPct val="105000"/>
              </a:lnSpc>
              <a:buNone/>
            </a:pPr>
            <a:r>
              <a:rPr lang="en-US" sz="1250" dirty="0">
                <a:solidFill>
                  <a:srgbClr val="4A5568"/>
                </a:solidFill>
                <a:latin typeface="Calibri" pitchFamily="34" charset="0"/>
                <a:ea typeface="Calibri" pitchFamily="34" charset="-122"/>
                <a:cs typeface="Calibri" pitchFamily="34" charset="-120"/>
              </a:rPr>
              <a:t>Screening runs on Sonnet 5. A 3-page resume plus the parsing prompt is a small request:
</a:t>
            </a:r>
            <a:pPr algn="l" indent="0" marL="0">
              <a:lnSpc>
                <a:spcPct val="105000"/>
              </a:lnSpc>
              <a:buNone/>
            </a:pPr>
            <a:r>
              <a:rPr lang="en-US" sz="1250" dirty="0">
                <a:solidFill>
                  <a:srgbClr val="4A5568"/>
                </a:solidFill>
                <a:latin typeface="Calibri" pitchFamily="34" charset="0"/>
                <a:ea typeface="Calibri" pitchFamily="34" charset="-122"/>
                <a:cs typeface="Calibri" pitchFamily="34" charset="-120"/>
              </a:rPr>
              <a:t>Typical  </a:t>
            </a:r>
            <a:pPr algn="l" indent="0" marL="0">
              <a:lnSpc>
                <a:spcPct val="105000"/>
              </a:lnSpc>
              <a:buNone/>
            </a:pPr>
            <a:r>
              <a:rPr lang="en-US" sz="1250" b="1" dirty="0">
                <a:solidFill>
                  <a:srgbClr val="12132A"/>
                </a:solidFill>
                <a:latin typeface="Calibri" pitchFamily="34" charset="0"/>
                <a:ea typeface="Calibri" pitchFamily="34" charset="-122"/>
                <a:cs typeface="Calibri" pitchFamily="34" charset="-120"/>
              </a:rPr>
              <a:t>~RM0.16
</a:t>
            </a:r>
            <a:pPr algn="l" indent="0" marL="0">
              <a:lnSpc>
                <a:spcPct val="105000"/>
              </a:lnSpc>
              <a:buNone/>
            </a:pPr>
            <a:r>
              <a:rPr lang="en-US" sz="1250" dirty="0">
                <a:solidFill>
                  <a:srgbClr val="4A5568"/>
                </a:solidFill>
                <a:latin typeface="Calibri" pitchFamily="34" charset="0"/>
                <a:ea typeface="Calibri" pitchFamily="34" charset="-122"/>
                <a:cs typeface="Calibri" pitchFamily="34" charset="-120"/>
              </a:rPr>
              <a:t>Worst case  </a:t>
            </a:r>
            <a:pPr algn="l" indent="0" marL="0">
              <a:lnSpc>
                <a:spcPct val="105000"/>
              </a:lnSpc>
              <a:buNone/>
            </a:pPr>
            <a:r>
              <a:rPr lang="en-US" sz="1250" b="1" dirty="0">
                <a:solidFill>
                  <a:srgbClr val="12132A"/>
                </a:solidFill>
                <a:latin typeface="Calibri" pitchFamily="34" charset="0"/>
                <a:ea typeface="Calibri" pitchFamily="34" charset="-122"/>
                <a:cs typeface="Calibri" pitchFamily="34" charset="-120"/>
              </a:rPr>
              <a:t>~RM0.57</a:t>
            </a:r>
            <a:pPr algn="l" indent="0" marL="0">
              <a:lnSpc>
                <a:spcPct val="105000"/>
              </a:lnSpc>
              <a:buNone/>
            </a:pPr>
            <a:r>
              <a:rPr lang="en-US" sz="1100" dirty="0">
                <a:solidFill>
                  <a:srgbClr val="6B7280"/>
                </a:solidFill>
                <a:latin typeface="Calibri" pitchFamily="34" charset="0"/>
                <a:ea typeface="Calibri" pitchFamily="34" charset="-122"/>
                <a:cs typeface="Calibri" pitchFamily="34" charset="-120"/>
              </a:rPr>
              <a:t>  (page images + web-search company lookups + full output)
</a:t>
            </a:r>
            <a:pPr algn="l" indent="0" marL="0">
              <a:lnSpc>
                <a:spcPct val="105000"/>
              </a:lnSpc>
              <a:buNone/>
            </a:pPr>
            <a:r>
              <a:rPr lang="en-US" sz="1250" dirty="0">
                <a:solidFill>
                  <a:srgbClr val="4A5568"/>
                </a:solidFill>
                <a:latin typeface="Calibri" pitchFamily="34" charset="0"/>
                <a:ea typeface="Calibri" pitchFamily="34" charset="-122"/>
                <a:cs typeface="Calibri" pitchFamily="34" charset="-120"/>
              </a:rPr>
              <a:t>Sold for </a:t>
            </a:r>
            <a:pPr algn="l" indent="0" marL="0">
              <a:lnSpc>
                <a:spcPct val="105000"/>
              </a:lnSpc>
              <a:buNone/>
            </a:pPr>
            <a:r>
              <a:rPr lang="en-US" sz="1250" b="1" dirty="0">
                <a:solidFill>
                  <a:srgbClr val="0B2AE0"/>
                </a:solidFill>
                <a:latin typeface="Calibri" pitchFamily="34" charset="0"/>
                <a:ea typeface="Calibri" pitchFamily="34" charset="-122"/>
                <a:cs typeface="Calibri" pitchFamily="34" charset="-120"/>
              </a:rPr>
              <a:t>RM4.09</a:t>
            </a:r>
            <a:pPr algn="l" indent="0" marL="0">
              <a:lnSpc>
                <a:spcPct val="105000"/>
              </a:lnSpc>
              <a:buNone/>
            </a:pPr>
            <a:r>
              <a:rPr lang="en-US" sz="1250" dirty="0">
                <a:solidFill>
                  <a:srgbClr val="4A5568"/>
                </a:solidFill>
                <a:latin typeface="Calibri" pitchFamily="34" charset="0"/>
                <a:ea typeface="Calibri" pitchFamily="34" charset="-122"/>
                <a:cs typeface="Calibri" pitchFamily="34" charset="-120"/>
              </a:rPr>
              <a:t> → you keep </a:t>
            </a:r>
            <a:pPr algn="l" indent="0" marL="0">
              <a:lnSpc>
                <a:spcPct val="105000"/>
              </a:lnSpc>
              <a:buNone/>
            </a:pPr>
            <a:r>
              <a:rPr lang="en-US" sz="1250" b="1" dirty="0">
                <a:solidFill>
                  <a:srgbClr val="16A34A"/>
                </a:solidFill>
                <a:latin typeface="Calibri" pitchFamily="34" charset="0"/>
                <a:ea typeface="Calibri" pitchFamily="34" charset="-122"/>
                <a:cs typeface="Calibri" pitchFamily="34" charset="-120"/>
              </a:rPr>
              <a:t>86% even in the worst case.</a:t>
            </a:r>
            <a:endParaRPr lang="en-US" sz="1250" dirty="0"/>
          </a:p>
        </p:txBody>
      </p:sp>
      <p:sp>
        <p:nvSpPr>
          <p:cNvPr id="10" name="Shape 7"/>
          <p:cNvSpPr/>
          <p:nvPr/>
        </p:nvSpPr>
        <p:spPr>
          <a:xfrm>
            <a:off x="548640" y="4956048"/>
            <a:ext cx="7635240" cy="749808"/>
          </a:xfrm>
          <a:prstGeom prst="roundRect">
            <a:avLst>
              <a:gd name="adj" fmla="val 14634"/>
            </a:avLst>
          </a:prstGeom>
          <a:solidFill>
            <a:srgbClr val="EAEEFE"/>
          </a:solidFill>
          <a:ln w="12700">
            <a:solidFill>
              <a:srgbClr val="D7DEFB"/>
            </a:solidFill>
            <a:prstDash val="solid"/>
          </a:ln>
          <a:effectLst>
            <a:outerShdw sx="100000" sy="100000" kx="0" ky="0" algn="bl" rotWithShape="0" blurRad="101600" dist="25400" dir="5400000">
              <a:srgbClr val="9AA0B5">
                <a:alpha val="18000"/>
              </a:srgbClr>
            </a:outerShdw>
          </a:effectLst>
        </p:spPr>
      </p:sp>
      <p:sp>
        <p:nvSpPr>
          <p:cNvPr id="11" name="Text 8"/>
          <p:cNvSpPr/>
          <p:nvPr/>
        </p:nvSpPr>
        <p:spPr>
          <a:xfrm>
            <a:off x="777240" y="4956048"/>
            <a:ext cx="7178040" cy="749808"/>
          </a:xfrm>
          <a:prstGeom prst="rect">
            <a:avLst/>
          </a:prstGeom>
          <a:noFill/>
          <a:ln/>
        </p:spPr>
        <p:txBody>
          <a:bodyPr wrap="square" lIns="0" tIns="0" rIns="0" bIns="0" rtlCol="0" anchor="ctr"/>
          <a:lstStyle/>
          <a:p>
            <a:pPr algn="l" indent="0" marL="0">
              <a:buNone/>
            </a:pPr>
            <a:r>
              <a:rPr lang="en-US" sz="1150" b="1" dirty="0">
                <a:solidFill>
                  <a:srgbClr val="0B2AE0"/>
                </a:solidFill>
                <a:latin typeface="Calibri" pitchFamily="34" charset="0"/>
                <a:ea typeface="Calibri" pitchFamily="34" charset="-122"/>
                <a:cs typeface="Calibri" pitchFamily="34" charset="-120"/>
              </a:rPr>
              <a:t>How AI Rank is metered:  </a:t>
            </a:r>
            <a:pPr algn="l" indent="0" marL="0">
              <a:buNone/>
            </a:pPr>
            <a:r>
              <a:rPr lang="en-US" sz="1150" dirty="0">
                <a:solidFill>
                  <a:srgbClr val="4A5568"/>
                </a:solidFill>
                <a:latin typeface="Calibri" pitchFamily="34" charset="0"/>
                <a:ea typeface="Calibri" pitchFamily="34" charset="-122"/>
                <a:cs typeface="Calibri" pitchFamily="34" charset="-120"/>
              </a:rPr>
              <a:t>1 credit per 10 candidates (50 in Candidate Search). Re-ranking re-scores the whole pool as one Claude call, so it re-charges by batch size, 11 candidates = 2 credits. One call covers a batch, so margin rises with batch size.</a:t>
            </a:r>
            <a:endParaRPr lang="en-US" sz="1150" dirty="0"/>
          </a:p>
        </p:txBody>
      </p:sp>
      <p:sp>
        <p:nvSpPr>
          <p:cNvPr id="12" name="Text 9"/>
          <p:cNvSpPr/>
          <p:nvPr/>
        </p:nvSpPr>
        <p:spPr>
          <a:xfrm>
            <a:off x="548640" y="5852160"/>
            <a:ext cx="11064240" cy="457200"/>
          </a:xfrm>
          <a:prstGeom prst="rect">
            <a:avLst/>
          </a:prstGeom>
          <a:noFill/>
          <a:ln/>
        </p:spPr>
        <p:txBody>
          <a:bodyPr wrap="square" lIns="0" tIns="0" rIns="0" bIns="0" rtlCol="0" anchor="ctr"/>
          <a:lstStyle/>
          <a:p>
            <a:pPr algn="l" indent="0" marL="0">
              <a:buNone/>
            </a:pPr>
            <a:r>
              <a:rPr lang="en-US" sz="1000" i="1" dirty="0">
                <a:solidFill>
                  <a:srgbClr val="6B7280"/>
                </a:solidFill>
                <a:latin typeface="Calibri" pitchFamily="34" charset="0"/>
                <a:ea typeface="Calibri" pitchFamily="34" charset="-122"/>
                <a:cs typeface="Calibri" pitchFamily="34" charset="-120"/>
              </a:rPr>
              <a:t>Claude API is billed in USD (Sonnet 5 $3/$15, Opus 5 $5/$25, Haiku 4.5 $1/$5 per 1M tokens), converted here at RM4.09/USD. Web search ≈ RM0.04 per lookup. Sonnet's intro $2/$10 rate (through 31 Aug) is a near-term tailwind; a weaker ringgit is a risk (see slide 13).</a:t>
            </a:r>
            <a:endParaRPr lang="en-US" sz="1000" dirty="0"/>
          </a:p>
        </p:txBody>
      </p:sp>
      <p:sp>
        <p:nvSpPr>
          <p:cNvPr id="13" name="Text 10"/>
          <p:cNvSpPr/>
          <p:nvPr/>
        </p:nvSpPr>
        <p:spPr>
          <a:xfrm>
            <a:off x="548640" y="6455664"/>
            <a:ext cx="7315200" cy="274320"/>
          </a:xfrm>
          <a:prstGeom prst="rect">
            <a:avLst/>
          </a:prstGeom>
          <a:noFill/>
          <a:ln/>
        </p:spPr>
        <p:txBody>
          <a:bodyPr wrap="square" lIns="0" tIns="0" rIns="0" bIns="0" rtlCol="0" anchor="ctr"/>
          <a:lstStyle/>
          <a:p>
            <a:pPr algn="l" indent="0" marL="0">
              <a:buNone/>
            </a:pPr>
            <a:r>
              <a:rPr lang="en-US" sz="900" dirty="0">
                <a:solidFill>
                  <a:srgbClr val="6B7280"/>
                </a:solidFill>
                <a:latin typeface="Calibri" pitchFamily="34" charset="0"/>
                <a:ea typeface="Calibri" pitchFamily="34" charset="-122"/>
                <a:cs typeface="Calibri" pitchFamily="34" charset="-120"/>
              </a:rPr>
              <a:t>Aster  ·  Pricing model for CFO review</a:t>
            </a:r>
            <a:endParaRPr lang="en-US" sz="900" dirty="0"/>
          </a:p>
        </p:txBody>
      </p:sp>
      <p:sp>
        <p:nvSpPr>
          <p:cNvPr id="14" name="Text 11"/>
          <p:cNvSpPr/>
          <p:nvPr/>
        </p:nvSpPr>
        <p:spPr>
          <a:xfrm>
            <a:off x="11338560" y="6455664"/>
            <a:ext cx="36576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502920"/>
            <a:ext cx="8229600" cy="274320"/>
          </a:xfrm>
          <a:prstGeom prst="rect">
            <a:avLst/>
          </a:prstGeom>
          <a:noFill/>
          <a:ln/>
        </p:spPr>
        <p:txBody>
          <a:bodyPr wrap="square" lIns="0" tIns="0" rIns="0" bIns="0" rtlCol="0" anchor="ctr"/>
          <a:lstStyle/>
          <a:p>
            <a:pPr algn="l" indent="0" marL="0">
              <a:buNone/>
            </a:pPr>
            <a:r>
              <a:rPr lang="en-US" sz="1200" b="1" spc="200" kern="0" dirty="0">
                <a:solidFill>
                  <a:srgbClr val="0B2AE0"/>
                </a:solidFill>
                <a:latin typeface="Calibri" pitchFamily="34" charset="0"/>
                <a:ea typeface="Calibri" pitchFamily="34" charset="-122"/>
                <a:cs typeface="Calibri" pitchFamily="34" charset="-120"/>
              </a:rPr>
              <a:t>WHAT IT COSTS TO RUN A WORKSPACE</a:t>
            </a:r>
            <a:endParaRPr lang="en-US" sz="1200" dirty="0"/>
          </a:p>
        </p:txBody>
      </p:sp>
      <p:sp>
        <p:nvSpPr>
          <p:cNvPr id="3" name="Text 1"/>
          <p:cNvSpPr/>
          <p:nvPr/>
        </p:nvSpPr>
        <p:spPr>
          <a:xfrm>
            <a:off x="548640" y="777240"/>
            <a:ext cx="11064240" cy="822960"/>
          </a:xfrm>
          <a:prstGeom prst="rect">
            <a:avLst/>
          </a:prstGeom>
          <a:noFill/>
          <a:ln/>
        </p:spPr>
        <p:txBody>
          <a:bodyPr wrap="square" lIns="0" tIns="0" rIns="0" bIns="0" rtlCol="0" anchor="ctr"/>
          <a:lstStyle/>
          <a:p>
            <a:pPr algn="l" indent="0" marL="0">
              <a:buNone/>
            </a:pPr>
            <a:r>
              <a:rPr lang="en-US" sz="3400" b="1" dirty="0">
                <a:solidFill>
                  <a:srgbClr val="12132A"/>
                </a:solidFill>
                <a:latin typeface="Calibri" pitchFamily="34" charset="0"/>
                <a:ea typeface="Calibri" pitchFamily="34" charset="-122"/>
                <a:cs typeface="Calibri" pitchFamily="34" charset="-120"/>
              </a:rPr>
              <a:t>The full cost stack</a:t>
            </a:r>
            <a:endParaRPr lang="en-US" sz="3400" dirty="0"/>
          </a:p>
        </p:txBody>
      </p:sp>
      <p:sp>
        <p:nvSpPr>
          <p:cNvPr id="4" name="Text 2"/>
          <p:cNvSpPr/>
          <p:nvPr/>
        </p:nvSpPr>
        <p:spPr>
          <a:xfrm>
            <a:off x="548640" y="1463040"/>
            <a:ext cx="11064240" cy="457200"/>
          </a:xfrm>
          <a:prstGeom prst="rect">
            <a:avLst/>
          </a:prstGeom>
          <a:noFill/>
          <a:ln/>
        </p:spPr>
        <p:txBody>
          <a:bodyPr wrap="square" lIns="0" tIns="0" rIns="0" bIns="0" rtlCol="0" anchor="ctr"/>
          <a:lstStyle/>
          <a:p>
            <a:pPr algn="l" indent="0" marL="0">
              <a:buNone/>
            </a:pPr>
            <a:r>
              <a:rPr lang="en-US" sz="1300" dirty="0">
                <a:solidFill>
                  <a:srgbClr val="4A5568"/>
                </a:solidFill>
                <a:latin typeface="Calibri" pitchFamily="34" charset="0"/>
                <a:ea typeface="Calibri" pitchFamily="34" charset="-122"/>
                <a:cs typeface="Calibri" pitchFamily="34" charset="-120"/>
              </a:rPr>
              <a:t>Every workspace draws on a handful of paid services. All are Aster's cost except WhatsApp, which runs on the customer's own Meta account.</a:t>
            </a:r>
            <a:endParaRPr lang="en-US" sz="13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2011680"/>
          <a:ext cx="7863840" cy="914400"/>
        </p:xfrm>
        <a:graphic>
          <a:graphicData uri="http://schemas.openxmlformats.org/drawingml/2006/table">
            <a:tbl>
              <a:tblPr/>
              <a:tblGrid>
                <a:gridCol w="2194560"/>
                <a:gridCol w="1783080"/>
                <a:gridCol w="2514600"/>
                <a:gridCol w="1371600"/>
              </a:tblGrid>
              <a:tr h="457200">
                <a:tc>
                  <a:txBody>
                    <a:bodyPr/>
                    <a:lstStyle/>
                    <a:p>
                      <a:pPr algn="l" indent="0" marL="0">
                        <a:buNone/>
                      </a:pPr>
                      <a:r>
                        <a:rPr lang="en-US" sz="1250" b="1" dirty="0">
                          <a:solidFill>
                            <a:srgbClr val="FFFFFF"/>
                          </a:solidFill>
                          <a:latin typeface="Calibri" pitchFamily="34" charset="0"/>
                          <a:ea typeface="Calibri" pitchFamily="34" charset="-122"/>
                          <a:cs typeface="Calibri" pitchFamily="34" charset="-120"/>
                        </a:rPr>
                        <a:t>Cost driver</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0A1FC2"/>
                    </a:solidFill>
                  </a:tcPr>
                </a:tc>
                <a:tc>
                  <a:txBody>
                    <a:bodyPr/>
                    <a:lstStyle/>
                    <a:p>
                      <a:pPr algn="l" indent="0" marL="0">
                        <a:buNone/>
                      </a:pPr>
                      <a:r>
                        <a:rPr lang="en-US" sz="1250" b="1" dirty="0">
                          <a:solidFill>
                            <a:srgbClr val="FFFFFF"/>
                          </a:solidFill>
                          <a:latin typeface="Calibri" pitchFamily="34" charset="0"/>
                          <a:ea typeface="Calibri" pitchFamily="34" charset="-122"/>
                          <a:cs typeface="Calibri" pitchFamily="34" charset="-120"/>
                        </a:rPr>
                        <a:t>Provider</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0A1FC2"/>
                    </a:solidFill>
                  </a:tcPr>
                </a:tc>
                <a:tc>
                  <a:txBody>
                    <a:bodyPr/>
                    <a:lstStyle/>
                    <a:p>
                      <a:pPr algn="l" indent="0" marL="0">
                        <a:buNone/>
                      </a:pPr>
                      <a:r>
                        <a:rPr lang="en-US" sz="1250" b="1" dirty="0">
                          <a:solidFill>
                            <a:srgbClr val="FFFFFF"/>
                          </a:solidFill>
                          <a:latin typeface="Calibri" pitchFamily="34" charset="0"/>
                          <a:ea typeface="Calibri" pitchFamily="34" charset="-122"/>
                          <a:cs typeface="Calibri" pitchFamily="34" charset="-120"/>
                        </a:rPr>
                        <a:t>Basis</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0A1FC2"/>
                    </a:solidFill>
                  </a:tcPr>
                </a:tc>
                <a:tc>
                  <a:txBody>
                    <a:bodyPr/>
                    <a:lstStyle/>
                    <a:p>
                      <a:pPr algn="ctr" indent="0" marL="0">
                        <a:buNone/>
                      </a:pPr>
                      <a:r>
                        <a:rPr lang="en-US" sz="1250" b="1" dirty="0">
                          <a:solidFill>
                            <a:srgbClr val="FFFFFF"/>
                          </a:solidFill>
                          <a:latin typeface="Calibri" pitchFamily="34" charset="0"/>
                          <a:ea typeface="Calibri" pitchFamily="34" charset="-122"/>
                          <a:cs typeface="Calibri" pitchFamily="34" charset="-120"/>
                        </a:rPr>
                        <a:t>Who pays</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0A1FC2"/>
                    </a:solidFill>
                  </a:tcPr>
                </a:tc>
              </a:tr>
              <a:tr h="457200">
                <a:tc>
                  <a:txBody>
                    <a:bodyPr/>
                    <a:lstStyle/>
                    <a:p>
                      <a:pPr algn="l" indent="0" marL="0">
                        <a:buNone/>
                      </a:pPr>
                      <a:r>
                        <a:rPr lang="en-US" sz="1200" b="1" dirty="0">
                          <a:solidFill>
                            <a:srgbClr val="12132A"/>
                          </a:solidFill>
                          <a:latin typeface="Calibri" pitchFamily="34" charset="0"/>
                          <a:ea typeface="Calibri" pitchFamily="34" charset="-122"/>
                          <a:cs typeface="Calibri" pitchFamily="34" charset="-120"/>
                        </a:rPr>
                        <a:t>AI inference</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568"/>
                          </a:solidFill>
                          <a:latin typeface="Calibri" pitchFamily="34" charset="0"/>
                          <a:ea typeface="Calibri" pitchFamily="34" charset="-122"/>
                          <a:cs typeface="Calibri" pitchFamily="34" charset="-120"/>
                        </a:rPr>
                        <a:t>Anthropic (Claude)</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568"/>
                          </a:solidFill>
                          <a:latin typeface="Calibri" pitchFamily="34" charset="0"/>
                          <a:ea typeface="Calibri" pitchFamily="34" charset="-122"/>
                          <a:cs typeface="Calibri" pitchFamily="34" charset="-120"/>
                        </a:rPr>
                        <a:t>Per action, from tokens</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4A5568"/>
                          </a:solidFill>
                          <a:latin typeface="Calibri" pitchFamily="34" charset="0"/>
                          <a:ea typeface="Calibri" pitchFamily="34" charset="-122"/>
                          <a:cs typeface="Calibri" pitchFamily="34" charset="-120"/>
                        </a:rPr>
                        <a:t>Aster</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r>
              <a:tr h="457200">
                <a:tc>
                  <a:txBody>
                    <a:bodyPr/>
                    <a:lstStyle/>
                    <a:p>
                      <a:pPr algn="l" indent="0" marL="0">
                        <a:buNone/>
                      </a:pPr>
                      <a:r>
                        <a:rPr lang="en-US" sz="1200" b="1" dirty="0">
                          <a:solidFill>
                            <a:srgbClr val="12132A"/>
                          </a:solidFill>
                          <a:latin typeface="Calibri" pitchFamily="34" charset="0"/>
                          <a:ea typeface="Calibri" pitchFamily="34" charset="-122"/>
                          <a:cs typeface="Calibri" pitchFamily="34" charset="-120"/>
                        </a:rPr>
                        <a:t>Transactional email</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l" indent="0" marL="0">
                        <a:buNone/>
                      </a:pPr>
                      <a:r>
                        <a:rPr lang="en-US" sz="1200" dirty="0">
                          <a:solidFill>
                            <a:srgbClr val="4A5568"/>
                          </a:solidFill>
                          <a:latin typeface="Calibri" pitchFamily="34" charset="0"/>
                          <a:ea typeface="Calibri" pitchFamily="34" charset="-122"/>
                          <a:cs typeface="Calibri" pitchFamily="34" charset="-120"/>
                        </a:rPr>
                        <a:t>Resend</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l" indent="0" marL="0">
                        <a:buNone/>
                      </a:pPr>
                      <a:r>
                        <a:rPr lang="en-US" sz="1200" dirty="0">
                          <a:solidFill>
                            <a:srgbClr val="4A5568"/>
                          </a:solidFill>
                          <a:latin typeface="Calibri" pitchFamily="34" charset="0"/>
                          <a:ea typeface="Calibri" pitchFamily="34" charset="-122"/>
                          <a:cs typeface="Calibri" pitchFamily="34" charset="-120"/>
                        </a:rPr>
                        <a:t>≈ RM0.004 / email</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200" dirty="0">
                          <a:solidFill>
                            <a:srgbClr val="4A5568"/>
                          </a:solidFill>
                          <a:latin typeface="Calibri" pitchFamily="34" charset="0"/>
                          <a:ea typeface="Calibri" pitchFamily="34" charset="-122"/>
                          <a:cs typeface="Calibri" pitchFamily="34" charset="-120"/>
                        </a:rPr>
                        <a:t>Aster</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r>
              <a:tr h="457200">
                <a:tc>
                  <a:txBody>
                    <a:bodyPr/>
                    <a:lstStyle/>
                    <a:p>
                      <a:pPr algn="l" indent="0" marL="0">
                        <a:buNone/>
                      </a:pPr>
                      <a:r>
                        <a:rPr lang="en-US" sz="1200" b="1" dirty="0">
                          <a:solidFill>
                            <a:srgbClr val="12132A"/>
                          </a:solidFill>
                          <a:latin typeface="Calibri" pitchFamily="34" charset="0"/>
                          <a:ea typeface="Calibri" pitchFamily="34" charset="-122"/>
                          <a:cs typeface="Calibri" pitchFamily="34" charset="-120"/>
                        </a:rPr>
                        <a:t>Video interviews</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568"/>
                          </a:solidFill>
                          <a:latin typeface="Calibri" pitchFamily="34" charset="0"/>
                          <a:ea typeface="Calibri" pitchFamily="34" charset="-122"/>
                          <a:cs typeface="Calibri" pitchFamily="34" charset="-120"/>
                        </a:rPr>
                        <a:t>Daily.co</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568"/>
                          </a:solidFill>
                          <a:latin typeface="Calibri" pitchFamily="34" charset="0"/>
                          <a:ea typeface="Calibri" pitchFamily="34" charset="-122"/>
                          <a:cs typeface="Calibri" pitchFamily="34" charset="-120"/>
                        </a:rPr>
                        <a:t>RM0.016 / participant-min</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4A5568"/>
                          </a:solidFill>
                          <a:latin typeface="Calibri" pitchFamily="34" charset="0"/>
                          <a:ea typeface="Calibri" pitchFamily="34" charset="-122"/>
                          <a:cs typeface="Calibri" pitchFamily="34" charset="-120"/>
                        </a:rPr>
                        <a:t>Aster</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r>
              <a:tr h="457200">
                <a:tc>
                  <a:txBody>
                    <a:bodyPr/>
                    <a:lstStyle/>
                    <a:p>
                      <a:pPr algn="l" indent="0" marL="0">
                        <a:buNone/>
                      </a:pPr>
                      <a:r>
                        <a:rPr lang="en-US" sz="1200" b="1" dirty="0">
                          <a:solidFill>
                            <a:srgbClr val="12132A"/>
                          </a:solidFill>
                          <a:latin typeface="Calibri" pitchFamily="34" charset="0"/>
                          <a:ea typeface="Calibri" pitchFamily="34" charset="-122"/>
                          <a:cs typeface="Calibri" pitchFamily="34" charset="-120"/>
                        </a:rPr>
                        <a:t>Database + file storage</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l" indent="0" marL="0">
                        <a:buNone/>
                      </a:pPr>
                      <a:r>
                        <a:rPr lang="en-US" sz="1200" dirty="0">
                          <a:solidFill>
                            <a:srgbClr val="4A5568"/>
                          </a:solidFill>
                          <a:latin typeface="Calibri" pitchFamily="34" charset="0"/>
                          <a:ea typeface="Calibri" pitchFamily="34" charset="-122"/>
                          <a:cs typeface="Calibri" pitchFamily="34" charset="-120"/>
                        </a:rPr>
                        <a:t>Supabase</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l" indent="0" marL="0">
                        <a:buNone/>
                      </a:pPr>
                      <a:r>
                        <a:rPr lang="en-US" sz="1200" dirty="0">
                          <a:solidFill>
                            <a:srgbClr val="4A5568"/>
                          </a:solidFill>
                          <a:latin typeface="Calibri" pitchFamily="34" charset="0"/>
                          <a:ea typeface="Calibri" pitchFamily="34" charset="-122"/>
                          <a:cs typeface="Calibri" pitchFamily="34" charset="-120"/>
                        </a:rPr>
                        <a:t>Fixed base + storage</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200" dirty="0">
                          <a:solidFill>
                            <a:srgbClr val="4A5568"/>
                          </a:solidFill>
                          <a:latin typeface="Calibri" pitchFamily="34" charset="0"/>
                          <a:ea typeface="Calibri" pitchFamily="34" charset="-122"/>
                          <a:cs typeface="Calibri" pitchFamily="34" charset="-120"/>
                        </a:rPr>
                        <a:t>Aster</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r>
              <a:tr h="457200">
                <a:tc>
                  <a:txBody>
                    <a:bodyPr/>
                    <a:lstStyle/>
                    <a:p>
                      <a:pPr algn="l" indent="0" marL="0">
                        <a:buNone/>
                      </a:pPr>
                      <a:r>
                        <a:rPr lang="en-US" sz="1200" b="1" dirty="0">
                          <a:solidFill>
                            <a:srgbClr val="12132A"/>
                          </a:solidFill>
                          <a:latin typeface="Calibri" pitchFamily="34" charset="0"/>
                          <a:ea typeface="Calibri" pitchFamily="34" charset="-122"/>
                          <a:cs typeface="Calibri" pitchFamily="34" charset="-120"/>
                        </a:rPr>
                        <a:t>Hosting / CDN</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568"/>
                          </a:solidFill>
                          <a:latin typeface="Calibri" pitchFamily="34" charset="0"/>
                          <a:ea typeface="Calibri" pitchFamily="34" charset="-122"/>
                          <a:cs typeface="Calibri" pitchFamily="34" charset="-120"/>
                        </a:rPr>
                        <a:t>Vercel</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568"/>
                          </a:solidFill>
                          <a:latin typeface="Calibri" pitchFamily="34" charset="0"/>
                          <a:ea typeface="Calibri" pitchFamily="34" charset="-122"/>
                          <a:cs typeface="Calibri" pitchFamily="34" charset="-120"/>
                        </a:rPr>
                        <a:t>Fixed</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4A5568"/>
                          </a:solidFill>
                          <a:latin typeface="Calibri" pitchFamily="34" charset="0"/>
                          <a:ea typeface="Calibri" pitchFamily="34" charset="-122"/>
                          <a:cs typeface="Calibri" pitchFamily="34" charset="-120"/>
                        </a:rPr>
                        <a:t>Aster</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r>
              <a:tr h="457200">
                <a:tc>
                  <a:txBody>
                    <a:bodyPr/>
                    <a:lstStyle/>
                    <a:p>
                      <a:pPr algn="l" indent="0" marL="0">
                        <a:buNone/>
                      </a:pPr>
                      <a:r>
                        <a:rPr lang="en-US" sz="1200" b="1" dirty="0">
                          <a:solidFill>
                            <a:srgbClr val="12132A"/>
                          </a:solidFill>
                          <a:latin typeface="Calibri" pitchFamily="34" charset="0"/>
                          <a:ea typeface="Calibri" pitchFamily="34" charset="-122"/>
                          <a:cs typeface="Calibri" pitchFamily="34" charset="-120"/>
                        </a:rPr>
                        <a:t>Payment processing</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l" indent="0" marL="0">
                        <a:buNone/>
                      </a:pPr>
                      <a:r>
                        <a:rPr lang="en-US" sz="1200" dirty="0">
                          <a:solidFill>
                            <a:srgbClr val="4A5568"/>
                          </a:solidFill>
                          <a:latin typeface="Calibri" pitchFamily="34" charset="0"/>
                          <a:ea typeface="Calibri" pitchFamily="34" charset="-122"/>
                          <a:cs typeface="Calibri" pitchFamily="34" charset="-120"/>
                        </a:rPr>
                        <a:t>Stripe (Malaysia)</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l" indent="0" marL="0">
                        <a:buNone/>
                      </a:pPr>
                      <a:r>
                        <a:rPr lang="en-US" sz="1200" dirty="0">
                          <a:solidFill>
                            <a:srgbClr val="4A5568"/>
                          </a:solidFill>
                          <a:latin typeface="Calibri" pitchFamily="34" charset="0"/>
                          <a:ea typeface="Calibri" pitchFamily="34" charset="-122"/>
                          <a:cs typeface="Calibri" pitchFamily="34" charset="-120"/>
                        </a:rPr>
                        <a:t>3% + RM1 / charge</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200" dirty="0">
                          <a:solidFill>
                            <a:srgbClr val="4A5568"/>
                          </a:solidFill>
                          <a:latin typeface="Calibri" pitchFamily="34" charset="0"/>
                          <a:ea typeface="Calibri" pitchFamily="34" charset="-122"/>
                          <a:cs typeface="Calibri" pitchFamily="34" charset="-120"/>
                        </a:rPr>
                        <a:t>Aster</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r>
              <a:tr h="457200">
                <a:tc>
                  <a:txBody>
                    <a:bodyPr/>
                    <a:lstStyle/>
                    <a:p>
                      <a:pPr algn="l" indent="0" marL="0">
                        <a:buNone/>
                      </a:pPr>
                      <a:r>
                        <a:rPr lang="en-US" sz="1200" b="1" dirty="0">
                          <a:solidFill>
                            <a:srgbClr val="12132A"/>
                          </a:solidFill>
                          <a:latin typeface="Calibri" pitchFamily="34" charset="0"/>
                          <a:ea typeface="Calibri" pitchFamily="34" charset="-122"/>
                          <a:cs typeface="Calibri" pitchFamily="34" charset="-120"/>
                        </a:rPr>
                        <a:t>WhatsApp reminders</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568"/>
                          </a:solidFill>
                          <a:latin typeface="Calibri" pitchFamily="34" charset="0"/>
                          <a:ea typeface="Calibri" pitchFamily="34" charset="-122"/>
                          <a:cs typeface="Calibri" pitchFamily="34" charset="-120"/>
                        </a:rPr>
                        <a:t>Meta Cloud API</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568"/>
                          </a:solidFill>
                          <a:latin typeface="Calibri" pitchFamily="34" charset="0"/>
                          <a:ea typeface="Calibri" pitchFamily="34" charset="-122"/>
                          <a:cs typeface="Calibri" pitchFamily="34" charset="-120"/>
                        </a:rPr>
                        <a:t>Customer's own account</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16A34A"/>
                          </a:solidFill>
                          <a:latin typeface="Calibri" pitchFamily="34" charset="0"/>
                          <a:ea typeface="Calibri" pitchFamily="34" charset="-122"/>
                          <a:cs typeface="Calibri" pitchFamily="34" charset="-120"/>
                        </a:rPr>
                        <a:t>Customer</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r>
            </a:tbl>
          </a:graphicData>
        </a:graphic>
      </p:graphicFrame>
      <p:sp>
        <p:nvSpPr>
          <p:cNvPr id="6" name="Shape 3"/>
          <p:cNvSpPr/>
          <p:nvPr/>
        </p:nvSpPr>
        <p:spPr>
          <a:xfrm>
            <a:off x="8595360" y="2011680"/>
            <a:ext cx="3044952" cy="1691640"/>
          </a:xfrm>
          <a:prstGeom prst="roundRect">
            <a:avLst>
              <a:gd name="adj" fmla="val 6486"/>
            </a:avLst>
          </a:prstGeom>
          <a:solidFill>
            <a:srgbClr val="DCFCE7"/>
          </a:solidFill>
          <a:ln w="12700">
            <a:solidFill>
              <a:srgbClr val="BBE6C6"/>
            </a:solidFill>
            <a:prstDash val="solid"/>
          </a:ln>
          <a:effectLst>
            <a:outerShdw sx="100000" sy="100000" kx="0" ky="0" algn="bl" rotWithShape="0" blurRad="101600" dist="25400" dir="5400000">
              <a:srgbClr val="9AA0B5">
                <a:alpha val="18000"/>
              </a:srgbClr>
            </a:outerShdw>
          </a:effectLst>
        </p:spPr>
      </p:sp>
      <p:sp>
        <p:nvSpPr>
          <p:cNvPr id="7" name="Text 4"/>
          <p:cNvSpPr/>
          <p:nvPr/>
        </p:nvSpPr>
        <p:spPr>
          <a:xfrm>
            <a:off x="8823960" y="2212848"/>
            <a:ext cx="2606040" cy="548640"/>
          </a:xfrm>
          <a:prstGeom prst="rect">
            <a:avLst/>
          </a:prstGeom>
          <a:noFill/>
          <a:ln/>
        </p:spPr>
        <p:txBody>
          <a:bodyPr wrap="square" lIns="0" tIns="0" rIns="0" bIns="0" rtlCol="0" anchor="ctr"/>
          <a:lstStyle/>
          <a:p>
            <a:pPr algn="l" indent="0" marL="0">
              <a:buNone/>
            </a:pPr>
            <a:r>
              <a:rPr lang="en-US" sz="1500" b="1" dirty="0">
                <a:solidFill>
                  <a:srgbClr val="166534"/>
                </a:solidFill>
                <a:latin typeface="Calibri" pitchFamily="34" charset="0"/>
                <a:ea typeface="Calibri" pitchFamily="34" charset="-122"/>
                <a:cs typeface="Calibri" pitchFamily="34" charset="-120"/>
              </a:rPr>
              <a:t>WhatsApp = RM0 to Aster</a:t>
            </a:r>
            <a:endParaRPr lang="en-US" sz="1500" dirty="0"/>
          </a:p>
        </p:txBody>
      </p:sp>
      <p:sp>
        <p:nvSpPr>
          <p:cNvPr id="8" name="Text 5"/>
          <p:cNvSpPr/>
          <p:nvPr/>
        </p:nvSpPr>
        <p:spPr>
          <a:xfrm>
            <a:off x="8823960" y="2761488"/>
            <a:ext cx="2606040" cy="822960"/>
          </a:xfrm>
          <a:prstGeom prst="rect">
            <a:avLst/>
          </a:prstGeom>
          <a:noFill/>
          <a:ln/>
        </p:spPr>
        <p:txBody>
          <a:bodyPr wrap="square" lIns="0" tIns="0" rIns="0" bIns="0" rtlCol="0" anchor="ctr"/>
          <a:lstStyle/>
          <a:p>
            <a:pPr algn="l" indent="0" marL="0">
              <a:buNone/>
            </a:pPr>
            <a:r>
              <a:rPr lang="en-US" sz="1200" dirty="0">
                <a:solidFill>
                  <a:srgbClr val="1E6B3A"/>
                </a:solidFill>
                <a:latin typeface="Calibri" pitchFamily="34" charset="0"/>
                <a:ea typeface="Calibri" pitchFamily="34" charset="-122"/>
                <a:cs typeface="Calibri" pitchFamily="34" charset="-120"/>
              </a:rPr>
              <a:t>Customers connect their own WhatsApp Business account, so reminder volume never lands on our bill.</a:t>
            </a:r>
            <a:endParaRPr lang="en-US" sz="1200" dirty="0"/>
          </a:p>
        </p:txBody>
      </p:sp>
      <p:sp>
        <p:nvSpPr>
          <p:cNvPr id="9" name="Shape 6"/>
          <p:cNvSpPr/>
          <p:nvPr/>
        </p:nvSpPr>
        <p:spPr>
          <a:xfrm>
            <a:off x="8595360" y="3886200"/>
            <a:ext cx="3044952" cy="1783080"/>
          </a:xfrm>
          <a:prstGeom prst="roundRect">
            <a:avLst>
              <a:gd name="adj" fmla="val 6154"/>
            </a:avLst>
          </a:prstGeom>
          <a:solidFill>
            <a:srgbClr val="EAEEFE"/>
          </a:solidFill>
          <a:ln w="12700">
            <a:solidFill>
              <a:srgbClr val="D7DEFB"/>
            </a:solidFill>
            <a:prstDash val="solid"/>
          </a:ln>
          <a:effectLst>
            <a:outerShdw sx="100000" sy="100000" kx="0" ky="0" algn="bl" rotWithShape="0" blurRad="101600" dist="25400" dir="5400000">
              <a:srgbClr val="9AA0B5">
                <a:alpha val="18000"/>
              </a:srgbClr>
            </a:outerShdw>
          </a:effectLst>
        </p:spPr>
      </p:sp>
      <p:sp>
        <p:nvSpPr>
          <p:cNvPr id="10" name="Text 7"/>
          <p:cNvSpPr/>
          <p:nvPr/>
        </p:nvSpPr>
        <p:spPr>
          <a:xfrm>
            <a:off x="8823960" y="4087368"/>
            <a:ext cx="2606040" cy="320040"/>
          </a:xfrm>
          <a:prstGeom prst="rect">
            <a:avLst/>
          </a:prstGeom>
          <a:noFill/>
          <a:ln/>
        </p:spPr>
        <p:txBody>
          <a:bodyPr wrap="square" lIns="0" tIns="0" rIns="0" bIns="0" rtlCol="0" anchor="ctr"/>
          <a:lstStyle/>
          <a:p>
            <a:pPr algn="l" indent="0" marL="0">
              <a:buNone/>
            </a:pPr>
            <a:r>
              <a:rPr lang="en-US" sz="1400" b="1" dirty="0">
                <a:solidFill>
                  <a:srgbClr val="12132A"/>
                </a:solidFill>
                <a:latin typeface="Calibri" pitchFamily="34" charset="0"/>
                <a:ea typeface="Calibri" pitchFamily="34" charset="-122"/>
                <a:cs typeface="Calibri" pitchFamily="34" charset="-120"/>
              </a:rPr>
              <a:t>Fixed platform cost</a:t>
            </a:r>
            <a:endParaRPr lang="en-US" sz="1400" dirty="0"/>
          </a:p>
        </p:txBody>
      </p:sp>
      <p:sp>
        <p:nvSpPr>
          <p:cNvPr id="11" name="Text 8"/>
          <p:cNvSpPr/>
          <p:nvPr/>
        </p:nvSpPr>
        <p:spPr>
          <a:xfrm>
            <a:off x="8823960" y="4389120"/>
            <a:ext cx="2606040" cy="457200"/>
          </a:xfrm>
          <a:prstGeom prst="rect">
            <a:avLst/>
          </a:prstGeom>
          <a:noFill/>
          <a:ln/>
        </p:spPr>
        <p:txBody>
          <a:bodyPr wrap="square" lIns="0" tIns="0" rIns="0" bIns="0" rtlCol="0" anchor="ctr"/>
          <a:lstStyle/>
          <a:p>
            <a:pPr algn="l" indent="0" marL="0">
              <a:buNone/>
            </a:pPr>
            <a:r>
              <a:rPr lang="en-US" sz="2400" b="1" dirty="0">
                <a:solidFill>
                  <a:srgbClr val="0B2AE0"/>
                </a:solidFill>
                <a:latin typeface="Calibri" pitchFamily="34" charset="0"/>
                <a:ea typeface="Calibri" pitchFamily="34" charset="-122"/>
                <a:cs typeface="Calibri" pitchFamily="34" charset="-120"/>
              </a:rPr>
              <a:t>≈ RM270 / mo</a:t>
            </a:r>
            <a:endParaRPr lang="en-US" sz="2400" dirty="0"/>
          </a:p>
        </p:txBody>
      </p:sp>
      <p:sp>
        <p:nvSpPr>
          <p:cNvPr id="12" name="Text 9"/>
          <p:cNvSpPr/>
          <p:nvPr/>
        </p:nvSpPr>
        <p:spPr>
          <a:xfrm>
            <a:off x="8823960" y="4864608"/>
            <a:ext cx="2606040" cy="777240"/>
          </a:xfrm>
          <a:prstGeom prst="rect">
            <a:avLst/>
          </a:prstGeom>
          <a:noFill/>
          <a:ln/>
        </p:spPr>
        <p:txBody>
          <a:bodyPr wrap="square" lIns="0" tIns="0" rIns="0" bIns="0" rtlCol="0" anchor="ctr"/>
          <a:lstStyle/>
          <a:p>
            <a:pPr algn="l" indent="0" marL="0">
              <a:buNone/>
            </a:pPr>
            <a:r>
              <a:rPr lang="en-US" sz="1100" dirty="0">
                <a:solidFill>
                  <a:srgbClr val="4A5568"/>
                </a:solidFill>
                <a:latin typeface="Calibri" pitchFamily="34" charset="0"/>
                <a:ea typeface="Calibri" pitchFamily="34" charset="-122"/>
                <a:cs typeface="Calibri" pitchFamily="34" charset="-120"/>
              </a:rPr>
              <a:t>Supabase Pro + Vercel + Resend base, shared across every workspace. Per-company overhead shrinks toward zero as you grow.</a:t>
            </a:r>
            <a:endParaRPr lang="en-US" sz="1100" dirty="0"/>
          </a:p>
        </p:txBody>
      </p:sp>
      <p:sp>
        <p:nvSpPr>
          <p:cNvPr id="13" name="Text 10"/>
          <p:cNvSpPr/>
          <p:nvPr/>
        </p:nvSpPr>
        <p:spPr>
          <a:xfrm>
            <a:off x="548640" y="5943600"/>
            <a:ext cx="11064240" cy="457200"/>
          </a:xfrm>
          <a:prstGeom prst="rect">
            <a:avLst/>
          </a:prstGeom>
          <a:noFill/>
          <a:ln/>
        </p:spPr>
        <p:txBody>
          <a:bodyPr wrap="square" lIns="0" tIns="0" rIns="0" bIns="0" rtlCol="0" anchor="ctr"/>
          <a:lstStyle/>
          <a:p>
            <a:pPr algn="l" indent="0" marL="0">
              <a:buNone/>
            </a:pPr>
            <a:r>
              <a:rPr lang="en-US" sz="950" i="1" dirty="0">
                <a:solidFill>
                  <a:srgbClr val="6B7280"/>
                </a:solidFill>
                <a:latin typeface="Calibri" pitchFamily="34" charset="0"/>
                <a:ea typeface="Calibri" pitchFamily="34" charset="-122"/>
                <a:cs typeface="Calibri" pitchFamily="34" charset="-120"/>
              </a:rPr>
              <a:t>Provider list prices (Aug 2026): Resend Pro $20/50K emails then $0.90/1K · Daily.co $0.004/participant-min after 10K free · Supabase Pro $25 · Stripe MY 3% + RM1. Converted at RM4.09/USD.</a:t>
            </a:r>
            <a:endParaRPr lang="en-US" sz="950" dirty="0"/>
          </a:p>
        </p:txBody>
      </p:sp>
      <p:sp>
        <p:nvSpPr>
          <p:cNvPr id="14" name="Text 11"/>
          <p:cNvSpPr/>
          <p:nvPr/>
        </p:nvSpPr>
        <p:spPr>
          <a:xfrm>
            <a:off x="548640" y="6455664"/>
            <a:ext cx="7315200" cy="274320"/>
          </a:xfrm>
          <a:prstGeom prst="rect">
            <a:avLst/>
          </a:prstGeom>
          <a:noFill/>
          <a:ln/>
        </p:spPr>
        <p:txBody>
          <a:bodyPr wrap="square" lIns="0" tIns="0" rIns="0" bIns="0" rtlCol="0" anchor="ctr"/>
          <a:lstStyle/>
          <a:p>
            <a:pPr algn="l" indent="0" marL="0">
              <a:buNone/>
            </a:pPr>
            <a:r>
              <a:rPr lang="en-US" sz="900" dirty="0">
                <a:solidFill>
                  <a:srgbClr val="6B7280"/>
                </a:solidFill>
                <a:latin typeface="Calibri" pitchFamily="34" charset="0"/>
                <a:ea typeface="Calibri" pitchFamily="34" charset="-122"/>
                <a:cs typeface="Calibri" pitchFamily="34" charset="-120"/>
              </a:rPr>
              <a:t>Aster  ·  Pricing model for CFO review</a:t>
            </a:r>
            <a:endParaRPr lang="en-US" sz="900" dirty="0"/>
          </a:p>
        </p:txBody>
      </p:sp>
      <p:sp>
        <p:nvSpPr>
          <p:cNvPr id="15" name="Text 12"/>
          <p:cNvSpPr/>
          <p:nvPr/>
        </p:nvSpPr>
        <p:spPr>
          <a:xfrm>
            <a:off x="11338560" y="6455664"/>
            <a:ext cx="36576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502920"/>
            <a:ext cx="8229600" cy="274320"/>
          </a:xfrm>
          <a:prstGeom prst="rect">
            <a:avLst/>
          </a:prstGeom>
          <a:noFill/>
          <a:ln/>
        </p:spPr>
        <p:txBody>
          <a:bodyPr wrap="square" lIns="0" tIns="0" rIns="0" bIns="0" rtlCol="0" anchor="ctr"/>
          <a:lstStyle/>
          <a:p>
            <a:pPr algn="l" indent="0" marL="0">
              <a:buNone/>
            </a:pPr>
            <a:r>
              <a:rPr lang="en-US" sz="1200" b="1" spc="200" kern="0" dirty="0">
                <a:solidFill>
                  <a:srgbClr val="0B2AE0"/>
                </a:solidFill>
                <a:latin typeface="Calibri" pitchFamily="34" charset="0"/>
                <a:ea typeface="Calibri" pitchFamily="34" charset="-122"/>
                <a:cs typeface="Calibri" pitchFamily="34" charset="-120"/>
              </a:rPr>
              <a:t>ALL-IN UNIT ECONOMICS</a:t>
            </a:r>
            <a:endParaRPr lang="en-US" sz="1200" dirty="0"/>
          </a:p>
        </p:txBody>
      </p:sp>
      <p:sp>
        <p:nvSpPr>
          <p:cNvPr id="3" name="Text 1"/>
          <p:cNvSpPr/>
          <p:nvPr/>
        </p:nvSpPr>
        <p:spPr>
          <a:xfrm>
            <a:off x="548640" y="777240"/>
            <a:ext cx="11064240" cy="822960"/>
          </a:xfrm>
          <a:prstGeom prst="rect">
            <a:avLst/>
          </a:prstGeom>
          <a:noFill/>
          <a:ln/>
        </p:spPr>
        <p:txBody>
          <a:bodyPr wrap="square" lIns="0" tIns="0" rIns="0" bIns="0" rtlCol="0" anchor="ctr"/>
          <a:lstStyle/>
          <a:p>
            <a:pPr algn="l" indent="0" marL="0">
              <a:buNone/>
            </a:pPr>
            <a:r>
              <a:rPr lang="en-US" sz="3400" b="1" dirty="0">
                <a:solidFill>
                  <a:srgbClr val="12132A"/>
                </a:solidFill>
                <a:latin typeface="Calibri" pitchFamily="34" charset="0"/>
                <a:ea typeface="Calibri" pitchFamily="34" charset="-122"/>
                <a:cs typeface="Calibri" pitchFamily="34" charset="-120"/>
              </a:rPr>
              <a:t>Cost to serve, per company / month</a:t>
            </a:r>
            <a:endParaRPr lang="en-US" sz="34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874520"/>
          <a:ext cx="7680960" cy="914400"/>
        </p:xfrm>
        <a:graphic>
          <a:graphicData uri="http://schemas.openxmlformats.org/drawingml/2006/table">
            <a:tbl>
              <a:tblPr/>
              <a:tblGrid>
                <a:gridCol w="2743200"/>
                <a:gridCol w="1645920"/>
                <a:gridCol w="1645920"/>
                <a:gridCol w="1645920"/>
              </a:tblGrid>
              <a:tr h="411480">
                <a:tc>
                  <a:txBody>
                    <a:bodyPr/>
                    <a:lstStyle/>
                    <a:p>
                      <a:pPr algn="l" indent="0" marL="0">
                        <a:buNone/>
                      </a:pPr>
                      <a:r>
                        <a:rPr lang="en-US" sz="1250" b="1" dirty="0">
                          <a:solidFill>
                            <a:srgbClr val="FFFFFF"/>
                          </a:solidFill>
                          <a:latin typeface="Calibri" pitchFamily="34" charset="0"/>
                          <a:ea typeface="Calibri" pitchFamily="34" charset="-122"/>
                          <a:cs typeface="Calibri" pitchFamily="34" charset="-120"/>
                        </a:rPr>
                        <a:t>Cost line / mo</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0A1FC2"/>
                    </a:solidFill>
                  </a:tcPr>
                </a:tc>
                <a:tc>
                  <a:txBody>
                    <a:bodyPr/>
                    <a:lstStyle/>
                    <a:p>
                      <a:pPr algn="ctr" indent="0" marL="0">
                        <a:buNone/>
                      </a:pPr>
                      <a:r>
                        <a:rPr lang="en-US" sz="1250" b="1" dirty="0">
                          <a:solidFill>
                            <a:srgbClr val="FFFFFF"/>
                          </a:solidFill>
                          <a:latin typeface="Calibri" pitchFamily="34" charset="0"/>
                          <a:ea typeface="Calibri" pitchFamily="34" charset="-122"/>
                          <a:cs typeface="Calibri" pitchFamily="34" charset="-120"/>
                        </a:rPr>
                        <a:t>Launch</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0A1FC2"/>
                    </a:solidFill>
                  </a:tcPr>
                </a:tc>
                <a:tc>
                  <a:txBody>
                    <a:bodyPr/>
                    <a:lstStyle/>
                    <a:p>
                      <a:pPr algn="ctr" indent="0" marL="0">
                        <a:buNone/>
                      </a:pPr>
                      <a:r>
                        <a:rPr lang="en-US" sz="1250" b="1" dirty="0">
                          <a:solidFill>
                            <a:srgbClr val="FFFFFF"/>
                          </a:solidFill>
                          <a:latin typeface="Calibri" pitchFamily="34" charset="0"/>
                          <a:ea typeface="Calibri" pitchFamily="34" charset="-122"/>
                          <a:cs typeface="Calibri" pitchFamily="34" charset="-120"/>
                        </a:rPr>
                        <a:t>Scale</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0A1FC2"/>
                    </a:solidFill>
                  </a:tcPr>
                </a:tc>
                <a:tc>
                  <a:txBody>
                    <a:bodyPr/>
                    <a:lstStyle/>
                    <a:p>
                      <a:pPr algn="ctr" indent="0" marL="0">
                        <a:buNone/>
                      </a:pPr>
                      <a:r>
                        <a:rPr lang="en-US" sz="1250" b="1" dirty="0">
                          <a:solidFill>
                            <a:srgbClr val="FFFFFF"/>
                          </a:solidFill>
                          <a:latin typeface="Calibri" pitchFamily="34" charset="0"/>
                          <a:ea typeface="Calibri" pitchFamily="34" charset="-122"/>
                          <a:cs typeface="Calibri" pitchFamily="34" charset="-120"/>
                        </a:rPr>
                        <a:t>Elite</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0B2AE0"/>
                    </a:solidFill>
                  </a:tcPr>
                </a:tc>
              </a:tr>
              <a:tr h="384048">
                <a:tc>
                  <a:txBody>
                    <a:bodyPr/>
                    <a:lstStyle/>
                    <a:p>
                      <a:pPr algn="l" indent="0" marL="0">
                        <a:buNone/>
                      </a:pPr>
                      <a:r>
                        <a:rPr lang="en-US" sz="1250" b="1" dirty="0">
                          <a:solidFill>
                            <a:srgbClr val="12132A"/>
                          </a:solidFill>
                          <a:latin typeface="Calibri" pitchFamily="34" charset="0"/>
                          <a:ea typeface="Calibri" pitchFamily="34" charset="-122"/>
                          <a:cs typeface="Calibri" pitchFamily="34" charset="-120"/>
                        </a:rPr>
                        <a:t>AI inference (typical)</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RM20</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RM115</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RM260</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r>
              <a:tr h="384048">
                <a:tc>
                  <a:txBody>
                    <a:bodyPr/>
                    <a:lstStyle/>
                    <a:p>
                      <a:pPr algn="l" indent="0" marL="0">
                        <a:buNone/>
                      </a:pPr>
                      <a:r>
                        <a:rPr lang="en-US" sz="1250" b="1" dirty="0">
                          <a:solidFill>
                            <a:srgbClr val="12132A"/>
                          </a:solidFill>
                          <a:latin typeface="Calibri" pitchFamily="34" charset="0"/>
                          <a:ea typeface="Calibri" pitchFamily="34" charset="-122"/>
                          <a:cs typeface="Calibri" pitchFamily="34" charset="-120"/>
                        </a:rPr>
                        <a:t>Email (Resend)</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RM0.20</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RM1.10</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RM3.00</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r>
              <a:tr h="384048">
                <a:tc>
                  <a:txBody>
                    <a:bodyPr/>
                    <a:lstStyle/>
                    <a:p>
                      <a:pPr algn="l" indent="0" marL="0">
                        <a:buNone/>
                      </a:pPr>
                      <a:r>
                        <a:rPr lang="en-US" sz="1250" b="1" dirty="0">
                          <a:solidFill>
                            <a:srgbClr val="12132A"/>
                          </a:solidFill>
                          <a:latin typeface="Calibri" pitchFamily="34" charset="0"/>
                          <a:ea typeface="Calibri" pitchFamily="34" charset="-122"/>
                          <a:cs typeface="Calibri" pitchFamily="34" charset="-120"/>
                        </a:rPr>
                        <a:t>Video (Daily.co)</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RM7</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RM33</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RM92</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r>
              <a:tr h="384048">
                <a:tc>
                  <a:txBody>
                    <a:bodyPr/>
                    <a:lstStyle/>
                    <a:p>
                      <a:pPr algn="l" indent="0" marL="0">
                        <a:buNone/>
                      </a:pPr>
                      <a:r>
                        <a:rPr lang="en-US" sz="1250" b="1" dirty="0">
                          <a:solidFill>
                            <a:srgbClr val="12132A"/>
                          </a:solidFill>
                          <a:latin typeface="Calibri" pitchFamily="34" charset="0"/>
                          <a:ea typeface="Calibri" pitchFamily="34" charset="-122"/>
                          <a:cs typeface="Calibri" pitchFamily="34" charset="-120"/>
                        </a:rPr>
                        <a:t>Payment fee (Stripe)</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RM7</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RM25</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RM31</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r>
              <a:tr h="384048">
                <a:tc>
                  <a:txBody>
                    <a:bodyPr/>
                    <a:lstStyle/>
                    <a:p>
                      <a:pPr algn="l" indent="0" marL="0">
                        <a:buNone/>
                      </a:pPr>
                      <a:r>
                        <a:rPr lang="en-US" sz="1250" b="1" dirty="0">
                          <a:solidFill>
                            <a:srgbClr val="12132A"/>
                          </a:solidFill>
                          <a:latin typeface="Calibri" pitchFamily="34" charset="0"/>
                          <a:ea typeface="Calibri" pitchFamily="34" charset="-122"/>
                          <a:cs typeface="Calibri" pitchFamily="34" charset="-120"/>
                        </a:rPr>
                        <a:t>Platform share</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RM3</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RM3</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RM3</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r>
              <a:tr h="384048">
                <a:tc>
                  <a:txBody>
                    <a:bodyPr/>
                    <a:lstStyle/>
                    <a:p>
                      <a:pPr algn="l" indent="0" marL="0">
                        <a:buNone/>
                      </a:pPr>
                      <a:r>
                        <a:rPr lang="en-US" sz="1250" b="1" dirty="0">
                          <a:solidFill>
                            <a:srgbClr val="12132A"/>
                          </a:solidFill>
                          <a:latin typeface="Calibri" pitchFamily="34" charset="0"/>
                          <a:ea typeface="Calibri" pitchFamily="34" charset="-122"/>
                          <a:cs typeface="Calibri" pitchFamily="34" charset="-120"/>
                        </a:rPr>
                        <a:t>WhatsApp</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RM0</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RM0</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RM0</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r>
              <a:tr h="457200">
                <a:tc>
                  <a:txBody>
                    <a:bodyPr/>
                    <a:lstStyle/>
                    <a:p>
                      <a:pPr algn="l" indent="0" marL="0">
                        <a:buNone/>
                      </a:pPr>
                      <a:r>
                        <a:rPr lang="en-US" sz="1250" b="1" dirty="0">
                          <a:solidFill>
                            <a:srgbClr val="12132A"/>
                          </a:solidFill>
                          <a:latin typeface="Calibri" pitchFamily="34" charset="0"/>
                          <a:ea typeface="Calibri" pitchFamily="34" charset="-122"/>
                          <a:cs typeface="Calibri" pitchFamily="34" charset="-120"/>
                        </a:rPr>
                        <a:t>Total cost to serve</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250" b="1" dirty="0">
                          <a:solidFill>
                            <a:srgbClr val="4A5568"/>
                          </a:solidFill>
                          <a:latin typeface="Calibri" pitchFamily="34" charset="0"/>
                          <a:ea typeface="Calibri" pitchFamily="34" charset="-122"/>
                          <a:cs typeface="Calibri" pitchFamily="34" charset="-120"/>
                        </a:rPr>
                        <a:t>RM37</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250" b="1" dirty="0">
                          <a:solidFill>
                            <a:srgbClr val="4A5568"/>
                          </a:solidFill>
                          <a:latin typeface="Calibri" pitchFamily="34" charset="0"/>
                          <a:ea typeface="Calibri" pitchFamily="34" charset="-122"/>
                          <a:cs typeface="Calibri" pitchFamily="34" charset="-120"/>
                        </a:rPr>
                        <a:t>RM177</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250" b="1" dirty="0">
                          <a:solidFill>
                            <a:srgbClr val="4A5568"/>
                          </a:solidFill>
                          <a:latin typeface="Calibri" pitchFamily="34" charset="0"/>
                          <a:ea typeface="Calibri" pitchFamily="34" charset="-122"/>
                          <a:cs typeface="Calibri" pitchFamily="34" charset="-120"/>
                        </a:rPr>
                        <a:t>RM389</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r>
              <a:tr h="457200">
                <a:tc>
                  <a:txBody>
                    <a:bodyPr/>
                    <a:lstStyle/>
                    <a:p>
                      <a:pPr algn="l" indent="0" marL="0">
                        <a:buNone/>
                      </a:pPr>
                      <a:r>
                        <a:rPr lang="en-US" sz="1250" b="1" dirty="0">
                          <a:solidFill>
                            <a:srgbClr val="12132A"/>
                          </a:solidFill>
                          <a:latin typeface="Calibri" pitchFamily="34" charset="0"/>
                          <a:ea typeface="Calibri" pitchFamily="34" charset="-122"/>
                          <a:cs typeface="Calibri" pitchFamily="34" charset="-120"/>
                        </a:rPr>
                        <a:t>Plan price</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250" b="1" dirty="0">
                          <a:solidFill>
                            <a:srgbClr val="4A5568"/>
                          </a:solidFill>
                          <a:latin typeface="Calibri" pitchFamily="34" charset="0"/>
                          <a:ea typeface="Calibri" pitchFamily="34" charset="-122"/>
                          <a:cs typeface="Calibri" pitchFamily="34" charset="-120"/>
                        </a:rPr>
                        <a:t>RM199</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250" b="1" dirty="0">
                          <a:solidFill>
                            <a:srgbClr val="4A5568"/>
                          </a:solidFill>
                          <a:latin typeface="Calibri" pitchFamily="34" charset="0"/>
                          <a:ea typeface="Calibri" pitchFamily="34" charset="-122"/>
                          <a:cs typeface="Calibri" pitchFamily="34" charset="-120"/>
                        </a:rPr>
                        <a:t>RM799</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250" b="1" dirty="0">
                          <a:solidFill>
                            <a:srgbClr val="4A5568"/>
                          </a:solidFill>
                          <a:latin typeface="Calibri" pitchFamily="34" charset="0"/>
                          <a:ea typeface="Calibri" pitchFamily="34" charset="-122"/>
                          <a:cs typeface="Calibri" pitchFamily="34" charset="-120"/>
                        </a:rPr>
                        <a:t>RM999</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r>
              <a:tr h="502920">
                <a:tc>
                  <a:txBody>
                    <a:bodyPr/>
                    <a:lstStyle/>
                    <a:p>
                      <a:pPr algn="l" indent="0" marL="0">
                        <a:buNone/>
                      </a:pPr>
                      <a:r>
                        <a:rPr lang="en-US" sz="1400" b="1" dirty="0">
                          <a:solidFill>
                            <a:srgbClr val="12132A"/>
                          </a:solidFill>
                          <a:latin typeface="Calibri" pitchFamily="34" charset="0"/>
                          <a:ea typeface="Calibri" pitchFamily="34" charset="-122"/>
                          <a:cs typeface="Calibri" pitchFamily="34" charset="-120"/>
                        </a:rPr>
                        <a:t>All-in gross margin</a:t>
                      </a:r>
                      <a:endParaRPr lang="en-US" sz="140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EFFBF1"/>
                    </a:solidFill>
                  </a:tcPr>
                </a:tc>
                <a:tc>
                  <a:txBody>
                    <a:bodyPr/>
                    <a:lstStyle/>
                    <a:p>
                      <a:pPr algn="ctr" indent="0" marL="0">
                        <a:buNone/>
                      </a:pPr>
                      <a:r>
                        <a:rPr lang="en-US" sz="1400" b="1" dirty="0">
                          <a:solidFill>
                            <a:srgbClr val="16A34A"/>
                          </a:solidFill>
                          <a:latin typeface="Calibri" pitchFamily="34" charset="0"/>
                          <a:ea typeface="Calibri" pitchFamily="34" charset="-122"/>
                          <a:cs typeface="Calibri" pitchFamily="34" charset="-120"/>
                        </a:rPr>
                        <a:t>81%</a:t>
                      </a:r>
                      <a:endParaRPr lang="en-US" sz="140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EFFBF1"/>
                    </a:solidFill>
                  </a:tcPr>
                </a:tc>
                <a:tc>
                  <a:txBody>
                    <a:bodyPr/>
                    <a:lstStyle/>
                    <a:p>
                      <a:pPr algn="ctr" indent="0" marL="0">
                        <a:buNone/>
                      </a:pPr>
                      <a:r>
                        <a:rPr lang="en-US" sz="1400" b="1" dirty="0">
                          <a:solidFill>
                            <a:srgbClr val="16A34A"/>
                          </a:solidFill>
                          <a:latin typeface="Calibri" pitchFamily="34" charset="0"/>
                          <a:ea typeface="Calibri" pitchFamily="34" charset="-122"/>
                          <a:cs typeface="Calibri" pitchFamily="34" charset="-120"/>
                        </a:rPr>
                        <a:t>78%</a:t>
                      </a:r>
                      <a:endParaRPr lang="en-US" sz="140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EFFBF1"/>
                    </a:solidFill>
                  </a:tcPr>
                </a:tc>
                <a:tc>
                  <a:txBody>
                    <a:bodyPr/>
                    <a:lstStyle/>
                    <a:p>
                      <a:pPr algn="ctr" indent="0" marL="0">
                        <a:buNone/>
                      </a:pPr>
                      <a:r>
                        <a:rPr lang="en-US" sz="1400" b="1" dirty="0">
                          <a:solidFill>
                            <a:srgbClr val="16A34A"/>
                          </a:solidFill>
                          <a:latin typeface="Calibri" pitchFamily="34" charset="0"/>
                          <a:ea typeface="Calibri" pitchFamily="34" charset="-122"/>
                          <a:cs typeface="Calibri" pitchFamily="34" charset="-120"/>
                        </a:rPr>
                        <a:t>61%</a:t>
                      </a:r>
                      <a:endParaRPr lang="en-US" sz="140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EFFBF1"/>
                    </a:solidFill>
                  </a:tcPr>
                </a:tc>
              </a:tr>
            </a:tbl>
          </a:graphicData>
        </a:graphic>
      </p:graphicFrame>
      <p:sp>
        <p:nvSpPr>
          <p:cNvPr id="5" name="Shape 2"/>
          <p:cNvSpPr/>
          <p:nvPr/>
        </p:nvSpPr>
        <p:spPr>
          <a:xfrm>
            <a:off x="8412480" y="1874520"/>
            <a:ext cx="3227832" cy="1051560"/>
          </a:xfrm>
          <a:prstGeom prst="roundRect">
            <a:avLst>
              <a:gd name="adj" fmla="val 10435"/>
            </a:avLst>
          </a:prstGeom>
          <a:solidFill>
            <a:srgbClr val="F5F7FE"/>
          </a:solidFill>
          <a:ln w="12700">
            <a:solidFill>
              <a:srgbClr val="D7DEFB"/>
            </a:solidFill>
            <a:prstDash val="solid"/>
          </a:ln>
          <a:effectLst>
            <a:outerShdw sx="100000" sy="100000" kx="0" ky="0" algn="bl" rotWithShape="0" blurRad="101600" dist="25400" dir="5400000">
              <a:srgbClr val="9AA0B5">
                <a:alpha val="18000"/>
              </a:srgbClr>
            </a:outerShdw>
          </a:effectLst>
        </p:spPr>
      </p:sp>
      <p:sp>
        <p:nvSpPr>
          <p:cNvPr id="6" name="Text 3"/>
          <p:cNvSpPr/>
          <p:nvPr/>
        </p:nvSpPr>
        <p:spPr>
          <a:xfrm>
            <a:off x="8641080" y="2002536"/>
            <a:ext cx="1828800" cy="320040"/>
          </a:xfrm>
          <a:prstGeom prst="rect">
            <a:avLst/>
          </a:prstGeom>
          <a:noFill/>
          <a:ln/>
        </p:spPr>
        <p:txBody>
          <a:bodyPr wrap="square" lIns="0" tIns="0" rIns="0" bIns="0" rtlCol="0" anchor="ctr"/>
          <a:lstStyle/>
          <a:p>
            <a:pPr algn="l" indent="0" marL="0">
              <a:buNone/>
            </a:pPr>
            <a:r>
              <a:rPr lang="en-US" sz="1400" b="1" dirty="0">
                <a:solidFill>
                  <a:srgbClr val="12132A"/>
                </a:solidFill>
                <a:latin typeface="Calibri" pitchFamily="34" charset="0"/>
                <a:ea typeface="Calibri" pitchFamily="34" charset="-122"/>
                <a:cs typeface="Calibri" pitchFamily="34" charset="-120"/>
              </a:rPr>
              <a:t>Launch</a:t>
            </a:r>
            <a:endParaRPr lang="en-US" sz="1400" dirty="0"/>
          </a:p>
        </p:txBody>
      </p:sp>
      <p:sp>
        <p:nvSpPr>
          <p:cNvPr id="7" name="Text 4"/>
          <p:cNvSpPr/>
          <p:nvPr/>
        </p:nvSpPr>
        <p:spPr>
          <a:xfrm>
            <a:off x="8641080" y="2404872"/>
            <a:ext cx="1828800" cy="365760"/>
          </a:xfrm>
          <a:prstGeom prst="rect">
            <a:avLst/>
          </a:prstGeom>
          <a:noFill/>
          <a:ln/>
        </p:spPr>
        <p:txBody>
          <a:bodyPr wrap="square" lIns="0" tIns="0" rIns="0" bIns="0" rtlCol="0" anchor="ctr"/>
          <a:lstStyle/>
          <a:p>
            <a:pPr algn="l" indent="0" marL="0">
              <a:buNone/>
            </a:pPr>
            <a:r>
              <a:rPr lang="en-US" sz="1100" dirty="0">
                <a:solidFill>
                  <a:srgbClr val="4A5568"/>
                </a:solidFill>
                <a:latin typeface="Calibri" pitchFamily="34" charset="0"/>
                <a:ea typeface="Calibri" pitchFamily="34" charset="-122"/>
                <a:cs typeface="Calibri" pitchFamily="34" charset="-120"/>
              </a:rPr>
              <a:t>all-in gross margin</a:t>
            </a:r>
            <a:endParaRPr lang="en-US" sz="1100" dirty="0"/>
          </a:p>
        </p:txBody>
      </p:sp>
      <p:sp>
        <p:nvSpPr>
          <p:cNvPr id="8" name="Text 5"/>
          <p:cNvSpPr/>
          <p:nvPr/>
        </p:nvSpPr>
        <p:spPr>
          <a:xfrm>
            <a:off x="10314432" y="2093976"/>
            <a:ext cx="1143000" cy="621792"/>
          </a:xfrm>
          <a:prstGeom prst="rect">
            <a:avLst/>
          </a:prstGeom>
          <a:noFill/>
          <a:ln/>
        </p:spPr>
        <p:txBody>
          <a:bodyPr wrap="square" lIns="0" tIns="0" rIns="0" bIns="0" rtlCol="0" anchor="ctr"/>
          <a:lstStyle/>
          <a:p>
            <a:pPr algn="r" indent="0" marL="0">
              <a:buNone/>
            </a:pPr>
            <a:r>
              <a:rPr lang="en-US" sz="3000" b="1" dirty="0">
                <a:solidFill>
                  <a:srgbClr val="16A34A"/>
                </a:solidFill>
                <a:latin typeface="Calibri" pitchFamily="34" charset="0"/>
                <a:ea typeface="Calibri" pitchFamily="34" charset="-122"/>
                <a:cs typeface="Calibri" pitchFamily="34" charset="-120"/>
              </a:rPr>
              <a:t>81%</a:t>
            </a:r>
            <a:endParaRPr lang="en-US" sz="3000" dirty="0"/>
          </a:p>
        </p:txBody>
      </p:sp>
      <p:sp>
        <p:nvSpPr>
          <p:cNvPr id="9" name="Shape 6"/>
          <p:cNvSpPr/>
          <p:nvPr/>
        </p:nvSpPr>
        <p:spPr>
          <a:xfrm>
            <a:off x="8412480" y="3044952"/>
            <a:ext cx="3227832" cy="1051560"/>
          </a:xfrm>
          <a:prstGeom prst="roundRect">
            <a:avLst>
              <a:gd name="adj" fmla="val 10435"/>
            </a:avLst>
          </a:prstGeom>
          <a:solidFill>
            <a:srgbClr val="F5F7FE"/>
          </a:solidFill>
          <a:ln w="12700">
            <a:solidFill>
              <a:srgbClr val="D7DEFB"/>
            </a:solidFill>
            <a:prstDash val="solid"/>
          </a:ln>
          <a:effectLst>
            <a:outerShdw sx="100000" sy="100000" kx="0" ky="0" algn="bl" rotWithShape="0" blurRad="101600" dist="25400" dir="5400000">
              <a:srgbClr val="9AA0B5">
                <a:alpha val="18000"/>
              </a:srgbClr>
            </a:outerShdw>
          </a:effectLst>
        </p:spPr>
      </p:sp>
      <p:sp>
        <p:nvSpPr>
          <p:cNvPr id="10" name="Text 7"/>
          <p:cNvSpPr/>
          <p:nvPr/>
        </p:nvSpPr>
        <p:spPr>
          <a:xfrm>
            <a:off x="8641080" y="3172968"/>
            <a:ext cx="1828800" cy="320040"/>
          </a:xfrm>
          <a:prstGeom prst="rect">
            <a:avLst/>
          </a:prstGeom>
          <a:noFill/>
          <a:ln/>
        </p:spPr>
        <p:txBody>
          <a:bodyPr wrap="square" lIns="0" tIns="0" rIns="0" bIns="0" rtlCol="0" anchor="ctr"/>
          <a:lstStyle/>
          <a:p>
            <a:pPr algn="l" indent="0" marL="0">
              <a:buNone/>
            </a:pPr>
            <a:r>
              <a:rPr lang="en-US" sz="1400" b="1" dirty="0">
                <a:solidFill>
                  <a:srgbClr val="12132A"/>
                </a:solidFill>
                <a:latin typeface="Calibri" pitchFamily="34" charset="0"/>
                <a:ea typeface="Calibri" pitchFamily="34" charset="-122"/>
                <a:cs typeface="Calibri" pitchFamily="34" charset="-120"/>
              </a:rPr>
              <a:t>Scale</a:t>
            </a:r>
            <a:endParaRPr lang="en-US" sz="1400" dirty="0"/>
          </a:p>
        </p:txBody>
      </p:sp>
      <p:sp>
        <p:nvSpPr>
          <p:cNvPr id="11" name="Text 8"/>
          <p:cNvSpPr/>
          <p:nvPr/>
        </p:nvSpPr>
        <p:spPr>
          <a:xfrm>
            <a:off x="8641080" y="3575304"/>
            <a:ext cx="1828800" cy="365760"/>
          </a:xfrm>
          <a:prstGeom prst="rect">
            <a:avLst/>
          </a:prstGeom>
          <a:noFill/>
          <a:ln/>
        </p:spPr>
        <p:txBody>
          <a:bodyPr wrap="square" lIns="0" tIns="0" rIns="0" bIns="0" rtlCol="0" anchor="ctr"/>
          <a:lstStyle/>
          <a:p>
            <a:pPr algn="l" indent="0" marL="0">
              <a:buNone/>
            </a:pPr>
            <a:r>
              <a:rPr lang="en-US" sz="1100" dirty="0">
                <a:solidFill>
                  <a:srgbClr val="4A5568"/>
                </a:solidFill>
                <a:latin typeface="Calibri" pitchFamily="34" charset="0"/>
                <a:ea typeface="Calibri" pitchFamily="34" charset="-122"/>
                <a:cs typeface="Calibri" pitchFamily="34" charset="-120"/>
              </a:rPr>
              <a:t>all-in gross margin</a:t>
            </a:r>
            <a:endParaRPr lang="en-US" sz="1100" dirty="0"/>
          </a:p>
        </p:txBody>
      </p:sp>
      <p:sp>
        <p:nvSpPr>
          <p:cNvPr id="12" name="Text 9"/>
          <p:cNvSpPr/>
          <p:nvPr/>
        </p:nvSpPr>
        <p:spPr>
          <a:xfrm>
            <a:off x="10314432" y="3264408"/>
            <a:ext cx="1143000" cy="621792"/>
          </a:xfrm>
          <a:prstGeom prst="rect">
            <a:avLst/>
          </a:prstGeom>
          <a:noFill/>
          <a:ln/>
        </p:spPr>
        <p:txBody>
          <a:bodyPr wrap="square" lIns="0" tIns="0" rIns="0" bIns="0" rtlCol="0" anchor="ctr"/>
          <a:lstStyle/>
          <a:p>
            <a:pPr algn="r" indent="0" marL="0">
              <a:buNone/>
            </a:pPr>
            <a:r>
              <a:rPr lang="en-US" sz="3000" b="1" dirty="0">
                <a:solidFill>
                  <a:srgbClr val="16A34A"/>
                </a:solidFill>
                <a:latin typeface="Calibri" pitchFamily="34" charset="0"/>
                <a:ea typeface="Calibri" pitchFamily="34" charset="-122"/>
                <a:cs typeface="Calibri" pitchFamily="34" charset="-120"/>
              </a:rPr>
              <a:t>78%</a:t>
            </a:r>
            <a:endParaRPr lang="en-US" sz="3000" dirty="0"/>
          </a:p>
        </p:txBody>
      </p:sp>
      <p:sp>
        <p:nvSpPr>
          <p:cNvPr id="13" name="Shape 10"/>
          <p:cNvSpPr/>
          <p:nvPr/>
        </p:nvSpPr>
        <p:spPr>
          <a:xfrm>
            <a:off x="8412480" y="4215384"/>
            <a:ext cx="3227832" cy="1051560"/>
          </a:xfrm>
          <a:prstGeom prst="roundRect">
            <a:avLst>
              <a:gd name="adj" fmla="val 10435"/>
            </a:avLst>
          </a:prstGeom>
          <a:solidFill>
            <a:srgbClr val="F5F7FE"/>
          </a:solidFill>
          <a:ln w="12700">
            <a:solidFill>
              <a:srgbClr val="D7DEFB"/>
            </a:solidFill>
            <a:prstDash val="solid"/>
          </a:ln>
          <a:effectLst>
            <a:outerShdw sx="100000" sy="100000" kx="0" ky="0" algn="bl" rotWithShape="0" blurRad="101600" dist="25400" dir="5400000">
              <a:srgbClr val="9AA0B5">
                <a:alpha val="18000"/>
              </a:srgbClr>
            </a:outerShdw>
          </a:effectLst>
        </p:spPr>
      </p:sp>
      <p:sp>
        <p:nvSpPr>
          <p:cNvPr id="14" name="Text 11"/>
          <p:cNvSpPr/>
          <p:nvPr/>
        </p:nvSpPr>
        <p:spPr>
          <a:xfrm>
            <a:off x="8641080" y="4343400"/>
            <a:ext cx="1828800" cy="320040"/>
          </a:xfrm>
          <a:prstGeom prst="rect">
            <a:avLst/>
          </a:prstGeom>
          <a:noFill/>
          <a:ln/>
        </p:spPr>
        <p:txBody>
          <a:bodyPr wrap="square" lIns="0" tIns="0" rIns="0" bIns="0" rtlCol="0" anchor="ctr"/>
          <a:lstStyle/>
          <a:p>
            <a:pPr algn="l" indent="0" marL="0">
              <a:buNone/>
            </a:pPr>
            <a:r>
              <a:rPr lang="en-US" sz="1400" b="1" dirty="0">
                <a:solidFill>
                  <a:srgbClr val="12132A"/>
                </a:solidFill>
                <a:latin typeface="Calibri" pitchFamily="34" charset="0"/>
                <a:ea typeface="Calibri" pitchFamily="34" charset="-122"/>
                <a:cs typeface="Calibri" pitchFamily="34" charset="-120"/>
              </a:rPr>
              <a:t>Elite</a:t>
            </a:r>
            <a:endParaRPr lang="en-US" sz="1400" dirty="0"/>
          </a:p>
        </p:txBody>
      </p:sp>
      <p:sp>
        <p:nvSpPr>
          <p:cNvPr id="15" name="Text 12"/>
          <p:cNvSpPr/>
          <p:nvPr/>
        </p:nvSpPr>
        <p:spPr>
          <a:xfrm>
            <a:off x="8641080" y="4745736"/>
            <a:ext cx="1828800" cy="365760"/>
          </a:xfrm>
          <a:prstGeom prst="rect">
            <a:avLst/>
          </a:prstGeom>
          <a:noFill/>
          <a:ln/>
        </p:spPr>
        <p:txBody>
          <a:bodyPr wrap="square" lIns="0" tIns="0" rIns="0" bIns="0" rtlCol="0" anchor="ctr"/>
          <a:lstStyle/>
          <a:p>
            <a:pPr algn="l" indent="0" marL="0">
              <a:buNone/>
            </a:pPr>
            <a:r>
              <a:rPr lang="en-US" sz="1100" dirty="0">
                <a:solidFill>
                  <a:srgbClr val="4A5568"/>
                </a:solidFill>
                <a:latin typeface="Calibri" pitchFamily="34" charset="0"/>
                <a:ea typeface="Calibri" pitchFamily="34" charset="-122"/>
                <a:cs typeface="Calibri" pitchFamily="34" charset="-120"/>
              </a:rPr>
              <a:t>all-in gross margin</a:t>
            </a:r>
            <a:endParaRPr lang="en-US" sz="1100" dirty="0"/>
          </a:p>
        </p:txBody>
      </p:sp>
      <p:sp>
        <p:nvSpPr>
          <p:cNvPr id="16" name="Text 13"/>
          <p:cNvSpPr/>
          <p:nvPr/>
        </p:nvSpPr>
        <p:spPr>
          <a:xfrm>
            <a:off x="10314432" y="4434840"/>
            <a:ext cx="1143000" cy="621792"/>
          </a:xfrm>
          <a:prstGeom prst="rect">
            <a:avLst/>
          </a:prstGeom>
          <a:noFill/>
          <a:ln/>
        </p:spPr>
        <p:txBody>
          <a:bodyPr wrap="square" lIns="0" tIns="0" rIns="0" bIns="0" rtlCol="0" anchor="ctr"/>
          <a:lstStyle/>
          <a:p>
            <a:pPr algn="r" indent="0" marL="0">
              <a:buNone/>
            </a:pPr>
            <a:r>
              <a:rPr lang="en-US" sz="3000" b="1" dirty="0">
                <a:solidFill>
                  <a:srgbClr val="16A34A"/>
                </a:solidFill>
                <a:latin typeface="Calibri" pitchFamily="34" charset="0"/>
                <a:ea typeface="Calibri" pitchFamily="34" charset="-122"/>
                <a:cs typeface="Calibri" pitchFamily="34" charset="-120"/>
              </a:rPr>
              <a:t>61%</a:t>
            </a:r>
            <a:endParaRPr lang="en-US" sz="3000" dirty="0"/>
          </a:p>
        </p:txBody>
      </p:sp>
      <p:sp>
        <p:nvSpPr>
          <p:cNvPr id="17" name="Text 14"/>
          <p:cNvSpPr/>
          <p:nvPr/>
        </p:nvSpPr>
        <p:spPr>
          <a:xfrm>
            <a:off x="548640" y="6144768"/>
            <a:ext cx="11064240" cy="274320"/>
          </a:xfrm>
          <a:prstGeom prst="rect">
            <a:avLst/>
          </a:prstGeom>
          <a:noFill/>
          <a:ln/>
        </p:spPr>
        <p:txBody>
          <a:bodyPr wrap="square" lIns="0" tIns="0" rIns="0" bIns="0" rtlCol="0" anchor="ctr"/>
          <a:lstStyle/>
          <a:p>
            <a:pPr algn="l" indent="0" marL="0">
              <a:buNone/>
            </a:pPr>
            <a:r>
              <a:rPr lang="en-US" sz="950" i="1" dirty="0">
                <a:solidFill>
                  <a:srgbClr val="6B7280"/>
                </a:solidFill>
                <a:latin typeface="Calibri" pitchFamily="34" charset="0"/>
                <a:ea typeface="Calibri" pitchFamily="34" charset="-122"/>
                <a:cs typeface="Calibri" pitchFamily="34" charset="-120"/>
              </a:rPr>
              <a:t>Assumes typical AI usage at the plan allowance and ~5 / 25 / 70 video interviews per month. Monthly card billing (annual lowers the Stripe fee). Platform share amortises toward zero with scale. Realistic usage runs lower, so margins run higher.</a:t>
            </a:r>
            <a:endParaRPr lang="en-US" sz="950" dirty="0"/>
          </a:p>
        </p:txBody>
      </p:sp>
      <p:sp>
        <p:nvSpPr>
          <p:cNvPr id="18" name="Text 15"/>
          <p:cNvSpPr/>
          <p:nvPr/>
        </p:nvSpPr>
        <p:spPr>
          <a:xfrm>
            <a:off x="548640" y="6455664"/>
            <a:ext cx="7315200" cy="274320"/>
          </a:xfrm>
          <a:prstGeom prst="rect">
            <a:avLst/>
          </a:prstGeom>
          <a:noFill/>
          <a:ln/>
        </p:spPr>
        <p:txBody>
          <a:bodyPr wrap="square" lIns="0" tIns="0" rIns="0" bIns="0" rtlCol="0" anchor="ctr"/>
          <a:lstStyle/>
          <a:p>
            <a:pPr algn="l" indent="0" marL="0">
              <a:buNone/>
            </a:pPr>
            <a:r>
              <a:rPr lang="en-US" sz="900" dirty="0">
                <a:solidFill>
                  <a:srgbClr val="6B7280"/>
                </a:solidFill>
                <a:latin typeface="Calibri" pitchFamily="34" charset="0"/>
                <a:ea typeface="Calibri" pitchFamily="34" charset="-122"/>
                <a:cs typeface="Calibri" pitchFamily="34" charset="-120"/>
              </a:rPr>
              <a:t>Aster  ·  Pricing model for CFO review</a:t>
            </a:r>
            <a:endParaRPr lang="en-US" sz="900" dirty="0"/>
          </a:p>
        </p:txBody>
      </p:sp>
      <p:sp>
        <p:nvSpPr>
          <p:cNvPr id="19" name="Text 16"/>
          <p:cNvSpPr/>
          <p:nvPr/>
        </p:nvSpPr>
        <p:spPr>
          <a:xfrm>
            <a:off x="11338560" y="6455664"/>
            <a:ext cx="36576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502920"/>
            <a:ext cx="8229600" cy="274320"/>
          </a:xfrm>
          <a:prstGeom prst="rect">
            <a:avLst/>
          </a:prstGeom>
          <a:noFill/>
          <a:ln/>
        </p:spPr>
        <p:txBody>
          <a:bodyPr wrap="square" lIns="0" tIns="0" rIns="0" bIns="0" rtlCol="0" anchor="ctr"/>
          <a:lstStyle/>
          <a:p>
            <a:pPr algn="l" indent="0" marL="0">
              <a:buNone/>
            </a:pPr>
            <a:r>
              <a:rPr lang="en-US" sz="1200" b="1" spc="200" kern="0" dirty="0">
                <a:solidFill>
                  <a:srgbClr val="0B2AE0"/>
                </a:solidFill>
                <a:latin typeface="Calibri" pitchFamily="34" charset="0"/>
                <a:ea typeface="Calibri" pitchFamily="34" charset="-122"/>
                <a:cs typeface="Calibri" pitchFamily="34" charset="-120"/>
              </a:rPr>
              <a:t>WHERE MARGIN EXPANDS</a:t>
            </a:r>
            <a:endParaRPr lang="en-US" sz="1200" dirty="0"/>
          </a:p>
        </p:txBody>
      </p:sp>
      <p:sp>
        <p:nvSpPr>
          <p:cNvPr id="3" name="Text 1"/>
          <p:cNvSpPr/>
          <p:nvPr/>
        </p:nvSpPr>
        <p:spPr>
          <a:xfrm>
            <a:off x="548640" y="777240"/>
            <a:ext cx="11064240" cy="822960"/>
          </a:xfrm>
          <a:prstGeom prst="rect">
            <a:avLst/>
          </a:prstGeom>
          <a:noFill/>
          <a:ln/>
        </p:spPr>
        <p:txBody>
          <a:bodyPr wrap="square" lIns="0" tIns="0" rIns="0" bIns="0" rtlCol="0" anchor="ctr"/>
          <a:lstStyle/>
          <a:p>
            <a:pPr algn="l" indent="0" marL="0">
              <a:buNone/>
            </a:pPr>
            <a:r>
              <a:rPr lang="en-US" sz="3400" b="1" dirty="0">
                <a:solidFill>
                  <a:srgbClr val="12132A"/>
                </a:solidFill>
                <a:latin typeface="Calibri" pitchFamily="34" charset="0"/>
                <a:ea typeface="Calibri" pitchFamily="34" charset="-122"/>
                <a:cs typeface="Calibri" pitchFamily="34" charset="-120"/>
              </a:rPr>
              <a:t>Credit top-ups carry the highest margin</a:t>
            </a:r>
            <a:endParaRPr lang="en-US" sz="3400" dirty="0"/>
          </a:p>
        </p:txBody>
      </p:sp>
      <p:sp>
        <p:nvSpPr>
          <p:cNvPr id="4" name="Text 2"/>
          <p:cNvSpPr/>
          <p:nvPr/>
        </p:nvSpPr>
        <p:spPr>
          <a:xfrm>
            <a:off x="548640" y="1554480"/>
            <a:ext cx="11064240" cy="640080"/>
          </a:xfrm>
          <a:prstGeom prst="rect">
            <a:avLst/>
          </a:prstGeom>
          <a:noFill/>
          <a:ln/>
        </p:spPr>
        <p:txBody>
          <a:bodyPr wrap="square" lIns="0" tIns="0" rIns="0" bIns="0" rtlCol="0" anchor="ctr"/>
          <a:lstStyle/>
          <a:p>
            <a:pPr algn="l" indent="0" marL="0">
              <a:buNone/>
            </a:pPr>
            <a:r>
              <a:rPr lang="en-US" sz="1400" dirty="0">
                <a:solidFill>
                  <a:srgbClr val="4A5568"/>
                </a:solidFill>
                <a:latin typeface="Calibri" pitchFamily="34" charset="0"/>
                <a:ea typeface="Calibri" pitchFamily="34" charset="-122"/>
                <a:cs typeface="Calibri" pitchFamily="34" charset="-120"/>
              </a:rPr>
              <a:t>Once an account exhausts its allowance, every extra action sells at the list rate against a few cents of AI cost. Growth accounts that buy top-ups lift blended margin above the subscription-only figures.</a:t>
            </a:r>
            <a:endParaRPr lang="en-US" sz="1400" dirty="0"/>
          </a:p>
        </p:txBody>
      </p:sp>
      <p:sp>
        <p:nvSpPr>
          <p:cNvPr id="5" name="Shape 3"/>
          <p:cNvSpPr/>
          <p:nvPr/>
        </p:nvSpPr>
        <p:spPr>
          <a:xfrm>
            <a:off x="868680" y="2468880"/>
            <a:ext cx="3383280" cy="2788920"/>
          </a:xfrm>
          <a:prstGeom prst="roundRect">
            <a:avLst>
              <a:gd name="adj" fmla="val 3934"/>
            </a:avLst>
          </a:prstGeom>
          <a:solidFill>
            <a:srgbClr val="FFFFFF"/>
          </a:solidFill>
          <a:ln w="12700">
            <a:solidFill>
              <a:srgbClr val="DEDEE3"/>
            </a:solidFill>
            <a:prstDash val="solid"/>
          </a:ln>
          <a:effectLst>
            <a:outerShdw sx="100000" sy="100000" kx="0" ky="0" algn="bl" rotWithShape="0" blurRad="101600" dist="25400" dir="5400000">
              <a:srgbClr val="9AA0B5">
                <a:alpha val="18000"/>
              </a:srgbClr>
            </a:outerShdw>
          </a:effectLst>
        </p:spPr>
      </p:sp>
      <p:sp>
        <p:nvSpPr>
          <p:cNvPr id="6" name="Text 4"/>
          <p:cNvSpPr/>
          <p:nvPr/>
        </p:nvSpPr>
        <p:spPr>
          <a:xfrm>
            <a:off x="1124712" y="2697480"/>
            <a:ext cx="2926080" cy="457200"/>
          </a:xfrm>
          <a:prstGeom prst="rect">
            <a:avLst/>
          </a:prstGeom>
          <a:noFill/>
          <a:ln/>
        </p:spPr>
        <p:txBody>
          <a:bodyPr wrap="square" lIns="0" tIns="0" rIns="0" bIns="0" rtlCol="0" anchor="ctr"/>
          <a:lstStyle/>
          <a:p>
            <a:pPr algn="l" indent="0" marL="0">
              <a:buNone/>
            </a:pPr>
            <a:r>
              <a:rPr lang="en-US" sz="1550" b="1" dirty="0">
                <a:solidFill>
                  <a:srgbClr val="12132A"/>
                </a:solidFill>
                <a:latin typeface="Calibri" pitchFamily="34" charset="0"/>
                <a:ea typeface="Calibri" pitchFamily="34" charset="-122"/>
                <a:cs typeface="Calibri" pitchFamily="34" charset="-120"/>
              </a:rPr>
              <a:t>Screening</a:t>
            </a:r>
            <a:endParaRPr lang="en-US" sz="1550" dirty="0"/>
          </a:p>
        </p:txBody>
      </p:sp>
      <p:sp>
        <p:nvSpPr>
          <p:cNvPr id="7" name="Text 5"/>
          <p:cNvSpPr/>
          <p:nvPr/>
        </p:nvSpPr>
        <p:spPr>
          <a:xfrm>
            <a:off x="1124712" y="3200400"/>
            <a:ext cx="2871216" cy="777240"/>
          </a:xfrm>
          <a:prstGeom prst="rect">
            <a:avLst/>
          </a:prstGeom>
          <a:noFill/>
          <a:ln/>
        </p:spPr>
        <p:txBody>
          <a:bodyPr wrap="square" lIns="0" tIns="0" rIns="0" bIns="0" rtlCol="0" anchor="ctr"/>
          <a:lstStyle/>
          <a:p>
            <a:pPr algn="l" indent="0" marL="0">
              <a:buNone/>
            </a:pPr>
            <a:r>
              <a:rPr lang="en-US" sz="4600" b="1" dirty="0">
                <a:solidFill>
                  <a:srgbClr val="16A34A"/>
                </a:solidFill>
                <a:latin typeface="Calibri" pitchFamily="34" charset="0"/>
                <a:ea typeface="Calibri" pitchFamily="34" charset="-122"/>
                <a:cs typeface="Calibri" pitchFamily="34" charset="-120"/>
              </a:rPr>
              <a:t>96%</a:t>
            </a:r>
            <a:endParaRPr lang="en-US" sz="4600" dirty="0"/>
          </a:p>
        </p:txBody>
      </p:sp>
      <p:sp>
        <p:nvSpPr>
          <p:cNvPr id="8" name="Text 6"/>
          <p:cNvSpPr/>
          <p:nvPr/>
        </p:nvSpPr>
        <p:spPr>
          <a:xfrm>
            <a:off x="1124712" y="4005072"/>
            <a:ext cx="2871216" cy="274320"/>
          </a:xfrm>
          <a:prstGeom prst="rect">
            <a:avLst/>
          </a:prstGeom>
          <a:noFill/>
          <a:ln/>
        </p:spPr>
        <p:txBody>
          <a:bodyPr wrap="square" lIns="0" tIns="0" rIns="0" bIns="0" rtlCol="0" anchor="ctr"/>
          <a:lstStyle/>
          <a:p>
            <a:pPr algn="l" indent="0" marL="0">
              <a:buNone/>
            </a:pPr>
            <a:r>
              <a:rPr lang="en-US" sz="1100" dirty="0">
                <a:solidFill>
                  <a:srgbClr val="6B7280"/>
                </a:solidFill>
                <a:latin typeface="Calibri" pitchFamily="34" charset="0"/>
                <a:ea typeface="Calibri" pitchFamily="34" charset="-122"/>
                <a:cs typeface="Calibri" pitchFamily="34" charset="-120"/>
              </a:rPr>
              <a:t>gross margin at list</a:t>
            </a:r>
            <a:endParaRPr lang="en-US" sz="1100" dirty="0"/>
          </a:p>
        </p:txBody>
      </p:sp>
      <p:sp>
        <p:nvSpPr>
          <p:cNvPr id="9" name="Shape 7"/>
          <p:cNvSpPr/>
          <p:nvPr/>
        </p:nvSpPr>
        <p:spPr>
          <a:xfrm>
            <a:off x="1124712" y="4370832"/>
            <a:ext cx="2871216" cy="0"/>
          </a:xfrm>
          <a:prstGeom prst="line">
            <a:avLst/>
          </a:prstGeom>
          <a:noFill/>
          <a:ln w="12700">
            <a:solidFill>
              <a:srgbClr val="DEDEE3"/>
            </a:solidFill>
            <a:prstDash val="solid"/>
          </a:ln>
        </p:spPr>
      </p:sp>
      <p:sp>
        <p:nvSpPr>
          <p:cNvPr id="10" name="Text 8"/>
          <p:cNvSpPr/>
          <p:nvPr/>
        </p:nvSpPr>
        <p:spPr>
          <a:xfrm>
            <a:off x="1124712" y="4480560"/>
            <a:ext cx="2926080" cy="457200"/>
          </a:xfrm>
          <a:prstGeom prst="rect">
            <a:avLst/>
          </a:prstGeom>
          <a:noFill/>
          <a:ln/>
        </p:spPr>
        <p:txBody>
          <a:bodyPr wrap="square" lIns="0" tIns="0" rIns="0" bIns="0" rtlCol="0" anchor="ctr"/>
          <a:lstStyle/>
          <a:p>
            <a:pPr algn="l" indent="0" marL="0">
              <a:buNone/>
            </a:pPr>
            <a:r>
              <a:rPr lang="en-US" sz="1300" dirty="0">
                <a:solidFill>
                  <a:srgbClr val="4A5568"/>
                </a:solidFill>
                <a:latin typeface="Calibri" pitchFamily="34" charset="0"/>
                <a:ea typeface="Calibri" pitchFamily="34" charset="-122"/>
                <a:cs typeface="Calibri" pitchFamily="34" charset="-120"/>
              </a:rPr>
              <a:t>Price </a:t>
            </a:r>
            <a:pPr algn="l" indent="0" marL="0">
              <a:buNone/>
            </a:pPr>
            <a:r>
              <a:rPr lang="en-US" sz="1300" b="1" dirty="0">
                <a:solidFill>
                  <a:srgbClr val="12132A"/>
                </a:solidFill>
                <a:latin typeface="Calibri" pitchFamily="34" charset="0"/>
                <a:ea typeface="Calibri" pitchFamily="34" charset="-122"/>
                <a:cs typeface="Calibri" pitchFamily="34" charset="-120"/>
              </a:rPr>
              <a:t>RM4.09   </a:t>
            </a:r>
            <a:pPr algn="l" indent="0" marL="0">
              <a:buNone/>
            </a:pPr>
            <a:r>
              <a:rPr lang="en-US" sz="1300" dirty="0">
                <a:solidFill>
                  <a:srgbClr val="4A5568"/>
                </a:solidFill>
                <a:latin typeface="Calibri" pitchFamily="34" charset="0"/>
                <a:ea typeface="Calibri" pitchFamily="34" charset="-122"/>
                <a:cs typeface="Calibri" pitchFamily="34" charset="-120"/>
              </a:rPr>
              <a:t>Cost </a:t>
            </a:r>
            <a:pPr algn="l" indent="0" marL="0">
              <a:buNone/>
            </a:pPr>
            <a:r>
              <a:rPr lang="en-US" sz="1300" b="1" dirty="0">
                <a:solidFill>
                  <a:srgbClr val="12132A"/>
                </a:solidFill>
                <a:latin typeface="Calibri" pitchFamily="34" charset="0"/>
                <a:ea typeface="Calibri" pitchFamily="34" charset="-122"/>
                <a:cs typeface="Calibri" pitchFamily="34" charset="-120"/>
              </a:rPr>
              <a:t>RM0.16</a:t>
            </a:r>
            <a:endParaRPr lang="en-US" sz="1300" dirty="0"/>
          </a:p>
        </p:txBody>
      </p:sp>
      <p:sp>
        <p:nvSpPr>
          <p:cNvPr id="11" name="Shape 9"/>
          <p:cNvSpPr/>
          <p:nvPr/>
        </p:nvSpPr>
        <p:spPr>
          <a:xfrm>
            <a:off x="4572000" y="2468880"/>
            <a:ext cx="3383280" cy="2788920"/>
          </a:xfrm>
          <a:prstGeom prst="roundRect">
            <a:avLst>
              <a:gd name="adj" fmla="val 3934"/>
            </a:avLst>
          </a:prstGeom>
          <a:solidFill>
            <a:srgbClr val="FFFFFF"/>
          </a:solidFill>
          <a:ln w="12700">
            <a:solidFill>
              <a:srgbClr val="DEDEE3"/>
            </a:solidFill>
            <a:prstDash val="solid"/>
          </a:ln>
          <a:effectLst>
            <a:outerShdw sx="100000" sy="100000" kx="0" ky="0" algn="bl" rotWithShape="0" blurRad="101600" dist="25400" dir="5400000">
              <a:srgbClr val="9AA0B5">
                <a:alpha val="18000"/>
              </a:srgbClr>
            </a:outerShdw>
          </a:effectLst>
        </p:spPr>
      </p:sp>
      <p:sp>
        <p:nvSpPr>
          <p:cNvPr id="12" name="Text 10"/>
          <p:cNvSpPr/>
          <p:nvPr/>
        </p:nvSpPr>
        <p:spPr>
          <a:xfrm>
            <a:off x="4828032" y="2697480"/>
            <a:ext cx="2926080" cy="457200"/>
          </a:xfrm>
          <a:prstGeom prst="rect">
            <a:avLst/>
          </a:prstGeom>
          <a:noFill/>
          <a:ln/>
        </p:spPr>
        <p:txBody>
          <a:bodyPr wrap="square" lIns="0" tIns="0" rIns="0" bIns="0" rtlCol="0" anchor="ctr"/>
          <a:lstStyle/>
          <a:p>
            <a:pPr algn="l" indent="0" marL="0">
              <a:buNone/>
            </a:pPr>
            <a:r>
              <a:rPr lang="en-US" sz="1550" b="1" dirty="0">
                <a:solidFill>
                  <a:srgbClr val="12132A"/>
                </a:solidFill>
                <a:latin typeface="Calibri" pitchFamily="34" charset="0"/>
                <a:ea typeface="Calibri" pitchFamily="34" charset="-122"/>
                <a:cs typeface="Calibri" pitchFamily="34" charset="-120"/>
              </a:rPr>
              <a:t>AI Rank / Insight / Q</a:t>
            </a:r>
            <a:endParaRPr lang="en-US" sz="1550" dirty="0"/>
          </a:p>
        </p:txBody>
      </p:sp>
      <p:sp>
        <p:nvSpPr>
          <p:cNvPr id="13" name="Text 11"/>
          <p:cNvSpPr/>
          <p:nvPr/>
        </p:nvSpPr>
        <p:spPr>
          <a:xfrm>
            <a:off x="4828032" y="3200400"/>
            <a:ext cx="2871216" cy="777240"/>
          </a:xfrm>
          <a:prstGeom prst="rect">
            <a:avLst/>
          </a:prstGeom>
          <a:noFill/>
          <a:ln/>
        </p:spPr>
        <p:txBody>
          <a:bodyPr wrap="square" lIns="0" tIns="0" rIns="0" bIns="0" rtlCol="0" anchor="ctr"/>
          <a:lstStyle/>
          <a:p>
            <a:pPr algn="l" indent="0" marL="0">
              <a:buNone/>
            </a:pPr>
            <a:r>
              <a:rPr lang="en-US" sz="4600" b="1" dirty="0">
                <a:solidFill>
                  <a:srgbClr val="16A34A"/>
                </a:solidFill>
                <a:latin typeface="Calibri" pitchFamily="34" charset="0"/>
                <a:ea typeface="Calibri" pitchFamily="34" charset="-122"/>
                <a:cs typeface="Calibri" pitchFamily="34" charset="-120"/>
              </a:rPr>
              <a:t>88%</a:t>
            </a:r>
            <a:endParaRPr lang="en-US" sz="4600" dirty="0"/>
          </a:p>
        </p:txBody>
      </p:sp>
      <p:sp>
        <p:nvSpPr>
          <p:cNvPr id="14" name="Text 12"/>
          <p:cNvSpPr/>
          <p:nvPr/>
        </p:nvSpPr>
        <p:spPr>
          <a:xfrm>
            <a:off x="4828032" y="4005072"/>
            <a:ext cx="2871216" cy="274320"/>
          </a:xfrm>
          <a:prstGeom prst="rect">
            <a:avLst/>
          </a:prstGeom>
          <a:noFill/>
          <a:ln/>
        </p:spPr>
        <p:txBody>
          <a:bodyPr wrap="square" lIns="0" tIns="0" rIns="0" bIns="0" rtlCol="0" anchor="ctr"/>
          <a:lstStyle/>
          <a:p>
            <a:pPr algn="l" indent="0" marL="0">
              <a:buNone/>
            </a:pPr>
            <a:r>
              <a:rPr lang="en-US" sz="1100" dirty="0">
                <a:solidFill>
                  <a:srgbClr val="6B7280"/>
                </a:solidFill>
                <a:latin typeface="Calibri" pitchFamily="34" charset="0"/>
                <a:ea typeface="Calibri" pitchFamily="34" charset="-122"/>
                <a:cs typeface="Calibri" pitchFamily="34" charset="-120"/>
              </a:rPr>
              <a:t>gross margin at list</a:t>
            </a:r>
            <a:endParaRPr lang="en-US" sz="1100" dirty="0"/>
          </a:p>
        </p:txBody>
      </p:sp>
      <p:sp>
        <p:nvSpPr>
          <p:cNvPr id="15" name="Shape 13"/>
          <p:cNvSpPr/>
          <p:nvPr/>
        </p:nvSpPr>
        <p:spPr>
          <a:xfrm>
            <a:off x="4828032" y="4370832"/>
            <a:ext cx="2871216" cy="0"/>
          </a:xfrm>
          <a:prstGeom prst="line">
            <a:avLst/>
          </a:prstGeom>
          <a:noFill/>
          <a:ln w="12700">
            <a:solidFill>
              <a:srgbClr val="DEDEE3"/>
            </a:solidFill>
            <a:prstDash val="solid"/>
          </a:ln>
        </p:spPr>
      </p:sp>
      <p:sp>
        <p:nvSpPr>
          <p:cNvPr id="16" name="Text 14"/>
          <p:cNvSpPr/>
          <p:nvPr/>
        </p:nvSpPr>
        <p:spPr>
          <a:xfrm>
            <a:off x="4828032" y="4480560"/>
            <a:ext cx="2926080" cy="457200"/>
          </a:xfrm>
          <a:prstGeom prst="rect">
            <a:avLst/>
          </a:prstGeom>
          <a:noFill/>
          <a:ln/>
        </p:spPr>
        <p:txBody>
          <a:bodyPr wrap="square" lIns="0" tIns="0" rIns="0" bIns="0" rtlCol="0" anchor="ctr"/>
          <a:lstStyle/>
          <a:p>
            <a:pPr algn="l" indent="0" marL="0">
              <a:buNone/>
            </a:pPr>
            <a:r>
              <a:rPr lang="en-US" sz="1300" dirty="0">
                <a:solidFill>
                  <a:srgbClr val="4A5568"/>
                </a:solidFill>
                <a:latin typeface="Calibri" pitchFamily="34" charset="0"/>
                <a:ea typeface="Calibri" pitchFamily="34" charset="-122"/>
                <a:cs typeface="Calibri" pitchFamily="34" charset="-120"/>
              </a:rPr>
              <a:t>Price </a:t>
            </a:r>
            <a:pPr algn="l" indent="0" marL="0">
              <a:buNone/>
            </a:pPr>
            <a:r>
              <a:rPr lang="en-US" sz="1300" b="1" dirty="0">
                <a:solidFill>
                  <a:srgbClr val="12132A"/>
                </a:solidFill>
                <a:latin typeface="Calibri" pitchFamily="34" charset="0"/>
                <a:ea typeface="Calibri" pitchFamily="34" charset="-122"/>
                <a:cs typeface="Calibri" pitchFamily="34" charset="-120"/>
              </a:rPr>
              <a:t>RM1.64   </a:t>
            </a:r>
            <a:pPr algn="l" indent="0" marL="0">
              <a:buNone/>
            </a:pPr>
            <a:r>
              <a:rPr lang="en-US" sz="1300" dirty="0">
                <a:solidFill>
                  <a:srgbClr val="4A5568"/>
                </a:solidFill>
                <a:latin typeface="Calibri" pitchFamily="34" charset="0"/>
                <a:ea typeface="Calibri" pitchFamily="34" charset="-122"/>
                <a:cs typeface="Calibri" pitchFamily="34" charset="-120"/>
              </a:rPr>
              <a:t>Cost </a:t>
            </a:r>
            <a:pPr algn="l" indent="0" marL="0">
              <a:buNone/>
            </a:pPr>
            <a:r>
              <a:rPr lang="en-US" sz="1300" b="1" dirty="0">
                <a:solidFill>
                  <a:srgbClr val="12132A"/>
                </a:solidFill>
                <a:latin typeface="Calibri" pitchFamily="34" charset="0"/>
                <a:ea typeface="Calibri" pitchFamily="34" charset="-122"/>
                <a:cs typeface="Calibri" pitchFamily="34" charset="-120"/>
              </a:rPr>
              <a:t>RM0.20</a:t>
            </a:r>
            <a:endParaRPr lang="en-US" sz="1300" dirty="0"/>
          </a:p>
        </p:txBody>
      </p:sp>
      <p:sp>
        <p:nvSpPr>
          <p:cNvPr id="17" name="Shape 15"/>
          <p:cNvSpPr/>
          <p:nvPr/>
        </p:nvSpPr>
        <p:spPr>
          <a:xfrm>
            <a:off x="8275320" y="2468880"/>
            <a:ext cx="3383280" cy="2788920"/>
          </a:xfrm>
          <a:prstGeom prst="roundRect">
            <a:avLst>
              <a:gd name="adj" fmla="val 3934"/>
            </a:avLst>
          </a:prstGeom>
          <a:solidFill>
            <a:srgbClr val="FFFFFF"/>
          </a:solidFill>
          <a:ln w="12700">
            <a:solidFill>
              <a:srgbClr val="DEDEE3"/>
            </a:solidFill>
            <a:prstDash val="solid"/>
          </a:ln>
          <a:effectLst>
            <a:outerShdw sx="100000" sy="100000" kx="0" ky="0" algn="bl" rotWithShape="0" blurRad="101600" dist="25400" dir="5400000">
              <a:srgbClr val="9AA0B5">
                <a:alpha val="18000"/>
              </a:srgbClr>
            </a:outerShdw>
          </a:effectLst>
        </p:spPr>
      </p:sp>
      <p:sp>
        <p:nvSpPr>
          <p:cNvPr id="18" name="Text 16"/>
          <p:cNvSpPr/>
          <p:nvPr/>
        </p:nvSpPr>
        <p:spPr>
          <a:xfrm>
            <a:off x="8531352" y="2697480"/>
            <a:ext cx="2926080" cy="457200"/>
          </a:xfrm>
          <a:prstGeom prst="rect">
            <a:avLst/>
          </a:prstGeom>
          <a:noFill/>
          <a:ln/>
        </p:spPr>
        <p:txBody>
          <a:bodyPr wrap="square" lIns="0" tIns="0" rIns="0" bIns="0" rtlCol="0" anchor="ctr"/>
          <a:lstStyle/>
          <a:p>
            <a:pPr algn="l" indent="0" marL="0">
              <a:buNone/>
            </a:pPr>
            <a:r>
              <a:rPr lang="en-US" sz="1550" b="1" dirty="0">
                <a:solidFill>
                  <a:srgbClr val="12132A"/>
                </a:solidFill>
                <a:latin typeface="Calibri" pitchFamily="34" charset="0"/>
                <a:ea typeface="Calibri" pitchFamily="34" charset="-122"/>
                <a:cs typeface="Calibri" pitchFamily="34" charset="-120"/>
              </a:rPr>
              <a:t>Job draft (Opus)</a:t>
            </a:r>
            <a:endParaRPr lang="en-US" sz="1550" dirty="0"/>
          </a:p>
        </p:txBody>
      </p:sp>
      <p:sp>
        <p:nvSpPr>
          <p:cNvPr id="19" name="Text 17"/>
          <p:cNvSpPr/>
          <p:nvPr/>
        </p:nvSpPr>
        <p:spPr>
          <a:xfrm>
            <a:off x="8531352" y="3200400"/>
            <a:ext cx="2871216" cy="777240"/>
          </a:xfrm>
          <a:prstGeom prst="rect">
            <a:avLst/>
          </a:prstGeom>
          <a:noFill/>
          <a:ln/>
        </p:spPr>
        <p:txBody>
          <a:bodyPr wrap="square" lIns="0" tIns="0" rIns="0" bIns="0" rtlCol="0" anchor="ctr"/>
          <a:lstStyle/>
          <a:p>
            <a:pPr algn="l" indent="0" marL="0">
              <a:buNone/>
            </a:pPr>
            <a:r>
              <a:rPr lang="en-US" sz="4600" b="1" dirty="0">
                <a:solidFill>
                  <a:srgbClr val="16A34A"/>
                </a:solidFill>
                <a:latin typeface="Calibri" pitchFamily="34" charset="0"/>
                <a:ea typeface="Calibri" pitchFamily="34" charset="-122"/>
                <a:cs typeface="Calibri" pitchFamily="34" charset="-120"/>
              </a:rPr>
              <a:t>86%</a:t>
            </a:r>
            <a:endParaRPr lang="en-US" sz="4600" dirty="0"/>
          </a:p>
        </p:txBody>
      </p:sp>
      <p:sp>
        <p:nvSpPr>
          <p:cNvPr id="20" name="Text 18"/>
          <p:cNvSpPr/>
          <p:nvPr/>
        </p:nvSpPr>
        <p:spPr>
          <a:xfrm>
            <a:off x="8531352" y="4005072"/>
            <a:ext cx="2871216" cy="274320"/>
          </a:xfrm>
          <a:prstGeom prst="rect">
            <a:avLst/>
          </a:prstGeom>
          <a:noFill/>
          <a:ln/>
        </p:spPr>
        <p:txBody>
          <a:bodyPr wrap="square" lIns="0" tIns="0" rIns="0" bIns="0" rtlCol="0" anchor="ctr"/>
          <a:lstStyle/>
          <a:p>
            <a:pPr algn="l" indent="0" marL="0">
              <a:buNone/>
            </a:pPr>
            <a:r>
              <a:rPr lang="en-US" sz="1100" dirty="0">
                <a:solidFill>
                  <a:srgbClr val="6B7280"/>
                </a:solidFill>
                <a:latin typeface="Calibri" pitchFamily="34" charset="0"/>
                <a:ea typeface="Calibri" pitchFamily="34" charset="-122"/>
                <a:cs typeface="Calibri" pitchFamily="34" charset="-120"/>
              </a:rPr>
              <a:t>gross margin at list</a:t>
            </a:r>
            <a:endParaRPr lang="en-US" sz="1100" dirty="0"/>
          </a:p>
        </p:txBody>
      </p:sp>
      <p:sp>
        <p:nvSpPr>
          <p:cNvPr id="21" name="Shape 19"/>
          <p:cNvSpPr/>
          <p:nvPr/>
        </p:nvSpPr>
        <p:spPr>
          <a:xfrm>
            <a:off x="8531352" y="4370832"/>
            <a:ext cx="2871216" cy="0"/>
          </a:xfrm>
          <a:prstGeom prst="line">
            <a:avLst/>
          </a:prstGeom>
          <a:noFill/>
          <a:ln w="12700">
            <a:solidFill>
              <a:srgbClr val="DEDEE3"/>
            </a:solidFill>
            <a:prstDash val="solid"/>
          </a:ln>
        </p:spPr>
      </p:sp>
      <p:sp>
        <p:nvSpPr>
          <p:cNvPr id="22" name="Text 20"/>
          <p:cNvSpPr/>
          <p:nvPr/>
        </p:nvSpPr>
        <p:spPr>
          <a:xfrm>
            <a:off x="8531352" y="4480560"/>
            <a:ext cx="2926080" cy="457200"/>
          </a:xfrm>
          <a:prstGeom prst="rect">
            <a:avLst/>
          </a:prstGeom>
          <a:noFill/>
          <a:ln/>
        </p:spPr>
        <p:txBody>
          <a:bodyPr wrap="square" lIns="0" tIns="0" rIns="0" bIns="0" rtlCol="0" anchor="ctr"/>
          <a:lstStyle/>
          <a:p>
            <a:pPr algn="l" indent="0" marL="0">
              <a:buNone/>
            </a:pPr>
            <a:r>
              <a:rPr lang="en-US" sz="1300" dirty="0">
                <a:solidFill>
                  <a:srgbClr val="4A5568"/>
                </a:solidFill>
                <a:latin typeface="Calibri" pitchFamily="34" charset="0"/>
                <a:ea typeface="Calibri" pitchFamily="34" charset="-122"/>
                <a:cs typeface="Calibri" pitchFamily="34" charset="-120"/>
              </a:rPr>
              <a:t>Price </a:t>
            </a:r>
            <a:pPr algn="l" indent="0" marL="0">
              <a:buNone/>
            </a:pPr>
            <a:r>
              <a:rPr lang="en-US" sz="1300" b="1" dirty="0">
                <a:solidFill>
                  <a:srgbClr val="12132A"/>
                </a:solidFill>
                <a:latin typeface="Calibri" pitchFamily="34" charset="0"/>
                <a:ea typeface="Calibri" pitchFamily="34" charset="-122"/>
                <a:cs typeface="Calibri" pitchFamily="34" charset="-120"/>
              </a:rPr>
              <a:t>RM2.05   </a:t>
            </a:r>
            <a:pPr algn="l" indent="0" marL="0">
              <a:buNone/>
            </a:pPr>
            <a:r>
              <a:rPr lang="en-US" sz="1300" dirty="0">
                <a:solidFill>
                  <a:srgbClr val="4A5568"/>
                </a:solidFill>
                <a:latin typeface="Calibri" pitchFamily="34" charset="0"/>
                <a:ea typeface="Calibri" pitchFamily="34" charset="-122"/>
                <a:cs typeface="Calibri" pitchFamily="34" charset="-120"/>
              </a:rPr>
              <a:t>Cost </a:t>
            </a:r>
            <a:pPr algn="l" indent="0" marL="0">
              <a:buNone/>
            </a:pPr>
            <a:r>
              <a:rPr lang="en-US" sz="1300" b="1" dirty="0">
                <a:solidFill>
                  <a:srgbClr val="12132A"/>
                </a:solidFill>
                <a:latin typeface="Calibri" pitchFamily="34" charset="0"/>
                <a:ea typeface="Calibri" pitchFamily="34" charset="-122"/>
                <a:cs typeface="Calibri" pitchFamily="34" charset="-120"/>
              </a:rPr>
              <a:t>RM0.29</a:t>
            </a:r>
            <a:endParaRPr lang="en-US" sz="1300" dirty="0"/>
          </a:p>
        </p:txBody>
      </p:sp>
      <p:sp>
        <p:nvSpPr>
          <p:cNvPr id="23" name="Text 21"/>
          <p:cNvSpPr/>
          <p:nvPr/>
        </p:nvSpPr>
        <p:spPr>
          <a:xfrm>
            <a:off x="548640" y="5577840"/>
            <a:ext cx="10972800" cy="274320"/>
          </a:xfrm>
          <a:prstGeom prst="rect">
            <a:avLst/>
          </a:prstGeom>
          <a:noFill/>
          <a:ln/>
        </p:spPr>
        <p:txBody>
          <a:bodyPr wrap="square" lIns="0" tIns="0" rIns="0" bIns="0" rtlCol="0" anchor="ctr"/>
          <a:lstStyle/>
          <a:p>
            <a:pPr algn="l" indent="0" marL="0">
              <a:buNone/>
            </a:pPr>
            <a:r>
              <a:rPr lang="en-US" sz="1100" i="1" dirty="0">
                <a:solidFill>
                  <a:srgbClr val="6B7280"/>
                </a:solidFill>
                <a:latin typeface="Calibri" pitchFamily="34" charset="0"/>
                <a:ea typeface="Calibri" pitchFamily="34" charset="-122"/>
                <a:cs typeface="Calibri" pitchFamily="34" charset="-120"/>
              </a:rPr>
              <a:t>At list price and typical cost. Even at maximum unit cost and the 20% Elite discount, every credit stays above 65% margin.</a:t>
            </a:r>
            <a:endParaRPr lang="en-US" sz="1100" dirty="0"/>
          </a:p>
        </p:txBody>
      </p:sp>
      <p:sp>
        <p:nvSpPr>
          <p:cNvPr id="24" name="Text 22"/>
          <p:cNvSpPr/>
          <p:nvPr/>
        </p:nvSpPr>
        <p:spPr>
          <a:xfrm>
            <a:off x="548640" y="6455664"/>
            <a:ext cx="7315200" cy="274320"/>
          </a:xfrm>
          <a:prstGeom prst="rect">
            <a:avLst/>
          </a:prstGeom>
          <a:noFill/>
          <a:ln/>
        </p:spPr>
        <p:txBody>
          <a:bodyPr wrap="square" lIns="0" tIns="0" rIns="0" bIns="0" rtlCol="0" anchor="ctr"/>
          <a:lstStyle/>
          <a:p>
            <a:pPr algn="l" indent="0" marL="0">
              <a:buNone/>
            </a:pPr>
            <a:r>
              <a:rPr lang="en-US" sz="900" dirty="0">
                <a:solidFill>
                  <a:srgbClr val="6B7280"/>
                </a:solidFill>
                <a:latin typeface="Calibri" pitchFamily="34" charset="0"/>
                <a:ea typeface="Calibri" pitchFamily="34" charset="-122"/>
                <a:cs typeface="Calibri" pitchFamily="34" charset="-120"/>
              </a:rPr>
              <a:t>Aster  ·  Pricing model for CFO review</a:t>
            </a:r>
            <a:endParaRPr lang="en-US" sz="900" dirty="0"/>
          </a:p>
        </p:txBody>
      </p:sp>
      <p:sp>
        <p:nvSpPr>
          <p:cNvPr id="25" name="Text 23"/>
          <p:cNvSpPr/>
          <p:nvPr/>
        </p:nvSpPr>
        <p:spPr>
          <a:xfrm>
            <a:off x="11338560" y="6455664"/>
            <a:ext cx="36576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502920"/>
            <a:ext cx="8229600" cy="274320"/>
          </a:xfrm>
          <a:prstGeom prst="rect">
            <a:avLst/>
          </a:prstGeom>
          <a:noFill/>
          <a:ln/>
        </p:spPr>
        <p:txBody>
          <a:bodyPr wrap="square" lIns="0" tIns="0" rIns="0" bIns="0" rtlCol="0" anchor="ctr"/>
          <a:lstStyle/>
          <a:p>
            <a:pPr algn="l" indent="0" marL="0">
              <a:buNone/>
            </a:pPr>
            <a:r>
              <a:rPr lang="en-US" sz="1200" b="1" spc="200" kern="0" dirty="0">
                <a:solidFill>
                  <a:srgbClr val="0B2AE0"/>
                </a:solidFill>
                <a:latin typeface="Calibri" pitchFamily="34" charset="0"/>
                <a:ea typeface="Calibri" pitchFamily="34" charset="-122"/>
                <a:cs typeface="Calibri" pitchFamily="34" charset="-120"/>
              </a:rPr>
              <a:t>REVENUE MODEL</a:t>
            </a:r>
            <a:endParaRPr lang="en-US" sz="1200" dirty="0"/>
          </a:p>
        </p:txBody>
      </p:sp>
      <p:sp>
        <p:nvSpPr>
          <p:cNvPr id="3" name="Text 1"/>
          <p:cNvSpPr/>
          <p:nvPr/>
        </p:nvSpPr>
        <p:spPr>
          <a:xfrm>
            <a:off x="548640" y="777240"/>
            <a:ext cx="11064240" cy="822960"/>
          </a:xfrm>
          <a:prstGeom prst="rect">
            <a:avLst/>
          </a:prstGeom>
          <a:noFill/>
          <a:ln/>
        </p:spPr>
        <p:txBody>
          <a:bodyPr wrap="square" lIns="0" tIns="0" rIns="0" bIns="0" rtlCol="0" anchor="ctr"/>
          <a:lstStyle/>
          <a:p>
            <a:pPr algn="l" indent="0" marL="0">
              <a:buNone/>
            </a:pPr>
            <a:r>
              <a:rPr lang="en-US" sz="3400" b="1" dirty="0">
                <a:solidFill>
                  <a:srgbClr val="12132A"/>
                </a:solidFill>
                <a:latin typeface="Calibri" pitchFamily="34" charset="0"/>
                <a:ea typeface="Calibri" pitchFamily="34" charset="-122"/>
                <a:cs typeface="Calibri" pitchFamily="34" charset="-120"/>
              </a:rPr>
              <a:t>Three account-mix scenarios</a:t>
            </a:r>
            <a:endParaRPr lang="en-US" sz="34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7680960" cy="914400"/>
        </p:xfrm>
        <a:graphic>
          <a:graphicData uri="http://schemas.openxmlformats.org/drawingml/2006/table">
            <a:tbl>
              <a:tblPr/>
              <a:tblGrid>
                <a:gridCol w="2743200"/>
                <a:gridCol w="1645920"/>
                <a:gridCol w="1645920"/>
                <a:gridCol w="1645920"/>
              </a:tblGrid>
              <a:tr h="411480">
                <a:tc>
                  <a:txBody>
                    <a:bodyPr/>
                    <a:lstStyle/>
                    <a:p>
                      <a:pPr algn="l" indent="0" marL="0">
                        <a:buNone/>
                      </a:pPr>
                      <a:endParaRPr lang="en-US" sz="13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0A1FC2"/>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Conservative</a:t>
                      </a:r>
                      <a:endParaRPr lang="en-US" sz="13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0A1FC2"/>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Base</a:t>
                      </a:r>
                      <a:endParaRPr lang="en-US" sz="13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0B2AE0"/>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Growth</a:t>
                      </a:r>
                      <a:endParaRPr lang="en-US" sz="13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0A1FC2"/>
                    </a:solidFill>
                  </a:tcPr>
                </a:tc>
              </a:tr>
              <a:tr h="365760">
                <a:tc>
                  <a:txBody>
                    <a:bodyPr/>
                    <a:lstStyle/>
                    <a:p>
                      <a:pPr algn="l" indent="0" marL="0">
                        <a:buNone/>
                      </a:pPr>
                      <a:r>
                        <a:rPr lang="en-US" sz="1250" b="1" dirty="0">
                          <a:solidFill>
                            <a:srgbClr val="12132A"/>
                          </a:solidFill>
                          <a:latin typeface="Calibri" pitchFamily="34" charset="0"/>
                          <a:ea typeface="Calibri" pitchFamily="34" charset="-122"/>
                          <a:cs typeface="Calibri" pitchFamily="34" charset="-120"/>
                        </a:rPr>
                        <a:t>Launch accounts</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60</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120</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250</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r>
              <a:tr h="365760">
                <a:tc>
                  <a:txBody>
                    <a:bodyPr/>
                    <a:lstStyle/>
                    <a:p>
                      <a:pPr algn="l" indent="0" marL="0">
                        <a:buNone/>
                      </a:pPr>
                      <a:r>
                        <a:rPr lang="en-US" sz="1250" b="1" dirty="0">
                          <a:solidFill>
                            <a:srgbClr val="12132A"/>
                          </a:solidFill>
                          <a:latin typeface="Calibri" pitchFamily="34" charset="0"/>
                          <a:ea typeface="Calibri" pitchFamily="34" charset="-122"/>
                          <a:cs typeface="Calibri" pitchFamily="34" charset="-120"/>
                        </a:rPr>
                        <a:t>Scale accounts</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30</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70</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150</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r>
              <a:tr h="365760">
                <a:tc>
                  <a:txBody>
                    <a:bodyPr/>
                    <a:lstStyle/>
                    <a:p>
                      <a:pPr algn="l" indent="0" marL="0">
                        <a:buNone/>
                      </a:pPr>
                      <a:r>
                        <a:rPr lang="en-US" sz="1250" b="1" dirty="0">
                          <a:solidFill>
                            <a:srgbClr val="12132A"/>
                          </a:solidFill>
                          <a:latin typeface="Calibri" pitchFamily="34" charset="0"/>
                          <a:ea typeface="Calibri" pitchFamily="34" charset="-122"/>
                          <a:cs typeface="Calibri" pitchFamily="34" charset="-120"/>
                        </a:rPr>
                        <a:t>Elite accounts</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10</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25</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60</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r>
              <a:tr h="365760">
                <a:tc>
                  <a:txBody>
                    <a:bodyPr/>
                    <a:lstStyle/>
                    <a:p>
                      <a:pPr algn="l" indent="0" marL="0">
                        <a:buNone/>
                      </a:pPr>
                      <a:r>
                        <a:rPr lang="en-US" sz="1250" b="1" dirty="0">
                          <a:solidFill>
                            <a:srgbClr val="12132A"/>
                          </a:solidFill>
                          <a:latin typeface="Calibri" pitchFamily="34" charset="0"/>
                          <a:ea typeface="Calibri" pitchFamily="34" charset="-122"/>
                          <a:cs typeface="Calibri" pitchFamily="34" charset="-120"/>
                        </a:rPr>
                        <a:t>Enterprise accounts</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2</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6</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15</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r>
              <a:tr h="438912">
                <a:tc>
                  <a:txBody>
                    <a:bodyPr/>
                    <a:lstStyle/>
                    <a:p>
                      <a:pPr algn="l" indent="0" marL="0">
                        <a:buNone/>
                      </a:pPr>
                      <a:r>
                        <a:rPr lang="en-US" sz="1250" b="1" dirty="0">
                          <a:solidFill>
                            <a:srgbClr val="12132A"/>
                          </a:solidFill>
                          <a:latin typeface="Calibri" pitchFamily="34" charset="0"/>
                          <a:ea typeface="Calibri" pitchFamily="34" charset="-122"/>
                          <a:cs typeface="Calibri" pitchFamily="34" charset="-120"/>
                        </a:rPr>
                        <a:t>Subscription MRR</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250" b="1" dirty="0">
                          <a:solidFill>
                            <a:srgbClr val="4A5568"/>
                          </a:solidFill>
                          <a:latin typeface="Calibri" pitchFamily="34" charset="0"/>
                          <a:ea typeface="Calibri" pitchFamily="34" charset="-122"/>
                          <a:cs typeface="Calibri" pitchFamily="34" charset="-120"/>
                        </a:rPr>
                        <a:t>RM57,900</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250" b="1" dirty="0">
                          <a:solidFill>
                            <a:srgbClr val="4A5568"/>
                          </a:solidFill>
                          <a:latin typeface="Calibri" pitchFamily="34" charset="0"/>
                          <a:ea typeface="Calibri" pitchFamily="34" charset="-122"/>
                          <a:cs typeface="Calibri" pitchFamily="34" charset="-120"/>
                        </a:rPr>
                        <a:t>RM140,785</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250" b="1" dirty="0">
                          <a:solidFill>
                            <a:srgbClr val="4A5568"/>
                          </a:solidFill>
                          <a:latin typeface="Calibri" pitchFamily="34" charset="0"/>
                          <a:ea typeface="Calibri" pitchFamily="34" charset="-122"/>
                          <a:cs typeface="Calibri" pitchFamily="34" charset="-120"/>
                        </a:rPr>
                        <a:t>RM319,540</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r>
              <a:tr h="438912">
                <a:tc>
                  <a:txBody>
                    <a:bodyPr/>
                    <a:lstStyle/>
                    <a:p>
                      <a:pPr algn="l" indent="0" marL="0">
                        <a:buNone/>
                      </a:pPr>
                      <a:r>
                        <a:rPr lang="en-US" sz="1250" b="1" dirty="0">
                          <a:solidFill>
                            <a:srgbClr val="12132A"/>
                          </a:solidFill>
                          <a:latin typeface="Calibri" pitchFamily="34" charset="0"/>
                          <a:ea typeface="Calibri" pitchFamily="34" charset="-122"/>
                          <a:cs typeface="Calibri" pitchFamily="34" charset="-120"/>
                        </a:rPr>
                        <a:t>+ Top-up uplift (≈15%)</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RM8,685</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RM21,118</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RM47,931</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r>
              <a:tr h="457200">
                <a:tc>
                  <a:txBody>
                    <a:bodyPr/>
                    <a:lstStyle/>
                    <a:p>
                      <a:pPr algn="l" indent="0" marL="0">
                        <a:buNone/>
                      </a:pPr>
                      <a:r>
                        <a:rPr lang="en-US" sz="1400" b="1" dirty="0">
                          <a:solidFill>
                            <a:srgbClr val="12132A"/>
                          </a:solidFill>
                          <a:latin typeface="Calibri" pitchFamily="34" charset="0"/>
                          <a:ea typeface="Calibri" pitchFamily="34" charset="-122"/>
                          <a:cs typeface="Calibri" pitchFamily="34" charset="-120"/>
                        </a:rPr>
                        <a:t>Total MRR</a:t>
                      </a:r>
                      <a:endParaRPr lang="en-US" sz="14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EFFBF1"/>
                    </a:solidFill>
                  </a:tcPr>
                </a:tc>
                <a:tc>
                  <a:txBody>
                    <a:bodyPr/>
                    <a:lstStyle/>
                    <a:p>
                      <a:pPr algn="ctr" indent="0" marL="0">
                        <a:buNone/>
                      </a:pPr>
                      <a:r>
                        <a:rPr lang="en-US" sz="1400" b="1" dirty="0">
                          <a:solidFill>
                            <a:srgbClr val="16A34A"/>
                          </a:solidFill>
                          <a:latin typeface="Calibri" pitchFamily="34" charset="0"/>
                          <a:ea typeface="Calibri" pitchFamily="34" charset="-122"/>
                          <a:cs typeface="Calibri" pitchFamily="34" charset="-120"/>
                        </a:rPr>
                        <a:t>RM66,585</a:t>
                      </a:r>
                      <a:endParaRPr lang="en-US" sz="14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EFFBF1"/>
                    </a:solidFill>
                  </a:tcPr>
                </a:tc>
                <a:tc>
                  <a:txBody>
                    <a:bodyPr/>
                    <a:lstStyle/>
                    <a:p>
                      <a:pPr algn="ctr" indent="0" marL="0">
                        <a:buNone/>
                      </a:pPr>
                      <a:r>
                        <a:rPr lang="en-US" sz="1400" b="1" dirty="0">
                          <a:solidFill>
                            <a:srgbClr val="16A34A"/>
                          </a:solidFill>
                          <a:latin typeface="Calibri" pitchFamily="34" charset="0"/>
                          <a:ea typeface="Calibri" pitchFamily="34" charset="-122"/>
                          <a:cs typeface="Calibri" pitchFamily="34" charset="-120"/>
                        </a:rPr>
                        <a:t>RM161,903</a:t>
                      </a:r>
                      <a:endParaRPr lang="en-US" sz="14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EFFBF1"/>
                    </a:solidFill>
                  </a:tcPr>
                </a:tc>
                <a:tc>
                  <a:txBody>
                    <a:bodyPr/>
                    <a:lstStyle/>
                    <a:p>
                      <a:pPr algn="ctr" indent="0" marL="0">
                        <a:buNone/>
                      </a:pPr>
                      <a:r>
                        <a:rPr lang="en-US" sz="1400" b="1" dirty="0">
                          <a:solidFill>
                            <a:srgbClr val="16A34A"/>
                          </a:solidFill>
                          <a:latin typeface="Calibri" pitchFamily="34" charset="0"/>
                          <a:ea typeface="Calibri" pitchFamily="34" charset="-122"/>
                          <a:cs typeface="Calibri" pitchFamily="34" charset="-120"/>
                        </a:rPr>
                        <a:t>RM367,471</a:t>
                      </a:r>
                      <a:endParaRPr lang="en-US" sz="14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EFFBF1"/>
                    </a:solidFill>
                  </a:tcPr>
                </a:tc>
              </a:tr>
              <a:tr h="502920">
                <a:tc>
                  <a:txBody>
                    <a:bodyPr/>
                    <a:lstStyle/>
                    <a:p>
                      <a:pPr algn="l" indent="0" marL="0">
                        <a:buNone/>
                      </a:pPr>
                      <a:r>
                        <a:rPr lang="en-US" sz="1400" b="1" dirty="0">
                          <a:solidFill>
                            <a:srgbClr val="12132A"/>
                          </a:solidFill>
                          <a:latin typeface="Calibri" pitchFamily="34" charset="0"/>
                          <a:ea typeface="Calibri" pitchFamily="34" charset="-122"/>
                          <a:cs typeface="Calibri" pitchFamily="34" charset="-120"/>
                        </a:rPr>
                        <a:t>Annual run-rate (ARR)</a:t>
                      </a:r>
                      <a:endParaRPr lang="en-US" sz="14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EFFBF1"/>
                    </a:solidFill>
                  </a:tcPr>
                </a:tc>
                <a:tc>
                  <a:txBody>
                    <a:bodyPr/>
                    <a:lstStyle/>
                    <a:p>
                      <a:pPr algn="ctr" indent="0" marL="0">
                        <a:buNone/>
                      </a:pPr>
                      <a:r>
                        <a:rPr lang="en-US" sz="1400" b="1" dirty="0">
                          <a:solidFill>
                            <a:srgbClr val="16A34A"/>
                          </a:solidFill>
                          <a:latin typeface="Calibri" pitchFamily="34" charset="0"/>
                          <a:ea typeface="Calibri" pitchFamily="34" charset="-122"/>
                          <a:cs typeface="Calibri" pitchFamily="34" charset="-120"/>
                        </a:rPr>
                        <a:t>RM799K</a:t>
                      </a:r>
                      <a:endParaRPr lang="en-US" sz="14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EFFBF1"/>
                    </a:solidFill>
                  </a:tcPr>
                </a:tc>
                <a:tc>
                  <a:txBody>
                    <a:bodyPr/>
                    <a:lstStyle/>
                    <a:p>
                      <a:pPr algn="ctr" indent="0" marL="0">
                        <a:buNone/>
                      </a:pPr>
                      <a:r>
                        <a:rPr lang="en-US" sz="1400" b="1" dirty="0">
                          <a:solidFill>
                            <a:srgbClr val="16A34A"/>
                          </a:solidFill>
                          <a:latin typeface="Calibri" pitchFamily="34" charset="0"/>
                          <a:ea typeface="Calibri" pitchFamily="34" charset="-122"/>
                          <a:cs typeface="Calibri" pitchFamily="34" charset="-120"/>
                        </a:rPr>
                        <a:t>RM1.94M</a:t>
                      </a:r>
                      <a:endParaRPr lang="en-US" sz="14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EFFBF1"/>
                    </a:solidFill>
                  </a:tcPr>
                </a:tc>
                <a:tc>
                  <a:txBody>
                    <a:bodyPr/>
                    <a:lstStyle/>
                    <a:p>
                      <a:pPr algn="ctr" indent="0" marL="0">
                        <a:buNone/>
                      </a:pPr>
                      <a:r>
                        <a:rPr lang="en-US" sz="1400" b="1" dirty="0">
                          <a:solidFill>
                            <a:srgbClr val="16A34A"/>
                          </a:solidFill>
                          <a:latin typeface="Calibri" pitchFamily="34" charset="0"/>
                          <a:ea typeface="Calibri" pitchFamily="34" charset="-122"/>
                          <a:cs typeface="Calibri" pitchFamily="34" charset="-120"/>
                        </a:rPr>
                        <a:t>RM4.41M</a:t>
                      </a:r>
                      <a:endParaRPr lang="en-US" sz="14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EFFBF1"/>
                    </a:solidFill>
                  </a:tcPr>
                </a:tc>
              </a:tr>
            </a:tbl>
          </a:graphicData>
        </a:graphic>
      </p:graphicFrame>
      <p:sp>
        <p:nvSpPr>
          <p:cNvPr id="5" name="Shape 2"/>
          <p:cNvSpPr/>
          <p:nvPr/>
        </p:nvSpPr>
        <p:spPr>
          <a:xfrm>
            <a:off x="8503920" y="1600200"/>
            <a:ext cx="3136392" cy="4343400"/>
          </a:xfrm>
          <a:prstGeom prst="roundRect">
            <a:avLst>
              <a:gd name="adj" fmla="val 3499"/>
            </a:avLst>
          </a:prstGeom>
          <a:solidFill>
            <a:srgbClr val="0B2AE0"/>
          </a:solidFill>
          <a:ln w="12700">
            <a:solidFill>
              <a:srgbClr val="0B2AE0"/>
            </a:solidFill>
            <a:prstDash val="solid"/>
          </a:ln>
          <a:effectLst>
            <a:outerShdw sx="100000" sy="100000" kx="0" ky="0" algn="bl" rotWithShape="0" blurRad="101600" dist="25400" dir="5400000">
              <a:srgbClr val="9AA0B5">
                <a:alpha val="18000"/>
              </a:srgbClr>
            </a:outerShdw>
          </a:effectLst>
        </p:spPr>
      </p:sp>
      <p:sp>
        <p:nvSpPr>
          <p:cNvPr id="6" name="Text 3"/>
          <p:cNvSpPr/>
          <p:nvPr/>
        </p:nvSpPr>
        <p:spPr>
          <a:xfrm>
            <a:off x="8732520" y="1828800"/>
            <a:ext cx="2743200" cy="274320"/>
          </a:xfrm>
          <a:prstGeom prst="rect">
            <a:avLst/>
          </a:prstGeom>
          <a:noFill/>
          <a:ln/>
        </p:spPr>
        <p:txBody>
          <a:bodyPr wrap="square" lIns="0" tIns="0" rIns="0" bIns="0" rtlCol="0" anchor="ctr"/>
          <a:lstStyle/>
          <a:p>
            <a:pPr algn="l" indent="0" marL="0">
              <a:buNone/>
            </a:pPr>
            <a:r>
              <a:rPr lang="en-US" sz="1100" b="1" spc="200" kern="0" dirty="0">
                <a:solidFill>
                  <a:srgbClr val="CADCFC"/>
                </a:solidFill>
                <a:latin typeface="Calibri" pitchFamily="34" charset="0"/>
                <a:ea typeface="Calibri" pitchFamily="34" charset="-122"/>
                <a:cs typeface="Calibri" pitchFamily="34" charset="-120"/>
              </a:rPr>
              <a:t>BASE CASE</a:t>
            </a:r>
            <a:endParaRPr lang="en-US" sz="1100" dirty="0"/>
          </a:p>
        </p:txBody>
      </p:sp>
      <p:sp>
        <p:nvSpPr>
          <p:cNvPr id="7" name="Text 4"/>
          <p:cNvSpPr/>
          <p:nvPr/>
        </p:nvSpPr>
        <p:spPr>
          <a:xfrm>
            <a:off x="8732520" y="2148840"/>
            <a:ext cx="2743200" cy="731520"/>
          </a:xfrm>
          <a:prstGeom prst="rect">
            <a:avLst/>
          </a:prstGeom>
          <a:noFill/>
          <a:ln/>
        </p:spPr>
        <p:txBody>
          <a:bodyPr wrap="square" lIns="0" tIns="0" rIns="0" bIns="0" rtlCol="0" anchor="ctr"/>
          <a:lstStyle/>
          <a:p>
            <a:pPr algn="l" indent="0" marL="0">
              <a:buNone/>
            </a:pPr>
            <a:r>
              <a:rPr lang="en-US" sz="4000" b="1" dirty="0">
                <a:solidFill>
                  <a:srgbClr val="FFFFFF"/>
                </a:solidFill>
                <a:latin typeface="Calibri" pitchFamily="34" charset="0"/>
                <a:ea typeface="Calibri" pitchFamily="34" charset="-122"/>
                <a:cs typeface="Calibri" pitchFamily="34" charset="-120"/>
              </a:rPr>
              <a:t>RM1.94M</a:t>
            </a:r>
            <a:endParaRPr lang="en-US" sz="4000" dirty="0"/>
          </a:p>
        </p:txBody>
      </p:sp>
      <p:sp>
        <p:nvSpPr>
          <p:cNvPr id="8" name="Text 5"/>
          <p:cNvSpPr/>
          <p:nvPr/>
        </p:nvSpPr>
        <p:spPr>
          <a:xfrm>
            <a:off x="8732520" y="2880360"/>
            <a:ext cx="2743200" cy="274320"/>
          </a:xfrm>
          <a:prstGeom prst="rect">
            <a:avLst/>
          </a:prstGeom>
          <a:noFill/>
          <a:ln/>
        </p:spPr>
        <p:txBody>
          <a:bodyPr wrap="square" lIns="0" tIns="0" rIns="0" bIns="0" rtlCol="0" anchor="ctr"/>
          <a:lstStyle/>
          <a:p>
            <a:pPr algn="l" indent="0" marL="0">
              <a:buNone/>
            </a:pPr>
            <a:r>
              <a:rPr lang="en-US" sz="1300" dirty="0">
                <a:solidFill>
                  <a:srgbClr val="CADCFC"/>
                </a:solidFill>
                <a:latin typeface="Calibri" pitchFamily="34" charset="0"/>
                <a:ea typeface="Calibri" pitchFamily="34" charset="-122"/>
                <a:cs typeface="Calibri" pitchFamily="34" charset="-120"/>
              </a:rPr>
              <a:t>projected ARR</a:t>
            </a:r>
            <a:endParaRPr lang="en-US" sz="1300" dirty="0"/>
          </a:p>
        </p:txBody>
      </p:sp>
      <p:sp>
        <p:nvSpPr>
          <p:cNvPr id="9" name="Shape 6"/>
          <p:cNvSpPr/>
          <p:nvPr/>
        </p:nvSpPr>
        <p:spPr>
          <a:xfrm>
            <a:off x="8732520" y="3383280"/>
            <a:ext cx="2651760" cy="0"/>
          </a:xfrm>
          <a:prstGeom prst="line">
            <a:avLst/>
          </a:prstGeom>
          <a:noFill/>
          <a:ln w="12700">
            <a:solidFill>
              <a:srgbClr val="3550EE"/>
            </a:solidFill>
            <a:prstDash val="solid"/>
          </a:ln>
        </p:spPr>
      </p:sp>
      <p:sp>
        <p:nvSpPr>
          <p:cNvPr id="10" name="Text 7"/>
          <p:cNvSpPr/>
          <p:nvPr/>
        </p:nvSpPr>
        <p:spPr>
          <a:xfrm>
            <a:off x="8732520" y="3566160"/>
            <a:ext cx="2743200" cy="411480"/>
          </a:xfrm>
          <a:prstGeom prst="rect">
            <a:avLst/>
          </a:prstGeom>
          <a:noFill/>
          <a:ln/>
        </p:spPr>
        <p:txBody>
          <a:bodyPr wrap="square" lIns="0" tIns="0" rIns="0" bIns="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221 </a:t>
            </a:r>
            <a:pPr algn="l" indent="0" marL="0">
              <a:buNone/>
            </a:pPr>
            <a:r>
              <a:rPr lang="en-US" sz="1300" dirty="0">
                <a:solidFill>
                  <a:srgbClr val="CADCFC"/>
                </a:solidFill>
                <a:latin typeface="Calibri" pitchFamily="34" charset="0"/>
                <a:ea typeface="Calibri" pitchFamily="34" charset="-122"/>
                <a:cs typeface="Calibri" pitchFamily="34" charset="-120"/>
              </a:rPr>
              <a:t>paying accounts</a:t>
            </a:r>
            <a:endParaRPr lang="en-US" sz="2000" dirty="0"/>
          </a:p>
        </p:txBody>
      </p:sp>
      <p:sp>
        <p:nvSpPr>
          <p:cNvPr id="11" name="Text 8"/>
          <p:cNvSpPr/>
          <p:nvPr/>
        </p:nvSpPr>
        <p:spPr>
          <a:xfrm>
            <a:off x="8732520" y="4069080"/>
            <a:ext cx="2743200" cy="411480"/>
          </a:xfrm>
          <a:prstGeom prst="rect">
            <a:avLst/>
          </a:prstGeom>
          <a:noFill/>
          <a:ln/>
        </p:spPr>
        <p:txBody>
          <a:bodyPr wrap="square" lIns="0" tIns="0" rIns="0" bIns="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RM733 </a:t>
            </a:r>
            <a:pPr algn="l" indent="0" marL="0">
              <a:buNone/>
            </a:pPr>
            <a:r>
              <a:rPr lang="en-US" sz="1300" dirty="0">
                <a:solidFill>
                  <a:srgbClr val="CADCFC"/>
                </a:solidFill>
                <a:latin typeface="Calibri" pitchFamily="34" charset="0"/>
                <a:ea typeface="Calibri" pitchFamily="34" charset="-122"/>
                <a:cs typeface="Calibri" pitchFamily="34" charset="-120"/>
              </a:rPr>
              <a:t>blended ARPA / mo</a:t>
            </a:r>
            <a:endParaRPr lang="en-US" sz="2000" dirty="0"/>
          </a:p>
        </p:txBody>
      </p:sp>
      <p:sp>
        <p:nvSpPr>
          <p:cNvPr id="12" name="Text 9"/>
          <p:cNvSpPr/>
          <p:nvPr/>
        </p:nvSpPr>
        <p:spPr>
          <a:xfrm>
            <a:off x="8732520" y="4572000"/>
            <a:ext cx="2743200" cy="640080"/>
          </a:xfrm>
          <a:prstGeom prst="rect">
            <a:avLst/>
          </a:prstGeom>
          <a:noFill/>
          <a:ln/>
        </p:spPr>
        <p:txBody>
          <a:bodyPr wrap="square" lIns="0" tIns="0" rIns="0" bIns="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~74% </a:t>
            </a:r>
            <a:pPr algn="l" indent="0" marL="0">
              <a:buNone/>
            </a:pPr>
            <a:r>
              <a:rPr lang="en-US" sz="1300" dirty="0">
                <a:solidFill>
                  <a:srgbClr val="CADCFC"/>
                </a:solidFill>
                <a:latin typeface="Calibri" pitchFamily="34" charset="0"/>
                <a:ea typeface="Calibri" pitchFamily="34" charset="-122"/>
                <a:cs typeface="Calibri" pitchFamily="34" charset="-120"/>
              </a:rPr>
              <a:t>blended all-in margin</a:t>
            </a:r>
            <a:endParaRPr lang="en-US" sz="2000" dirty="0"/>
          </a:p>
        </p:txBody>
      </p:sp>
      <p:sp>
        <p:nvSpPr>
          <p:cNvPr id="13" name="Text 10"/>
          <p:cNvSpPr/>
          <p:nvPr/>
        </p:nvSpPr>
        <p:spPr>
          <a:xfrm>
            <a:off x="8732520" y="5257800"/>
            <a:ext cx="2697480" cy="548640"/>
          </a:xfrm>
          <a:prstGeom prst="rect">
            <a:avLst/>
          </a:prstGeom>
          <a:noFill/>
          <a:ln/>
        </p:spPr>
        <p:txBody>
          <a:bodyPr wrap="square" lIns="0" tIns="0" rIns="0" bIns="0" rtlCol="0" anchor="ctr"/>
          <a:lstStyle/>
          <a:p>
            <a:pPr algn="l" indent="0" marL="0">
              <a:buNone/>
            </a:pPr>
            <a:r>
              <a:rPr lang="en-US" sz="1150" i="1" dirty="0">
                <a:solidFill>
                  <a:srgbClr val="CADCFC"/>
                </a:solidFill>
                <a:latin typeface="Calibri" pitchFamily="34" charset="0"/>
                <a:ea typeface="Calibri" pitchFamily="34" charset="-122"/>
                <a:cs typeface="Calibri" pitchFamily="34" charset="-120"/>
              </a:rPr>
              <a:t>Annual prepay pulls cash forward and lifts retention.</a:t>
            </a:r>
            <a:endParaRPr lang="en-US" sz="1150" dirty="0"/>
          </a:p>
        </p:txBody>
      </p:sp>
      <p:sp>
        <p:nvSpPr>
          <p:cNvPr id="14" name="Text 11"/>
          <p:cNvSpPr/>
          <p:nvPr/>
        </p:nvSpPr>
        <p:spPr>
          <a:xfrm>
            <a:off x="548640" y="6080760"/>
            <a:ext cx="10972800" cy="274320"/>
          </a:xfrm>
          <a:prstGeom prst="rect">
            <a:avLst/>
          </a:prstGeom>
          <a:noFill/>
          <a:ln/>
        </p:spPr>
        <p:txBody>
          <a:bodyPr wrap="square" lIns="0" tIns="0" rIns="0" bIns="0" rtlCol="0" anchor="ctr"/>
          <a:lstStyle/>
          <a:p>
            <a:pPr algn="l" indent="0" marL="0">
              <a:buNone/>
            </a:pPr>
            <a:r>
              <a:rPr lang="en-US" sz="1000" i="1" dirty="0">
                <a:solidFill>
                  <a:srgbClr val="6B7280"/>
                </a:solidFill>
                <a:latin typeface="Calibri" pitchFamily="34" charset="0"/>
                <a:ea typeface="Calibri" pitchFamily="34" charset="-122"/>
                <a:cs typeface="Calibri" pitchFamily="34" charset="-120"/>
              </a:rPr>
              <a:t>Illustrative. Enterprise is a custom plan with no list price; modelled here at an assumed ~RM6,000/mo for the scenario only. Adjust mix, Enterprise deal size, and top-up rate with your CFO.</a:t>
            </a:r>
            <a:endParaRPr lang="en-US" sz="1000" dirty="0"/>
          </a:p>
        </p:txBody>
      </p:sp>
      <p:sp>
        <p:nvSpPr>
          <p:cNvPr id="15" name="Text 12"/>
          <p:cNvSpPr/>
          <p:nvPr/>
        </p:nvSpPr>
        <p:spPr>
          <a:xfrm>
            <a:off x="548640" y="6455664"/>
            <a:ext cx="7315200" cy="274320"/>
          </a:xfrm>
          <a:prstGeom prst="rect">
            <a:avLst/>
          </a:prstGeom>
          <a:noFill/>
          <a:ln/>
        </p:spPr>
        <p:txBody>
          <a:bodyPr wrap="square" lIns="0" tIns="0" rIns="0" bIns="0" rtlCol="0" anchor="ctr"/>
          <a:lstStyle/>
          <a:p>
            <a:pPr algn="l" indent="0" marL="0">
              <a:buNone/>
            </a:pPr>
            <a:r>
              <a:rPr lang="en-US" sz="900" dirty="0">
                <a:solidFill>
                  <a:srgbClr val="6B7280"/>
                </a:solidFill>
                <a:latin typeface="Calibri" pitchFamily="34" charset="0"/>
                <a:ea typeface="Calibri" pitchFamily="34" charset="-122"/>
                <a:cs typeface="Calibri" pitchFamily="34" charset="-120"/>
              </a:rPr>
              <a:t>Aster  ·  Pricing model for CFO review</a:t>
            </a:r>
            <a:endParaRPr lang="en-US" sz="900" dirty="0"/>
          </a:p>
        </p:txBody>
      </p:sp>
      <p:sp>
        <p:nvSpPr>
          <p:cNvPr id="16" name="Text 13"/>
          <p:cNvSpPr/>
          <p:nvPr/>
        </p:nvSpPr>
        <p:spPr>
          <a:xfrm>
            <a:off x="11338560" y="6455664"/>
            <a:ext cx="36576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502920"/>
            <a:ext cx="8229600" cy="274320"/>
          </a:xfrm>
          <a:prstGeom prst="rect">
            <a:avLst/>
          </a:prstGeom>
          <a:noFill/>
          <a:ln/>
        </p:spPr>
        <p:txBody>
          <a:bodyPr wrap="square" lIns="0" tIns="0" rIns="0" bIns="0" rtlCol="0" anchor="ctr"/>
          <a:lstStyle/>
          <a:p>
            <a:pPr algn="l" indent="0" marL="0">
              <a:buNone/>
            </a:pPr>
            <a:r>
              <a:rPr lang="en-US" sz="1200" b="1" spc="200" kern="0" dirty="0">
                <a:solidFill>
                  <a:srgbClr val="0B2AE0"/>
                </a:solidFill>
                <a:latin typeface="Calibri" pitchFamily="34" charset="0"/>
                <a:ea typeface="Calibri" pitchFamily="34" charset="-122"/>
                <a:cs typeface="Calibri" pitchFamily="34" charset="-120"/>
              </a:rPr>
              <a:t>FOR THE DISCUSSION</a:t>
            </a:r>
            <a:endParaRPr lang="en-US" sz="1200" dirty="0"/>
          </a:p>
        </p:txBody>
      </p:sp>
      <p:sp>
        <p:nvSpPr>
          <p:cNvPr id="3" name="Text 1"/>
          <p:cNvSpPr/>
          <p:nvPr/>
        </p:nvSpPr>
        <p:spPr>
          <a:xfrm>
            <a:off x="548640" y="777240"/>
            <a:ext cx="11064240" cy="822960"/>
          </a:xfrm>
          <a:prstGeom prst="rect">
            <a:avLst/>
          </a:prstGeom>
          <a:noFill/>
          <a:ln/>
        </p:spPr>
        <p:txBody>
          <a:bodyPr wrap="square" lIns="0" tIns="0" rIns="0" bIns="0" rtlCol="0" anchor="ctr"/>
          <a:lstStyle/>
          <a:p>
            <a:pPr algn="l" indent="0" marL="0">
              <a:buNone/>
            </a:pPr>
            <a:r>
              <a:rPr lang="en-US" sz="3400" b="1" dirty="0">
                <a:solidFill>
                  <a:srgbClr val="12132A"/>
                </a:solidFill>
                <a:latin typeface="Calibri" pitchFamily="34" charset="0"/>
                <a:ea typeface="Calibri" pitchFamily="34" charset="-122"/>
                <a:cs typeface="Calibri" pitchFamily="34" charset="-120"/>
              </a:rPr>
              <a:t>Assumptions, risks &amp; recommendations</a:t>
            </a:r>
            <a:endParaRPr lang="en-US" sz="3400" dirty="0"/>
          </a:p>
        </p:txBody>
      </p:sp>
      <p:sp>
        <p:nvSpPr>
          <p:cNvPr id="4" name="Shape 2"/>
          <p:cNvSpPr/>
          <p:nvPr/>
        </p:nvSpPr>
        <p:spPr>
          <a:xfrm>
            <a:off x="548640" y="1691640"/>
            <a:ext cx="3639312" cy="4297680"/>
          </a:xfrm>
          <a:prstGeom prst="roundRect">
            <a:avLst>
              <a:gd name="adj" fmla="val 3015"/>
            </a:avLst>
          </a:prstGeom>
          <a:solidFill>
            <a:srgbClr val="FFFFFF"/>
          </a:solidFill>
          <a:ln w="12700">
            <a:solidFill>
              <a:srgbClr val="DEDEE3"/>
            </a:solidFill>
            <a:prstDash val="solid"/>
          </a:ln>
          <a:effectLst>
            <a:outerShdw sx="100000" sy="100000" kx="0" ky="0" algn="bl" rotWithShape="0" blurRad="101600" dist="25400" dir="5400000">
              <a:srgbClr val="9AA0B5">
                <a:alpha val="18000"/>
              </a:srgbClr>
            </a:outerShdw>
          </a:effectLst>
        </p:spPr>
      </p:sp>
      <p:sp>
        <p:nvSpPr>
          <p:cNvPr id="5" name="Shape 3"/>
          <p:cNvSpPr/>
          <p:nvPr/>
        </p:nvSpPr>
        <p:spPr>
          <a:xfrm>
            <a:off x="822960" y="1965960"/>
            <a:ext cx="384048" cy="384048"/>
          </a:xfrm>
          <a:prstGeom prst="ellipse">
            <a:avLst/>
          </a:prstGeom>
          <a:solidFill>
            <a:srgbClr val="0B2AE0"/>
          </a:solidFill>
          <a:ln/>
        </p:spPr>
      </p:sp>
      <p:sp>
        <p:nvSpPr>
          <p:cNvPr id="6" name="Text 4"/>
          <p:cNvSpPr/>
          <p:nvPr/>
        </p:nvSpPr>
        <p:spPr>
          <a:xfrm>
            <a:off x="1325880" y="1947672"/>
            <a:ext cx="2724912" cy="411480"/>
          </a:xfrm>
          <a:prstGeom prst="rect">
            <a:avLst/>
          </a:prstGeom>
          <a:noFill/>
          <a:ln/>
        </p:spPr>
        <p:txBody>
          <a:bodyPr wrap="square" lIns="0" tIns="0" rIns="0" bIns="0" rtlCol="0" anchor="ctr"/>
          <a:lstStyle/>
          <a:p>
            <a:pPr algn="l" indent="0" marL="0">
              <a:buNone/>
            </a:pPr>
            <a:r>
              <a:rPr lang="en-US" sz="1600" b="1" dirty="0">
                <a:solidFill>
                  <a:srgbClr val="12132A"/>
                </a:solidFill>
                <a:latin typeface="Calibri" pitchFamily="34" charset="0"/>
                <a:ea typeface="Calibri" pitchFamily="34" charset="-122"/>
                <a:cs typeface="Calibri" pitchFamily="34" charset="-120"/>
              </a:rPr>
              <a:t>Decide / validate</a:t>
            </a:r>
            <a:endParaRPr lang="en-US" sz="1600" dirty="0"/>
          </a:p>
        </p:txBody>
      </p:sp>
      <p:sp>
        <p:nvSpPr>
          <p:cNvPr id="7" name="Text 5"/>
          <p:cNvSpPr/>
          <p:nvPr/>
        </p:nvSpPr>
        <p:spPr>
          <a:xfrm>
            <a:off x="841248" y="2560320"/>
            <a:ext cx="3072384" cy="3200400"/>
          </a:xfrm>
          <a:prstGeom prst="rect">
            <a:avLst/>
          </a:prstGeom>
          <a:noFill/>
          <a:ln/>
        </p:spPr>
        <p:txBody>
          <a:bodyPr wrap="square" lIns="0" tIns="0" rIns="0" bIns="0" rtlCol="0" anchor="t"/>
          <a:lstStyle/>
          <a:p>
            <a:pPr algn="l" marL="177800" indent="-177800">
              <a:spcAft>
                <a:spcPts val="1000"/>
              </a:spcAft>
              <a:buSzPct val="100000"/>
              <a:buChar char="•"/>
            </a:pPr>
            <a:r>
              <a:rPr lang="en-US" sz="1250" dirty="0">
                <a:solidFill>
                  <a:srgbClr val="4A5568"/>
                </a:solidFill>
                <a:latin typeface="Calibri" pitchFamily="34" charset="0"/>
                <a:ea typeface="Calibri" pitchFamily="34" charset="-122"/>
                <a:cs typeface="Calibri" pitchFamily="34" charset="-120"/>
              </a:rPr>
              <a:t>Sign off the list prices (RM199 / RM799 / RM999) or reset them; they are proposed, not live in Stripe.</a:t>
            </a:r>
            <a:endParaRPr lang="en-US" sz="1250" dirty="0"/>
          </a:p>
          <a:p>
            <a:pPr algn="l" marL="177800" indent="-177800">
              <a:spcAft>
                <a:spcPts val="1000"/>
              </a:spcAft>
              <a:buSzPct val="100000"/>
              <a:buChar char="•"/>
            </a:pPr>
            <a:r>
              <a:rPr lang="en-US" sz="1250" dirty="0">
                <a:solidFill>
                  <a:srgbClr val="4A5568"/>
                </a:solidFill>
                <a:latin typeface="Calibri" pitchFamily="34" charset="0"/>
                <a:ea typeface="Calibri" pitchFamily="34" charset="-122"/>
                <a:cs typeface="Calibri" pitchFamily="34" charset="-120"/>
              </a:rPr>
              <a:t>Confirm the annual discount (2 months free = 17%).</a:t>
            </a:r>
            <a:endParaRPr lang="en-US" sz="1250" dirty="0"/>
          </a:p>
          <a:p>
            <a:pPr algn="l" marL="177800" indent="-177800">
              <a:spcAft>
                <a:spcPts val="1000"/>
              </a:spcAft>
              <a:buSzPct val="100000"/>
              <a:buChar char="•"/>
            </a:pPr>
            <a:r>
              <a:rPr lang="en-US" sz="1250" dirty="0">
                <a:solidFill>
                  <a:srgbClr val="4A5568"/>
                </a:solidFill>
                <a:latin typeface="Calibri" pitchFamily="34" charset="0"/>
                <a:ea typeface="Calibri" pitchFamily="34" charset="-122"/>
                <a:cs typeface="Calibri" pitchFamily="34" charset="-120"/>
              </a:rPr>
              <a:t>Set the Enterprise floor and what the premium buys (SSO, audit, white-label).</a:t>
            </a:r>
            <a:endParaRPr lang="en-US" sz="1250" dirty="0"/>
          </a:p>
        </p:txBody>
      </p:sp>
      <p:sp>
        <p:nvSpPr>
          <p:cNvPr id="8" name="Shape 6"/>
          <p:cNvSpPr/>
          <p:nvPr/>
        </p:nvSpPr>
        <p:spPr>
          <a:xfrm>
            <a:off x="4279392" y="1691640"/>
            <a:ext cx="3639312" cy="4297680"/>
          </a:xfrm>
          <a:prstGeom prst="roundRect">
            <a:avLst>
              <a:gd name="adj" fmla="val 3015"/>
            </a:avLst>
          </a:prstGeom>
          <a:solidFill>
            <a:srgbClr val="FFFFFF"/>
          </a:solidFill>
          <a:ln w="12700">
            <a:solidFill>
              <a:srgbClr val="DEDEE3"/>
            </a:solidFill>
            <a:prstDash val="solid"/>
          </a:ln>
          <a:effectLst>
            <a:outerShdw sx="100000" sy="100000" kx="0" ky="0" algn="bl" rotWithShape="0" blurRad="101600" dist="25400" dir="5400000">
              <a:srgbClr val="9AA0B5">
                <a:alpha val="18000"/>
              </a:srgbClr>
            </a:outerShdw>
          </a:effectLst>
        </p:spPr>
      </p:sp>
      <p:sp>
        <p:nvSpPr>
          <p:cNvPr id="9" name="Shape 7"/>
          <p:cNvSpPr/>
          <p:nvPr/>
        </p:nvSpPr>
        <p:spPr>
          <a:xfrm>
            <a:off x="4553712" y="1965960"/>
            <a:ext cx="384048" cy="384048"/>
          </a:xfrm>
          <a:prstGeom prst="ellipse">
            <a:avLst/>
          </a:prstGeom>
          <a:solidFill>
            <a:srgbClr val="B45309"/>
          </a:solidFill>
          <a:ln/>
        </p:spPr>
      </p:sp>
      <p:sp>
        <p:nvSpPr>
          <p:cNvPr id="10" name="Text 8"/>
          <p:cNvSpPr/>
          <p:nvPr/>
        </p:nvSpPr>
        <p:spPr>
          <a:xfrm>
            <a:off x="5056632" y="1947672"/>
            <a:ext cx="2724912" cy="411480"/>
          </a:xfrm>
          <a:prstGeom prst="rect">
            <a:avLst/>
          </a:prstGeom>
          <a:noFill/>
          <a:ln/>
        </p:spPr>
        <p:txBody>
          <a:bodyPr wrap="square" lIns="0" tIns="0" rIns="0" bIns="0" rtlCol="0" anchor="ctr"/>
          <a:lstStyle/>
          <a:p>
            <a:pPr algn="l" indent="0" marL="0">
              <a:buNone/>
            </a:pPr>
            <a:r>
              <a:rPr lang="en-US" sz="1600" b="1" dirty="0">
                <a:solidFill>
                  <a:srgbClr val="12132A"/>
                </a:solidFill>
                <a:latin typeface="Calibri" pitchFamily="34" charset="0"/>
                <a:ea typeface="Calibri" pitchFamily="34" charset="-122"/>
                <a:cs typeface="Calibri" pitchFamily="34" charset="-120"/>
              </a:rPr>
              <a:t>Risks to watch</a:t>
            </a:r>
            <a:endParaRPr lang="en-US" sz="1600" dirty="0"/>
          </a:p>
        </p:txBody>
      </p:sp>
      <p:sp>
        <p:nvSpPr>
          <p:cNvPr id="11" name="Text 9"/>
          <p:cNvSpPr/>
          <p:nvPr/>
        </p:nvSpPr>
        <p:spPr>
          <a:xfrm>
            <a:off x="4572000" y="2560320"/>
            <a:ext cx="3072384" cy="3200400"/>
          </a:xfrm>
          <a:prstGeom prst="rect">
            <a:avLst/>
          </a:prstGeom>
          <a:noFill/>
          <a:ln/>
        </p:spPr>
        <p:txBody>
          <a:bodyPr wrap="square" lIns="0" tIns="0" rIns="0" bIns="0" rtlCol="0" anchor="t"/>
          <a:lstStyle/>
          <a:p>
            <a:pPr algn="l" marL="177800" indent="-177800">
              <a:spcAft>
                <a:spcPts val="1000"/>
              </a:spcAft>
              <a:buSzPct val="100000"/>
              <a:buChar char="•"/>
            </a:pPr>
            <a:r>
              <a:rPr lang="en-US" sz="1250" dirty="0">
                <a:solidFill>
                  <a:srgbClr val="4A5568"/>
                </a:solidFill>
                <a:latin typeface="Calibri" pitchFamily="34" charset="0"/>
                <a:ea typeface="Calibri" pitchFamily="34" charset="-122"/>
                <a:cs typeface="Calibri" pitchFamily="34" charset="-120"/>
              </a:rPr>
              <a:t>Costs are modeled from provider pricing, not yet measured from live logs.</a:t>
            </a:r>
            <a:endParaRPr lang="en-US" sz="1250" dirty="0"/>
          </a:p>
          <a:p>
            <a:pPr algn="l" marL="177800" indent="-177800">
              <a:spcAft>
                <a:spcPts val="1000"/>
              </a:spcAft>
              <a:buSzPct val="100000"/>
              <a:buChar char="•"/>
            </a:pPr>
            <a:r>
              <a:rPr lang="en-US" sz="1250" dirty="0">
                <a:solidFill>
                  <a:srgbClr val="4A5568"/>
                </a:solidFill>
                <a:latin typeface="Calibri" pitchFamily="34" charset="0"/>
                <a:ea typeface="Calibri" pitchFamily="34" charset="-122"/>
                <a:cs typeface="Calibri" pitchFamily="34" charset="-120"/>
              </a:rPr>
              <a:t>AI is billed in USD (≈ RM4.09); a weaker ringgit raises real cost of goods.</a:t>
            </a:r>
            <a:endParaRPr lang="en-US" sz="1250" dirty="0"/>
          </a:p>
          <a:p>
            <a:pPr algn="l" marL="177800" indent="-177800">
              <a:spcAft>
                <a:spcPts val="1000"/>
              </a:spcAft>
              <a:buSzPct val="100000"/>
              <a:buChar char="•"/>
            </a:pPr>
            <a:r>
              <a:rPr lang="en-US" sz="1250" dirty="0">
                <a:solidFill>
                  <a:srgbClr val="4A5568"/>
                </a:solidFill>
                <a:latin typeface="Calibri" pitchFamily="34" charset="0"/>
                <a:ea typeface="Calibri" pitchFamily="34" charset="-122"/>
                <a:cs typeface="Calibri" pitchFamily="34" charset="-120"/>
              </a:rPr>
              <a:t>Video (Daily.co) is the next-largest cost after AI; interview-heavy Elite accounts compress margin.</a:t>
            </a:r>
            <a:endParaRPr lang="en-US" sz="1250" dirty="0"/>
          </a:p>
        </p:txBody>
      </p:sp>
      <p:sp>
        <p:nvSpPr>
          <p:cNvPr id="12" name="Shape 10"/>
          <p:cNvSpPr/>
          <p:nvPr/>
        </p:nvSpPr>
        <p:spPr>
          <a:xfrm>
            <a:off x="8010144" y="1691640"/>
            <a:ext cx="3639312" cy="4297680"/>
          </a:xfrm>
          <a:prstGeom prst="roundRect">
            <a:avLst>
              <a:gd name="adj" fmla="val 3015"/>
            </a:avLst>
          </a:prstGeom>
          <a:solidFill>
            <a:srgbClr val="FFFFFF"/>
          </a:solidFill>
          <a:ln w="12700">
            <a:solidFill>
              <a:srgbClr val="DEDEE3"/>
            </a:solidFill>
            <a:prstDash val="solid"/>
          </a:ln>
          <a:effectLst>
            <a:outerShdw sx="100000" sy="100000" kx="0" ky="0" algn="bl" rotWithShape="0" blurRad="101600" dist="25400" dir="5400000">
              <a:srgbClr val="9AA0B5">
                <a:alpha val="18000"/>
              </a:srgbClr>
            </a:outerShdw>
          </a:effectLst>
        </p:spPr>
      </p:sp>
      <p:sp>
        <p:nvSpPr>
          <p:cNvPr id="13" name="Shape 11"/>
          <p:cNvSpPr/>
          <p:nvPr/>
        </p:nvSpPr>
        <p:spPr>
          <a:xfrm>
            <a:off x="8284464" y="1965960"/>
            <a:ext cx="384048" cy="384048"/>
          </a:xfrm>
          <a:prstGeom prst="ellipse">
            <a:avLst/>
          </a:prstGeom>
          <a:solidFill>
            <a:srgbClr val="16A34A"/>
          </a:solidFill>
          <a:ln/>
        </p:spPr>
      </p:sp>
      <p:sp>
        <p:nvSpPr>
          <p:cNvPr id="14" name="Text 12"/>
          <p:cNvSpPr/>
          <p:nvPr/>
        </p:nvSpPr>
        <p:spPr>
          <a:xfrm>
            <a:off x="8787384" y="1947672"/>
            <a:ext cx="2724912" cy="411480"/>
          </a:xfrm>
          <a:prstGeom prst="rect">
            <a:avLst/>
          </a:prstGeom>
          <a:noFill/>
          <a:ln/>
        </p:spPr>
        <p:txBody>
          <a:bodyPr wrap="square" lIns="0" tIns="0" rIns="0" bIns="0" rtlCol="0" anchor="ctr"/>
          <a:lstStyle/>
          <a:p>
            <a:pPr algn="l" indent="0" marL="0">
              <a:buNone/>
            </a:pPr>
            <a:r>
              <a:rPr lang="en-US" sz="1600" b="1" dirty="0">
                <a:solidFill>
                  <a:srgbClr val="12132A"/>
                </a:solidFill>
                <a:latin typeface="Calibri" pitchFamily="34" charset="0"/>
                <a:ea typeface="Calibri" pitchFamily="34" charset="-122"/>
                <a:cs typeface="Calibri" pitchFamily="34" charset="-120"/>
              </a:rPr>
              <a:t>Recommendations</a:t>
            </a:r>
            <a:endParaRPr lang="en-US" sz="1600" dirty="0"/>
          </a:p>
        </p:txBody>
      </p:sp>
      <p:sp>
        <p:nvSpPr>
          <p:cNvPr id="15" name="Text 13"/>
          <p:cNvSpPr/>
          <p:nvPr/>
        </p:nvSpPr>
        <p:spPr>
          <a:xfrm>
            <a:off x="8302752" y="2560320"/>
            <a:ext cx="3072384" cy="3200400"/>
          </a:xfrm>
          <a:prstGeom prst="rect">
            <a:avLst/>
          </a:prstGeom>
          <a:noFill/>
          <a:ln/>
        </p:spPr>
        <p:txBody>
          <a:bodyPr wrap="square" lIns="0" tIns="0" rIns="0" bIns="0" rtlCol="0" anchor="t"/>
          <a:lstStyle/>
          <a:p>
            <a:pPr algn="l" marL="177800" indent="-177800">
              <a:spcAft>
                <a:spcPts val="1000"/>
              </a:spcAft>
              <a:buSzPct val="100000"/>
              <a:buChar char="•"/>
            </a:pPr>
            <a:r>
              <a:rPr lang="en-US" sz="1250" dirty="0">
                <a:solidFill>
                  <a:srgbClr val="4A5568"/>
                </a:solidFill>
                <a:latin typeface="Calibri" pitchFamily="34" charset="0"/>
                <a:ea typeface="Calibri" pitchFamily="34" charset="-122"/>
                <a:cs typeface="Calibri" pitchFamily="34" charset="-120"/>
              </a:rPr>
              <a:t>Log per-action token spend to replace these estimates with measured COGS.</a:t>
            </a:r>
            <a:endParaRPr lang="en-US" sz="1250" dirty="0"/>
          </a:p>
          <a:p>
            <a:pPr algn="l" marL="177800" indent="-177800">
              <a:spcAft>
                <a:spcPts val="1000"/>
              </a:spcAft>
              <a:buSzPct val="100000"/>
              <a:buChar char="•"/>
            </a:pPr>
            <a:r>
              <a:rPr lang="en-US" sz="1250" dirty="0">
                <a:solidFill>
                  <a:srgbClr val="4A5568"/>
                </a:solidFill>
                <a:latin typeface="Calibri" pitchFamily="34" charset="0"/>
                <a:ea typeface="Calibri" pitchFamily="34" charset="-122"/>
                <a:cs typeface="Calibri" pitchFamily="34" charset="-120"/>
              </a:rPr>
              <a:t>Lead growth accounts to top-ups; that is where blended margin expands.</a:t>
            </a:r>
            <a:endParaRPr lang="en-US" sz="1250" dirty="0"/>
          </a:p>
          <a:p>
            <a:pPr algn="l" marL="177800" indent="-177800">
              <a:spcAft>
                <a:spcPts val="1000"/>
              </a:spcAft>
              <a:buSzPct val="100000"/>
              <a:buChar char="•"/>
            </a:pPr>
            <a:r>
              <a:rPr lang="en-US" sz="1250" dirty="0">
                <a:solidFill>
                  <a:srgbClr val="4A5568"/>
                </a:solidFill>
                <a:latin typeface="Calibri" pitchFamily="34" charset="0"/>
                <a:ea typeface="Calibri" pitchFamily="34" charset="-122"/>
                <a:cs typeface="Calibri" pitchFamily="34" charset="-120"/>
              </a:rPr>
              <a:t>Hold unlimited seats as the headline differentiator versus per-seat ATS rivals.</a:t>
            </a:r>
            <a:endParaRPr lang="en-US" sz="1250" dirty="0"/>
          </a:p>
        </p:txBody>
      </p:sp>
      <p:sp>
        <p:nvSpPr>
          <p:cNvPr id="16" name="Text 14"/>
          <p:cNvSpPr/>
          <p:nvPr/>
        </p:nvSpPr>
        <p:spPr>
          <a:xfrm>
            <a:off x="548640" y="6455664"/>
            <a:ext cx="7315200" cy="274320"/>
          </a:xfrm>
          <a:prstGeom prst="rect">
            <a:avLst/>
          </a:prstGeom>
          <a:noFill/>
          <a:ln/>
        </p:spPr>
        <p:txBody>
          <a:bodyPr wrap="square" lIns="0" tIns="0" rIns="0" bIns="0" rtlCol="0" anchor="ctr"/>
          <a:lstStyle/>
          <a:p>
            <a:pPr algn="l" indent="0" marL="0">
              <a:buNone/>
            </a:pPr>
            <a:r>
              <a:rPr lang="en-US" sz="900" dirty="0">
                <a:solidFill>
                  <a:srgbClr val="6B7280"/>
                </a:solidFill>
                <a:latin typeface="Calibri" pitchFamily="34" charset="0"/>
                <a:ea typeface="Calibri" pitchFamily="34" charset="-122"/>
                <a:cs typeface="Calibri" pitchFamily="34" charset="-120"/>
              </a:rPr>
              <a:t>Aster  ·  Pricing model for CFO review</a:t>
            </a:r>
            <a:endParaRPr lang="en-US" sz="900" dirty="0"/>
          </a:p>
        </p:txBody>
      </p:sp>
      <p:sp>
        <p:nvSpPr>
          <p:cNvPr id="17" name="Text 15"/>
          <p:cNvSpPr/>
          <p:nvPr/>
        </p:nvSpPr>
        <p:spPr>
          <a:xfrm>
            <a:off x="11338560" y="6455664"/>
            <a:ext cx="36576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A1FC2"/>
        </a:solidFill>
      </p:bgPr>
    </p:bg>
    <p:spTree>
      <p:nvGrpSpPr>
        <p:cNvPr id="1" name=""/>
        <p:cNvGrpSpPr/>
        <p:nvPr/>
      </p:nvGrpSpPr>
      <p:grpSpPr>
        <a:xfrm>
          <a:off x="0" y="0"/>
          <a:ext cx="0" cy="0"/>
          <a:chOff x="0" y="0"/>
          <a:chExt cx="0" cy="0"/>
        </a:xfrm>
      </p:grpSpPr>
      <p:sp>
        <p:nvSpPr>
          <p:cNvPr id="2" name="Shape 0"/>
          <p:cNvSpPr/>
          <p:nvPr/>
        </p:nvSpPr>
        <p:spPr>
          <a:xfrm>
            <a:off x="7772400" y="-2286000"/>
            <a:ext cx="6400800" cy="6400800"/>
          </a:xfrm>
          <a:prstGeom prst="ellipse">
            <a:avLst/>
          </a:prstGeom>
          <a:solidFill>
            <a:srgbClr val="0B2AE0">
              <a:alpha val="38000"/>
            </a:srgbClr>
          </a:solidFill>
          <a:ln/>
        </p:spPr>
      </p:sp>
      <p:sp>
        <p:nvSpPr>
          <p:cNvPr id="3" name="Shape 1"/>
          <p:cNvSpPr/>
          <p:nvPr/>
        </p:nvSpPr>
        <p:spPr>
          <a:xfrm>
            <a:off x="-2286000" y="3200400"/>
            <a:ext cx="5943600" cy="5943600"/>
          </a:xfrm>
          <a:prstGeom prst="ellipse">
            <a:avLst/>
          </a:prstGeom>
          <a:solidFill>
            <a:srgbClr val="5570F5">
              <a:alpha val="26000"/>
            </a:srgbClr>
          </a:solidFill>
          <a:ln/>
        </p:spPr>
      </p:sp>
      <p:pic>
        <p:nvPicPr>
          <p:cNvPr id="4" name="Image 0" descr="preencoded.png">    </p:cNvPr>
          <p:cNvPicPr>
            <a:picLocks noChangeAspect="1"/>
          </p:cNvPicPr>
          <p:nvPr/>
        </p:nvPicPr>
        <p:blipFill>
          <a:blip r:embed="rId1"/>
          <a:stretch>
            <a:fillRect/>
          </a:stretch>
        </p:blipFill>
        <p:spPr>
          <a:xfrm>
            <a:off x="777240" y="621792"/>
            <a:ext cx="1874520" cy="453009"/>
          </a:xfrm>
          <a:prstGeom prst="rect">
            <a:avLst/>
          </a:prstGeom>
        </p:spPr>
      </p:pic>
      <p:sp>
        <p:nvSpPr>
          <p:cNvPr id="5" name="Text 2"/>
          <p:cNvSpPr/>
          <p:nvPr/>
        </p:nvSpPr>
        <p:spPr>
          <a:xfrm>
            <a:off x="777240" y="2103120"/>
            <a:ext cx="10058400" cy="457200"/>
          </a:xfrm>
          <a:prstGeom prst="rect">
            <a:avLst/>
          </a:prstGeom>
          <a:noFill/>
          <a:ln/>
        </p:spPr>
        <p:txBody>
          <a:bodyPr wrap="square" lIns="0" tIns="0" rIns="0" bIns="0" rtlCol="0" anchor="ctr"/>
          <a:lstStyle/>
          <a:p>
            <a:pPr algn="l" indent="0" marL="0">
              <a:buNone/>
            </a:pPr>
            <a:r>
              <a:rPr lang="en-US" sz="1800" dirty="0">
                <a:solidFill>
                  <a:srgbClr val="CADCFC"/>
                </a:solidFill>
                <a:latin typeface="Calibri" pitchFamily="34" charset="0"/>
                <a:ea typeface="Calibri" pitchFamily="34" charset="-122"/>
                <a:cs typeface="Calibri" pitchFamily="34" charset="-120"/>
              </a:rPr>
              <a:t>The decision in one line</a:t>
            </a:r>
            <a:endParaRPr lang="en-US" sz="1800" dirty="0"/>
          </a:p>
        </p:txBody>
      </p:sp>
      <p:sp>
        <p:nvSpPr>
          <p:cNvPr id="6" name="Text 3"/>
          <p:cNvSpPr/>
          <p:nvPr/>
        </p:nvSpPr>
        <p:spPr>
          <a:xfrm>
            <a:off x="777240" y="2606040"/>
            <a:ext cx="10332720" cy="1371600"/>
          </a:xfrm>
          <a:prstGeom prst="rect">
            <a:avLst/>
          </a:prstGeom>
          <a:noFill/>
          <a:ln/>
        </p:spPr>
        <p:txBody>
          <a:bodyPr wrap="square" lIns="0" tIns="0" rIns="0" bIns="0" rtlCol="0" anchor="ctr"/>
          <a:lstStyle/>
          <a:p>
            <a:pPr algn="l" indent="0" marL="0">
              <a:buNone/>
            </a:pPr>
            <a:r>
              <a:rPr lang="en-US" sz="3200" b="1" dirty="0">
                <a:solidFill>
                  <a:srgbClr val="FFFFFF"/>
                </a:solidFill>
                <a:latin typeface="Calibri" pitchFamily="34" charset="0"/>
                <a:ea typeface="Calibri" pitchFamily="34" charset="-122"/>
                <a:cs typeface="Calibri" pitchFamily="34" charset="-120"/>
              </a:rPr>
              <a:t>A four-tier subscription with unlimited seats, a generous AI allowance, and high-margin credit top-ups on top.</a:t>
            </a:r>
            <a:endParaRPr lang="en-US" sz="3200" dirty="0"/>
          </a:p>
        </p:txBody>
      </p:sp>
      <p:sp>
        <p:nvSpPr>
          <p:cNvPr id="7" name="Shape 4"/>
          <p:cNvSpPr/>
          <p:nvPr/>
        </p:nvSpPr>
        <p:spPr>
          <a:xfrm>
            <a:off x="822960" y="4663440"/>
            <a:ext cx="2633472" cy="548640"/>
          </a:xfrm>
          <a:prstGeom prst="roundRect">
            <a:avLst>
              <a:gd name="adj" fmla="val 50000"/>
            </a:avLst>
          </a:prstGeom>
          <a:solidFill>
            <a:srgbClr val="FFFFFF">
              <a:alpha val="12000"/>
            </a:srgbClr>
          </a:solidFill>
          <a:ln w="12700">
            <a:solidFill>
              <a:srgbClr val="FFFFFF">
                <a:alpha val="45000"/>
              </a:srgbClr>
            </a:solidFill>
            <a:prstDash val="solid"/>
          </a:ln>
        </p:spPr>
      </p:sp>
      <p:sp>
        <p:nvSpPr>
          <p:cNvPr id="8" name="Text 5"/>
          <p:cNvSpPr/>
          <p:nvPr/>
        </p:nvSpPr>
        <p:spPr>
          <a:xfrm>
            <a:off x="822960" y="4663440"/>
            <a:ext cx="2633472" cy="548640"/>
          </a:xfrm>
          <a:prstGeom prst="rect">
            <a:avLst/>
          </a:prstGeom>
          <a:noFill/>
          <a:ln/>
        </p:spPr>
        <p:txBody>
          <a:bodyPr wrap="square" lIns="0" tIns="0" rIns="0" bIns="0" rtlCol="0" anchor="ctr"/>
          <a:lstStyle/>
          <a:p>
            <a:pPr algn="ctr" indent="0" marL="0">
              <a:buNone/>
            </a:pPr>
            <a:r>
              <a:rPr lang="en-US" sz="1350" b="1" dirty="0">
                <a:solidFill>
                  <a:srgbClr val="FFFFFF"/>
                </a:solidFill>
                <a:latin typeface="Calibri" pitchFamily="34" charset="0"/>
                <a:ea typeface="Calibri" pitchFamily="34" charset="-122"/>
                <a:cs typeface="Calibri" pitchFamily="34" charset="-120"/>
              </a:rPr>
              <a:t>1.  Confirm list prices</a:t>
            </a:r>
            <a:endParaRPr lang="en-US" sz="1350" dirty="0"/>
          </a:p>
        </p:txBody>
      </p:sp>
      <p:sp>
        <p:nvSpPr>
          <p:cNvPr id="9" name="Shape 6"/>
          <p:cNvSpPr/>
          <p:nvPr/>
        </p:nvSpPr>
        <p:spPr>
          <a:xfrm>
            <a:off x="3685032" y="4663440"/>
            <a:ext cx="2633472" cy="548640"/>
          </a:xfrm>
          <a:prstGeom prst="roundRect">
            <a:avLst>
              <a:gd name="adj" fmla="val 50000"/>
            </a:avLst>
          </a:prstGeom>
          <a:solidFill>
            <a:srgbClr val="FFFFFF">
              <a:alpha val="12000"/>
            </a:srgbClr>
          </a:solidFill>
          <a:ln w="12700">
            <a:solidFill>
              <a:srgbClr val="FFFFFF">
                <a:alpha val="45000"/>
              </a:srgbClr>
            </a:solidFill>
            <a:prstDash val="solid"/>
          </a:ln>
        </p:spPr>
      </p:sp>
      <p:sp>
        <p:nvSpPr>
          <p:cNvPr id="10" name="Text 7"/>
          <p:cNvSpPr/>
          <p:nvPr/>
        </p:nvSpPr>
        <p:spPr>
          <a:xfrm>
            <a:off x="3685032" y="4663440"/>
            <a:ext cx="2633472" cy="548640"/>
          </a:xfrm>
          <a:prstGeom prst="rect">
            <a:avLst/>
          </a:prstGeom>
          <a:noFill/>
          <a:ln/>
        </p:spPr>
        <p:txBody>
          <a:bodyPr wrap="square" lIns="0" tIns="0" rIns="0" bIns="0" rtlCol="0" anchor="ctr"/>
          <a:lstStyle/>
          <a:p>
            <a:pPr algn="ctr" indent="0" marL="0">
              <a:buNone/>
            </a:pPr>
            <a:r>
              <a:rPr lang="en-US" sz="1350" b="1" dirty="0">
                <a:solidFill>
                  <a:srgbClr val="FFFFFF"/>
                </a:solidFill>
                <a:latin typeface="Calibri" pitchFamily="34" charset="0"/>
                <a:ea typeface="Calibri" pitchFamily="34" charset="-122"/>
                <a:cs typeface="Calibri" pitchFamily="34" charset="-120"/>
              </a:rPr>
              <a:t>2.  Log live token cost</a:t>
            </a:r>
            <a:endParaRPr lang="en-US" sz="1350" dirty="0"/>
          </a:p>
        </p:txBody>
      </p:sp>
      <p:sp>
        <p:nvSpPr>
          <p:cNvPr id="11" name="Shape 8"/>
          <p:cNvSpPr/>
          <p:nvPr/>
        </p:nvSpPr>
        <p:spPr>
          <a:xfrm>
            <a:off x="6547104" y="4663440"/>
            <a:ext cx="3511296" cy="548640"/>
          </a:xfrm>
          <a:prstGeom prst="roundRect">
            <a:avLst>
              <a:gd name="adj" fmla="val 50000"/>
            </a:avLst>
          </a:prstGeom>
          <a:solidFill>
            <a:srgbClr val="FFFFFF">
              <a:alpha val="12000"/>
            </a:srgbClr>
          </a:solidFill>
          <a:ln w="12700">
            <a:solidFill>
              <a:srgbClr val="FFFFFF">
                <a:alpha val="45000"/>
              </a:srgbClr>
            </a:solidFill>
            <a:prstDash val="solid"/>
          </a:ln>
        </p:spPr>
      </p:sp>
      <p:sp>
        <p:nvSpPr>
          <p:cNvPr id="12" name="Text 9"/>
          <p:cNvSpPr/>
          <p:nvPr/>
        </p:nvSpPr>
        <p:spPr>
          <a:xfrm>
            <a:off x="6547104" y="4663440"/>
            <a:ext cx="3511296" cy="548640"/>
          </a:xfrm>
          <a:prstGeom prst="rect">
            <a:avLst/>
          </a:prstGeom>
          <a:noFill/>
          <a:ln/>
        </p:spPr>
        <p:txBody>
          <a:bodyPr wrap="square" lIns="0" tIns="0" rIns="0" bIns="0" rtlCol="0" anchor="ctr"/>
          <a:lstStyle/>
          <a:p>
            <a:pPr algn="ctr" indent="0" marL="0">
              <a:buNone/>
            </a:pPr>
            <a:r>
              <a:rPr lang="en-US" sz="1350" b="1" dirty="0">
                <a:solidFill>
                  <a:srgbClr val="FFFFFF"/>
                </a:solidFill>
                <a:latin typeface="Calibri" pitchFamily="34" charset="0"/>
                <a:ea typeface="Calibri" pitchFamily="34" charset="-122"/>
                <a:cs typeface="Calibri" pitchFamily="34" charset="-120"/>
              </a:rPr>
              <a:t>3.  Re-run margins on real data</a:t>
            </a:r>
            <a:endParaRPr lang="en-US" sz="1350" dirty="0"/>
          </a:p>
        </p:txBody>
      </p:sp>
      <p:sp>
        <p:nvSpPr>
          <p:cNvPr id="13" name="Text 10"/>
          <p:cNvSpPr/>
          <p:nvPr/>
        </p:nvSpPr>
        <p:spPr>
          <a:xfrm>
            <a:off x="822960" y="6126480"/>
            <a:ext cx="10058400" cy="365760"/>
          </a:xfrm>
          <a:prstGeom prst="rect">
            <a:avLst/>
          </a:prstGeom>
          <a:noFill/>
          <a:ln/>
        </p:spPr>
        <p:txBody>
          <a:bodyPr wrap="square" lIns="0" tIns="0" rIns="0" bIns="0" rtlCol="0" anchor="ctr"/>
          <a:lstStyle/>
          <a:p>
            <a:pPr algn="l" indent="0" marL="0">
              <a:buNone/>
            </a:pPr>
            <a:r>
              <a:rPr lang="en-US" sz="1200" i="1" dirty="0">
                <a:solidFill>
                  <a:srgbClr val="9FB0F0"/>
                </a:solidFill>
                <a:latin typeface="Calibri" pitchFamily="34" charset="0"/>
                <a:ea typeface="Calibri" pitchFamily="34" charset="-122"/>
                <a:cs typeface="Calibri" pitchFamily="34" charset="-120"/>
              </a:rPr>
              <a:t>Proposed figures for internal discussion · August 2026</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2026-08-11T01:29:00Z</dcterms:created>
  <dcterms:modified xsi:type="dcterms:W3CDTF">2026-08-11T01:29:00Z</dcterms:modified>
</cp:coreProperties>
</file>