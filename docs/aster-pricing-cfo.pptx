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B2AE0"/>
            </a:solidFill>
            <a:effectLst/>
          </c:spPr>
          <c:invertIfNegative val="0"/>
          <c:dLbls>
            <c:numFmt formatCode="&quot;RM&quot;#,##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Launch</c:v>
                  </c:pt>
                  <c:pt idx="1">
                    <c:v>Scale</c:v>
                  </c:pt>
                  <c:pt idx="2">
                    <c:v>Elite</c:v>
                  </c:pt>
                </c:lvl>
              </c:multiLvlStrCache>
            </c:multiLvlStrRef>
          </c:cat>
          <c:val>
            <c:numRef>
              <c:f>Sheet1!$B$2:$B$4</c:f>
              <c:numCache>
                <c:formatCode>General</c:formatCode>
                <c:ptCount val="3"/>
                <c:pt idx="0">
                  <c:v>199</c:v>
                </c:pt>
                <c:pt idx="1">
                  <c:v>799</c:v>
                </c:pt>
                <c:pt idx="2">
                  <c:v>1999</c:v>
                </c:pt>
              </c:numCache>
            </c:numRef>
          </c:val>
        </c:ser>
        <c:ser>
          <c:idx val="1"/>
          <c:order val="1"/>
          <c:tx>
            <c:strRef>
              <c:f>Sheet1!$C$1</c:f>
              <c:strCache>
                <c:ptCount val="1"/>
                <c:pt idx="0">
                  <c:v>AI cost of goods</c:v>
                </c:pt>
              </c:strCache>
            </c:strRef>
          </c:tx>
          <c:spPr>
            <a:solidFill>
              <a:srgbClr val="C6CEF6"/>
            </a:solidFill>
            <a:effectLst/>
          </c:spPr>
          <c:invertIfNegative val="0"/>
          <c:dLbls>
            <c:numFmt formatCode="&quot;RM&quot;#,##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Launch</c:v>
                  </c:pt>
                  <c:pt idx="1">
                    <c:v>Scale</c:v>
                  </c:pt>
                  <c:pt idx="2">
                    <c:v>Elite</c:v>
                  </c:pt>
                </c:lvl>
              </c:multiLvlStrCache>
            </c:multiLvlStrRef>
          </c:cat>
          <c:val>
            <c:numRef>
              <c:f>Sheet1!$C$2:$C$4</c:f>
              <c:numCache>
                <c:formatCode>General</c:formatCode>
                <c:ptCount val="3"/>
                <c:pt idx="0">
                  <c:v>20</c:v>
                </c:pt>
                <c:pt idx="1">
                  <c:v>115</c:v>
                </c:pt>
                <c:pt idx="2">
                  <c:v>260</c:v>
                </c:pt>
              </c:numCache>
            </c:numRef>
          </c:val>
        </c:ser>
        <c:dLbls>
          <c:numFmt formatCode="&quot;RM&quot;#,##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Calibri"/>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4A556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sp>
        <p:nvSpPr>
          <p:cNvPr id="4" name="Text 2"/>
          <p:cNvSpPr/>
          <p:nvPr/>
        </p:nvSpPr>
        <p:spPr>
          <a:xfrm>
            <a:off x="777240" y="640080"/>
            <a:ext cx="914400" cy="7315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5" name="Text 3"/>
          <p:cNvSpPr/>
          <p:nvPr/>
        </p:nvSpPr>
        <p:spPr>
          <a:xfrm>
            <a:off x="1280160" y="676656"/>
            <a:ext cx="2743200" cy="640080"/>
          </a:xfrm>
          <a:prstGeom prst="rect">
            <a:avLst/>
          </a:prstGeom>
          <a:noFill/>
          <a:ln/>
        </p:spPr>
        <p:txBody>
          <a:bodyPr wrap="square" lIns="0" tIns="0" rIns="0" bIns="0"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aster</a:t>
            </a:r>
            <a:endParaRPr lang="en-US" sz="2600" dirty="0"/>
          </a:p>
        </p:txBody>
      </p:sp>
      <p:sp>
        <p:nvSpPr>
          <p:cNvPr id="6" name="Text 4"/>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7" name="Text 5"/>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8" name="Shape 6"/>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9" name="Text 7"/>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10" name="Shape 8"/>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1" name="Text 9"/>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2" name="Shape 10"/>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3" name="Text 11"/>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4" name="Text 12"/>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86–90%</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gross margin at typical AI cost*</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2–3×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51560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Estimated from published per-token model pricing (see slide 8). Not yet measured from live token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RM799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RM666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RM7,990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From ~RM6,000 / mo</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Annual contract</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2–3×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RM799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2.7×</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7635240" cy="914400"/>
        </p:xfrm>
        <a:graphic>
          <a:graphicData uri="http://schemas.openxmlformats.org/drawingml/2006/table">
            <a:tbl>
              <a:tblPr/>
              <a:tblGrid>
                <a:gridCol w="2788920"/>
                <a:gridCol w="1234440"/>
                <a:gridCol w="1051560"/>
                <a:gridCol w="1188720"/>
                <a:gridCol w="1097280"/>
                <a:gridCol w="1188720"/>
              </a:tblGrid>
              <a:tr h="54864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 / 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Text 7"/>
          <p:cNvSpPr/>
          <p:nvPr/>
        </p:nvSpPr>
        <p:spPr>
          <a:xfrm>
            <a:off x="548640" y="580644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12).</a:t>
            </a:r>
            <a:endParaRPr lang="en-US" sz="1000" dirty="0"/>
          </a:p>
        </p:txBody>
      </p:sp>
      <p:sp>
        <p:nvSpPr>
          <p:cNvPr id="11" name="Text 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2" name="Text 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Gross margin per subscription</a:t>
            </a:r>
            <a:endParaRPr lang="en-US" sz="3400" dirty="0"/>
          </a:p>
        </p:txBody>
      </p:sp>
      <p:sp>
        <p:nvSpPr>
          <p:cNvPr id="4" name="Shape 2"/>
          <p:cNvSpPr/>
          <p:nvPr/>
        </p:nvSpPr>
        <p:spPr>
          <a:xfrm>
            <a:off x="548640" y="1481328"/>
            <a:ext cx="11091672" cy="566928"/>
          </a:xfrm>
          <a:prstGeom prst="roundRect">
            <a:avLst>
              <a:gd name="adj" fmla="val 12903"/>
            </a:avLst>
          </a:prstGeom>
          <a:solidFill>
            <a:srgbClr val="DCFCE7"/>
          </a:solidFill>
          <a:ln w="12700">
            <a:solidFill>
              <a:srgbClr val="BBE6C6"/>
            </a:solidFill>
            <a:prstDash val="solid"/>
          </a:ln>
        </p:spPr>
      </p:sp>
      <p:sp>
        <p:nvSpPr>
          <p:cNvPr id="5" name="Text 3"/>
          <p:cNvSpPr/>
          <p:nvPr/>
        </p:nvSpPr>
        <p:spPr>
          <a:xfrm>
            <a:off x="777240" y="1481328"/>
            <a:ext cx="10698480" cy="566928"/>
          </a:xfrm>
          <a:prstGeom prst="rect">
            <a:avLst/>
          </a:prstGeom>
          <a:noFill/>
          <a:ln/>
        </p:spPr>
        <p:txBody>
          <a:bodyPr wrap="square" lIns="0" tIns="0" rIns="0" bIns="0" rtlCol="0" anchor="ctr"/>
          <a:lstStyle/>
          <a:p>
            <a:pPr algn="l" indent="0" marL="0">
              <a:buNone/>
            </a:pPr>
            <a:r>
              <a:rPr lang="en-US" sz="1200" b="1" dirty="0">
                <a:solidFill>
                  <a:srgbClr val="166534"/>
                </a:solidFill>
                <a:latin typeface="Calibri" pitchFamily="34" charset="0"/>
                <a:ea typeface="Calibri" pitchFamily="34" charset="-122"/>
                <a:cs typeface="Calibri" pitchFamily="34" charset="-120"/>
              </a:rPr>
              <a:t>Basis:  </a:t>
            </a:r>
            <a:pPr algn="l" indent="0" marL="0">
              <a:buNone/>
            </a:pPr>
            <a:r>
              <a:rPr lang="en-US" sz="1200" dirty="0">
                <a:solidFill>
                  <a:srgbClr val="1E6B3A"/>
                </a:solidFill>
                <a:latin typeface="Calibri" pitchFamily="34" charset="0"/>
                <a:ea typeface="Calibri" pitchFamily="34" charset="-122"/>
                <a:cs typeface="Calibri" pitchFamily="34" charset="-120"/>
              </a:rPr>
              <a:t>AI cost from slide 8, at 100% of the monthly allowance consumed (worst case for margin; most accounts use far less). Excludes ~3% card fees and fixed infrastructure.</a:t>
            </a:r>
            <a:endParaRPr lang="en-US" sz="1200" dirty="0"/>
          </a:p>
        </p:txBody>
      </p:sp>
      <p:graphicFrame>
        <p:nvGraphicFramePr>
          <p:cNvPr id="6" name="Chart 0" descr=""/>
          <p:cNvGraphicFramePr/>
          <p:nvPr/>
        </p:nvGraphicFramePr>
        <p:xfrm>
          <a:off x="548640" y="233172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2468880"/>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8" name="Text 5"/>
          <p:cNvSpPr/>
          <p:nvPr/>
        </p:nvSpPr>
        <p:spPr>
          <a:xfrm>
            <a:off x="8001000" y="259689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9" name="Text 6"/>
          <p:cNvSpPr/>
          <p:nvPr/>
        </p:nvSpPr>
        <p:spPr>
          <a:xfrm>
            <a:off x="8001000" y="2999232"/>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0" name="Text 7"/>
          <p:cNvSpPr/>
          <p:nvPr/>
        </p:nvSpPr>
        <p:spPr>
          <a:xfrm>
            <a:off x="10222992" y="2688336"/>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90%</a:t>
            </a:r>
            <a:endParaRPr lang="en-US" sz="3000" dirty="0"/>
          </a:p>
        </p:txBody>
      </p:sp>
      <p:sp>
        <p:nvSpPr>
          <p:cNvPr id="11" name="Shape 8"/>
          <p:cNvSpPr/>
          <p:nvPr/>
        </p:nvSpPr>
        <p:spPr>
          <a:xfrm>
            <a:off x="7772400" y="3639312"/>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9"/>
          <p:cNvSpPr/>
          <p:nvPr/>
        </p:nvSpPr>
        <p:spPr>
          <a:xfrm>
            <a:off x="8001000" y="376732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3" name="Text 10"/>
          <p:cNvSpPr/>
          <p:nvPr/>
        </p:nvSpPr>
        <p:spPr>
          <a:xfrm>
            <a:off x="8001000" y="4169664"/>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4" name="Text 11"/>
          <p:cNvSpPr/>
          <p:nvPr/>
        </p:nvSpPr>
        <p:spPr>
          <a:xfrm>
            <a:off x="10222992" y="3858768"/>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86%</a:t>
            </a:r>
            <a:endParaRPr lang="en-US" sz="3000" dirty="0"/>
          </a:p>
        </p:txBody>
      </p:sp>
      <p:sp>
        <p:nvSpPr>
          <p:cNvPr id="15" name="Shape 12"/>
          <p:cNvSpPr/>
          <p:nvPr/>
        </p:nvSpPr>
        <p:spPr>
          <a:xfrm>
            <a:off x="7772400" y="4809744"/>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6" name="Text 13"/>
          <p:cNvSpPr/>
          <p:nvPr/>
        </p:nvSpPr>
        <p:spPr>
          <a:xfrm>
            <a:off x="8001000" y="493776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7" name="Text 14"/>
          <p:cNvSpPr/>
          <p:nvPr/>
        </p:nvSpPr>
        <p:spPr>
          <a:xfrm>
            <a:off x="8001000" y="5340096"/>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8" name="Text 15"/>
          <p:cNvSpPr/>
          <p:nvPr/>
        </p:nvSpPr>
        <p:spPr>
          <a:xfrm>
            <a:off x="10222992" y="5029200"/>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87%</a:t>
            </a:r>
            <a:endParaRPr lang="en-US" sz="3000" dirty="0"/>
          </a:p>
        </p:txBody>
      </p:sp>
      <p:sp>
        <p:nvSpPr>
          <p:cNvPr id="19" name="Text 16"/>
          <p:cNvSpPr/>
          <p:nvPr/>
        </p:nvSpPr>
        <p:spPr>
          <a:xfrm>
            <a:off x="548640" y="6309360"/>
            <a:ext cx="11064240" cy="320040"/>
          </a:xfrm>
          <a:prstGeom prst="rect">
            <a:avLst/>
          </a:prstGeom>
          <a:noFill/>
          <a:ln/>
        </p:spPr>
        <p:txBody>
          <a:bodyPr wrap="square" lIns="0" tIns="0" rIns="0" bIns="0" rtlCol="0" anchor="ctr"/>
          <a:lstStyle/>
          <a:p>
            <a:pPr algn="l" indent="0" marL="0">
              <a:buNone/>
            </a:pPr>
            <a:r>
              <a:rPr lang="en-US" sz="1100" b="1" dirty="0">
                <a:solidFill>
                  <a:srgbClr val="B45309"/>
                </a:solidFill>
                <a:latin typeface="Calibri" pitchFamily="34" charset="0"/>
                <a:ea typeface="Calibri" pitchFamily="34" charset="-122"/>
                <a:cs typeface="Calibri" pitchFamily="34" charset="-120"/>
              </a:rPr>
              <a:t>Worst-case floor  </a:t>
            </a:r>
            <a:pPr algn="l" indent="0" marL="0">
              <a:buNone/>
            </a:pPr>
            <a:r>
              <a:rPr lang="en-US" sz="1100" dirty="0">
                <a:solidFill>
                  <a:srgbClr val="4A5568"/>
                </a:solidFill>
                <a:latin typeface="Calibri" pitchFamily="34" charset="0"/>
                <a:ea typeface="Calibri" pitchFamily="34" charset="-122"/>
                <a:cs typeface="Calibri" pitchFamily="34" charset="-120"/>
              </a:rPr>
              <a:t>(max unit cost AND 100% usage): Launch 66% · Scale 53% · Elite 59%.</a:t>
            </a:r>
            <a:endParaRPr lang="en-US" sz="1100" dirty="0"/>
          </a:p>
        </p:txBody>
      </p:sp>
      <p:sp>
        <p:nvSpPr>
          <p:cNvPr id="20" name="Text 17"/>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1" name="Text 18"/>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RM67,900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RM165,785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RM379,540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RM10,185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RM24,868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RM56,931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RM78,085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RM190,653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RM436,471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RM937K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RM2.29M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RM5.24M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RM2.29M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RM863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~86% </a:t>
            </a:r>
            <a:pPr algn="l" indent="0" marL="0">
              <a:buNone/>
            </a:pPr>
            <a:r>
              <a:rPr lang="en-US" sz="1300" dirty="0">
                <a:solidFill>
                  <a:srgbClr val="CADCFC"/>
                </a:solidFill>
                <a:latin typeface="Calibri" pitchFamily="34" charset="0"/>
                <a:ea typeface="Calibri" pitchFamily="34" charset="-122"/>
                <a:cs typeface="Calibri" pitchFamily="34" charset="-120"/>
              </a:rPr>
              <a:t>blended gross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MRR uses the proposed list prices; adjust mix and top-up rate with your CFO. Margin per slide 9.</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(RM199 / RM799 / RM1,999)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COGS is modeled from model pricing, not yet measured from live token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Heavy web-search use on screening pushes toward the max-cost end.</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sp>
        <p:nvSpPr>
          <p:cNvPr id="4" name="Text 2"/>
          <p:cNvSpPr/>
          <p:nvPr/>
        </p:nvSpPr>
        <p:spPr>
          <a:xfrm>
            <a:off x="777240" y="640080"/>
            <a:ext cx="36576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 aster</a:t>
            </a:r>
            <a:endParaRPr lang="en-US" sz="2200" dirty="0"/>
          </a:p>
        </p:txBody>
      </p:sp>
      <p:sp>
        <p:nvSpPr>
          <p:cNvPr id="5" name="Text 3"/>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4"/>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5"/>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6"/>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7"/>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8"/>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9"/>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10"/>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1"/>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2026-08-10T16:28:36Z</dcterms:created>
  <dcterms:modified xsi:type="dcterms:W3CDTF">2026-08-10T16:28:36Z</dcterms:modified>
</cp:coreProperties>
</file>