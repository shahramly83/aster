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0B2AE0"/>
            </a:solidFill>
            <a:effectLst/>
          </c:spPr>
          <c:invertIfNegative val="0"/>
          <c:dLbls>
            <c:numFmt formatCode="$#,##0" sourceLinked="0"/>
            <c:txPr>
              <a:bodyPr/>
              <a:lstStyle/>
              <a:p>
                <a:pPr>
                  <a:defRPr b="0" i="0" strike="noStrike" sz="1000" u="none">
                    <a:solidFill>
                      <a:srgbClr val="121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Launch</c:v>
                  </c:pt>
                  <c:pt idx="1">
                    <c:v>Scale</c:v>
                  </c:pt>
                  <c:pt idx="2">
                    <c:v>Elite</c:v>
                  </c:pt>
                </c:lvl>
              </c:multiLvlStrCache>
            </c:multiLvlStrRef>
          </c:cat>
          <c:val>
            <c:numRef>
              <c:f>Sheet1!$B$2:$B$4</c:f>
              <c:numCache>
                <c:formatCode>General</c:formatCode>
                <c:ptCount val="3"/>
                <c:pt idx="0">
                  <c:v>49</c:v>
                </c:pt>
                <c:pt idx="1">
                  <c:v>199</c:v>
                </c:pt>
                <c:pt idx="2">
                  <c:v>499</c:v>
                </c:pt>
              </c:numCache>
            </c:numRef>
          </c:val>
        </c:ser>
        <c:ser>
          <c:idx val="1"/>
          <c:order val="1"/>
          <c:tx>
            <c:strRef>
              <c:f>Sheet1!$C$1</c:f>
              <c:strCache>
                <c:ptCount val="1"/>
                <c:pt idx="0">
                  <c:v>AI cost of goods</c:v>
                </c:pt>
              </c:strCache>
            </c:strRef>
          </c:tx>
          <c:spPr>
            <a:solidFill>
              <a:srgbClr val="C6CEF6"/>
            </a:solidFill>
            <a:effectLst/>
          </c:spPr>
          <c:invertIfNegative val="0"/>
          <c:dLbls>
            <c:numFmt formatCode="$#,##0" sourceLinked="0"/>
            <c:txPr>
              <a:bodyPr/>
              <a:lstStyle/>
              <a:p>
                <a:pPr>
                  <a:defRPr b="0" i="0" strike="noStrike" sz="1000" u="none">
                    <a:solidFill>
                      <a:srgbClr val="1213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Launch</c:v>
                  </c:pt>
                  <c:pt idx="1">
                    <c:v>Scale</c:v>
                  </c:pt>
                  <c:pt idx="2">
                    <c:v>Elite</c:v>
                  </c:pt>
                </c:lvl>
              </c:multiLvlStrCache>
            </c:multiLvlStrRef>
          </c:cat>
          <c:val>
            <c:numRef>
              <c:f>Sheet1!$C$2:$C$4</c:f>
              <c:numCache>
                <c:formatCode>General</c:formatCode>
                <c:ptCount val="3"/>
                <c:pt idx="0">
                  <c:v>4.95</c:v>
                </c:pt>
                <c:pt idx="1">
                  <c:v>28.8</c:v>
                </c:pt>
                <c:pt idx="2">
                  <c:v>65</c:v>
                </c:pt>
              </c:numCache>
            </c:numRef>
          </c:val>
        </c:ser>
        <c:dLbls>
          <c:numFmt formatCode="$#,##0" sourceLinked="0"/>
          <c:txPr>
            <a:bodyPr/>
            <a:lstStyle/>
            <a:p>
              <a:pPr>
                <a:defRPr b="0" i="0" strike="noStrike" sz="1000" u="none">
                  <a:solidFill>
                    <a:srgbClr val="1213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Calibri"/>
              </a:defRPr>
            </a:pPr>
            <a:endParaRPr lang="en-US"/>
          </a:p>
        </c:txPr>
        <c:crossAx val="2094734552"/>
        <c:crosses val="autoZero"/>
        <c:auto val="1"/>
        <c:lblAlgn val="ctr"/>
        <c:noMultiLvlLbl val="1"/>
      </c:catAx>
      <c:valAx>
        <c:axId val="2094734552"/>
        <c:scaling>
          <c:orientation val="minMax"/>
          <c:max val="5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4A5568"/>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2011680" y="-2377440"/>
            <a:ext cx="5943600" cy="5943600"/>
          </a:xfrm>
          <a:prstGeom prst="ellipse">
            <a:avLst/>
          </a:prstGeom>
          <a:solidFill>
            <a:srgbClr val="5570F5">
              <a:alpha val="28000"/>
            </a:srgbClr>
          </a:solidFill>
          <a:ln/>
        </p:spPr>
      </p:sp>
      <p:sp>
        <p:nvSpPr>
          <p:cNvPr id="3" name="Shape 1"/>
          <p:cNvSpPr/>
          <p:nvPr/>
        </p:nvSpPr>
        <p:spPr>
          <a:xfrm>
            <a:off x="8412480" y="3291840"/>
            <a:ext cx="6217920" cy="6217920"/>
          </a:xfrm>
          <a:prstGeom prst="ellipse">
            <a:avLst/>
          </a:prstGeom>
          <a:solidFill>
            <a:srgbClr val="0B2AE0">
              <a:alpha val="40000"/>
            </a:srgbClr>
          </a:solidFill>
          <a:ln/>
        </p:spPr>
      </p:sp>
      <p:sp>
        <p:nvSpPr>
          <p:cNvPr id="4" name="Text 2"/>
          <p:cNvSpPr/>
          <p:nvPr/>
        </p:nvSpPr>
        <p:spPr>
          <a:xfrm>
            <a:off x="777240" y="640080"/>
            <a:ext cx="914400" cy="7315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a:t>
            </a:r>
            <a:endParaRPr lang="en-US" sz="3000" dirty="0"/>
          </a:p>
        </p:txBody>
      </p:sp>
      <p:sp>
        <p:nvSpPr>
          <p:cNvPr id="5" name="Text 3"/>
          <p:cNvSpPr/>
          <p:nvPr/>
        </p:nvSpPr>
        <p:spPr>
          <a:xfrm>
            <a:off x="1280160" y="676656"/>
            <a:ext cx="2743200" cy="640080"/>
          </a:xfrm>
          <a:prstGeom prst="rect">
            <a:avLst/>
          </a:prstGeom>
          <a:noFill/>
          <a:ln/>
        </p:spPr>
        <p:txBody>
          <a:bodyPr wrap="square" lIns="0" tIns="0" rIns="0" bIns="0" rtlCol="0" anchor="ctr"/>
          <a:lstStyle/>
          <a:p>
            <a:pPr algn="l" indent="0" marL="0">
              <a:buNone/>
            </a:pPr>
            <a:r>
              <a:rPr lang="en-US" sz="2600" b="1" dirty="0">
                <a:solidFill>
                  <a:srgbClr val="FFFFFF"/>
                </a:solidFill>
                <a:latin typeface="Calibri" pitchFamily="34" charset="0"/>
                <a:ea typeface="Calibri" pitchFamily="34" charset="-122"/>
                <a:cs typeface="Calibri" pitchFamily="34" charset="-120"/>
              </a:rPr>
              <a:t>aster</a:t>
            </a:r>
            <a:endParaRPr lang="en-US" sz="2600" dirty="0"/>
          </a:p>
        </p:txBody>
      </p:sp>
      <p:sp>
        <p:nvSpPr>
          <p:cNvPr id="6" name="Text 4"/>
          <p:cNvSpPr/>
          <p:nvPr/>
        </p:nvSpPr>
        <p:spPr>
          <a:xfrm>
            <a:off x="777240" y="2286000"/>
            <a:ext cx="10607040" cy="91440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Pricing model</a:t>
            </a:r>
            <a:endParaRPr lang="en-US" sz="5400" dirty="0"/>
          </a:p>
        </p:txBody>
      </p:sp>
      <p:sp>
        <p:nvSpPr>
          <p:cNvPr id="7" name="Text 5"/>
          <p:cNvSpPr/>
          <p:nvPr/>
        </p:nvSpPr>
        <p:spPr>
          <a:xfrm>
            <a:off x="822960" y="3310128"/>
            <a:ext cx="10058400" cy="548640"/>
          </a:xfrm>
          <a:prstGeom prst="rect">
            <a:avLst/>
          </a:prstGeom>
          <a:noFill/>
          <a:ln/>
        </p:spPr>
        <p:txBody>
          <a:bodyPr wrap="square" lIns="0" tIns="0" rIns="0" bIns="0" rtlCol="0" anchor="ctr"/>
          <a:lstStyle/>
          <a:p>
            <a:pPr algn="l" indent="0" marL="0">
              <a:buNone/>
            </a:pPr>
            <a:r>
              <a:rPr lang="en-US" sz="2000" dirty="0">
                <a:solidFill>
                  <a:srgbClr val="CADCFC"/>
                </a:solidFill>
                <a:latin typeface="Calibri" pitchFamily="34" charset="0"/>
                <a:ea typeface="Calibri" pitchFamily="34" charset="-122"/>
                <a:cs typeface="Calibri" pitchFamily="34" charset="-120"/>
              </a:rPr>
              <a:t>A full proposal for CFO review: tiers, credit economics, and margins</a:t>
            </a:r>
            <a:endParaRPr lang="en-US" sz="2000" dirty="0"/>
          </a:p>
        </p:txBody>
      </p:sp>
      <p:sp>
        <p:nvSpPr>
          <p:cNvPr id="8" name="Shape 6"/>
          <p:cNvSpPr/>
          <p:nvPr/>
        </p:nvSpPr>
        <p:spPr>
          <a:xfrm>
            <a:off x="822960" y="4251960"/>
            <a:ext cx="2221992"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9" name="Text 7"/>
          <p:cNvSpPr/>
          <p:nvPr/>
        </p:nvSpPr>
        <p:spPr>
          <a:xfrm>
            <a:off x="822960" y="4251960"/>
            <a:ext cx="222199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subscription tiers</a:t>
            </a:r>
            <a:endParaRPr lang="en-US" sz="1300" dirty="0"/>
          </a:p>
        </p:txBody>
      </p:sp>
      <p:sp>
        <p:nvSpPr>
          <p:cNvPr id="10" name="Shape 8"/>
          <p:cNvSpPr/>
          <p:nvPr/>
        </p:nvSpPr>
        <p:spPr>
          <a:xfrm>
            <a:off x="3273552" y="4251960"/>
            <a:ext cx="2412187"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1" name="Text 9"/>
          <p:cNvSpPr/>
          <p:nvPr/>
        </p:nvSpPr>
        <p:spPr>
          <a:xfrm>
            <a:off x="3273552" y="4251960"/>
            <a:ext cx="2412187"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Usage-based AI credits</a:t>
            </a:r>
            <a:endParaRPr lang="en-US" sz="1300" dirty="0"/>
          </a:p>
        </p:txBody>
      </p:sp>
      <p:sp>
        <p:nvSpPr>
          <p:cNvPr id="12" name="Shape 10"/>
          <p:cNvSpPr/>
          <p:nvPr/>
        </p:nvSpPr>
        <p:spPr>
          <a:xfrm>
            <a:off x="5914339" y="4251960"/>
            <a:ext cx="3363163" cy="457200"/>
          </a:xfrm>
          <a:prstGeom prst="roundRect">
            <a:avLst>
              <a:gd name="adj" fmla="val 50000"/>
            </a:avLst>
          </a:prstGeom>
          <a:solidFill>
            <a:srgbClr val="FFFFFF">
              <a:alpha val="14000"/>
            </a:srgbClr>
          </a:solidFill>
          <a:ln w="12700">
            <a:solidFill>
              <a:srgbClr val="FFFFFF">
                <a:alpha val="40000"/>
              </a:srgbClr>
            </a:solidFill>
            <a:prstDash val="solid"/>
          </a:ln>
        </p:spPr>
      </p:sp>
      <p:sp>
        <p:nvSpPr>
          <p:cNvPr id="13" name="Text 11"/>
          <p:cNvSpPr/>
          <p:nvPr/>
        </p:nvSpPr>
        <p:spPr>
          <a:xfrm>
            <a:off x="5914339" y="4251960"/>
            <a:ext cx="3363163"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Cost per credit from real models</a:t>
            </a:r>
            <a:endParaRPr lang="en-US" sz="1300" dirty="0"/>
          </a:p>
        </p:txBody>
      </p:sp>
      <p:sp>
        <p:nvSpPr>
          <p:cNvPr id="14" name="Text 12"/>
          <p:cNvSpPr/>
          <p:nvPr/>
        </p:nvSpPr>
        <p:spPr>
          <a:xfrm>
            <a:off x="822960" y="6172200"/>
            <a:ext cx="105156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Prepared for internal discussion  ·  August 2026  ·  Proposed figures, not current live prices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MODEL AT A GLANCE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Two revenue engines, one platform</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Aster charges a monthly subscription for platform access plus a bundle of AI usage, then sells more AI usage as credit top-ups. Seats are unlimited on every plan, so we compete on hiring outcomes, not per-seat price.</a:t>
            </a:r>
            <a:endParaRPr lang="en-US" sz="1400" dirty="0"/>
          </a:p>
        </p:txBody>
      </p:sp>
      <p:sp>
        <p:nvSpPr>
          <p:cNvPr id="5" name="Shape 3"/>
          <p:cNvSpPr/>
          <p:nvPr/>
        </p:nvSpPr>
        <p:spPr>
          <a:xfrm>
            <a:off x="548640"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731520"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4 tiers</a:t>
            </a:r>
            <a:endParaRPr lang="en-US" sz="3000" dirty="0"/>
          </a:p>
        </p:txBody>
      </p:sp>
      <p:sp>
        <p:nvSpPr>
          <p:cNvPr id="7" name="Text 5"/>
          <p:cNvSpPr/>
          <p:nvPr/>
        </p:nvSpPr>
        <p:spPr>
          <a:xfrm>
            <a:off x="731520"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Launch · Scale · Elite · Enterprise</a:t>
            </a:r>
            <a:endParaRPr lang="en-US" sz="1250" dirty="0"/>
          </a:p>
        </p:txBody>
      </p:sp>
      <p:sp>
        <p:nvSpPr>
          <p:cNvPr id="8" name="Shape 6"/>
          <p:cNvSpPr/>
          <p:nvPr/>
        </p:nvSpPr>
        <p:spPr>
          <a:xfrm>
            <a:off x="3346704"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7"/>
          <p:cNvSpPr/>
          <p:nvPr/>
        </p:nvSpPr>
        <p:spPr>
          <a:xfrm>
            <a:off x="3529584" y="2487168"/>
            <a:ext cx="2313432" cy="54864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Unlimited</a:t>
            </a:r>
            <a:endParaRPr lang="en-US" sz="3000" dirty="0"/>
          </a:p>
        </p:txBody>
      </p:sp>
      <p:sp>
        <p:nvSpPr>
          <p:cNvPr id="10" name="Text 8"/>
          <p:cNvSpPr/>
          <p:nvPr/>
        </p:nvSpPr>
        <p:spPr>
          <a:xfrm>
            <a:off x="3529584"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team seats on every plan</a:t>
            </a:r>
            <a:endParaRPr lang="en-US" sz="1250" dirty="0"/>
          </a:p>
        </p:txBody>
      </p:sp>
      <p:sp>
        <p:nvSpPr>
          <p:cNvPr id="11" name="Shape 9"/>
          <p:cNvSpPr/>
          <p:nvPr/>
        </p:nvSpPr>
        <p:spPr>
          <a:xfrm>
            <a:off x="6144768"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6327648"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86–90%</a:t>
            </a:r>
            <a:endParaRPr lang="en-US" sz="3000" dirty="0"/>
          </a:p>
        </p:txBody>
      </p:sp>
      <p:sp>
        <p:nvSpPr>
          <p:cNvPr id="13" name="Text 11"/>
          <p:cNvSpPr/>
          <p:nvPr/>
        </p:nvSpPr>
        <p:spPr>
          <a:xfrm>
            <a:off x="6327648"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gross margin at typical AI cost*</a:t>
            </a:r>
            <a:endParaRPr lang="en-US" sz="1250" dirty="0"/>
          </a:p>
        </p:txBody>
      </p:sp>
      <p:sp>
        <p:nvSpPr>
          <p:cNvPr id="14" name="Shape 12"/>
          <p:cNvSpPr/>
          <p:nvPr/>
        </p:nvSpPr>
        <p:spPr>
          <a:xfrm>
            <a:off x="8942832" y="2331720"/>
            <a:ext cx="2679192" cy="1417320"/>
          </a:xfrm>
          <a:prstGeom prst="roundRect">
            <a:avLst>
              <a:gd name="adj" fmla="val 7742"/>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9125712" y="2487168"/>
            <a:ext cx="2313432" cy="548640"/>
          </a:xfrm>
          <a:prstGeom prst="rect">
            <a:avLst/>
          </a:prstGeom>
          <a:noFill/>
          <a:ln/>
        </p:spPr>
        <p:txBody>
          <a:bodyPr wrap="square" lIns="0" tIns="0" rIns="0" bIns="0" rtlCol="0" anchor="ctr"/>
          <a:lstStyle/>
          <a:p>
            <a:pPr algn="l" indent="0" marL="0">
              <a:buNone/>
            </a:pPr>
            <a:r>
              <a:rPr lang="en-US" sz="3000" b="1" dirty="0">
                <a:solidFill>
                  <a:srgbClr val="16A34A"/>
                </a:solidFill>
                <a:latin typeface="Calibri" pitchFamily="34" charset="0"/>
                <a:ea typeface="Calibri" pitchFamily="34" charset="-122"/>
                <a:cs typeface="Calibri" pitchFamily="34" charset="-120"/>
              </a:rPr>
              <a:t>70–97%</a:t>
            </a:r>
            <a:endParaRPr lang="en-US" sz="3000" dirty="0"/>
          </a:p>
        </p:txBody>
      </p:sp>
      <p:sp>
        <p:nvSpPr>
          <p:cNvPr id="16" name="Text 14"/>
          <p:cNvSpPr/>
          <p:nvPr/>
        </p:nvSpPr>
        <p:spPr>
          <a:xfrm>
            <a:off x="9125712" y="3108960"/>
            <a:ext cx="2313432" cy="5486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margin per credit even at max cost*</a:t>
            </a:r>
            <a:endParaRPr lang="en-US" sz="1250" dirty="0"/>
          </a:p>
        </p:txBody>
      </p:sp>
      <p:sp>
        <p:nvSpPr>
          <p:cNvPr id="17" name="Shape 15"/>
          <p:cNvSpPr/>
          <p:nvPr/>
        </p:nvSpPr>
        <p:spPr>
          <a:xfrm>
            <a:off x="594360" y="4133088"/>
            <a:ext cx="384048" cy="384048"/>
          </a:xfrm>
          <a:prstGeom prst="ellipse">
            <a:avLst/>
          </a:prstGeom>
          <a:solidFill>
            <a:srgbClr val="0B2AE0"/>
          </a:solidFill>
          <a:ln/>
        </p:spPr>
      </p:sp>
      <p:sp>
        <p:nvSpPr>
          <p:cNvPr id="18" name="Text 16"/>
          <p:cNvSpPr/>
          <p:nvPr/>
        </p:nvSpPr>
        <p:spPr>
          <a:xfrm>
            <a:off x="594360" y="41239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9" name="Text 17"/>
          <p:cNvSpPr/>
          <p:nvPr/>
        </p:nvSpPr>
        <p:spPr>
          <a:xfrm>
            <a:off x="1143000" y="4059936"/>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Subscription = access + a generous AI allowance</a:t>
            </a:r>
            <a:endParaRPr lang="en-US" sz="1500" dirty="0"/>
          </a:p>
        </p:txBody>
      </p:sp>
      <p:sp>
        <p:nvSpPr>
          <p:cNvPr id="20" name="Text 18"/>
          <p:cNvSpPr/>
          <p:nvPr/>
        </p:nvSpPr>
        <p:spPr>
          <a:xfrm>
            <a:off x="1143000" y="4370832"/>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Each tier bundles enough screening and AI credits to run its open roles. The bundle is worth 2–3× the plan price at list credit rates, which anchors upgrades.</a:t>
            </a:r>
            <a:endParaRPr lang="en-US" sz="1250" dirty="0"/>
          </a:p>
        </p:txBody>
      </p:sp>
      <p:sp>
        <p:nvSpPr>
          <p:cNvPr id="21" name="Shape 19"/>
          <p:cNvSpPr/>
          <p:nvPr/>
        </p:nvSpPr>
        <p:spPr>
          <a:xfrm>
            <a:off x="594360" y="4882896"/>
            <a:ext cx="384048" cy="384048"/>
          </a:xfrm>
          <a:prstGeom prst="ellipse">
            <a:avLst/>
          </a:prstGeom>
          <a:solidFill>
            <a:srgbClr val="0B2AE0"/>
          </a:solidFill>
          <a:ln/>
        </p:spPr>
      </p:sp>
      <p:sp>
        <p:nvSpPr>
          <p:cNvPr id="22" name="Text 20"/>
          <p:cNvSpPr/>
          <p:nvPr/>
        </p:nvSpPr>
        <p:spPr>
          <a:xfrm>
            <a:off x="594360" y="48737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1"/>
          <p:cNvSpPr/>
          <p:nvPr/>
        </p:nvSpPr>
        <p:spPr>
          <a:xfrm>
            <a:off x="1143000" y="4809744"/>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Credit top-ups are the margin engine</a:t>
            </a:r>
            <a:endParaRPr lang="en-US" sz="1500" dirty="0"/>
          </a:p>
        </p:txBody>
      </p:sp>
      <p:sp>
        <p:nvSpPr>
          <p:cNvPr id="24" name="Text 22"/>
          <p:cNvSpPr/>
          <p:nvPr/>
        </p:nvSpPr>
        <p:spPr>
          <a:xfrm>
            <a:off x="1143000" y="5120640"/>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Overage sells at $1.00 / $0.40 / $0.50 per action against an AI cost of a few cents. This is where blended margin expands as accounts grow.</a:t>
            </a:r>
            <a:endParaRPr lang="en-US" sz="1250" dirty="0"/>
          </a:p>
        </p:txBody>
      </p:sp>
      <p:sp>
        <p:nvSpPr>
          <p:cNvPr id="25" name="Shape 23"/>
          <p:cNvSpPr/>
          <p:nvPr/>
        </p:nvSpPr>
        <p:spPr>
          <a:xfrm>
            <a:off x="594360" y="5632704"/>
            <a:ext cx="384048" cy="384048"/>
          </a:xfrm>
          <a:prstGeom prst="ellipse">
            <a:avLst/>
          </a:prstGeom>
          <a:solidFill>
            <a:srgbClr val="0B2AE0"/>
          </a:solidFill>
          <a:ln/>
        </p:spPr>
      </p:sp>
      <p:sp>
        <p:nvSpPr>
          <p:cNvPr id="26" name="Text 24"/>
          <p:cNvSpPr/>
          <p:nvPr/>
        </p:nvSpPr>
        <p:spPr>
          <a:xfrm>
            <a:off x="594360" y="5623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7" name="Text 25"/>
          <p:cNvSpPr/>
          <p:nvPr/>
        </p:nvSpPr>
        <p:spPr>
          <a:xfrm>
            <a:off x="1143000" y="5559552"/>
            <a:ext cx="1042416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The COGS here is grounded, not guessed</a:t>
            </a:r>
            <a:endParaRPr lang="en-US" sz="1500" dirty="0"/>
          </a:p>
        </p:txBody>
      </p:sp>
      <p:sp>
        <p:nvSpPr>
          <p:cNvPr id="28" name="Text 26"/>
          <p:cNvSpPr/>
          <p:nvPr/>
        </p:nvSpPr>
        <p:spPr>
          <a:xfrm>
            <a:off x="1143000" y="5870448"/>
            <a:ext cx="10424160" cy="45720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Every AI action is priced against the actual model it runs on (Sonnet 5, Opus 5, Haiku 4.5). Recommend logging live token spend to confirm these estimates.</a:t>
            </a:r>
            <a:endParaRPr lang="en-US" sz="1250" dirty="0"/>
          </a:p>
        </p:txBody>
      </p:sp>
      <p:sp>
        <p:nvSpPr>
          <p:cNvPr id="29" name="Text 27"/>
          <p:cNvSpPr/>
          <p:nvPr/>
        </p:nvSpPr>
        <p:spPr>
          <a:xfrm>
            <a:off x="548640" y="6382512"/>
            <a:ext cx="10515600" cy="274320"/>
          </a:xfrm>
          <a:prstGeom prst="rect">
            <a:avLst/>
          </a:prstGeom>
          <a:noFill/>
          <a:ln/>
        </p:spPr>
        <p:txBody>
          <a:bodyPr wrap="square" lIns="0" tIns="0" rIns="0" bIns="0" rtlCol="0" anchor="ctr"/>
          <a:lstStyle/>
          <a:p>
            <a:pPr algn="l" indent="0" marL="0">
              <a:buNone/>
            </a:pPr>
            <a:r>
              <a:rPr lang="en-US" sz="950" i="1" dirty="0">
                <a:solidFill>
                  <a:srgbClr val="6B7280"/>
                </a:solidFill>
                <a:latin typeface="Calibri" pitchFamily="34" charset="0"/>
                <a:ea typeface="Calibri" pitchFamily="34" charset="-122"/>
                <a:cs typeface="Calibri" pitchFamily="34" charset="-120"/>
              </a:rPr>
              <a:t>* Estimated from published per-token model pricing (see slide 8). Not yet measured from live token logs.</a:t>
            </a:r>
            <a:endParaRPr lang="en-US" sz="950" dirty="0"/>
          </a:p>
        </p:txBody>
      </p:sp>
      <p:sp>
        <p:nvSpPr>
          <p:cNvPr id="30" name="Text 2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1" name="Text 2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THE PRICING ARCHITECTURE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a customer actually pays for</a:t>
            </a:r>
            <a:endParaRPr lang="en-US" sz="3400" dirty="0"/>
          </a:p>
        </p:txBody>
      </p:sp>
      <p:sp>
        <p:nvSpPr>
          <p:cNvPr id="4" name="Shape 2"/>
          <p:cNvSpPr/>
          <p:nvPr/>
        </p:nvSpPr>
        <p:spPr>
          <a:xfrm>
            <a:off x="548640"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777240" y="2221992"/>
            <a:ext cx="566928" cy="566928"/>
          </a:xfrm>
          <a:prstGeom prst="ellipse">
            <a:avLst/>
          </a:prstGeom>
          <a:solidFill>
            <a:srgbClr val="0B2AE0"/>
          </a:solidFill>
          <a:ln/>
        </p:spPr>
      </p:sp>
      <p:sp>
        <p:nvSpPr>
          <p:cNvPr id="6" name="Text 4"/>
          <p:cNvSpPr/>
          <p:nvPr/>
        </p:nvSpPr>
        <p:spPr>
          <a:xfrm>
            <a:off x="777240"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a:t>
            </a:r>
            <a:endParaRPr lang="en-US" sz="1500" dirty="0"/>
          </a:p>
        </p:txBody>
      </p:sp>
      <p:sp>
        <p:nvSpPr>
          <p:cNvPr id="7" name="Text 5"/>
          <p:cNvSpPr/>
          <p:nvPr/>
        </p:nvSpPr>
        <p:spPr>
          <a:xfrm>
            <a:off x="777240"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Platform access</a:t>
            </a:r>
            <a:endParaRPr lang="en-US" sz="1650" dirty="0"/>
          </a:p>
        </p:txBody>
      </p:sp>
      <p:sp>
        <p:nvSpPr>
          <p:cNvPr id="8" name="Text 6"/>
          <p:cNvSpPr/>
          <p:nvPr/>
        </p:nvSpPr>
        <p:spPr>
          <a:xfrm>
            <a:off x="777240"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One subscription unlocks the whole workflow: branded career site, shared pipeline, scheduling, scorecards, offers and analytics.</a:t>
            </a:r>
            <a:endParaRPr lang="en-US" sz="1250" dirty="0"/>
          </a:p>
        </p:txBody>
      </p:sp>
      <p:sp>
        <p:nvSpPr>
          <p:cNvPr id="9" name="Shape 7"/>
          <p:cNvSpPr/>
          <p:nvPr/>
        </p:nvSpPr>
        <p:spPr>
          <a:xfrm>
            <a:off x="3346704"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0" name="Shape 8"/>
          <p:cNvSpPr/>
          <p:nvPr/>
        </p:nvSpPr>
        <p:spPr>
          <a:xfrm>
            <a:off x="3575304" y="2221992"/>
            <a:ext cx="566928" cy="566928"/>
          </a:xfrm>
          <a:prstGeom prst="ellipse">
            <a:avLst/>
          </a:prstGeom>
          <a:solidFill>
            <a:srgbClr val="0B2AE0"/>
          </a:solidFill>
          <a:ln/>
        </p:spPr>
      </p:sp>
      <p:sp>
        <p:nvSpPr>
          <p:cNvPr id="11" name="Text 9"/>
          <p:cNvSpPr/>
          <p:nvPr/>
        </p:nvSpPr>
        <p:spPr>
          <a:xfrm>
            <a:off x="3575304"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a:t>
            </a:r>
            <a:endParaRPr lang="en-US" sz="1500" dirty="0"/>
          </a:p>
        </p:txBody>
      </p:sp>
      <p:sp>
        <p:nvSpPr>
          <p:cNvPr id="12" name="Text 10"/>
          <p:cNvSpPr/>
          <p:nvPr/>
        </p:nvSpPr>
        <p:spPr>
          <a:xfrm>
            <a:off x="3575304"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Open job slots</a:t>
            </a:r>
            <a:endParaRPr lang="en-US" sz="1650" dirty="0"/>
          </a:p>
        </p:txBody>
      </p:sp>
      <p:sp>
        <p:nvSpPr>
          <p:cNvPr id="13" name="Text 11"/>
          <p:cNvSpPr/>
          <p:nvPr/>
        </p:nvSpPr>
        <p:spPr>
          <a:xfrm>
            <a:off x="3575304"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The main value metric. Plans differ by how many roles can be open at once: 1 → 5 → 10 → unlimited.</a:t>
            </a:r>
            <a:endParaRPr lang="en-US" sz="1250" dirty="0"/>
          </a:p>
        </p:txBody>
      </p:sp>
      <p:sp>
        <p:nvSpPr>
          <p:cNvPr id="14" name="Shape 12"/>
          <p:cNvSpPr/>
          <p:nvPr/>
        </p:nvSpPr>
        <p:spPr>
          <a:xfrm>
            <a:off x="6144768"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Shape 13"/>
          <p:cNvSpPr/>
          <p:nvPr/>
        </p:nvSpPr>
        <p:spPr>
          <a:xfrm>
            <a:off x="6373368" y="2221992"/>
            <a:ext cx="566928" cy="566928"/>
          </a:xfrm>
          <a:prstGeom prst="ellipse">
            <a:avLst/>
          </a:prstGeom>
          <a:solidFill>
            <a:srgbClr val="0B2AE0"/>
          </a:solidFill>
          <a:ln/>
        </p:spPr>
      </p:sp>
      <p:sp>
        <p:nvSpPr>
          <p:cNvPr id="16" name="Text 14"/>
          <p:cNvSpPr/>
          <p:nvPr/>
        </p:nvSpPr>
        <p:spPr>
          <a:xfrm>
            <a:off x="6373368"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a:t>
            </a:r>
            <a:endParaRPr lang="en-US" sz="1500" dirty="0"/>
          </a:p>
        </p:txBody>
      </p:sp>
      <p:sp>
        <p:nvSpPr>
          <p:cNvPr id="17" name="Text 15"/>
          <p:cNvSpPr/>
          <p:nvPr/>
        </p:nvSpPr>
        <p:spPr>
          <a:xfrm>
            <a:off x="6373368"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AI usage credits</a:t>
            </a:r>
            <a:endParaRPr lang="en-US" sz="1650" dirty="0"/>
          </a:p>
        </p:txBody>
      </p:sp>
      <p:sp>
        <p:nvSpPr>
          <p:cNvPr id="18" name="Text 16"/>
          <p:cNvSpPr/>
          <p:nvPr/>
        </p:nvSpPr>
        <p:spPr>
          <a:xfrm>
            <a:off x="6373368"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Screening, ranking, insights, interview questions and job drafts each consume credits. Every plan includes a monthly allowance.</a:t>
            </a:r>
            <a:endParaRPr lang="en-US" sz="1250" dirty="0"/>
          </a:p>
        </p:txBody>
      </p:sp>
      <p:sp>
        <p:nvSpPr>
          <p:cNvPr id="19" name="Shape 17"/>
          <p:cNvSpPr/>
          <p:nvPr/>
        </p:nvSpPr>
        <p:spPr>
          <a:xfrm>
            <a:off x="8942832" y="1965960"/>
            <a:ext cx="2679192" cy="310896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0" name="Shape 18"/>
          <p:cNvSpPr/>
          <p:nvPr/>
        </p:nvSpPr>
        <p:spPr>
          <a:xfrm>
            <a:off x="9171432" y="2221992"/>
            <a:ext cx="566928" cy="566928"/>
          </a:xfrm>
          <a:prstGeom prst="ellipse">
            <a:avLst/>
          </a:prstGeom>
          <a:solidFill>
            <a:srgbClr val="0B2AE0"/>
          </a:solidFill>
          <a:ln/>
        </p:spPr>
      </p:sp>
      <p:sp>
        <p:nvSpPr>
          <p:cNvPr id="21" name="Text 19"/>
          <p:cNvSpPr/>
          <p:nvPr/>
        </p:nvSpPr>
        <p:spPr>
          <a:xfrm>
            <a:off x="9171432" y="2212848"/>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9171432" y="2926080"/>
            <a:ext cx="2221992" cy="457200"/>
          </a:xfrm>
          <a:prstGeom prst="rect">
            <a:avLst/>
          </a:prstGeom>
          <a:noFill/>
          <a:ln/>
        </p:spPr>
        <p:txBody>
          <a:bodyPr wrap="square" lIns="0" tIns="0" rIns="0" bIns="0" rtlCol="0" anchor="ctr"/>
          <a:lstStyle/>
          <a:p>
            <a:pPr algn="l" indent="0" marL="0">
              <a:buNone/>
            </a:pPr>
            <a:r>
              <a:rPr lang="en-US" sz="1650" b="1" dirty="0">
                <a:solidFill>
                  <a:srgbClr val="12132A"/>
                </a:solidFill>
                <a:latin typeface="Calibri" pitchFamily="34" charset="0"/>
                <a:ea typeface="Calibri" pitchFamily="34" charset="-122"/>
                <a:cs typeface="Calibri" pitchFamily="34" charset="-120"/>
              </a:rPr>
              <a:t>Credit top-ups</a:t>
            </a:r>
            <a:endParaRPr lang="en-US" sz="1650" dirty="0"/>
          </a:p>
        </p:txBody>
      </p:sp>
      <p:sp>
        <p:nvSpPr>
          <p:cNvPr id="23" name="Text 21"/>
          <p:cNvSpPr/>
          <p:nvPr/>
        </p:nvSpPr>
        <p:spPr>
          <a:xfrm>
            <a:off x="9171432" y="3383280"/>
            <a:ext cx="2221992" cy="155448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When the allowance runs out, workspaces buy more credits on demand, priced per action with a plan discount.</a:t>
            </a:r>
            <a:endParaRPr lang="en-US" sz="1250" dirty="0"/>
          </a:p>
        </p:txBody>
      </p:sp>
      <p:sp>
        <p:nvSpPr>
          <p:cNvPr id="24" name="Shape 22"/>
          <p:cNvSpPr/>
          <p:nvPr/>
        </p:nvSpPr>
        <p:spPr>
          <a:xfrm>
            <a:off x="548640" y="5349240"/>
            <a:ext cx="11091672" cy="868680"/>
          </a:xfrm>
          <a:prstGeom prst="roundRect">
            <a:avLst>
              <a:gd name="adj" fmla="val 12632"/>
            </a:avLst>
          </a:prstGeom>
          <a:solidFill>
            <a:srgbClr val="12132A"/>
          </a:solidFill>
          <a:ln w="12700">
            <a:solidFill>
              <a:srgbClr val="12132A"/>
            </a:solidFill>
            <a:prstDash val="solid"/>
          </a:ln>
          <a:effectLst>
            <a:outerShdw sx="100000" sy="100000" kx="0" ky="0" algn="bl" rotWithShape="0" blurRad="101600" dist="25400" dir="5400000">
              <a:srgbClr val="9AA0B5">
                <a:alpha val="18000"/>
              </a:srgbClr>
            </a:outerShdw>
          </a:effectLst>
        </p:spPr>
      </p:sp>
      <p:sp>
        <p:nvSpPr>
          <p:cNvPr id="25" name="Text 23"/>
          <p:cNvSpPr/>
          <p:nvPr/>
        </p:nvSpPr>
        <p:spPr>
          <a:xfrm>
            <a:off x="868680" y="5349240"/>
            <a:ext cx="10424160" cy="86868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No per-seat pricing.  </a:t>
            </a:r>
            <a:pPr algn="l" indent="0" marL="0">
              <a:buNone/>
            </a:pPr>
            <a:r>
              <a:rPr lang="en-US" sz="1350" dirty="0">
                <a:solidFill>
                  <a:srgbClr val="CADCFC"/>
                </a:solidFill>
                <a:latin typeface="Calibri" pitchFamily="34" charset="0"/>
                <a:ea typeface="Calibri" pitchFamily="34" charset="-122"/>
                <a:cs typeface="Calibri" pitchFamily="34" charset="-120"/>
              </a:rPr>
              <a:t>Every plan includes unlimited hiring managers, recruiters and interviewers. Growing the team never raises the bill, which removes the usual reason buyers stall on an ATS.</a:t>
            </a:r>
            <a:endParaRPr lang="en-US" sz="1350" dirty="0"/>
          </a:p>
        </p:txBody>
      </p:sp>
      <p:sp>
        <p:nvSpPr>
          <p:cNvPr id="26" name="Text 2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7" name="Text 2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PROPOSED LIST PRICES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Subscription pricing</a:t>
            </a:r>
            <a:endParaRPr lang="en-US" sz="3400" dirty="0"/>
          </a:p>
        </p:txBody>
      </p:sp>
      <p:sp>
        <p:nvSpPr>
          <p:cNvPr id="4" name="Text 2"/>
          <p:cNvSpPr/>
          <p:nvPr/>
        </p:nvSpPr>
        <p:spPr>
          <a:xfrm>
            <a:off x="548640" y="1481328"/>
            <a:ext cx="109728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Model currency USD. Home-market MYR shown beneath (≈ FX 4.09). Annual = 2 months free (17% off).</a:t>
            </a:r>
            <a:endParaRPr lang="en-US" sz="1300" dirty="0"/>
          </a:p>
        </p:txBody>
      </p:sp>
      <p:sp>
        <p:nvSpPr>
          <p:cNvPr id="5" name="Shape 3"/>
          <p:cNvSpPr/>
          <p:nvPr/>
        </p:nvSpPr>
        <p:spPr>
          <a:xfrm>
            <a:off x="548640"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804672"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Launch</a:t>
            </a:r>
            <a:endParaRPr lang="en-US" sz="2000" dirty="0"/>
          </a:p>
        </p:txBody>
      </p:sp>
      <p:sp>
        <p:nvSpPr>
          <p:cNvPr id="7" name="Text 5"/>
          <p:cNvSpPr/>
          <p:nvPr/>
        </p:nvSpPr>
        <p:spPr>
          <a:xfrm>
            <a:off x="804672"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First roles</a:t>
            </a:r>
            <a:endParaRPr lang="en-US" sz="1150" dirty="0"/>
          </a:p>
        </p:txBody>
      </p:sp>
      <p:sp>
        <p:nvSpPr>
          <p:cNvPr id="8" name="Text 6"/>
          <p:cNvSpPr/>
          <p:nvPr/>
        </p:nvSpPr>
        <p:spPr>
          <a:xfrm>
            <a:off x="804672" y="3108960"/>
            <a:ext cx="2221992" cy="54864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$49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400" dirty="0"/>
          </a:p>
        </p:txBody>
      </p:sp>
      <p:sp>
        <p:nvSpPr>
          <p:cNvPr id="9" name="Text 7"/>
          <p:cNvSpPr/>
          <p:nvPr/>
        </p:nvSpPr>
        <p:spPr>
          <a:xfrm>
            <a:off x="804672"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RM200 / mo</a:t>
            </a:r>
            <a:endParaRPr lang="en-US" sz="1150" dirty="0"/>
          </a:p>
        </p:txBody>
      </p:sp>
      <p:sp>
        <p:nvSpPr>
          <p:cNvPr id="10" name="Text 8"/>
          <p:cNvSpPr/>
          <p:nvPr/>
        </p:nvSpPr>
        <p:spPr>
          <a:xfrm>
            <a:off x="804672"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$490 billed yearly</a:t>
            </a:r>
            <a:endParaRPr lang="en-US" sz="1150" dirty="0"/>
          </a:p>
        </p:txBody>
      </p:sp>
      <p:sp>
        <p:nvSpPr>
          <p:cNvPr id="11" name="Shape 9"/>
          <p:cNvSpPr/>
          <p:nvPr/>
        </p:nvSpPr>
        <p:spPr>
          <a:xfrm>
            <a:off x="804672" y="4462272"/>
            <a:ext cx="2167128" cy="0"/>
          </a:xfrm>
          <a:prstGeom prst="line">
            <a:avLst/>
          </a:prstGeom>
          <a:noFill/>
          <a:ln w="12700">
            <a:solidFill>
              <a:srgbClr val="DEDEE3"/>
            </a:solidFill>
            <a:prstDash val="solid"/>
          </a:ln>
        </p:spPr>
      </p:sp>
      <p:sp>
        <p:nvSpPr>
          <p:cNvPr id="12" name="Text 10"/>
          <p:cNvSpPr/>
          <p:nvPr/>
        </p:nvSpPr>
        <p:spPr>
          <a:xfrm>
            <a:off x="804672"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 open job</a:t>
            </a:r>
            <a:endParaRPr lang="en-US" sz="1350" dirty="0"/>
          </a:p>
        </p:txBody>
      </p:sp>
      <p:sp>
        <p:nvSpPr>
          <p:cNvPr id="13" name="Text 11"/>
          <p:cNvSpPr/>
          <p:nvPr/>
        </p:nvSpPr>
        <p:spPr>
          <a:xfrm>
            <a:off x="804672"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14" name="Text 12"/>
          <p:cNvSpPr/>
          <p:nvPr/>
        </p:nvSpPr>
        <p:spPr>
          <a:xfrm>
            <a:off x="804672"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15" name="Shape 13"/>
          <p:cNvSpPr/>
          <p:nvPr/>
        </p:nvSpPr>
        <p:spPr>
          <a:xfrm>
            <a:off x="3346704" y="2011680"/>
            <a:ext cx="2679192" cy="3657600"/>
          </a:xfrm>
          <a:prstGeom prst="roundRect">
            <a:avLst>
              <a:gd name="adj" fmla="val 4096"/>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16" name="Shape 14"/>
          <p:cNvSpPr/>
          <p:nvPr/>
        </p:nvSpPr>
        <p:spPr>
          <a:xfrm>
            <a:off x="4608576" y="2212848"/>
            <a:ext cx="1207008" cy="365760"/>
          </a:xfrm>
          <a:prstGeom prst="roundRect">
            <a:avLst>
              <a:gd name="adj" fmla="val 50000"/>
            </a:avLst>
          </a:prstGeom>
          <a:solidFill>
            <a:srgbClr val="FFFFFF"/>
          </a:solidFill>
          <a:ln/>
        </p:spPr>
      </p:sp>
      <p:sp>
        <p:nvSpPr>
          <p:cNvPr id="17" name="Text 15"/>
          <p:cNvSpPr/>
          <p:nvPr/>
        </p:nvSpPr>
        <p:spPr>
          <a:xfrm>
            <a:off x="4608576" y="2212848"/>
            <a:ext cx="1207008" cy="365760"/>
          </a:xfrm>
          <a:prstGeom prst="rect">
            <a:avLst/>
          </a:prstGeom>
          <a:noFill/>
          <a:ln/>
        </p:spPr>
        <p:txBody>
          <a:bodyPr wrap="square" lIns="0" tIns="0" rIns="0" bIns="0" rtlCol="0" anchor="ctr"/>
          <a:lstStyle/>
          <a:p>
            <a:pPr algn="ctr" indent="0" marL="0">
              <a:buNone/>
            </a:pPr>
            <a:r>
              <a:rPr lang="en-US" sz="850" b="1" spc="100" kern="0" dirty="0">
                <a:solidFill>
                  <a:srgbClr val="0B2AE0"/>
                </a:solidFill>
                <a:latin typeface="Calibri" pitchFamily="34" charset="0"/>
                <a:ea typeface="Calibri" pitchFamily="34" charset="-122"/>
                <a:cs typeface="Calibri" pitchFamily="34" charset="-120"/>
              </a:rPr>
              <a:t>MOST POPULAR</a:t>
            </a:r>
            <a:endParaRPr lang="en-US" sz="850" dirty="0"/>
          </a:p>
        </p:txBody>
      </p:sp>
      <p:sp>
        <p:nvSpPr>
          <p:cNvPr id="18" name="Text 16"/>
          <p:cNvSpPr/>
          <p:nvPr/>
        </p:nvSpPr>
        <p:spPr>
          <a:xfrm>
            <a:off x="3602736" y="2267712"/>
            <a:ext cx="2221992"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Scale</a:t>
            </a:r>
            <a:endParaRPr lang="en-US" sz="2000" dirty="0"/>
          </a:p>
        </p:txBody>
      </p:sp>
      <p:sp>
        <p:nvSpPr>
          <p:cNvPr id="19" name="Text 17"/>
          <p:cNvSpPr/>
          <p:nvPr/>
        </p:nvSpPr>
        <p:spPr>
          <a:xfrm>
            <a:off x="3602736" y="267004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Most popular</a:t>
            </a:r>
            <a:endParaRPr lang="en-US" sz="1150" dirty="0"/>
          </a:p>
        </p:txBody>
      </p:sp>
      <p:sp>
        <p:nvSpPr>
          <p:cNvPr id="20" name="Text 18"/>
          <p:cNvSpPr/>
          <p:nvPr/>
        </p:nvSpPr>
        <p:spPr>
          <a:xfrm>
            <a:off x="3602736" y="3108960"/>
            <a:ext cx="2221992" cy="548640"/>
          </a:xfrm>
          <a:prstGeom prst="rect">
            <a:avLst/>
          </a:prstGeom>
          <a:noFill/>
          <a:ln/>
        </p:spPr>
        <p:txBody>
          <a:bodyPr wrap="square" lIns="0" tIns="0" rIns="0" bIns="0" rtlCol="0" anchor="ctr"/>
          <a:lstStyle/>
          <a:p>
            <a:pPr algn="l" indent="0" marL="0">
              <a:buNone/>
            </a:pPr>
            <a:r>
              <a:rPr lang="en-US" sz="3400" b="1" dirty="0">
                <a:solidFill>
                  <a:srgbClr val="FFFFFF"/>
                </a:solidFill>
                <a:latin typeface="Calibri" pitchFamily="34" charset="0"/>
                <a:ea typeface="Calibri" pitchFamily="34" charset="-122"/>
                <a:cs typeface="Calibri" pitchFamily="34" charset="-120"/>
              </a:rPr>
              <a:t>$199</a:t>
            </a:r>
            <a:pPr algn="l" indent="0" marL="0">
              <a:buNone/>
            </a:pPr>
            <a:r>
              <a:rPr lang="en-US" sz="1400" dirty="0">
                <a:solidFill>
                  <a:srgbClr val="CADCFC"/>
                </a:solidFill>
                <a:latin typeface="Calibri" pitchFamily="34" charset="0"/>
                <a:ea typeface="Calibri" pitchFamily="34" charset="-122"/>
                <a:cs typeface="Calibri" pitchFamily="34" charset="-120"/>
              </a:rPr>
              <a:t> /mo</a:t>
            </a:r>
            <a:endParaRPr lang="en-US" sz="3400" dirty="0"/>
          </a:p>
        </p:txBody>
      </p:sp>
      <p:sp>
        <p:nvSpPr>
          <p:cNvPr id="21" name="Text 19"/>
          <p:cNvSpPr/>
          <p:nvPr/>
        </p:nvSpPr>
        <p:spPr>
          <a:xfrm>
            <a:off x="3602736" y="3675888"/>
            <a:ext cx="2221992" cy="274320"/>
          </a:xfrm>
          <a:prstGeom prst="rect">
            <a:avLst/>
          </a:prstGeom>
          <a:noFill/>
          <a:ln/>
        </p:spPr>
        <p:txBody>
          <a:bodyPr wrap="square" lIns="0" tIns="0" rIns="0" bIns="0" rtlCol="0" anchor="ctr"/>
          <a:lstStyle/>
          <a:p>
            <a:pPr algn="l" indent="0" marL="0">
              <a:buNone/>
            </a:pPr>
            <a:r>
              <a:rPr lang="en-US" sz="1150" dirty="0">
                <a:solidFill>
                  <a:srgbClr val="CADCFC"/>
                </a:solidFill>
                <a:latin typeface="Calibri" pitchFamily="34" charset="0"/>
                <a:ea typeface="Calibri" pitchFamily="34" charset="-122"/>
                <a:cs typeface="Calibri" pitchFamily="34" charset="-120"/>
              </a:rPr>
              <a:t>RM810 / mo</a:t>
            </a:r>
            <a:endParaRPr lang="en-US" sz="1150" dirty="0"/>
          </a:p>
        </p:txBody>
      </p:sp>
      <p:sp>
        <p:nvSpPr>
          <p:cNvPr id="22" name="Text 20"/>
          <p:cNvSpPr/>
          <p:nvPr/>
        </p:nvSpPr>
        <p:spPr>
          <a:xfrm>
            <a:off x="3602736" y="3977640"/>
            <a:ext cx="2221992" cy="274320"/>
          </a:xfrm>
          <a:prstGeom prst="rect">
            <a:avLst/>
          </a:prstGeom>
          <a:noFill/>
          <a:ln/>
        </p:spPr>
        <p:txBody>
          <a:bodyPr wrap="square" lIns="0" tIns="0" rIns="0" bIns="0" rtlCol="0" anchor="ctr"/>
          <a:lstStyle/>
          <a:p>
            <a:pPr algn="l" indent="0" marL="0">
              <a:buNone/>
            </a:pPr>
            <a:r>
              <a:rPr lang="en-US" sz="1150" i="1" dirty="0">
                <a:solidFill>
                  <a:srgbClr val="FFFFFF"/>
                </a:solidFill>
                <a:latin typeface="Calibri" pitchFamily="34" charset="0"/>
                <a:ea typeface="Calibri" pitchFamily="34" charset="-122"/>
                <a:cs typeface="Calibri" pitchFamily="34" charset="-120"/>
              </a:rPr>
              <a:t>$1,990 billed yearly</a:t>
            </a:r>
            <a:endParaRPr lang="en-US" sz="1150" dirty="0"/>
          </a:p>
        </p:txBody>
      </p:sp>
      <p:sp>
        <p:nvSpPr>
          <p:cNvPr id="23" name="Shape 21"/>
          <p:cNvSpPr/>
          <p:nvPr/>
        </p:nvSpPr>
        <p:spPr>
          <a:xfrm>
            <a:off x="3602736" y="4462272"/>
            <a:ext cx="2167128" cy="0"/>
          </a:xfrm>
          <a:prstGeom prst="line">
            <a:avLst/>
          </a:prstGeom>
          <a:noFill/>
          <a:ln w="12700">
            <a:solidFill>
              <a:srgbClr val="3550EE"/>
            </a:solidFill>
            <a:prstDash val="solid"/>
          </a:ln>
        </p:spPr>
      </p:sp>
      <p:sp>
        <p:nvSpPr>
          <p:cNvPr id="24" name="Text 22"/>
          <p:cNvSpPr/>
          <p:nvPr/>
        </p:nvSpPr>
        <p:spPr>
          <a:xfrm>
            <a:off x="3602736" y="4572000"/>
            <a:ext cx="2221992" cy="320040"/>
          </a:xfrm>
          <a:prstGeom prst="rect">
            <a:avLst/>
          </a:prstGeom>
          <a:noFill/>
          <a:ln/>
        </p:spPr>
        <p:txBody>
          <a:bodyPr wrap="square" lIns="0" tIns="0" rIns="0" bIns="0" rtlCol="0" anchor="ctr"/>
          <a:lstStyle/>
          <a:p>
            <a:pPr algn="l" indent="0" marL="0">
              <a:buNone/>
            </a:pPr>
            <a:r>
              <a:rPr lang="en-US" sz="1350" b="1" dirty="0">
                <a:solidFill>
                  <a:srgbClr val="FFFFFF"/>
                </a:solidFill>
                <a:latin typeface="Calibri" pitchFamily="34" charset="0"/>
                <a:ea typeface="Calibri" pitchFamily="34" charset="-122"/>
                <a:cs typeface="Calibri" pitchFamily="34" charset="-120"/>
              </a:rPr>
              <a:t>5 open jobs</a:t>
            </a:r>
            <a:endParaRPr lang="en-US" sz="1350" dirty="0"/>
          </a:p>
        </p:txBody>
      </p:sp>
      <p:sp>
        <p:nvSpPr>
          <p:cNvPr id="25" name="Text 23"/>
          <p:cNvSpPr/>
          <p:nvPr/>
        </p:nvSpPr>
        <p:spPr>
          <a:xfrm>
            <a:off x="3602736" y="4919472"/>
            <a:ext cx="2221992" cy="320040"/>
          </a:xfrm>
          <a:prstGeom prst="rect">
            <a:avLst/>
          </a:prstGeom>
          <a:noFill/>
          <a:ln/>
        </p:spPr>
        <p:txBody>
          <a:bodyPr wrap="square" lIns="0" tIns="0" rIns="0" bIns="0" rtlCol="0" anchor="ctr"/>
          <a:lstStyle/>
          <a:p>
            <a:pPr algn="l" indent="0" marL="0">
              <a:buNone/>
            </a:pPr>
            <a:r>
              <a:rPr lang="en-US" sz="1250" dirty="0">
                <a:solidFill>
                  <a:srgbClr val="CADCFC"/>
                </a:solidFill>
                <a:latin typeface="Calibri" pitchFamily="34" charset="0"/>
                <a:ea typeface="Calibri" pitchFamily="34" charset="-122"/>
                <a:cs typeface="Calibri" pitchFamily="34" charset="-120"/>
              </a:rPr>
              <a:t>Unlimited seats</a:t>
            </a:r>
            <a:endParaRPr lang="en-US" sz="1250" dirty="0"/>
          </a:p>
        </p:txBody>
      </p:sp>
      <p:sp>
        <p:nvSpPr>
          <p:cNvPr id="26" name="Text 24"/>
          <p:cNvSpPr/>
          <p:nvPr/>
        </p:nvSpPr>
        <p:spPr>
          <a:xfrm>
            <a:off x="3602736" y="5230368"/>
            <a:ext cx="2221992" cy="320040"/>
          </a:xfrm>
          <a:prstGeom prst="rect">
            <a:avLst/>
          </a:prstGeom>
          <a:noFill/>
          <a:ln/>
        </p:spPr>
        <p:txBody>
          <a:bodyPr wrap="square" lIns="0" tIns="0" rIns="0" bIns="0" rtlCol="0" anchor="ctr"/>
          <a:lstStyle/>
          <a:p>
            <a:pPr algn="l" indent="0" marL="0">
              <a:buNone/>
            </a:pPr>
            <a:r>
              <a:rPr lang="en-US" sz="1100" i="1" dirty="0">
                <a:solidFill>
                  <a:srgbClr val="CADCFC"/>
                </a:solidFill>
                <a:latin typeface="Calibri" pitchFamily="34" charset="0"/>
                <a:ea typeface="Calibri" pitchFamily="34" charset="-122"/>
                <a:cs typeface="Calibri" pitchFamily="34" charset="-120"/>
              </a:rPr>
              <a:t>14-day free trial of Scale</a:t>
            </a:r>
            <a:endParaRPr lang="en-US" sz="1100" dirty="0"/>
          </a:p>
        </p:txBody>
      </p:sp>
      <p:sp>
        <p:nvSpPr>
          <p:cNvPr id="27" name="Shape 25"/>
          <p:cNvSpPr/>
          <p:nvPr/>
        </p:nvSpPr>
        <p:spPr>
          <a:xfrm>
            <a:off x="6144768"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8" name="Text 26"/>
          <p:cNvSpPr/>
          <p:nvPr/>
        </p:nvSpPr>
        <p:spPr>
          <a:xfrm>
            <a:off x="6400800"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Elite</a:t>
            </a:r>
            <a:endParaRPr lang="en-US" sz="2000" dirty="0"/>
          </a:p>
        </p:txBody>
      </p:sp>
      <p:sp>
        <p:nvSpPr>
          <p:cNvPr id="29" name="Text 27"/>
          <p:cNvSpPr/>
          <p:nvPr/>
        </p:nvSpPr>
        <p:spPr>
          <a:xfrm>
            <a:off x="6400800"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Hiring at volume</a:t>
            </a:r>
            <a:endParaRPr lang="en-US" sz="1150" dirty="0"/>
          </a:p>
        </p:txBody>
      </p:sp>
      <p:sp>
        <p:nvSpPr>
          <p:cNvPr id="30" name="Text 28"/>
          <p:cNvSpPr/>
          <p:nvPr/>
        </p:nvSpPr>
        <p:spPr>
          <a:xfrm>
            <a:off x="6400800" y="3108960"/>
            <a:ext cx="2221992" cy="54864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$499</a:t>
            </a:r>
            <a:pPr algn="l" indent="0" marL="0">
              <a:buNone/>
            </a:pPr>
            <a:r>
              <a:rPr lang="en-US" sz="1400" dirty="0">
                <a:solidFill>
                  <a:srgbClr val="4A5568"/>
                </a:solidFill>
                <a:latin typeface="Calibri" pitchFamily="34" charset="0"/>
                <a:ea typeface="Calibri" pitchFamily="34" charset="-122"/>
                <a:cs typeface="Calibri" pitchFamily="34" charset="-120"/>
              </a:rPr>
              <a:t> /mo</a:t>
            </a:r>
            <a:endParaRPr lang="en-US" sz="3400" dirty="0"/>
          </a:p>
        </p:txBody>
      </p:sp>
      <p:sp>
        <p:nvSpPr>
          <p:cNvPr id="31" name="Text 29"/>
          <p:cNvSpPr/>
          <p:nvPr/>
        </p:nvSpPr>
        <p:spPr>
          <a:xfrm>
            <a:off x="6400800"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RM2,040 / mo</a:t>
            </a:r>
            <a:endParaRPr lang="en-US" sz="1150" dirty="0"/>
          </a:p>
        </p:txBody>
      </p:sp>
      <p:sp>
        <p:nvSpPr>
          <p:cNvPr id="32" name="Text 30"/>
          <p:cNvSpPr/>
          <p:nvPr/>
        </p:nvSpPr>
        <p:spPr>
          <a:xfrm>
            <a:off x="6400800" y="3977640"/>
            <a:ext cx="2221992" cy="274320"/>
          </a:xfrm>
          <a:prstGeom prst="rect">
            <a:avLst/>
          </a:prstGeom>
          <a:noFill/>
          <a:ln/>
        </p:spPr>
        <p:txBody>
          <a:bodyPr wrap="square" lIns="0" tIns="0" rIns="0" bIns="0" rtlCol="0" anchor="ctr"/>
          <a:lstStyle/>
          <a:p>
            <a:pPr algn="l" indent="0" marL="0">
              <a:buNone/>
            </a:pPr>
            <a:r>
              <a:rPr lang="en-US" sz="1150" i="1" dirty="0">
                <a:solidFill>
                  <a:srgbClr val="16A34A"/>
                </a:solidFill>
                <a:latin typeface="Calibri" pitchFamily="34" charset="0"/>
                <a:ea typeface="Calibri" pitchFamily="34" charset="-122"/>
                <a:cs typeface="Calibri" pitchFamily="34" charset="-120"/>
              </a:rPr>
              <a:t>$4,990 billed yearly</a:t>
            </a:r>
            <a:endParaRPr lang="en-US" sz="1150" dirty="0"/>
          </a:p>
        </p:txBody>
      </p:sp>
      <p:sp>
        <p:nvSpPr>
          <p:cNvPr id="33" name="Shape 31"/>
          <p:cNvSpPr/>
          <p:nvPr/>
        </p:nvSpPr>
        <p:spPr>
          <a:xfrm>
            <a:off x="6400800" y="4462272"/>
            <a:ext cx="2167128" cy="0"/>
          </a:xfrm>
          <a:prstGeom prst="line">
            <a:avLst/>
          </a:prstGeom>
          <a:noFill/>
          <a:ln w="12700">
            <a:solidFill>
              <a:srgbClr val="DEDEE3"/>
            </a:solidFill>
            <a:prstDash val="solid"/>
          </a:ln>
        </p:spPr>
      </p:sp>
      <p:sp>
        <p:nvSpPr>
          <p:cNvPr id="34" name="Text 32"/>
          <p:cNvSpPr/>
          <p:nvPr/>
        </p:nvSpPr>
        <p:spPr>
          <a:xfrm>
            <a:off x="6400800"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10 open jobs</a:t>
            </a:r>
            <a:endParaRPr lang="en-US" sz="1350" dirty="0"/>
          </a:p>
        </p:txBody>
      </p:sp>
      <p:sp>
        <p:nvSpPr>
          <p:cNvPr id="35" name="Text 33"/>
          <p:cNvSpPr/>
          <p:nvPr/>
        </p:nvSpPr>
        <p:spPr>
          <a:xfrm>
            <a:off x="6400800"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36" name="Text 34"/>
          <p:cNvSpPr/>
          <p:nvPr/>
        </p:nvSpPr>
        <p:spPr>
          <a:xfrm>
            <a:off x="6400800"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37" name="Shape 35"/>
          <p:cNvSpPr/>
          <p:nvPr/>
        </p:nvSpPr>
        <p:spPr>
          <a:xfrm>
            <a:off x="8942832" y="2011680"/>
            <a:ext cx="2679192" cy="3657600"/>
          </a:xfrm>
          <a:prstGeom prst="roundRect">
            <a:avLst>
              <a:gd name="adj" fmla="val 409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38" name="Text 36"/>
          <p:cNvSpPr/>
          <p:nvPr/>
        </p:nvSpPr>
        <p:spPr>
          <a:xfrm>
            <a:off x="9198864" y="2267712"/>
            <a:ext cx="2221992" cy="411480"/>
          </a:xfrm>
          <a:prstGeom prst="rect">
            <a:avLst/>
          </a:prstGeom>
          <a:noFill/>
          <a:ln/>
        </p:spPr>
        <p:txBody>
          <a:bodyPr wrap="square" lIns="0" tIns="0" rIns="0" bIns="0" rtlCol="0" anchor="ctr"/>
          <a:lstStyle/>
          <a:p>
            <a:pPr algn="l" indent="0" marL="0">
              <a:buNone/>
            </a:pPr>
            <a:r>
              <a:rPr lang="en-US" sz="2000" b="1" dirty="0">
                <a:solidFill>
                  <a:srgbClr val="12132A"/>
                </a:solidFill>
                <a:latin typeface="Calibri" pitchFamily="34" charset="0"/>
                <a:ea typeface="Calibri" pitchFamily="34" charset="-122"/>
                <a:cs typeface="Calibri" pitchFamily="34" charset="-120"/>
              </a:rPr>
              <a:t>Enterprise</a:t>
            </a:r>
            <a:endParaRPr lang="en-US" sz="2000" dirty="0"/>
          </a:p>
        </p:txBody>
      </p:sp>
      <p:sp>
        <p:nvSpPr>
          <p:cNvPr id="39" name="Text 37"/>
          <p:cNvSpPr/>
          <p:nvPr/>
        </p:nvSpPr>
        <p:spPr>
          <a:xfrm>
            <a:off x="9198864" y="267004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Security &amp; scale</a:t>
            </a:r>
            <a:endParaRPr lang="en-US" sz="1150" dirty="0"/>
          </a:p>
        </p:txBody>
      </p:sp>
      <p:sp>
        <p:nvSpPr>
          <p:cNvPr id="40" name="Text 38"/>
          <p:cNvSpPr/>
          <p:nvPr/>
        </p:nvSpPr>
        <p:spPr>
          <a:xfrm>
            <a:off x="9198864" y="3108960"/>
            <a:ext cx="2221992" cy="548640"/>
          </a:xfrm>
          <a:prstGeom prst="rect">
            <a:avLst/>
          </a:prstGeom>
          <a:noFill/>
          <a:ln/>
        </p:spPr>
        <p:txBody>
          <a:bodyPr wrap="square" lIns="0" tIns="0" rIns="0" bIns="0" rtlCol="0" anchor="ctr"/>
          <a:lstStyle/>
          <a:p>
            <a:pPr algn="l" indent="0" marL="0">
              <a:buNone/>
            </a:pPr>
            <a:r>
              <a:rPr lang="en-US" sz="3000" b="1" dirty="0">
                <a:solidFill>
                  <a:srgbClr val="12132A"/>
                </a:solidFill>
                <a:latin typeface="Calibri" pitchFamily="34" charset="0"/>
                <a:ea typeface="Calibri" pitchFamily="34" charset="-122"/>
                <a:cs typeface="Calibri" pitchFamily="34" charset="-120"/>
              </a:rPr>
              <a:t>Let's talk</a:t>
            </a:r>
            <a:endParaRPr lang="en-US" sz="3000" dirty="0"/>
          </a:p>
        </p:txBody>
      </p:sp>
      <p:sp>
        <p:nvSpPr>
          <p:cNvPr id="41" name="Text 39"/>
          <p:cNvSpPr/>
          <p:nvPr/>
        </p:nvSpPr>
        <p:spPr>
          <a:xfrm>
            <a:off x="9198864" y="3675888"/>
            <a:ext cx="2221992" cy="274320"/>
          </a:xfrm>
          <a:prstGeom prst="rect">
            <a:avLst/>
          </a:prstGeom>
          <a:noFill/>
          <a:ln/>
        </p:spPr>
        <p:txBody>
          <a:bodyPr wrap="square" lIns="0" tIns="0" rIns="0" bIns="0" rtlCol="0" anchor="ctr"/>
          <a:lstStyle/>
          <a:p>
            <a:pPr algn="l" indent="0" marL="0">
              <a:buNone/>
            </a:pPr>
            <a:r>
              <a:rPr lang="en-US" sz="1150" dirty="0">
                <a:solidFill>
                  <a:srgbClr val="4A5568"/>
                </a:solidFill>
                <a:latin typeface="Calibri" pitchFamily="34" charset="0"/>
                <a:ea typeface="Calibri" pitchFamily="34" charset="-122"/>
                <a:cs typeface="Calibri" pitchFamily="34" charset="-120"/>
              </a:rPr>
              <a:t>From ~$1,500 / mo</a:t>
            </a:r>
            <a:endParaRPr lang="en-US" sz="1150" dirty="0"/>
          </a:p>
        </p:txBody>
      </p:sp>
      <p:sp>
        <p:nvSpPr>
          <p:cNvPr id="42" name="Text 40"/>
          <p:cNvSpPr/>
          <p:nvPr/>
        </p:nvSpPr>
        <p:spPr>
          <a:xfrm>
            <a:off x="9198864" y="3977640"/>
            <a:ext cx="2221992" cy="274320"/>
          </a:xfrm>
          <a:prstGeom prst="rect">
            <a:avLst/>
          </a:prstGeom>
          <a:noFill/>
          <a:ln/>
        </p:spPr>
        <p:txBody>
          <a:bodyPr wrap="square" lIns="0" tIns="0" rIns="0" bIns="0" rtlCol="0" anchor="ctr"/>
          <a:lstStyle/>
          <a:p>
            <a:pPr algn="l" indent="0" marL="0">
              <a:buNone/>
            </a:pPr>
            <a:r>
              <a:rPr lang="en-US" sz="1150" i="1" dirty="0">
                <a:solidFill>
                  <a:srgbClr val="4A5568"/>
                </a:solidFill>
                <a:latin typeface="Calibri" pitchFamily="34" charset="0"/>
                <a:ea typeface="Calibri" pitchFamily="34" charset="-122"/>
                <a:cs typeface="Calibri" pitchFamily="34" charset="-120"/>
              </a:rPr>
              <a:t>Annual contract</a:t>
            </a:r>
            <a:endParaRPr lang="en-US" sz="1150" dirty="0"/>
          </a:p>
        </p:txBody>
      </p:sp>
      <p:sp>
        <p:nvSpPr>
          <p:cNvPr id="43" name="Shape 41"/>
          <p:cNvSpPr/>
          <p:nvPr/>
        </p:nvSpPr>
        <p:spPr>
          <a:xfrm>
            <a:off x="9198864" y="4462272"/>
            <a:ext cx="2167128" cy="0"/>
          </a:xfrm>
          <a:prstGeom prst="line">
            <a:avLst/>
          </a:prstGeom>
          <a:noFill/>
          <a:ln w="12700">
            <a:solidFill>
              <a:srgbClr val="DEDEE3"/>
            </a:solidFill>
            <a:prstDash val="solid"/>
          </a:ln>
        </p:spPr>
      </p:sp>
      <p:sp>
        <p:nvSpPr>
          <p:cNvPr id="44" name="Text 42"/>
          <p:cNvSpPr/>
          <p:nvPr/>
        </p:nvSpPr>
        <p:spPr>
          <a:xfrm>
            <a:off x="9198864" y="4572000"/>
            <a:ext cx="2221992" cy="320040"/>
          </a:xfrm>
          <a:prstGeom prst="rect">
            <a:avLst/>
          </a:prstGeom>
          <a:noFill/>
          <a:ln/>
        </p:spPr>
        <p:txBody>
          <a:bodyPr wrap="square" lIns="0" tIns="0" rIns="0" bIns="0" rtlCol="0" anchor="ctr"/>
          <a:lstStyle/>
          <a:p>
            <a:pPr algn="l" indent="0" marL="0">
              <a:buNone/>
            </a:pPr>
            <a:r>
              <a:rPr lang="en-US" sz="1350" b="1" dirty="0">
                <a:solidFill>
                  <a:srgbClr val="12132A"/>
                </a:solidFill>
                <a:latin typeface="Calibri" pitchFamily="34" charset="0"/>
                <a:ea typeface="Calibri" pitchFamily="34" charset="-122"/>
                <a:cs typeface="Calibri" pitchFamily="34" charset="-120"/>
              </a:rPr>
              <a:t>Unlimited jobs</a:t>
            </a:r>
            <a:endParaRPr lang="en-US" sz="1350" dirty="0"/>
          </a:p>
        </p:txBody>
      </p:sp>
      <p:sp>
        <p:nvSpPr>
          <p:cNvPr id="45" name="Text 43"/>
          <p:cNvSpPr/>
          <p:nvPr/>
        </p:nvSpPr>
        <p:spPr>
          <a:xfrm>
            <a:off x="9198864" y="4919472"/>
            <a:ext cx="2221992" cy="320040"/>
          </a:xfrm>
          <a:prstGeom prst="rect">
            <a:avLst/>
          </a:prstGeom>
          <a:noFill/>
          <a:ln/>
        </p:spPr>
        <p:txBody>
          <a:bodyPr wrap="square" lIns="0" tIns="0" rIns="0" bIns="0" rtlCol="0" anchor="ctr"/>
          <a:lstStyle/>
          <a:p>
            <a:pPr algn="l" indent="0" marL="0">
              <a:buNone/>
            </a:pPr>
            <a:r>
              <a:rPr lang="en-US" sz="1250" dirty="0">
                <a:solidFill>
                  <a:srgbClr val="4A5568"/>
                </a:solidFill>
                <a:latin typeface="Calibri" pitchFamily="34" charset="0"/>
                <a:ea typeface="Calibri" pitchFamily="34" charset="-122"/>
                <a:cs typeface="Calibri" pitchFamily="34" charset="-120"/>
              </a:rPr>
              <a:t>Unlimited seats</a:t>
            </a:r>
            <a:endParaRPr lang="en-US" sz="1250" dirty="0"/>
          </a:p>
        </p:txBody>
      </p:sp>
      <p:sp>
        <p:nvSpPr>
          <p:cNvPr id="46" name="Text 44"/>
          <p:cNvSpPr/>
          <p:nvPr/>
        </p:nvSpPr>
        <p:spPr>
          <a:xfrm>
            <a:off x="9198864" y="5230368"/>
            <a:ext cx="2221992" cy="320040"/>
          </a:xfrm>
          <a:prstGeom prst="rect">
            <a:avLst/>
          </a:prstGeom>
          <a:noFill/>
          <a:ln/>
        </p:spPr>
        <p:txBody>
          <a:bodyPr wrap="square" lIns="0" tIns="0" rIns="0" bIns="0" rtlCol="0" anchor="ctr"/>
          <a:lstStyle/>
          <a:p>
            <a:pPr algn="l" indent="0" marL="0">
              <a:buNone/>
            </a:pPr>
            <a:r>
              <a:rPr lang="en-US" sz="1100" i="1" dirty="0">
                <a:solidFill>
                  <a:srgbClr val="4A5568"/>
                </a:solidFill>
                <a:latin typeface="Calibri" pitchFamily="34" charset="0"/>
                <a:ea typeface="Calibri" pitchFamily="34" charset="-122"/>
                <a:cs typeface="Calibri" pitchFamily="34" charset="-120"/>
              </a:rPr>
              <a:t>14-day free trial of Scale</a:t>
            </a:r>
            <a:endParaRPr lang="en-US" sz="1100" dirty="0"/>
          </a:p>
        </p:txBody>
      </p:sp>
      <p:sp>
        <p:nvSpPr>
          <p:cNvPr id="47" name="Text 45"/>
          <p:cNvSpPr/>
          <p:nvPr/>
        </p:nvSpPr>
        <p:spPr>
          <a:xfrm>
            <a:off x="548640" y="5943600"/>
            <a:ext cx="105156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Free trial applies to all new signups: 14 days of Scale, no card required.</a:t>
            </a:r>
            <a:endParaRPr lang="en-US" sz="1100" dirty="0"/>
          </a:p>
        </p:txBody>
      </p:sp>
      <p:sp>
        <p:nvSpPr>
          <p:cNvPr id="48" name="Text 46"/>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49" name="Text 47"/>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MONTHLY ALLOWANCES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What's included in each tier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3593592"/>
                <a:gridCol w="1874520"/>
                <a:gridCol w="1874520"/>
                <a:gridCol w="1874520"/>
                <a:gridCol w="1874520"/>
              </a:tblGrid>
              <a:tr h="36576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Launch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Scale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Elite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Enterprise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Open jobs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Team seats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Applicant screening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Bulk resume uploads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Rank runs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AI Insights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Interview questions / mo</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30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Unlimited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Job drafts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Credits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WhatsApp reminders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Self-scheduling calendar</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SSO · audit logs · white-label</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B9BEC9"/>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12132A"/>
                          </a:solidFill>
                          <a:latin typeface="Calibri" pitchFamily="34" charset="0"/>
                          <a:ea typeface="Calibri" pitchFamily="34" charset="-122"/>
                          <a:cs typeface="Calibri" pitchFamily="34" charset="-120"/>
                        </a:rPr>
                        <a:t>Support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Ticket</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Priority</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150" dirty="0">
                          <a:solidFill>
                            <a:srgbClr val="4A5568"/>
                          </a:solidFill>
                          <a:latin typeface="Calibri" pitchFamily="34" charset="0"/>
                          <a:ea typeface="Calibri" pitchFamily="34" charset="-122"/>
                          <a:cs typeface="Calibri" pitchFamily="34" charset="-120"/>
                        </a:rPr>
                        <a:t>Dedicated</a:t>
                      </a:r>
                      <a:endParaRPr lang="en-US" sz="11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5" name="Text 2"/>
          <p:cNvSpPr/>
          <p:nvPr/>
        </p:nvSpPr>
        <p:spPr>
          <a:xfrm>
            <a:off x="548640" y="640080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Job drafts are sold only as credits on every tier, including Enterprise, so drafting is pure add-on revenue.</a:t>
            </a:r>
            <a:endParaRPr lang="en-US" sz="1000" dirty="0"/>
          </a:p>
        </p:txBody>
      </p:sp>
      <p:sp>
        <p:nvSpPr>
          <p:cNvPr id="6" name="Text 3"/>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7" name="Text 4"/>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WHY THE BUNDLE DRIVES UPGRADES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The included AI is worth 2–3× the plan price</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Priced at list credit rates, each tier's monthly allowance is worth far more than the subscription. That gap is the upgrade story, and it is affordable because the underlying AI cost is a few cents per action (next slide).</a:t>
            </a:r>
            <a:endParaRPr lang="en-US" sz="1400" dirty="0"/>
          </a:p>
        </p:txBody>
      </p:sp>
      <p:sp>
        <p:nvSpPr>
          <p:cNvPr id="5" name="Shape 3"/>
          <p:cNvSpPr/>
          <p:nvPr/>
        </p:nvSpPr>
        <p:spPr>
          <a:xfrm>
            <a:off x="86868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4300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Launch</a:t>
            </a:r>
            <a:endParaRPr lang="en-US" sz="1800" dirty="0"/>
          </a:p>
        </p:txBody>
      </p:sp>
      <p:sp>
        <p:nvSpPr>
          <p:cNvPr id="7" name="Text 5"/>
          <p:cNvSpPr/>
          <p:nvPr/>
        </p:nvSpPr>
        <p:spPr>
          <a:xfrm>
            <a:off x="288036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2.4×</a:t>
            </a:r>
            <a:endParaRPr lang="en-US" sz="2400" dirty="0"/>
          </a:p>
        </p:txBody>
      </p:sp>
      <p:sp>
        <p:nvSpPr>
          <p:cNvPr id="8" name="Text 6"/>
          <p:cNvSpPr/>
          <p:nvPr/>
        </p:nvSpPr>
        <p:spPr>
          <a:xfrm>
            <a:off x="269748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9" name="Text 7"/>
          <p:cNvSpPr/>
          <p:nvPr/>
        </p:nvSpPr>
        <p:spPr>
          <a:xfrm>
            <a:off x="114300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0" name="Text 8"/>
          <p:cNvSpPr/>
          <p:nvPr/>
        </p:nvSpPr>
        <p:spPr>
          <a:xfrm>
            <a:off x="1143000" y="3904488"/>
            <a:ext cx="2834640" cy="50292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$116</a:t>
            </a:r>
            <a:endParaRPr lang="en-US" sz="3000" dirty="0"/>
          </a:p>
        </p:txBody>
      </p:sp>
      <p:sp>
        <p:nvSpPr>
          <p:cNvPr id="11" name="Shape 9"/>
          <p:cNvSpPr/>
          <p:nvPr/>
        </p:nvSpPr>
        <p:spPr>
          <a:xfrm>
            <a:off x="1143000" y="4526280"/>
            <a:ext cx="2834640" cy="0"/>
          </a:xfrm>
          <a:prstGeom prst="line">
            <a:avLst/>
          </a:prstGeom>
          <a:noFill/>
          <a:ln w="12700">
            <a:solidFill>
              <a:srgbClr val="DEDEE3"/>
            </a:solidFill>
            <a:prstDash val="solid"/>
          </a:ln>
        </p:spPr>
      </p:sp>
      <p:sp>
        <p:nvSpPr>
          <p:cNvPr id="12" name="Text 10"/>
          <p:cNvSpPr/>
          <p:nvPr/>
        </p:nvSpPr>
        <p:spPr>
          <a:xfrm>
            <a:off x="114300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13" name="Text 11"/>
          <p:cNvSpPr/>
          <p:nvPr/>
        </p:nvSpPr>
        <p:spPr>
          <a:xfrm>
            <a:off x="114300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$49</a:t>
            </a:r>
            <a:endParaRPr lang="en-US" sz="2400" dirty="0"/>
          </a:p>
        </p:txBody>
      </p:sp>
      <p:sp>
        <p:nvSpPr>
          <p:cNvPr id="14" name="Shape 12"/>
          <p:cNvSpPr/>
          <p:nvPr/>
        </p:nvSpPr>
        <p:spPr>
          <a:xfrm>
            <a:off x="457200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5" name="Text 13"/>
          <p:cNvSpPr/>
          <p:nvPr/>
        </p:nvSpPr>
        <p:spPr>
          <a:xfrm>
            <a:off x="484632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Scale</a:t>
            </a:r>
            <a:endParaRPr lang="en-US" sz="1800" dirty="0"/>
          </a:p>
        </p:txBody>
      </p:sp>
      <p:sp>
        <p:nvSpPr>
          <p:cNvPr id="16" name="Text 14"/>
          <p:cNvSpPr/>
          <p:nvPr/>
        </p:nvSpPr>
        <p:spPr>
          <a:xfrm>
            <a:off x="658368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3.1×</a:t>
            </a:r>
            <a:endParaRPr lang="en-US" sz="2400" dirty="0"/>
          </a:p>
        </p:txBody>
      </p:sp>
      <p:sp>
        <p:nvSpPr>
          <p:cNvPr id="17" name="Text 15"/>
          <p:cNvSpPr/>
          <p:nvPr/>
        </p:nvSpPr>
        <p:spPr>
          <a:xfrm>
            <a:off x="640080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18" name="Text 16"/>
          <p:cNvSpPr/>
          <p:nvPr/>
        </p:nvSpPr>
        <p:spPr>
          <a:xfrm>
            <a:off x="484632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19" name="Text 17"/>
          <p:cNvSpPr/>
          <p:nvPr/>
        </p:nvSpPr>
        <p:spPr>
          <a:xfrm>
            <a:off x="4846320" y="3904488"/>
            <a:ext cx="2834640" cy="50292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$614</a:t>
            </a:r>
            <a:endParaRPr lang="en-US" sz="3000" dirty="0"/>
          </a:p>
        </p:txBody>
      </p:sp>
      <p:sp>
        <p:nvSpPr>
          <p:cNvPr id="20" name="Shape 18"/>
          <p:cNvSpPr/>
          <p:nvPr/>
        </p:nvSpPr>
        <p:spPr>
          <a:xfrm>
            <a:off x="4846320" y="4526280"/>
            <a:ext cx="2834640" cy="0"/>
          </a:xfrm>
          <a:prstGeom prst="line">
            <a:avLst/>
          </a:prstGeom>
          <a:noFill/>
          <a:ln w="12700">
            <a:solidFill>
              <a:srgbClr val="DEDEE3"/>
            </a:solidFill>
            <a:prstDash val="solid"/>
          </a:ln>
        </p:spPr>
      </p:sp>
      <p:sp>
        <p:nvSpPr>
          <p:cNvPr id="21" name="Text 19"/>
          <p:cNvSpPr/>
          <p:nvPr/>
        </p:nvSpPr>
        <p:spPr>
          <a:xfrm>
            <a:off x="484632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22" name="Text 20"/>
          <p:cNvSpPr/>
          <p:nvPr/>
        </p:nvSpPr>
        <p:spPr>
          <a:xfrm>
            <a:off x="484632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$199</a:t>
            </a:r>
            <a:endParaRPr lang="en-US" sz="2400" dirty="0"/>
          </a:p>
        </p:txBody>
      </p:sp>
      <p:sp>
        <p:nvSpPr>
          <p:cNvPr id="23" name="Shape 21"/>
          <p:cNvSpPr/>
          <p:nvPr/>
        </p:nvSpPr>
        <p:spPr>
          <a:xfrm>
            <a:off x="8275320" y="2514600"/>
            <a:ext cx="3383280" cy="3017520"/>
          </a:xfrm>
          <a:prstGeom prst="roundRect">
            <a:avLst>
              <a:gd name="adj" fmla="val 3636"/>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24" name="Text 22"/>
          <p:cNvSpPr/>
          <p:nvPr/>
        </p:nvSpPr>
        <p:spPr>
          <a:xfrm>
            <a:off x="8549640" y="2770632"/>
            <a:ext cx="283464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Elite</a:t>
            </a:r>
            <a:endParaRPr lang="en-US" sz="1800" dirty="0"/>
          </a:p>
        </p:txBody>
      </p:sp>
      <p:sp>
        <p:nvSpPr>
          <p:cNvPr id="25" name="Text 23"/>
          <p:cNvSpPr/>
          <p:nvPr/>
        </p:nvSpPr>
        <p:spPr>
          <a:xfrm>
            <a:off x="10287000" y="2715768"/>
            <a:ext cx="1097280" cy="457200"/>
          </a:xfrm>
          <a:prstGeom prst="rect">
            <a:avLst/>
          </a:prstGeom>
          <a:noFill/>
          <a:ln/>
        </p:spPr>
        <p:txBody>
          <a:bodyPr wrap="square" lIns="0" tIns="0" rIns="0" bIns="0" rtlCol="0" anchor="ctr"/>
          <a:lstStyle/>
          <a:p>
            <a:pPr algn="r" indent="0" marL="0">
              <a:buNone/>
            </a:pPr>
            <a:r>
              <a:rPr lang="en-US" sz="2400" b="1" dirty="0">
                <a:solidFill>
                  <a:srgbClr val="16A34A"/>
                </a:solidFill>
                <a:latin typeface="Calibri" pitchFamily="34" charset="0"/>
                <a:ea typeface="Calibri" pitchFamily="34" charset="-122"/>
                <a:cs typeface="Calibri" pitchFamily="34" charset="-120"/>
              </a:rPr>
              <a:t>2.6×</a:t>
            </a:r>
            <a:endParaRPr lang="en-US" sz="2400" dirty="0"/>
          </a:p>
        </p:txBody>
      </p:sp>
      <p:sp>
        <p:nvSpPr>
          <p:cNvPr id="26" name="Text 24"/>
          <p:cNvSpPr/>
          <p:nvPr/>
        </p:nvSpPr>
        <p:spPr>
          <a:xfrm>
            <a:off x="10104120" y="3172968"/>
            <a:ext cx="128016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value-to-price</a:t>
            </a:r>
            <a:endParaRPr lang="en-US" sz="1000" dirty="0"/>
          </a:p>
        </p:txBody>
      </p:sp>
      <p:sp>
        <p:nvSpPr>
          <p:cNvPr id="27" name="Text 25"/>
          <p:cNvSpPr/>
          <p:nvPr/>
        </p:nvSpPr>
        <p:spPr>
          <a:xfrm>
            <a:off x="8549640" y="3657600"/>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Included AI value / mo</a:t>
            </a:r>
            <a:endParaRPr lang="en-US" sz="1200" dirty="0"/>
          </a:p>
        </p:txBody>
      </p:sp>
      <p:sp>
        <p:nvSpPr>
          <p:cNvPr id="28" name="Text 26"/>
          <p:cNvSpPr/>
          <p:nvPr/>
        </p:nvSpPr>
        <p:spPr>
          <a:xfrm>
            <a:off x="8549640" y="3904488"/>
            <a:ext cx="2834640" cy="502920"/>
          </a:xfrm>
          <a:prstGeom prst="rect">
            <a:avLst/>
          </a:prstGeom>
          <a:noFill/>
          <a:ln/>
        </p:spPr>
        <p:txBody>
          <a:bodyPr wrap="square" lIns="0" tIns="0" rIns="0" bIns="0" rtlCol="0" anchor="ctr"/>
          <a:lstStyle/>
          <a:p>
            <a:pPr algn="l" indent="0" marL="0">
              <a:buNone/>
            </a:pPr>
            <a:r>
              <a:rPr lang="en-US" sz="3000" b="1" dirty="0">
                <a:solidFill>
                  <a:srgbClr val="0B2AE0"/>
                </a:solidFill>
                <a:latin typeface="Calibri" pitchFamily="34" charset="0"/>
                <a:ea typeface="Calibri" pitchFamily="34" charset="-122"/>
                <a:cs typeface="Calibri" pitchFamily="34" charset="-120"/>
              </a:rPr>
              <a:t>$1,300</a:t>
            </a:r>
            <a:endParaRPr lang="en-US" sz="3000" dirty="0"/>
          </a:p>
        </p:txBody>
      </p:sp>
      <p:sp>
        <p:nvSpPr>
          <p:cNvPr id="29" name="Shape 27"/>
          <p:cNvSpPr/>
          <p:nvPr/>
        </p:nvSpPr>
        <p:spPr>
          <a:xfrm>
            <a:off x="8549640" y="4526280"/>
            <a:ext cx="2834640" cy="0"/>
          </a:xfrm>
          <a:prstGeom prst="line">
            <a:avLst/>
          </a:prstGeom>
          <a:noFill/>
          <a:ln w="12700">
            <a:solidFill>
              <a:srgbClr val="DEDEE3"/>
            </a:solidFill>
            <a:prstDash val="solid"/>
          </a:ln>
        </p:spPr>
      </p:sp>
      <p:sp>
        <p:nvSpPr>
          <p:cNvPr id="30" name="Text 28"/>
          <p:cNvSpPr/>
          <p:nvPr/>
        </p:nvSpPr>
        <p:spPr>
          <a:xfrm>
            <a:off x="8549640" y="4636008"/>
            <a:ext cx="2834640" cy="274320"/>
          </a:xfrm>
          <a:prstGeom prst="rect">
            <a:avLst/>
          </a:prstGeom>
          <a:noFill/>
          <a:ln/>
        </p:spPr>
        <p:txBody>
          <a:bodyPr wrap="square" lIns="0" tIns="0" rIns="0" bIns="0" rtlCol="0" anchor="ctr"/>
          <a:lstStyle/>
          <a:p>
            <a:pPr algn="l" indent="0" marL="0">
              <a:buNone/>
            </a:pPr>
            <a:r>
              <a:rPr lang="en-US" sz="1200" dirty="0">
                <a:solidFill>
                  <a:srgbClr val="4A5568"/>
                </a:solidFill>
                <a:latin typeface="Calibri" pitchFamily="34" charset="0"/>
                <a:ea typeface="Calibri" pitchFamily="34" charset="-122"/>
                <a:cs typeface="Calibri" pitchFamily="34" charset="-120"/>
              </a:rPr>
              <a:t>Plan price / mo</a:t>
            </a:r>
            <a:endParaRPr lang="en-US" sz="1200" dirty="0"/>
          </a:p>
        </p:txBody>
      </p:sp>
      <p:sp>
        <p:nvSpPr>
          <p:cNvPr id="31" name="Text 29"/>
          <p:cNvSpPr/>
          <p:nvPr/>
        </p:nvSpPr>
        <p:spPr>
          <a:xfrm>
            <a:off x="8549640" y="4873752"/>
            <a:ext cx="2834640" cy="457200"/>
          </a:xfrm>
          <a:prstGeom prst="rect">
            <a:avLst/>
          </a:prstGeom>
          <a:noFill/>
          <a:ln/>
        </p:spPr>
        <p:txBody>
          <a:bodyPr wrap="square" lIns="0" tIns="0" rIns="0" bIns="0" rtlCol="0" anchor="ctr"/>
          <a:lstStyle/>
          <a:p>
            <a:pPr algn="l" indent="0" marL="0">
              <a:buNone/>
            </a:pPr>
            <a:r>
              <a:rPr lang="en-US" sz="2400" b="1" dirty="0">
                <a:solidFill>
                  <a:srgbClr val="12132A"/>
                </a:solidFill>
                <a:latin typeface="Calibri" pitchFamily="34" charset="0"/>
                <a:ea typeface="Calibri" pitchFamily="34" charset="-122"/>
                <a:cs typeface="Calibri" pitchFamily="34" charset="-120"/>
              </a:rPr>
              <a:t>$499</a:t>
            </a:r>
            <a:endParaRPr lang="en-US" sz="2400" dirty="0"/>
          </a:p>
        </p:txBody>
      </p:sp>
      <p:sp>
        <p:nvSpPr>
          <p:cNvPr id="32" name="Text 30"/>
          <p:cNvSpPr/>
          <p:nvPr/>
        </p:nvSpPr>
        <p:spPr>
          <a:xfrm>
            <a:off x="548640" y="5806440"/>
            <a:ext cx="10972800" cy="274320"/>
          </a:xfrm>
          <a:prstGeom prst="rect">
            <a:avLst/>
          </a:prstGeom>
          <a:noFill/>
          <a:ln/>
        </p:spPr>
        <p:txBody>
          <a:bodyPr wrap="square" lIns="0" tIns="0" rIns="0" bIns="0" rtlCol="0" anchor="ctr"/>
          <a:lstStyle/>
          <a:p>
            <a:pPr algn="l" indent="0" marL="0">
              <a:buNone/>
            </a:pPr>
            <a:r>
              <a:rPr lang="en-US" sz="1050" i="1" dirty="0">
                <a:solidFill>
                  <a:srgbClr val="6B7280"/>
                </a:solidFill>
                <a:latin typeface="Calibri" pitchFamily="34" charset="0"/>
                <a:ea typeface="Calibri" pitchFamily="34" charset="-122"/>
                <a:cs typeface="Calibri" pitchFamily="34" charset="-120"/>
              </a:rPr>
              <a:t>Included value = monthly allowance priced at list credit rates ($1.00 screening · $0.40 AI Rank / Insight / Questions).</a:t>
            </a:r>
            <a:endParaRPr lang="en-US" sz="1050" dirty="0"/>
          </a:p>
        </p:txBody>
      </p:sp>
      <p:sp>
        <p:nvSpPr>
          <p:cNvPr id="33" name="Text 3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34" name="Text 3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USAGE-BASED REVENUE</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 pricing</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760720" cy="914400"/>
        </p:xfrm>
        <a:graphic>
          <a:graphicData uri="http://schemas.openxmlformats.org/drawingml/2006/table">
            <a:tbl>
              <a:tblPr/>
              <a:tblGrid>
                <a:gridCol w="3749040"/>
                <a:gridCol w="2011680"/>
              </a:tblGrid>
              <a:tr h="47548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Credit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List price (USD)</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Applicant / resume screening</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Rank</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$0.40</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AI Insight</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$0.40</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Interview questions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$0.40</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75488">
                <a:tc>
                  <a:txBody>
                    <a:bodyPr/>
                    <a:lstStyle/>
                    <a:p>
                      <a:pPr algn="l" indent="0" marL="0">
                        <a:buNone/>
                      </a:pPr>
                      <a:r>
                        <a:rPr lang="en-US" sz="1300" dirty="0">
                          <a:solidFill>
                            <a:srgbClr val="12132A"/>
                          </a:solidFill>
                          <a:latin typeface="Calibri" pitchFamily="34" charset="0"/>
                          <a:ea typeface="Calibri" pitchFamily="34" charset="-122"/>
                          <a:cs typeface="Calibri" pitchFamily="34" charset="-120"/>
                        </a:rPr>
                        <a:t>Job draft (Opus)</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0B2AE0"/>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101600" marR="1016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800600"/>
            <a:ext cx="5760720" cy="274320"/>
          </a:xfrm>
          <a:prstGeom prst="rect">
            <a:avLst/>
          </a:prstGeom>
          <a:noFill/>
          <a:ln/>
        </p:spPr>
        <p:txBody>
          <a:bodyPr wrap="square" lIns="0" tIns="0" rIns="0" bIns="0" rtlCol="0" anchor="ctr"/>
          <a:lstStyle/>
          <a:p>
            <a:pPr algn="l" indent="0" marL="0">
              <a:buNone/>
            </a:pPr>
            <a:r>
              <a:rPr lang="en-US" sz="1200" b="1" dirty="0">
                <a:solidFill>
                  <a:srgbClr val="12132A"/>
                </a:solidFill>
                <a:latin typeface="Calibri" pitchFamily="34" charset="0"/>
                <a:ea typeface="Calibri" pitchFamily="34" charset="-122"/>
                <a:cs typeface="Calibri" pitchFamily="34" charset="-120"/>
              </a:rPr>
              <a:t>Formula (computed server-side, never trusted from the client):</a:t>
            </a:r>
            <a:endParaRPr lang="en-US" sz="1200" dirty="0"/>
          </a:p>
        </p:txBody>
      </p:sp>
      <p:sp>
        <p:nvSpPr>
          <p:cNvPr id="6" name="Shape 3"/>
          <p:cNvSpPr/>
          <p:nvPr/>
        </p:nvSpPr>
        <p:spPr>
          <a:xfrm>
            <a:off x="548640" y="5120640"/>
            <a:ext cx="5760720" cy="685800"/>
          </a:xfrm>
          <a:prstGeom prst="roundRect">
            <a:avLst>
              <a:gd name="adj" fmla="val 13333"/>
            </a:avLst>
          </a:prstGeom>
          <a:solidFill>
            <a:srgbClr val="EAEEFE"/>
          </a:solidFill>
          <a:ln w="12700">
            <a:solidFill>
              <a:srgbClr val="D7DEFB"/>
            </a:solidFill>
            <a:prstDash val="solid"/>
          </a:ln>
        </p:spPr>
      </p:sp>
      <p:sp>
        <p:nvSpPr>
          <p:cNvPr id="7" name="Text 4"/>
          <p:cNvSpPr/>
          <p:nvPr/>
        </p:nvSpPr>
        <p:spPr>
          <a:xfrm>
            <a:off x="640080" y="5120640"/>
            <a:ext cx="5577840" cy="685800"/>
          </a:xfrm>
          <a:prstGeom prst="rect">
            <a:avLst/>
          </a:prstGeom>
          <a:noFill/>
          <a:ln/>
        </p:spPr>
        <p:txBody>
          <a:bodyPr wrap="square" lIns="0" tIns="0" rIns="0" bIns="0" rtlCol="0" anchor="ctr"/>
          <a:lstStyle/>
          <a:p>
            <a:pPr algn="ctr" indent="0" marL="0">
              <a:buNone/>
            </a:pPr>
            <a:r>
              <a:rPr lang="en-US" sz="1400" b="1" dirty="0">
                <a:solidFill>
                  <a:srgbClr val="0B2AE0"/>
                </a:solidFill>
                <a:latin typeface="Calibri" pitchFamily="34" charset="0"/>
                <a:ea typeface="Calibri" pitchFamily="34" charset="-122"/>
                <a:cs typeface="Calibri" pitchFamily="34" charset="-120"/>
              </a:rPr>
              <a:t>price  =  base USD  ×  FX rate  ×  (1 − plan discount)</a:t>
            </a:r>
            <a:endParaRPr lang="en-US" sz="1400" dirty="0"/>
          </a:p>
        </p:txBody>
      </p:sp>
      <p:sp>
        <p:nvSpPr>
          <p:cNvPr id="8" name="Shape 5"/>
          <p:cNvSpPr/>
          <p:nvPr/>
        </p:nvSpPr>
        <p:spPr>
          <a:xfrm>
            <a:off x="6583680" y="1737360"/>
            <a:ext cx="5056632" cy="1920240"/>
          </a:xfrm>
          <a:prstGeom prst="roundRect">
            <a:avLst>
              <a:gd name="adj" fmla="val 5714"/>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9" name="Text 6"/>
          <p:cNvSpPr/>
          <p:nvPr/>
        </p:nvSpPr>
        <p:spPr>
          <a:xfrm>
            <a:off x="6858000" y="192024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Plan discount on credits</a:t>
            </a:r>
            <a:endParaRPr lang="en-US" sz="1500" dirty="0"/>
          </a:p>
        </p:txBody>
      </p:sp>
      <p:sp>
        <p:nvSpPr>
          <p:cNvPr id="10" name="Text 7"/>
          <p:cNvSpPr/>
          <p:nvPr/>
        </p:nvSpPr>
        <p:spPr>
          <a:xfrm>
            <a:off x="6858000" y="233172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Launch</a:t>
            </a:r>
            <a:endParaRPr lang="en-US" sz="1300" dirty="0"/>
          </a:p>
        </p:txBody>
      </p:sp>
      <p:sp>
        <p:nvSpPr>
          <p:cNvPr id="11" name="Text 8"/>
          <p:cNvSpPr/>
          <p:nvPr/>
        </p:nvSpPr>
        <p:spPr>
          <a:xfrm>
            <a:off x="10058400" y="2331720"/>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0%</a:t>
            </a:r>
            <a:endParaRPr lang="en-US" sz="1400" dirty="0"/>
          </a:p>
        </p:txBody>
      </p:sp>
      <p:sp>
        <p:nvSpPr>
          <p:cNvPr id="12" name="Text 9"/>
          <p:cNvSpPr/>
          <p:nvPr/>
        </p:nvSpPr>
        <p:spPr>
          <a:xfrm>
            <a:off x="6858000" y="271576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Scale</a:t>
            </a:r>
            <a:endParaRPr lang="en-US" sz="1300" dirty="0"/>
          </a:p>
        </p:txBody>
      </p:sp>
      <p:sp>
        <p:nvSpPr>
          <p:cNvPr id="13" name="Text 10"/>
          <p:cNvSpPr/>
          <p:nvPr/>
        </p:nvSpPr>
        <p:spPr>
          <a:xfrm>
            <a:off x="10058400" y="2715768"/>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10%</a:t>
            </a:r>
            <a:endParaRPr lang="en-US" sz="1400" dirty="0"/>
          </a:p>
        </p:txBody>
      </p:sp>
      <p:sp>
        <p:nvSpPr>
          <p:cNvPr id="14" name="Text 11"/>
          <p:cNvSpPr/>
          <p:nvPr/>
        </p:nvSpPr>
        <p:spPr>
          <a:xfrm>
            <a:off x="6858000" y="309981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Elite / Enterprise</a:t>
            </a:r>
            <a:endParaRPr lang="en-US" sz="1300" dirty="0"/>
          </a:p>
        </p:txBody>
      </p:sp>
      <p:sp>
        <p:nvSpPr>
          <p:cNvPr id="15" name="Text 12"/>
          <p:cNvSpPr/>
          <p:nvPr/>
        </p:nvSpPr>
        <p:spPr>
          <a:xfrm>
            <a:off x="10058400" y="3099816"/>
            <a:ext cx="1371600" cy="320040"/>
          </a:xfrm>
          <a:prstGeom prst="rect">
            <a:avLst/>
          </a:prstGeom>
          <a:noFill/>
          <a:ln/>
        </p:spPr>
        <p:txBody>
          <a:bodyPr wrap="square" lIns="0" tIns="0" rIns="0" bIns="0" rtlCol="0" anchor="ctr"/>
          <a:lstStyle/>
          <a:p>
            <a:pPr algn="r" indent="0" marL="0">
              <a:buNone/>
            </a:pPr>
            <a:r>
              <a:rPr lang="en-US" sz="1400" b="1" dirty="0">
                <a:solidFill>
                  <a:srgbClr val="0B2AE0"/>
                </a:solidFill>
                <a:latin typeface="Calibri" pitchFamily="34" charset="0"/>
                <a:ea typeface="Calibri" pitchFamily="34" charset="-122"/>
                <a:cs typeface="Calibri" pitchFamily="34" charset="-120"/>
              </a:rPr>
              <a:t>20%</a:t>
            </a:r>
            <a:endParaRPr lang="en-US" sz="1400" dirty="0"/>
          </a:p>
        </p:txBody>
      </p:sp>
      <p:sp>
        <p:nvSpPr>
          <p:cNvPr id="16" name="Shape 13"/>
          <p:cNvSpPr/>
          <p:nvPr/>
        </p:nvSpPr>
        <p:spPr>
          <a:xfrm>
            <a:off x="6583680" y="3840480"/>
            <a:ext cx="5056632" cy="1965960"/>
          </a:xfrm>
          <a:prstGeom prst="roundRect">
            <a:avLst>
              <a:gd name="adj" fmla="val 5581"/>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7" name="Text 14"/>
          <p:cNvSpPr/>
          <p:nvPr/>
        </p:nvSpPr>
        <p:spPr>
          <a:xfrm>
            <a:off x="6858000" y="4023360"/>
            <a:ext cx="4572000" cy="320040"/>
          </a:xfrm>
          <a:prstGeom prst="rect">
            <a:avLst/>
          </a:prstGeom>
          <a:noFill/>
          <a:ln/>
        </p:spPr>
        <p:txBody>
          <a:bodyPr wrap="square" lIns="0" tIns="0" rIns="0" bIns="0" rtlCol="0" anchor="ctr"/>
          <a:lstStyle/>
          <a:p>
            <a:pPr algn="l" indent="0" marL="0">
              <a:buNone/>
            </a:pPr>
            <a:r>
              <a:rPr lang="en-US" sz="1500" b="1" dirty="0">
                <a:solidFill>
                  <a:srgbClr val="12132A"/>
                </a:solidFill>
                <a:latin typeface="Calibri" pitchFamily="34" charset="0"/>
                <a:ea typeface="Calibri" pitchFamily="34" charset="-122"/>
                <a:cs typeface="Calibri" pitchFamily="34" charset="-120"/>
              </a:rPr>
              <a:t>Currency (FX rate vs USD)</a:t>
            </a:r>
            <a:endParaRPr lang="en-US" sz="1500" dirty="0"/>
          </a:p>
        </p:txBody>
      </p:sp>
      <p:sp>
        <p:nvSpPr>
          <p:cNvPr id="18" name="Text 15"/>
          <p:cNvSpPr/>
          <p:nvPr/>
        </p:nvSpPr>
        <p:spPr>
          <a:xfrm>
            <a:off x="6858000" y="4434840"/>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USD</a:t>
            </a:r>
            <a:endParaRPr lang="en-US" sz="1300" dirty="0"/>
          </a:p>
        </p:txBody>
      </p:sp>
      <p:sp>
        <p:nvSpPr>
          <p:cNvPr id="19" name="Text 16"/>
          <p:cNvSpPr/>
          <p:nvPr/>
        </p:nvSpPr>
        <p:spPr>
          <a:xfrm>
            <a:off x="10058400" y="4434840"/>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1.00</a:t>
            </a:r>
            <a:endParaRPr lang="en-US" sz="1400" dirty="0"/>
          </a:p>
        </p:txBody>
      </p:sp>
      <p:sp>
        <p:nvSpPr>
          <p:cNvPr id="20" name="Text 17"/>
          <p:cNvSpPr/>
          <p:nvPr/>
        </p:nvSpPr>
        <p:spPr>
          <a:xfrm>
            <a:off x="6858000" y="4818888"/>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MYR (default)</a:t>
            </a:r>
            <a:endParaRPr lang="en-US" sz="1300" dirty="0"/>
          </a:p>
        </p:txBody>
      </p:sp>
      <p:sp>
        <p:nvSpPr>
          <p:cNvPr id="21" name="Text 18"/>
          <p:cNvSpPr/>
          <p:nvPr/>
        </p:nvSpPr>
        <p:spPr>
          <a:xfrm>
            <a:off x="10058400" y="4818888"/>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4.09</a:t>
            </a:r>
            <a:endParaRPr lang="en-US" sz="1400" dirty="0"/>
          </a:p>
        </p:txBody>
      </p:sp>
      <p:sp>
        <p:nvSpPr>
          <p:cNvPr id="22" name="Text 19"/>
          <p:cNvSpPr/>
          <p:nvPr/>
        </p:nvSpPr>
        <p:spPr>
          <a:xfrm>
            <a:off x="6858000" y="5202936"/>
            <a:ext cx="3200400" cy="3200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SGD</a:t>
            </a:r>
            <a:endParaRPr lang="en-US" sz="1300" dirty="0"/>
          </a:p>
        </p:txBody>
      </p:sp>
      <p:sp>
        <p:nvSpPr>
          <p:cNvPr id="23" name="Text 20"/>
          <p:cNvSpPr/>
          <p:nvPr/>
        </p:nvSpPr>
        <p:spPr>
          <a:xfrm>
            <a:off x="10058400" y="5202936"/>
            <a:ext cx="1371600" cy="320040"/>
          </a:xfrm>
          <a:prstGeom prst="rect">
            <a:avLst/>
          </a:prstGeom>
          <a:noFill/>
          <a:ln/>
        </p:spPr>
        <p:txBody>
          <a:bodyPr wrap="square" lIns="0" tIns="0" rIns="0" bIns="0" rtlCol="0" anchor="ctr"/>
          <a:lstStyle/>
          <a:p>
            <a:pPr algn="r" indent="0" marL="0">
              <a:buNone/>
            </a:pPr>
            <a:r>
              <a:rPr lang="en-US" sz="1400" b="1" dirty="0">
                <a:solidFill>
                  <a:srgbClr val="12132A"/>
                </a:solidFill>
                <a:latin typeface="Calibri" pitchFamily="34" charset="0"/>
                <a:ea typeface="Calibri" pitchFamily="34" charset="-122"/>
                <a:cs typeface="Calibri" pitchFamily="34" charset="-120"/>
              </a:rPr>
              <a:t>× 1.29</a:t>
            </a:r>
            <a:endParaRPr lang="en-US" sz="1400" dirty="0"/>
          </a:p>
        </p:txBody>
      </p:sp>
      <p:sp>
        <p:nvSpPr>
          <p:cNvPr id="24" name="Text 21"/>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2"/>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COST OF GOODS, PER ACTION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What each AI credit costs us to serve</a:t>
            </a:r>
            <a:endParaRPr lang="en-US" sz="3400" dirty="0"/>
          </a:p>
        </p:txBody>
      </p:sp>
      <p:sp>
        <p:nvSpPr>
          <p:cNvPr id="4" name="Text 2"/>
          <p:cNvSpPr/>
          <p:nvPr/>
        </p:nvSpPr>
        <p:spPr>
          <a:xfrm>
            <a:off x="548640" y="1463040"/>
            <a:ext cx="11064240" cy="54864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Each action runs on a specific Claude model. Costs below use standard model pricing; "max" assumes a full-length output plus web-search company lookups. Even at the maximum, every credit keeps most of its price.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7635240" cy="914400"/>
        </p:xfrm>
        <a:graphic>
          <a:graphicData uri="http://schemas.openxmlformats.org/drawingml/2006/table">
            <a:tbl>
              <a:tblPr/>
              <a:tblGrid>
                <a:gridCol w="2788920"/>
                <a:gridCol w="1234440"/>
                <a:gridCol w="1051560"/>
                <a:gridCol w="1188720"/>
                <a:gridCol w="1097280"/>
                <a:gridCol w="1188720"/>
              </a:tblGrid>
              <a:tr h="54864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Credit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Sells for</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Typical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Max cost</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 at max</a:t>
                      </a:r>
                      <a:endParaRPr lang="en-US" sz="12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Resume / applicant screening</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$1.00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~$0.04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~$0.14</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86%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AI Rank / AI Insight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Sonnet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~$0.05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~$0.12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Interview questions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Haiku 4.5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~$0.01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~$0.01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97%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54864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Job draft</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Opus 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$0.50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~$0.07</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dirty="0">
                          <a:solidFill>
                            <a:srgbClr val="4A5568"/>
                          </a:solidFill>
                          <a:latin typeface="Calibri" pitchFamily="34" charset="0"/>
                          <a:ea typeface="Calibri" pitchFamily="34" charset="-122"/>
                          <a:cs typeface="Calibri" pitchFamily="34" charset="-120"/>
                        </a:rPr>
                        <a:t>~$0.11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r" indent="0" marL="0">
                        <a:buNone/>
                      </a:pPr>
                      <a:r>
                        <a:rPr lang="en-US" sz="1250" b="1" dirty="0">
                          <a:solidFill>
                            <a:srgbClr val="16A34A"/>
                          </a:solidFill>
                          <a:latin typeface="Calibri" pitchFamily="34" charset="0"/>
                          <a:ea typeface="Calibri" pitchFamily="34" charset="-122"/>
                          <a:cs typeface="Calibri" pitchFamily="34" charset="-120"/>
                        </a:rPr>
                        <a:t>78%</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bl>
          </a:graphicData>
        </a:graphic>
      </p:graphicFrame>
      <p:sp>
        <p:nvSpPr>
          <p:cNvPr id="6" name="Shape 3"/>
          <p:cNvSpPr/>
          <p:nvPr/>
        </p:nvSpPr>
        <p:spPr>
          <a:xfrm>
            <a:off x="8458200" y="2148840"/>
            <a:ext cx="3182112" cy="3291840"/>
          </a:xfrm>
          <a:prstGeom prst="roundRect">
            <a:avLst>
              <a:gd name="adj" fmla="val 3448"/>
            </a:avLst>
          </a:prstGeom>
          <a:solidFill>
            <a:srgbClr val="EAEE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7" name="Text 4"/>
          <p:cNvSpPr/>
          <p:nvPr/>
        </p:nvSpPr>
        <p:spPr>
          <a:xfrm>
            <a:off x="8686800" y="2331720"/>
            <a:ext cx="2743200" cy="274320"/>
          </a:xfrm>
          <a:prstGeom prst="rect">
            <a:avLst/>
          </a:prstGeom>
          <a:noFill/>
          <a:ln/>
        </p:spPr>
        <p:txBody>
          <a:bodyPr wrap="square" lIns="0" tIns="0" rIns="0" bIns="0" rtlCol="0" anchor="ctr"/>
          <a:lstStyle/>
          <a:p>
            <a:pPr algn="l" indent="0" marL="0">
              <a:buNone/>
            </a:pPr>
            <a:r>
              <a:rPr lang="en-US" sz="1100" b="1" spc="150" kern="0" dirty="0">
                <a:solidFill>
                  <a:srgbClr val="0B2AE0"/>
                </a:solidFill>
                <a:latin typeface="Calibri" pitchFamily="34" charset="0"/>
                <a:ea typeface="Calibri" pitchFamily="34" charset="-122"/>
                <a:cs typeface="Calibri" pitchFamily="34" charset="-120"/>
              </a:rPr>
              <a:t>WORKED EXAMPLE</a:t>
            </a:r>
            <a:endParaRPr lang="en-US" sz="1100" dirty="0"/>
          </a:p>
        </p:txBody>
      </p:sp>
      <p:sp>
        <p:nvSpPr>
          <p:cNvPr id="8" name="Text 5"/>
          <p:cNvSpPr/>
          <p:nvPr/>
        </p:nvSpPr>
        <p:spPr>
          <a:xfrm>
            <a:off x="8686800" y="2606040"/>
            <a:ext cx="2743200" cy="365760"/>
          </a:xfrm>
          <a:prstGeom prst="rect">
            <a:avLst/>
          </a:prstGeom>
          <a:noFill/>
          <a:ln/>
        </p:spPr>
        <p:txBody>
          <a:bodyPr wrap="square" lIns="0" tIns="0" rIns="0" bIns="0" rtlCol="0" anchor="ctr"/>
          <a:lstStyle/>
          <a:p>
            <a:pPr algn="l" indent="0" marL="0">
              <a:buNone/>
            </a:pPr>
            <a:r>
              <a:rPr lang="en-US" sz="1800" b="1" dirty="0">
                <a:solidFill>
                  <a:srgbClr val="12132A"/>
                </a:solidFill>
                <a:latin typeface="Calibri" pitchFamily="34" charset="0"/>
                <a:ea typeface="Calibri" pitchFamily="34" charset="-122"/>
                <a:cs typeface="Calibri" pitchFamily="34" charset="-120"/>
              </a:rPr>
              <a:t>A 3-page resume</a:t>
            </a:r>
            <a:endParaRPr lang="en-US" sz="1800" dirty="0"/>
          </a:p>
        </p:txBody>
      </p:sp>
      <p:sp>
        <p:nvSpPr>
          <p:cNvPr id="9" name="Text 6"/>
          <p:cNvSpPr/>
          <p:nvPr/>
        </p:nvSpPr>
        <p:spPr>
          <a:xfrm>
            <a:off x="8686800" y="3017520"/>
            <a:ext cx="2743200" cy="2286000"/>
          </a:xfrm>
          <a:prstGeom prst="rect">
            <a:avLst/>
          </a:prstGeom>
          <a:noFill/>
          <a:ln/>
        </p:spPr>
        <p:txBody>
          <a:bodyPr wrap="square" lIns="0" tIns="0" rIns="0" bIns="0" rtlCol="0" anchor="t"/>
          <a:lstStyle/>
          <a:p>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Screening runs on Sonnet 5. A 3-page resume plus the parsing prompt is a small request: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Typical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~$0.04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Worst case  </a:t>
            </a:r>
            <a:pPr algn="l" indent="0" marL="0">
              <a:lnSpc>
                <a:spcPct val="105000"/>
              </a:lnSpc>
              <a:buNone/>
            </a:pPr>
            <a:r>
              <a:rPr lang="en-US" sz="1250" b="1" dirty="0">
                <a:solidFill>
                  <a:srgbClr val="12132A"/>
                </a:solidFill>
                <a:latin typeface="Calibri" pitchFamily="34" charset="0"/>
                <a:ea typeface="Calibri" pitchFamily="34" charset="-122"/>
                <a:cs typeface="Calibri" pitchFamily="34" charset="-120"/>
              </a:rPr>
              <a:t>~$0.14</a:t>
            </a:r>
            <a:pPr algn="l" indent="0" marL="0">
              <a:lnSpc>
                <a:spcPct val="105000"/>
              </a:lnSpc>
              <a:buNone/>
            </a:pPr>
            <a:r>
              <a:rPr lang="en-US" sz="1100" dirty="0">
                <a:solidFill>
                  <a:srgbClr val="6B7280"/>
                </a:solidFill>
                <a:latin typeface="Calibri" pitchFamily="34" charset="0"/>
                <a:ea typeface="Calibri" pitchFamily="34" charset="-122"/>
                <a:cs typeface="Calibri" pitchFamily="34" charset="-120"/>
              </a:rPr>
              <a:t>  (page images + web-search company lookups + full output)
</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Sold for </a:t>
            </a:r>
            <a:pPr algn="l" indent="0" marL="0">
              <a:lnSpc>
                <a:spcPct val="105000"/>
              </a:lnSpc>
              <a:buNone/>
            </a:pPr>
            <a:r>
              <a:rPr lang="en-US" sz="1250" b="1" dirty="0">
                <a:solidFill>
                  <a:srgbClr val="0B2AE0"/>
                </a:solidFill>
                <a:latin typeface="Calibri" pitchFamily="34" charset="0"/>
                <a:ea typeface="Calibri" pitchFamily="34" charset="-122"/>
                <a:cs typeface="Calibri" pitchFamily="34" charset="-120"/>
              </a:rPr>
              <a:t>$1.00</a:t>
            </a:r>
            <a:pPr algn="l" indent="0" marL="0">
              <a:lnSpc>
                <a:spcPct val="105000"/>
              </a:lnSpc>
              <a:buNone/>
            </a:pPr>
            <a:r>
              <a:rPr lang="en-US" sz="1250" dirty="0">
                <a:solidFill>
                  <a:srgbClr val="4A5568"/>
                </a:solidFill>
                <a:latin typeface="Calibri" pitchFamily="34" charset="0"/>
                <a:ea typeface="Calibri" pitchFamily="34" charset="-122"/>
                <a:cs typeface="Calibri" pitchFamily="34" charset="-120"/>
              </a:rPr>
              <a:t> → you keep </a:t>
            </a:r>
            <a:pPr algn="l" indent="0" marL="0">
              <a:lnSpc>
                <a:spcPct val="105000"/>
              </a:lnSpc>
              <a:buNone/>
            </a:pPr>
            <a:r>
              <a:rPr lang="en-US" sz="1250" b="1" dirty="0">
                <a:solidFill>
                  <a:srgbClr val="16A34A"/>
                </a:solidFill>
                <a:latin typeface="Calibri" pitchFamily="34" charset="0"/>
                <a:ea typeface="Calibri" pitchFamily="34" charset="-122"/>
                <a:cs typeface="Calibri" pitchFamily="34" charset="-120"/>
              </a:rPr>
              <a:t>86% even in the worst case.</a:t>
            </a:r>
            <a:endParaRPr lang="en-US" sz="1250" dirty="0"/>
          </a:p>
        </p:txBody>
      </p:sp>
      <p:sp>
        <p:nvSpPr>
          <p:cNvPr id="10" name="Text 7"/>
          <p:cNvSpPr/>
          <p:nvPr/>
        </p:nvSpPr>
        <p:spPr>
          <a:xfrm>
            <a:off x="548640" y="5806440"/>
            <a:ext cx="11064240" cy="45720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Model pricing per 1M tokens: Sonnet 5 $3 in / $15 out, Opus 5 $5 / $25, Haiku 4.5 $1 / $5. Web search ≈ $0.01 per lookup. Sonnet's introductory $2 / $10 rate (through 31 Aug) is a near-term tailwind.</a:t>
            </a:r>
            <a:endParaRPr lang="en-US" sz="1000" dirty="0"/>
          </a:p>
        </p:txBody>
      </p:sp>
      <p:sp>
        <p:nvSpPr>
          <p:cNvPr id="11" name="Text 8"/>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2" name="Text 9"/>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UNIT ECONOMICS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Gross margin per subscription</a:t>
            </a:r>
            <a:endParaRPr lang="en-US" sz="3400" dirty="0"/>
          </a:p>
        </p:txBody>
      </p:sp>
      <p:sp>
        <p:nvSpPr>
          <p:cNvPr id="4" name="Shape 2"/>
          <p:cNvSpPr/>
          <p:nvPr/>
        </p:nvSpPr>
        <p:spPr>
          <a:xfrm>
            <a:off x="548640" y="1481328"/>
            <a:ext cx="11091672" cy="566928"/>
          </a:xfrm>
          <a:prstGeom prst="roundRect">
            <a:avLst>
              <a:gd name="adj" fmla="val 12903"/>
            </a:avLst>
          </a:prstGeom>
          <a:solidFill>
            <a:srgbClr val="DCFCE7"/>
          </a:solidFill>
          <a:ln w="12700">
            <a:solidFill>
              <a:srgbClr val="BBE6C6"/>
            </a:solidFill>
            <a:prstDash val="solid"/>
          </a:ln>
        </p:spPr>
      </p:sp>
      <p:sp>
        <p:nvSpPr>
          <p:cNvPr id="5" name="Text 3"/>
          <p:cNvSpPr/>
          <p:nvPr/>
        </p:nvSpPr>
        <p:spPr>
          <a:xfrm>
            <a:off x="777240" y="1481328"/>
            <a:ext cx="10698480" cy="566928"/>
          </a:xfrm>
          <a:prstGeom prst="rect">
            <a:avLst/>
          </a:prstGeom>
          <a:noFill/>
          <a:ln/>
        </p:spPr>
        <p:txBody>
          <a:bodyPr wrap="square" lIns="0" tIns="0" rIns="0" bIns="0" rtlCol="0" anchor="ctr"/>
          <a:lstStyle/>
          <a:p>
            <a:pPr algn="l" indent="0" marL="0">
              <a:buNone/>
            </a:pPr>
            <a:r>
              <a:rPr lang="en-US" sz="1200" b="1" dirty="0">
                <a:solidFill>
                  <a:srgbClr val="166534"/>
                </a:solidFill>
                <a:latin typeface="Calibri" pitchFamily="34" charset="0"/>
                <a:ea typeface="Calibri" pitchFamily="34" charset="-122"/>
                <a:cs typeface="Calibri" pitchFamily="34" charset="-120"/>
              </a:rPr>
              <a:t>Basis:  </a:t>
            </a:r>
            <a:pPr algn="l" indent="0" marL="0">
              <a:buNone/>
            </a:pPr>
            <a:r>
              <a:rPr lang="en-US" sz="1200" dirty="0">
                <a:solidFill>
                  <a:srgbClr val="1E6B3A"/>
                </a:solidFill>
                <a:latin typeface="Calibri" pitchFamily="34" charset="0"/>
                <a:ea typeface="Calibri" pitchFamily="34" charset="-122"/>
                <a:cs typeface="Calibri" pitchFamily="34" charset="-120"/>
              </a:rPr>
              <a:t>AI cost from slide 8, at 100% of the monthly allowance consumed (worst case for margin; most accounts use far less). Excludes ~3% card fees and fixed infrastructure.</a:t>
            </a:r>
            <a:endParaRPr lang="en-US" sz="1200" dirty="0"/>
          </a:p>
        </p:txBody>
      </p:sp>
      <p:graphicFrame>
        <p:nvGraphicFramePr>
          <p:cNvPr id="6" name="Chart 0" descr=""/>
          <p:cNvGraphicFramePr/>
          <p:nvPr/>
        </p:nvGraphicFramePr>
        <p:xfrm>
          <a:off x="548640" y="2331720"/>
          <a:ext cx="6858000" cy="3840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2468880"/>
            <a:ext cx="386791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8" name="Text 5"/>
          <p:cNvSpPr/>
          <p:nvPr/>
        </p:nvSpPr>
        <p:spPr>
          <a:xfrm>
            <a:off x="8001000" y="2596896"/>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Launch</a:t>
            </a:r>
            <a:endParaRPr lang="en-US" sz="1400" dirty="0"/>
          </a:p>
        </p:txBody>
      </p:sp>
      <p:sp>
        <p:nvSpPr>
          <p:cNvPr id="9" name="Text 6"/>
          <p:cNvSpPr/>
          <p:nvPr/>
        </p:nvSpPr>
        <p:spPr>
          <a:xfrm>
            <a:off x="8001000" y="2999232"/>
            <a:ext cx="2377440" cy="457200"/>
          </a:xfrm>
          <a:prstGeom prst="rect">
            <a:avLst/>
          </a:prstGeom>
          <a:noFill/>
          <a:ln/>
        </p:spPr>
        <p:txBody>
          <a:bodyPr wrap="square" lIns="0" tIns="0" rIns="0" bIns="0" rtlCol="0" anchor="ctr"/>
          <a:lstStyle/>
          <a:p>
            <a:pPr algn="l" indent="0" marL="0">
              <a:buNone/>
            </a:pPr>
            <a:r>
              <a:rPr lang="en-US" sz="1050" dirty="0">
                <a:solidFill>
                  <a:srgbClr val="4A5568"/>
                </a:solidFill>
                <a:latin typeface="Calibri" pitchFamily="34" charset="0"/>
                <a:ea typeface="Calibri" pitchFamily="34" charset="-122"/>
                <a:cs typeface="Calibri" pitchFamily="34" charset="-120"/>
              </a:rPr>
              <a:t>Gross margin, typical AI cost</a:t>
            </a:r>
            <a:endParaRPr lang="en-US" sz="1050" dirty="0"/>
          </a:p>
        </p:txBody>
      </p:sp>
      <p:sp>
        <p:nvSpPr>
          <p:cNvPr id="10" name="Text 7"/>
          <p:cNvSpPr/>
          <p:nvPr/>
        </p:nvSpPr>
        <p:spPr>
          <a:xfrm>
            <a:off x="10222992" y="2688336"/>
            <a:ext cx="123444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90%</a:t>
            </a:r>
            <a:endParaRPr lang="en-US" sz="3000" dirty="0"/>
          </a:p>
        </p:txBody>
      </p:sp>
      <p:sp>
        <p:nvSpPr>
          <p:cNvPr id="11" name="Shape 8"/>
          <p:cNvSpPr/>
          <p:nvPr/>
        </p:nvSpPr>
        <p:spPr>
          <a:xfrm>
            <a:off x="7772400" y="3639312"/>
            <a:ext cx="386791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2" name="Text 9"/>
          <p:cNvSpPr/>
          <p:nvPr/>
        </p:nvSpPr>
        <p:spPr>
          <a:xfrm>
            <a:off x="8001000" y="3767328"/>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Scale</a:t>
            </a:r>
            <a:endParaRPr lang="en-US" sz="1400" dirty="0"/>
          </a:p>
        </p:txBody>
      </p:sp>
      <p:sp>
        <p:nvSpPr>
          <p:cNvPr id="13" name="Text 10"/>
          <p:cNvSpPr/>
          <p:nvPr/>
        </p:nvSpPr>
        <p:spPr>
          <a:xfrm>
            <a:off x="8001000" y="4169664"/>
            <a:ext cx="2377440" cy="457200"/>
          </a:xfrm>
          <a:prstGeom prst="rect">
            <a:avLst/>
          </a:prstGeom>
          <a:noFill/>
          <a:ln/>
        </p:spPr>
        <p:txBody>
          <a:bodyPr wrap="square" lIns="0" tIns="0" rIns="0" bIns="0" rtlCol="0" anchor="ctr"/>
          <a:lstStyle/>
          <a:p>
            <a:pPr algn="l" indent="0" marL="0">
              <a:buNone/>
            </a:pPr>
            <a:r>
              <a:rPr lang="en-US" sz="1050" dirty="0">
                <a:solidFill>
                  <a:srgbClr val="4A5568"/>
                </a:solidFill>
                <a:latin typeface="Calibri" pitchFamily="34" charset="0"/>
                <a:ea typeface="Calibri" pitchFamily="34" charset="-122"/>
                <a:cs typeface="Calibri" pitchFamily="34" charset="-120"/>
              </a:rPr>
              <a:t>Gross margin, typical AI cost</a:t>
            </a:r>
            <a:endParaRPr lang="en-US" sz="1050" dirty="0"/>
          </a:p>
        </p:txBody>
      </p:sp>
      <p:sp>
        <p:nvSpPr>
          <p:cNvPr id="14" name="Text 11"/>
          <p:cNvSpPr/>
          <p:nvPr/>
        </p:nvSpPr>
        <p:spPr>
          <a:xfrm>
            <a:off x="10222992" y="3858768"/>
            <a:ext cx="123444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86%</a:t>
            </a:r>
            <a:endParaRPr lang="en-US" sz="3000" dirty="0"/>
          </a:p>
        </p:txBody>
      </p:sp>
      <p:sp>
        <p:nvSpPr>
          <p:cNvPr id="15" name="Shape 12"/>
          <p:cNvSpPr/>
          <p:nvPr/>
        </p:nvSpPr>
        <p:spPr>
          <a:xfrm>
            <a:off x="7772400" y="4809744"/>
            <a:ext cx="3867912" cy="1051560"/>
          </a:xfrm>
          <a:prstGeom prst="roundRect">
            <a:avLst>
              <a:gd name="adj" fmla="val 10435"/>
            </a:avLst>
          </a:prstGeom>
          <a:solidFill>
            <a:srgbClr val="F5F7FE"/>
          </a:solidFill>
          <a:ln w="12700">
            <a:solidFill>
              <a:srgbClr val="D7DEFB"/>
            </a:solidFill>
            <a:prstDash val="solid"/>
          </a:ln>
          <a:effectLst>
            <a:outerShdw sx="100000" sy="100000" kx="0" ky="0" algn="bl" rotWithShape="0" blurRad="101600" dist="25400" dir="5400000">
              <a:srgbClr val="9AA0B5">
                <a:alpha val="18000"/>
              </a:srgbClr>
            </a:outerShdw>
          </a:effectLst>
        </p:spPr>
      </p:sp>
      <p:sp>
        <p:nvSpPr>
          <p:cNvPr id="16" name="Text 13"/>
          <p:cNvSpPr/>
          <p:nvPr/>
        </p:nvSpPr>
        <p:spPr>
          <a:xfrm>
            <a:off x="8001000" y="4937760"/>
            <a:ext cx="1828800" cy="320040"/>
          </a:xfrm>
          <a:prstGeom prst="rect">
            <a:avLst/>
          </a:prstGeom>
          <a:noFill/>
          <a:ln/>
        </p:spPr>
        <p:txBody>
          <a:bodyPr wrap="square" lIns="0" tIns="0" rIns="0" bIns="0" rtlCol="0" anchor="ctr"/>
          <a:lstStyle/>
          <a:p>
            <a:pPr algn="l" indent="0" marL="0">
              <a:buNone/>
            </a:pPr>
            <a:r>
              <a:rPr lang="en-US" sz="1400" b="1" dirty="0">
                <a:solidFill>
                  <a:srgbClr val="12132A"/>
                </a:solidFill>
                <a:latin typeface="Calibri" pitchFamily="34" charset="0"/>
                <a:ea typeface="Calibri" pitchFamily="34" charset="-122"/>
                <a:cs typeface="Calibri" pitchFamily="34" charset="-120"/>
              </a:rPr>
              <a:t>Elite</a:t>
            </a:r>
            <a:endParaRPr lang="en-US" sz="1400" dirty="0"/>
          </a:p>
        </p:txBody>
      </p:sp>
      <p:sp>
        <p:nvSpPr>
          <p:cNvPr id="17" name="Text 14"/>
          <p:cNvSpPr/>
          <p:nvPr/>
        </p:nvSpPr>
        <p:spPr>
          <a:xfrm>
            <a:off x="8001000" y="5340096"/>
            <a:ext cx="2377440" cy="457200"/>
          </a:xfrm>
          <a:prstGeom prst="rect">
            <a:avLst/>
          </a:prstGeom>
          <a:noFill/>
          <a:ln/>
        </p:spPr>
        <p:txBody>
          <a:bodyPr wrap="square" lIns="0" tIns="0" rIns="0" bIns="0" rtlCol="0" anchor="ctr"/>
          <a:lstStyle/>
          <a:p>
            <a:pPr algn="l" indent="0" marL="0">
              <a:buNone/>
            </a:pPr>
            <a:r>
              <a:rPr lang="en-US" sz="1050" dirty="0">
                <a:solidFill>
                  <a:srgbClr val="4A5568"/>
                </a:solidFill>
                <a:latin typeface="Calibri" pitchFamily="34" charset="0"/>
                <a:ea typeface="Calibri" pitchFamily="34" charset="-122"/>
                <a:cs typeface="Calibri" pitchFamily="34" charset="-120"/>
              </a:rPr>
              <a:t>Gross margin, typical AI cost</a:t>
            </a:r>
            <a:endParaRPr lang="en-US" sz="1050" dirty="0"/>
          </a:p>
        </p:txBody>
      </p:sp>
      <p:sp>
        <p:nvSpPr>
          <p:cNvPr id="18" name="Text 15"/>
          <p:cNvSpPr/>
          <p:nvPr/>
        </p:nvSpPr>
        <p:spPr>
          <a:xfrm>
            <a:off x="10222992" y="5029200"/>
            <a:ext cx="1234440" cy="621792"/>
          </a:xfrm>
          <a:prstGeom prst="rect">
            <a:avLst/>
          </a:prstGeom>
          <a:noFill/>
          <a:ln/>
        </p:spPr>
        <p:txBody>
          <a:bodyPr wrap="square" lIns="0" tIns="0" rIns="0" bIns="0" rtlCol="0" anchor="ctr"/>
          <a:lstStyle/>
          <a:p>
            <a:pPr algn="r" indent="0" marL="0">
              <a:buNone/>
            </a:pPr>
            <a:r>
              <a:rPr lang="en-US" sz="3000" b="1" dirty="0">
                <a:solidFill>
                  <a:srgbClr val="16A34A"/>
                </a:solidFill>
                <a:latin typeface="Calibri" pitchFamily="34" charset="0"/>
                <a:ea typeface="Calibri" pitchFamily="34" charset="-122"/>
                <a:cs typeface="Calibri" pitchFamily="34" charset="-120"/>
              </a:rPr>
              <a:t>87%</a:t>
            </a:r>
            <a:endParaRPr lang="en-US" sz="3000" dirty="0"/>
          </a:p>
        </p:txBody>
      </p:sp>
      <p:sp>
        <p:nvSpPr>
          <p:cNvPr id="19" name="Text 16"/>
          <p:cNvSpPr/>
          <p:nvPr/>
        </p:nvSpPr>
        <p:spPr>
          <a:xfrm>
            <a:off x="548640" y="6309360"/>
            <a:ext cx="11064240" cy="320040"/>
          </a:xfrm>
          <a:prstGeom prst="rect">
            <a:avLst/>
          </a:prstGeom>
          <a:noFill/>
          <a:ln/>
        </p:spPr>
        <p:txBody>
          <a:bodyPr wrap="square" lIns="0" tIns="0" rIns="0" bIns="0" rtlCol="0" anchor="ctr"/>
          <a:lstStyle/>
          <a:p>
            <a:pPr algn="l" indent="0" marL="0">
              <a:buNone/>
            </a:pPr>
            <a:r>
              <a:rPr lang="en-US" sz="1100" b="1" dirty="0">
                <a:solidFill>
                  <a:srgbClr val="B45309"/>
                </a:solidFill>
                <a:latin typeface="Calibri" pitchFamily="34" charset="0"/>
                <a:ea typeface="Calibri" pitchFamily="34" charset="-122"/>
                <a:cs typeface="Calibri" pitchFamily="34" charset="-120"/>
              </a:rPr>
              <a:t>Worst-case floor  </a:t>
            </a:r>
            <a:pPr algn="l" indent="0" marL="0">
              <a:buNone/>
            </a:pPr>
            <a:r>
              <a:rPr lang="en-US" sz="1100" dirty="0">
                <a:solidFill>
                  <a:srgbClr val="4A5568"/>
                </a:solidFill>
                <a:latin typeface="Calibri" pitchFamily="34" charset="0"/>
                <a:ea typeface="Calibri" pitchFamily="34" charset="-122"/>
                <a:cs typeface="Calibri" pitchFamily="34" charset="-120"/>
              </a:rPr>
              <a:t>(max unit cost AND 100% usage): Launch 66% · Scale 53% · Elite 59%.</a:t>
            </a:r>
            <a:endParaRPr lang="en-US" sz="1100" dirty="0"/>
          </a:p>
        </p:txBody>
      </p:sp>
      <p:sp>
        <p:nvSpPr>
          <p:cNvPr id="20" name="Text 17"/>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1" name="Text 18"/>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WHERE MARGIN EXPANDS</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Credit top-ups carry the highest margin</a:t>
            </a:r>
            <a:endParaRPr lang="en-US" sz="3400" dirty="0"/>
          </a:p>
        </p:txBody>
      </p:sp>
      <p:sp>
        <p:nvSpPr>
          <p:cNvPr id="4" name="Text 2"/>
          <p:cNvSpPr/>
          <p:nvPr/>
        </p:nvSpPr>
        <p:spPr>
          <a:xfrm>
            <a:off x="548640" y="1554480"/>
            <a:ext cx="11064240" cy="640080"/>
          </a:xfrm>
          <a:prstGeom prst="rect">
            <a:avLst/>
          </a:prstGeom>
          <a:noFill/>
          <a:ln/>
        </p:spPr>
        <p:txBody>
          <a:bodyPr wrap="square" lIns="0" tIns="0" rIns="0" bIns="0" rtlCol="0" anchor="ctr"/>
          <a:lstStyle/>
          <a:p>
            <a:pPr algn="l" indent="0" marL="0">
              <a:buNone/>
            </a:pPr>
            <a:r>
              <a:rPr lang="en-US" sz="1400" dirty="0">
                <a:solidFill>
                  <a:srgbClr val="4A5568"/>
                </a:solidFill>
                <a:latin typeface="Calibri" pitchFamily="34" charset="0"/>
                <a:ea typeface="Calibri" pitchFamily="34" charset="-122"/>
                <a:cs typeface="Calibri" pitchFamily="34" charset="-120"/>
              </a:rPr>
              <a:t>Once an account exhausts its allowance, every extra action sells at the list rate against a few cents of AI cost. Growth accounts that buy top-ups lift blended margin above the subscription-only figures.</a:t>
            </a:r>
            <a:endParaRPr lang="en-US" sz="1400" dirty="0"/>
          </a:p>
        </p:txBody>
      </p:sp>
      <p:sp>
        <p:nvSpPr>
          <p:cNvPr id="5" name="Shape 3"/>
          <p:cNvSpPr/>
          <p:nvPr/>
        </p:nvSpPr>
        <p:spPr>
          <a:xfrm>
            <a:off x="86868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6" name="Text 4"/>
          <p:cNvSpPr/>
          <p:nvPr/>
        </p:nvSpPr>
        <p:spPr>
          <a:xfrm>
            <a:off x="112471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Screening</a:t>
            </a:r>
            <a:endParaRPr lang="en-US" sz="1550" dirty="0"/>
          </a:p>
        </p:txBody>
      </p:sp>
      <p:sp>
        <p:nvSpPr>
          <p:cNvPr id="7" name="Text 5"/>
          <p:cNvSpPr/>
          <p:nvPr/>
        </p:nvSpPr>
        <p:spPr>
          <a:xfrm>
            <a:off x="112471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96%</a:t>
            </a:r>
            <a:endParaRPr lang="en-US" sz="4600" dirty="0"/>
          </a:p>
        </p:txBody>
      </p:sp>
      <p:sp>
        <p:nvSpPr>
          <p:cNvPr id="8" name="Text 6"/>
          <p:cNvSpPr/>
          <p:nvPr/>
        </p:nvSpPr>
        <p:spPr>
          <a:xfrm>
            <a:off x="112471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9" name="Shape 7"/>
          <p:cNvSpPr/>
          <p:nvPr/>
        </p:nvSpPr>
        <p:spPr>
          <a:xfrm>
            <a:off x="1124712" y="4370832"/>
            <a:ext cx="2871216" cy="0"/>
          </a:xfrm>
          <a:prstGeom prst="line">
            <a:avLst/>
          </a:prstGeom>
          <a:noFill/>
          <a:ln w="12700">
            <a:solidFill>
              <a:srgbClr val="DEDEE3"/>
            </a:solidFill>
            <a:prstDash val="solid"/>
          </a:ln>
        </p:spPr>
      </p:sp>
      <p:sp>
        <p:nvSpPr>
          <p:cNvPr id="10" name="Text 8"/>
          <p:cNvSpPr/>
          <p:nvPr/>
        </p:nvSpPr>
        <p:spPr>
          <a:xfrm>
            <a:off x="112471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$1.00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$0.04</a:t>
            </a:r>
            <a:endParaRPr lang="en-US" sz="1300" dirty="0"/>
          </a:p>
        </p:txBody>
      </p:sp>
      <p:sp>
        <p:nvSpPr>
          <p:cNvPr id="11" name="Shape 9"/>
          <p:cNvSpPr/>
          <p:nvPr/>
        </p:nvSpPr>
        <p:spPr>
          <a:xfrm>
            <a:off x="457200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2" name="Text 10"/>
          <p:cNvSpPr/>
          <p:nvPr/>
        </p:nvSpPr>
        <p:spPr>
          <a:xfrm>
            <a:off x="482803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AI Rank / Insight / Q</a:t>
            </a:r>
            <a:endParaRPr lang="en-US" sz="1550" dirty="0"/>
          </a:p>
        </p:txBody>
      </p:sp>
      <p:sp>
        <p:nvSpPr>
          <p:cNvPr id="13" name="Text 11"/>
          <p:cNvSpPr/>
          <p:nvPr/>
        </p:nvSpPr>
        <p:spPr>
          <a:xfrm>
            <a:off x="482803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88%</a:t>
            </a:r>
            <a:endParaRPr lang="en-US" sz="4600" dirty="0"/>
          </a:p>
        </p:txBody>
      </p:sp>
      <p:sp>
        <p:nvSpPr>
          <p:cNvPr id="14" name="Text 12"/>
          <p:cNvSpPr/>
          <p:nvPr/>
        </p:nvSpPr>
        <p:spPr>
          <a:xfrm>
            <a:off x="482803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15" name="Shape 13"/>
          <p:cNvSpPr/>
          <p:nvPr/>
        </p:nvSpPr>
        <p:spPr>
          <a:xfrm>
            <a:off x="4828032" y="4370832"/>
            <a:ext cx="2871216" cy="0"/>
          </a:xfrm>
          <a:prstGeom prst="line">
            <a:avLst/>
          </a:prstGeom>
          <a:noFill/>
          <a:ln w="12700">
            <a:solidFill>
              <a:srgbClr val="DEDEE3"/>
            </a:solidFill>
            <a:prstDash val="solid"/>
          </a:ln>
        </p:spPr>
      </p:sp>
      <p:sp>
        <p:nvSpPr>
          <p:cNvPr id="16" name="Text 14"/>
          <p:cNvSpPr/>
          <p:nvPr/>
        </p:nvSpPr>
        <p:spPr>
          <a:xfrm>
            <a:off x="482803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$0.40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$0.05</a:t>
            </a:r>
            <a:endParaRPr lang="en-US" sz="1300" dirty="0"/>
          </a:p>
        </p:txBody>
      </p:sp>
      <p:sp>
        <p:nvSpPr>
          <p:cNvPr id="17" name="Shape 15"/>
          <p:cNvSpPr/>
          <p:nvPr/>
        </p:nvSpPr>
        <p:spPr>
          <a:xfrm>
            <a:off x="8275320" y="2468880"/>
            <a:ext cx="3383280" cy="2788920"/>
          </a:xfrm>
          <a:prstGeom prst="roundRect">
            <a:avLst>
              <a:gd name="adj" fmla="val 3934"/>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8" name="Text 16"/>
          <p:cNvSpPr/>
          <p:nvPr/>
        </p:nvSpPr>
        <p:spPr>
          <a:xfrm>
            <a:off x="8531352" y="2697480"/>
            <a:ext cx="2926080" cy="457200"/>
          </a:xfrm>
          <a:prstGeom prst="rect">
            <a:avLst/>
          </a:prstGeom>
          <a:noFill/>
          <a:ln/>
        </p:spPr>
        <p:txBody>
          <a:bodyPr wrap="square" lIns="0" tIns="0" rIns="0" bIns="0" rtlCol="0" anchor="ctr"/>
          <a:lstStyle/>
          <a:p>
            <a:pPr algn="l" indent="0" marL="0">
              <a:buNone/>
            </a:pPr>
            <a:r>
              <a:rPr lang="en-US" sz="1550" b="1" dirty="0">
                <a:solidFill>
                  <a:srgbClr val="12132A"/>
                </a:solidFill>
                <a:latin typeface="Calibri" pitchFamily="34" charset="0"/>
                <a:ea typeface="Calibri" pitchFamily="34" charset="-122"/>
                <a:cs typeface="Calibri" pitchFamily="34" charset="-120"/>
              </a:rPr>
              <a:t>Job draft (Opus)</a:t>
            </a:r>
            <a:endParaRPr lang="en-US" sz="1550" dirty="0"/>
          </a:p>
        </p:txBody>
      </p:sp>
      <p:sp>
        <p:nvSpPr>
          <p:cNvPr id="19" name="Text 17"/>
          <p:cNvSpPr/>
          <p:nvPr/>
        </p:nvSpPr>
        <p:spPr>
          <a:xfrm>
            <a:off x="8531352" y="3200400"/>
            <a:ext cx="2871216" cy="777240"/>
          </a:xfrm>
          <a:prstGeom prst="rect">
            <a:avLst/>
          </a:prstGeom>
          <a:noFill/>
          <a:ln/>
        </p:spPr>
        <p:txBody>
          <a:bodyPr wrap="square" lIns="0" tIns="0" rIns="0" bIns="0" rtlCol="0" anchor="ctr"/>
          <a:lstStyle/>
          <a:p>
            <a:pPr algn="l" indent="0" marL="0">
              <a:buNone/>
            </a:pPr>
            <a:r>
              <a:rPr lang="en-US" sz="4600" b="1" dirty="0">
                <a:solidFill>
                  <a:srgbClr val="16A34A"/>
                </a:solidFill>
                <a:latin typeface="Calibri" pitchFamily="34" charset="0"/>
                <a:ea typeface="Calibri" pitchFamily="34" charset="-122"/>
                <a:cs typeface="Calibri" pitchFamily="34" charset="-120"/>
              </a:rPr>
              <a:t>86%</a:t>
            </a:r>
            <a:endParaRPr lang="en-US" sz="4600" dirty="0"/>
          </a:p>
        </p:txBody>
      </p:sp>
      <p:sp>
        <p:nvSpPr>
          <p:cNvPr id="20" name="Text 18"/>
          <p:cNvSpPr/>
          <p:nvPr/>
        </p:nvSpPr>
        <p:spPr>
          <a:xfrm>
            <a:off x="8531352" y="4005072"/>
            <a:ext cx="2871216" cy="274320"/>
          </a:xfrm>
          <a:prstGeom prst="rect">
            <a:avLst/>
          </a:prstGeom>
          <a:noFill/>
          <a:ln/>
        </p:spPr>
        <p:txBody>
          <a:bodyPr wrap="square" lIns="0" tIns="0" rIns="0" bIns="0" rtlCol="0" anchor="ctr"/>
          <a:lstStyle/>
          <a:p>
            <a:pPr algn="l" indent="0" marL="0">
              <a:buNone/>
            </a:pPr>
            <a:r>
              <a:rPr lang="en-US" sz="1100" dirty="0">
                <a:solidFill>
                  <a:srgbClr val="6B7280"/>
                </a:solidFill>
                <a:latin typeface="Calibri" pitchFamily="34" charset="0"/>
                <a:ea typeface="Calibri" pitchFamily="34" charset="-122"/>
                <a:cs typeface="Calibri" pitchFamily="34" charset="-120"/>
              </a:rPr>
              <a:t>gross margin at list</a:t>
            </a:r>
            <a:endParaRPr lang="en-US" sz="1100" dirty="0"/>
          </a:p>
        </p:txBody>
      </p:sp>
      <p:sp>
        <p:nvSpPr>
          <p:cNvPr id="21" name="Shape 19"/>
          <p:cNvSpPr/>
          <p:nvPr/>
        </p:nvSpPr>
        <p:spPr>
          <a:xfrm>
            <a:off x="8531352" y="4370832"/>
            <a:ext cx="2871216" cy="0"/>
          </a:xfrm>
          <a:prstGeom prst="line">
            <a:avLst/>
          </a:prstGeom>
          <a:noFill/>
          <a:ln w="12700">
            <a:solidFill>
              <a:srgbClr val="DEDEE3"/>
            </a:solidFill>
            <a:prstDash val="solid"/>
          </a:ln>
        </p:spPr>
      </p:sp>
      <p:sp>
        <p:nvSpPr>
          <p:cNvPr id="22" name="Text 20"/>
          <p:cNvSpPr/>
          <p:nvPr/>
        </p:nvSpPr>
        <p:spPr>
          <a:xfrm>
            <a:off x="8531352" y="4480560"/>
            <a:ext cx="2926080" cy="457200"/>
          </a:xfrm>
          <a:prstGeom prst="rect">
            <a:avLst/>
          </a:prstGeom>
          <a:noFill/>
          <a:ln/>
        </p:spPr>
        <p:txBody>
          <a:bodyPr wrap="square" lIns="0" tIns="0" rIns="0" bIns="0" rtlCol="0" anchor="ctr"/>
          <a:lstStyle/>
          <a:p>
            <a:pPr algn="l" indent="0" marL="0">
              <a:buNone/>
            </a:pPr>
            <a:r>
              <a:rPr lang="en-US" sz="1300" dirty="0">
                <a:solidFill>
                  <a:srgbClr val="4A5568"/>
                </a:solidFill>
                <a:latin typeface="Calibri" pitchFamily="34" charset="0"/>
                <a:ea typeface="Calibri" pitchFamily="34" charset="-122"/>
                <a:cs typeface="Calibri" pitchFamily="34" charset="-120"/>
              </a:rPr>
              <a:t>Price </a:t>
            </a:r>
            <a:pPr algn="l" indent="0" marL="0">
              <a:buNone/>
            </a:pPr>
            <a:r>
              <a:rPr lang="en-US" sz="1300" b="1" dirty="0">
                <a:solidFill>
                  <a:srgbClr val="12132A"/>
                </a:solidFill>
                <a:latin typeface="Calibri" pitchFamily="34" charset="0"/>
                <a:ea typeface="Calibri" pitchFamily="34" charset="-122"/>
                <a:cs typeface="Calibri" pitchFamily="34" charset="-120"/>
              </a:rPr>
              <a:t>$0.50   </a:t>
            </a:r>
            <a:pPr algn="l" indent="0" marL="0">
              <a:buNone/>
            </a:pPr>
            <a:r>
              <a:rPr lang="en-US" sz="1300" dirty="0">
                <a:solidFill>
                  <a:srgbClr val="4A5568"/>
                </a:solidFill>
                <a:latin typeface="Calibri" pitchFamily="34" charset="0"/>
                <a:ea typeface="Calibri" pitchFamily="34" charset="-122"/>
                <a:cs typeface="Calibri" pitchFamily="34" charset="-120"/>
              </a:rPr>
              <a:t>Cost </a:t>
            </a:r>
            <a:pPr algn="l" indent="0" marL="0">
              <a:buNone/>
            </a:pPr>
            <a:r>
              <a:rPr lang="en-US" sz="1300" b="1" dirty="0">
                <a:solidFill>
                  <a:srgbClr val="12132A"/>
                </a:solidFill>
                <a:latin typeface="Calibri" pitchFamily="34" charset="0"/>
                <a:ea typeface="Calibri" pitchFamily="34" charset="-122"/>
                <a:cs typeface="Calibri" pitchFamily="34" charset="-120"/>
              </a:rPr>
              <a:t>$0.07</a:t>
            </a:r>
            <a:endParaRPr lang="en-US" sz="1300" dirty="0"/>
          </a:p>
        </p:txBody>
      </p:sp>
      <p:sp>
        <p:nvSpPr>
          <p:cNvPr id="23" name="Text 21"/>
          <p:cNvSpPr/>
          <p:nvPr/>
        </p:nvSpPr>
        <p:spPr>
          <a:xfrm>
            <a:off x="548640" y="5577840"/>
            <a:ext cx="10972800" cy="274320"/>
          </a:xfrm>
          <a:prstGeom prst="rect">
            <a:avLst/>
          </a:prstGeom>
          <a:noFill/>
          <a:ln/>
        </p:spPr>
        <p:txBody>
          <a:bodyPr wrap="square" lIns="0" tIns="0" rIns="0" bIns="0" rtlCol="0" anchor="ctr"/>
          <a:lstStyle/>
          <a:p>
            <a:pPr algn="l" indent="0" marL="0">
              <a:buNone/>
            </a:pPr>
            <a:r>
              <a:rPr lang="en-US" sz="1100" i="1" dirty="0">
                <a:solidFill>
                  <a:srgbClr val="6B7280"/>
                </a:solidFill>
                <a:latin typeface="Calibri" pitchFamily="34" charset="0"/>
                <a:ea typeface="Calibri" pitchFamily="34" charset="-122"/>
                <a:cs typeface="Calibri" pitchFamily="34" charset="-120"/>
              </a:rPr>
              <a:t>At list price and typical cost. Even at maximum unit cost and the 20% Elite discount, every credit stays above 65% margin.</a:t>
            </a:r>
            <a:endParaRPr lang="en-US" sz="1100" dirty="0"/>
          </a:p>
        </p:txBody>
      </p:sp>
      <p:sp>
        <p:nvSpPr>
          <p:cNvPr id="24" name="Text 2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25" name="Text 2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REVENUE MODEL</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Three account-mix scenarios</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7680960" cy="914400"/>
        </p:xfrm>
        <a:graphic>
          <a:graphicData uri="http://schemas.openxmlformats.org/drawingml/2006/table">
            <a:tbl>
              <a:tblPr/>
              <a:tblGrid>
                <a:gridCol w="2743200"/>
                <a:gridCol w="1645920"/>
                <a:gridCol w="1645920"/>
                <a:gridCol w="1645920"/>
              </a:tblGrid>
              <a:tr h="411480">
                <a:tc>
                  <a:txBody>
                    <a:bodyPr/>
                    <a:lstStyle/>
                    <a:p>
                      <a:pPr algn="l" indent="0" marL="0">
                        <a:buNone/>
                      </a:pP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Conservative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Base</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B2AE0"/>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Growth</a:t>
                      </a:r>
                      <a:endParaRPr lang="en-US" sz="13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0A1FC2"/>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Launch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Scale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70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Elite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365760">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Enterprise accounts</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Subscription MRR</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$16,900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$41,285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c>
                  <a:txBody>
                    <a:bodyPr/>
                    <a:lstStyle/>
                    <a:p>
                      <a:pPr algn="ctr" indent="0" marL="0">
                        <a:buNone/>
                      </a:pPr>
                      <a:r>
                        <a:rPr lang="en-US" sz="1250" b="1" dirty="0">
                          <a:solidFill>
                            <a:srgbClr val="4A5568"/>
                          </a:solidFill>
                          <a:latin typeface="Calibri" pitchFamily="34" charset="0"/>
                          <a:ea typeface="Calibri" pitchFamily="34" charset="-122"/>
                          <a:cs typeface="Calibri" pitchFamily="34" charset="-120"/>
                        </a:rPr>
                        <a:t>$94,540</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5F7FE"/>
                    </a:solidFill>
                  </a:tcPr>
                </a:tc>
              </a:tr>
              <a:tr h="438912">
                <a:tc>
                  <a:txBody>
                    <a:bodyPr/>
                    <a:lstStyle/>
                    <a:p>
                      <a:pPr algn="l" indent="0" marL="0">
                        <a:buNone/>
                      </a:pPr>
                      <a:r>
                        <a:rPr lang="en-US" sz="1250" b="1" dirty="0">
                          <a:solidFill>
                            <a:srgbClr val="12132A"/>
                          </a:solidFill>
                          <a:latin typeface="Calibri" pitchFamily="34" charset="0"/>
                          <a:ea typeface="Calibri" pitchFamily="34" charset="-122"/>
                          <a:cs typeface="Calibri" pitchFamily="34" charset="-120"/>
                        </a:rPr>
                        <a:t>+ Top-up uplift (≈15%)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$2,535</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$6,193</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4A5568"/>
                          </a:solidFill>
                          <a:latin typeface="Calibri" pitchFamily="34" charset="0"/>
                          <a:ea typeface="Calibri" pitchFamily="34" charset="-122"/>
                          <a:cs typeface="Calibri" pitchFamily="34" charset="-120"/>
                        </a:rPr>
                        <a:t>$14,181</a:t>
                      </a:r>
                      <a:endParaRPr lang="en-US" sz="125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Total MRR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$19,435</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$47,478</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$108,721</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r h="502920">
                <a:tc>
                  <a:txBody>
                    <a:bodyPr/>
                    <a:lstStyle/>
                    <a:p>
                      <a:pPr algn="l" indent="0" marL="0">
                        <a:buNone/>
                      </a:pPr>
                      <a:r>
                        <a:rPr lang="en-US" sz="1400" b="1" dirty="0">
                          <a:solidFill>
                            <a:srgbClr val="12132A"/>
                          </a:solidFill>
                          <a:latin typeface="Calibri" pitchFamily="34" charset="0"/>
                          <a:ea typeface="Calibri" pitchFamily="34" charset="-122"/>
                          <a:cs typeface="Calibri" pitchFamily="34" charset="-120"/>
                        </a:rPr>
                        <a:t>Annual run-rate (ARR)</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$233K</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$570K</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c>
                  <a:txBody>
                    <a:bodyPr/>
                    <a:lstStyle/>
                    <a:p>
                      <a:pPr algn="ctr" indent="0" marL="0">
                        <a:buNone/>
                      </a:pPr>
                      <a:r>
                        <a:rPr lang="en-US" sz="1400" b="1" dirty="0">
                          <a:solidFill>
                            <a:srgbClr val="16A34A"/>
                          </a:solidFill>
                          <a:latin typeface="Calibri" pitchFamily="34" charset="0"/>
                          <a:ea typeface="Calibri" pitchFamily="34" charset="-122"/>
                          <a:cs typeface="Calibri" pitchFamily="34" charset="-120"/>
                        </a:rPr>
                        <a:t>$1.30M</a:t>
                      </a:r>
                      <a:endParaRPr lang="en-US" sz="1400" dirty="0">
                        <a:latin typeface="Calibri" charset="0"/>
                        <a:ea typeface="Calibri" charset="0"/>
                        <a:cs typeface="Calibri" charset="0"/>
                      </a:endParaRPr>
                    </a:p>
                  </a:txBody>
                  <a:tcPr marL="76200" marR="76200" marT="25400" marB="25400" anchor="ctr">
                    <a:lnL w="6350" cap="flat" cmpd="sng" algn="ctr">
                      <a:solidFill>
                        <a:srgbClr val="E6E8F0"/>
                      </a:solidFill>
                      <a:prstDash val="solid"/>
                      <a:round/>
                      <a:headEnd type="none" w="med" len="med"/>
                      <a:tailEnd type="none" w="med" len="med"/>
                    </a:lnL>
                    <a:lnR w="6350" cap="flat" cmpd="sng" algn="ctr">
                      <a:solidFill>
                        <a:srgbClr val="E6E8F0"/>
                      </a:solidFill>
                      <a:prstDash val="solid"/>
                      <a:round/>
                      <a:headEnd type="none" w="med" len="med"/>
                      <a:tailEnd type="none" w="med" len="med"/>
                    </a:lnR>
                    <a:lnT w="6350" cap="flat" cmpd="sng" algn="ctr">
                      <a:solidFill>
                        <a:srgbClr val="E6E8F0"/>
                      </a:solidFill>
                      <a:prstDash val="solid"/>
                      <a:round/>
                      <a:headEnd type="none" w="med" len="med"/>
                      <a:tailEnd type="none" w="med" len="med"/>
                    </a:lnT>
                    <a:lnB w="6350" cap="flat" cmpd="sng" algn="ctr">
                      <a:solidFill>
                        <a:srgbClr val="E6E8F0"/>
                      </a:solidFill>
                      <a:prstDash val="solid"/>
                      <a:round/>
                      <a:headEnd type="none" w="med" len="med"/>
                      <a:tailEnd type="none" w="med" len="med"/>
                    </a:lnB>
                    <a:solidFill>
                      <a:srgbClr val="EFFBF1"/>
                    </a:solidFill>
                  </a:tcPr>
                </a:tc>
              </a:tr>
            </a:tbl>
          </a:graphicData>
        </a:graphic>
      </p:graphicFrame>
      <p:sp>
        <p:nvSpPr>
          <p:cNvPr id="5" name="Shape 2"/>
          <p:cNvSpPr/>
          <p:nvPr/>
        </p:nvSpPr>
        <p:spPr>
          <a:xfrm>
            <a:off x="8503920" y="1600200"/>
            <a:ext cx="3136392" cy="4343400"/>
          </a:xfrm>
          <a:prstGeom prst="roundRect">
            <a:avLst>
              <a:gd name="adj" fmla="val 3499"/>
            </a:avLst>
          </a:prstGeom>
          <a:solidFill>
            <a:srgbClr val="0B2AE0"/>
          </a:solidFill>
          <a:ln w="12700">
            <a:solidFill>
              <a:srgbClr val="0B2AE0"/>
            </a:solidFill>
            <a:prstDash val="solid"/>
          </a:ln>
          <a:effectLst>
            <a:outerShdw sx="100000" sy="100000" kx="0" ky="0" algn="bl" rotWithShape="0" blurRad="101600" dist="25400" dir="5400000">
              <a:srgbClr val="9AA0B5">
                <a:alpha val="18000"/>
              </a:srgbClr>
            </a:outerShdw>
          </a:effectLst>
        </p:spPr>
      </p:sp>
      <p:sp>
        <p:nvSpPr>
          <p:cNvPr id="6" name="Text 3"/>
          <p:cNvSpPr/>
          <p:nvPr/>
        </p:nvSpPr>
        <p:spPr>
          <a:xfrm>
            <a:off x="8732520" y="1828800"/>
            <a:ext cx="2743200" cy="274320"/>
          </a:xfrm>
          <a:prstGeom prst="rect">
            <a:avLst/>
          </a:prstGeom>
          <a:noFill/>
          <a:ln/>
        </p:spPr>
        <p:txBody>
          <a:bodyPr wrap="square" lIns="0" tIns="0" rIns="0" bIns="0" rtlCol="0" anchor="ctr"/>
          <a:lstStyle/>
          <a:p>
            <a:pPr algn="l" indent="0" marL="0">
              <a:buNone/>
            </a:pPr>
            <a:r>
              <a:rPr lang="en-US" sz="1100" b="1" spc="200" kern="0" dirty="0">
                <a:solidFill>
                  <a:srgbClr val="CADCFC"/>
                </a:solidFill>
                <a:latin typeface="Calibri" pitchFamily="34" charset="0"/>
                <a:ea typeface="Calibri" pitchFamily="34" charset="-122"/>
                <a:cs typeface="Calibri" pitchFamily="34" charset="-120"/>
              </a:rPr>
              <a:t>BASE CASE</a:t>
            </a:r>
            <a:endParaRPr lang="en-US" sz="1100" dirty="0"/>
          </a:p>
        </p:txBody>
      </p:sp>
      <p:sp>
        <p:nvSpPr>
          <p:cNvPr id="7" name="Text 4"/>
          <p:cNvSpPr/>
          <p:nvPr/>
        </p:nvSpPr>
        <p:spPr>
          <a:xfrm>
            <a:off x="8732520" y="2148840"/>
            <a:ext cx="2743200" cy="731520"/>
          </a:xfrm>
          <a:prstGeom prst="rect">
            <a:avLst/>
          </a:prstGeom>
          <a:noFill/>
          <a:ln/>
        </p:spPr>
        <p:txBody>
          <a:bodyPr wrap="square" lIns="0" tIns="0" rIns="0" bIns="0" rtlCol="0" anchor="ctr"/>
          <a:lstStyle/>
          <a:p>
            <a:pPr algn="l" indent="0" marL="0">
              <a:buNone/>
            </a:pPr>
            <a:r>
              <a:rPr lang="en-US" sz="4400" b="1" dirty="0">
                <a:solidFill>
                  <a:srgbClr val="FFFFFF"/>
                </a:solidFill>
                <a:latin typeface="Calibri" pitchFamily="34" charset="0"/>
                <a:ea typeface="Calibri" pitchFamily="34" charset="-122"/>
                <a:cs typeface="Calibri" pitchFamily="34" charset="-120"/>
              </a:rPr>
              <a:t>$570K</a:t>
            </a:r>
            <a:endParaRPr lang="en-US" sz="4400" dirty="0"/>
          </a:p>
        </p:txBody>
      </p:sp>
      <p:sp>
        <p:nvSpPr>
          <p:cNvPr id="8" name="Text 5"/>
          <p:cNvSpPr/>
          <p:nvPr/>
        </p:nvSpPr>
        <p:spPr>
          <a:xfrm>
            <a:off x="8732520" y="2880360"/>
            <a:ext cx="2743200" cy="274320"/>
          </a:xfrm>
          <a:prstGeom prst="rect">
            <a:avLst/>
          </a:prstGeom>
          <a:noFill/>
          <a:ln/>
        </p:spPr>
        <p:txBody>
          <a:bodyPr wrap="square" lIns="0" tIns="0" rIns="0" bIns="0" rtlCol="0" anchor="ctr"/>
          <a:lstStyle/>
          <a:p>
            <a:pPr algn="l" indent="0" marL="0">
              <a:buNone/>
            </a:pPr>
            <a:r>
              <a:rPr lang="en-US" sz="1300" dirty="0">
                <a:solidFill>
                  <a:srgbClr val="CADCFC"/>
                </a:solidFill>
                <a:latin typeface="Calibri" pitchFamily="34" charset="0"/>
                <a:ea typeface="Calibri" pitchFamily="34" charset="-122"/>
                <a:cs typeface="Calibri" pitchFamily="34" charset="-120"/>
              </a:rPr>
              <a:t>projected ARR</a:t>
            </a:r>
            <a:endParaRPr lang="en-US" sz="1300" dirty="0"/>
          </a:p>
        </p:txBody>
      </p:sp>
      <p:sp>
        <p:nvSpPr>
          <p:cNvPr id="9" name="Shape 6"/>
          <p:cNvSpPr/>
          <p:nvPr/>
        </p:nvSpPr>
        <p:spPr>
          <a:xfrm>
            <a:off x="8732520" y="3383280"/>
            <a:ext cx="2651760" cy="0"/>
          </a:xfrm>
          <a:prstGeom prst="line">
            <a:avLst/>
          </a:prstGeom>
          <a:noFill/>
          <a:ln w="12700">
            <a:solidFill>
              <a:srgbClr val="3550EE"/>
            </a:solidFill>
            <a:prstDash val="solid"/>
          </a:ln>
        </p:spPr>
      </p:sp>
      <p:sp>
        <p:nvSpPr>
          <p:cNvPr id="10" name="Text 7"/>
          <p:cNvSpPr/>
          <p:nvPr/>
        </p:nvSpPr>
        <p:spPr>
          <a:xfrm>
            <a:off x="8732520" y="356616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221 </a:t>
            </a:r>
            <a:pPr algn="l" indent="0" marL="0">
              <a:buNone/>
            </a:pPr>
            <a:r>
              <a:rPr lang="en-US" sz="1300" dirty="0">
                <a:solidFill>
                  <a:srgbClr val="CADCFC"/>
                </a:solidFill>
                <a:latin typeface="Calibri" pitchFamily="34" charset="0"/>
                <a:ea typeface="Calibri" pitchFamily="34" charset="-122"/>
                <a:cs typeface="Calibri" pitchFamily="34" charset="-120"/>
              </a:rPr>
              <a:t>paying accounts</a:t>
            </a:r>
            <a:endParaRPr lang="en-US" sz="2000" dirty="0"/>
          </a:p>
        </p:txBody>
      </p:sp>
      <p:sp>
        <p:nvSpPr>
          <p:cNvPr id="11" name="Text 8"/>
          <p:cNvSpPr/>
          <p:nvPr/>
        </p:nvSpPr>
        <p:spPr>
          <a:xfrm>
            <a:off x="8732520" y="4069080"/>
            <a:ext cx="2743200" cy="4114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$215 </a:t>
            </a:r>
            <a:pPr algn="l" indent="0" marL="0">
              <a:buNone/>
            </a:pPr>
            <a:r>
              <a:rPr lang="en-US" sz="1300" dirty="0">
                <a:solidFill>
                  <a:srgbClr val="CADCFC"/>
                </a:solidFill>
                <a:latin typeface="Calibri" pitchFamily="34" charset="0"/>
                <a:ea typeface="Calibri" pitchFamily="34" charset="-122"/>
                <a:cs typeface="Calibri" pitchFamily="34" charset="-120"/>
              </a:rPr>
              <a:t>blended ARPA / mo</a:t>
            </a:r>
            <a:endParaRPr lang="en-US" sz="2000" dirty="0"/>
          </a:p>
        </p:txBody>
      </p:sp>
      <p:sp>
        <p:nvSpPr>
          <p:cNvPr id="12" name="Text 9"/>
          <p:cNvSpPr/>
          <p:nvPr/>
        </p:nvSpPr>
        <p:spPr>
          <a:xfrm>
            <a:off x="8732520" y="4572000"/>
            <a:ext cx="2743200" cy="6400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~86% </a:t>
            </a:r>
            <a:pPr algn="l" indent="0" marL="0">
              <a:buNone/>
            </a:pPr>
            <a:r>
              <a:rPr lang="en-US" sz="1300" dirty="0">
                <a:solidFill>
                  <a:srgbClr val="CADCFC"/>
                </a:solidFill>
                <a:latin typeface="Calibri" pitchFamily="34" charset="0"/>
                <a:ea typeface="Calibri" pitchFamily="34" charset="-122"/>
                <a:cs typeface="Calibri" pitchFamily="34" charset="-120"/>
              </a:rPr>
              <a:t>blended gross margin</a:t>
            </a:r>
            <a:endParaRPr lang="en-US" sz="2000" dirty="0"/>
          </a:p>
        </p:txBody>
      </p:sp>
      <p:sp>
        <p:nvSpPr>
          <p:cNvPr id="13" name="Text 10"/>
          <p:cNvSpPr/>
          <p:nvPr/>
        </p:nvSpPr>
        <p:spPr>
          <a:xfrm>
            <a:off x="8732520" y="5257800"/>
            <a:ext cx="2697480" cy="548640"/>
          </a:xfrm>
          <a:prstGeom prst="rect">
            <a:avLst/>
          </a:prstGeom>
          <a:noFill/>
          <a:ln/>
        </p:spPr>
        <p:txBody>
          <a:bodyPr wrap="square" lIns="0" tIns="0" rIns="0" bIns="0" rtlCol="0" anchor="ctr"/>
          <a:lstStyle/>
          <a:p>
            <a:pPr algn="l" indent="0" marL="0">
              <a:buNone/>
            </a:pPr>
            <a:r>
              <a:rPr lang="en-US" sz="1150" i="1" dirty="0">
                <a:solidFill>
                  <a:srgbClr val="CADCFC"/>
                </a:solidFill>
                <a:latin typeface="Calibri" pitchFamily="34" charset="0"/>
                <a:ea typeface="Calibri" pitchFamily="34" charset="-122"/>
                <a:cs typeface="Calibri" pitchFamily="34" charset="-120"/>
              </a:rPr>
              <a:t>Annual prepay pulls cash forward and lifts retention.</a:t>
            </a:r>
            <a:endParaRPr lang="en-US" sz="1150" dirty="0"/>
          </a:p>
        </p:txBody>
      </p:sp>
      <p:sp>
        <p:nvSpPr>
          <p:cNvPr id="14" name="Text 11"/>
          <p:cNvSpPr/>
          <p:nvPr/>
        </p:nvSpPr>
        <p:spPr>
          <a:xfrm>
            <a:off x="548640" y="6080760"/>
            <a:ext cx="10972800" cy="274320"/>
          </a:xfrm>
          <a:prstGeom prst="rect">
            <a:avLst/>
          </a:prstGeom>
          <a:noFill/>
          <a:ln/>
        </p:spPr>
        <p:txBody>
          <a:bodyPr wrap="square" lIns="0" tIns="0" rIns="0" bIns="0" rtlCol="0" anchor="ctr"/>
          <a:lstStyle/>
          <a:p>
            <a:pPr algn="l" indent="0" marL="0">
              <a:buNone/>
            </a:pPr>
            <a:r>
              <a:rPr lang="en-US" sz="1000" i="1" dirty="0">
                <a:solidFill>
                  <a:srgbClr val="6B7280"/>
                </a:solidFill>
                <a:latin typeface="Calibri" pitchFamily="34" charset="0"/>
                <a:ea typeface="Calibri" pitchFamily="34" charset="-122"/>
                <a:cs typeface="Calibri" pitchFamily="34" charset="-120"/>
              </a:rPr>
              <a:t>Illustrative. MRR uses the proposed list prices; adjust mix and top-up rate with your CFO. Margin per slide 9.</a:t>
            </a:r>
            <a:endParaRPr lang="en-US" sz="1000" dirty="0"/>
          </a:p>
        </p:txBody>
      </p:sp>
      <p:sp>
        <p:nvSpPr>
          <p:cNvPr id="15" name="Text 12"/>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6" name="Text 13"/>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8229600" cy="274320"/>
          </a:xfrm>
          <a:prstGeom prst="rect">
            <a:avLst/>
          </a:prstGeom>
          <a:noFill/>
          <a:ln/>
        </p:spPr>
        <p:txBody>
          <a:bodyPr wrap="square" lIns="0" tIns="0" rIns="0" bIns="0" rtlCol="0" anchor="ctr"/>
          <a:lstStyle/>
          <a:p>
            <a:pPr algn="l" indent="0" marL="0">
              <a:buNone/>
            </a:pPr>
            <a:r>
              <a:rPr lang="en-US" sz="1200" b="1" spc="200" kern="0" dirty="0">
                <a:solidFill>
                  <a:srgbClr val="0B2AE0"/>
                </a:solidFill>
                <a:latin typeface="Calibri" pitchFamily="34" charset="0"/>
                <a:ea typeface="Calibri" pitchFamily="34" charset="-122"/>
                <a:cs typeface="Calibri" pitchFamily="34" charset="-120"/>
              </a:rPr>
              <a:t>FOR THE DISCUSSION</a:t>
            </a:r>
            <a:endParaRPr lang="en-US" sz="12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12132A"/>
                </a:solidFill>
                <a:latin typeface="Calibri" pitchFamily="34" charset="0"/>
                <a:ea typeface="Calibri" pitchFamily="34" charset="-122"/>
                <a:cs typeface="Calibri" pitchFamily="34" charset="-120"/>
              </a:rPr>
              <a:t>Assumptions, risks &amp; recommendations</a:t>
            </a:r>
            <a:endParaRPr lang="en-US" sz="3400" dirty="0"/>
          </a:p>
        </p:txBody>
      </p:sp>
      <p:sp>
        <p:nvSpPr>
          <p:cNvPr id="4" name="Shape 2"/>
          <p:cNvSpPr/>
          <p:nvPr/>
        </p:nvSpPr>
        <p:spPr>
          <a:xfrm>
            <a:off x="548640"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5" name="Shape 3"/>
          <p:cNvSpPr/>
          <p:nvPr/>
        </p:nvSpPr>
        <p:spPr>
          <a:xfrm>
            <a:off x="822960" y="1965960"/>
            <a:ext cx="384048" cy="384048"/>
          </a:xfrm>
          <a:prstGeom prst="ellipse">
            <a:avLst/>
          </a:prstGeom>
          <a:solidFill>
            <a:srgbClr val="0B2AE0"/>
          </a:solidFill>
          <a:ln/>
        </p:spPr>
      </p:sp>
      <p:sp>
        <p:nvSpPr>
          <p:cNvPr id="6" name="Text 4"/>
          <p:cNvSpPr/>
          <p:nvPr/>
        </p:nvSpPr>
        <p:spPr>
          <a:xfrm>
            <a:off x="1325880"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Decide / validate</a:t>
            </a:r>
            <a:endParaRPr lang="en-US" sz="1600" dirty="0"/>
          </a:p>
        </p:txBody>
      </p:sp>
      <p:sp>
        <p:nvSpPr>
          <p:cNvPr id="7" name="Text 5"/>
          <p:cNvSpPr/>
          <p:nvPr/>
        </p:nvSpPr>
        <p:spPr>
          <a:xfrm>
            <a:off x="841248"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Sign off the list prices ($49 / $199 / $499) or reset them; they are proposed, not live in Stripe.</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Confirm the annual discount (2 months free = 17%).</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Set the Enterprise floor and what the premium buys (SSO, audit, white-label).</a:t>
            </a:r>
            <a:endParaRPr lang="en-US" sz="1250" dirty="0"/>
          </a:p>
        </p:txBody>
      </p:sp>
      <p:sp>
        <p:nvSpPr>
          <p:cNvPr id="8" name="Shape 6"/>
          <p:cNvSpPr/>
          <p:nvPr/>
        </p:nvSpPr>
        <p:spPr>
          <a:xfrm>
            <a:off x="4279392"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9" name="Shape 7"/>
          <p:cNvSpPr/>
          <p:nvPr/>
        </p:nvSpPr>
        <p:spPr>
          <a:xfrm>
            <a:off x="4553712" y="1965960"/>
            <a:ext cx="384048" cy="384048"/>
          </a:xfrm>
          <a:prstGeom prst="ellipse">
            <a:avLst/>
          </a:prstGeom>
          <a:solidFill>
            <a:srgbClr val="B45309"/>
          </a:solidFill>
          <a:ln/>
        </p:spPr>
      </p:sp>
      <p:sp>
        <p:nvSpPr>
          <p:cNvPr id="10" name="Text 8"/>
          <p:cNvSpPr/>
          <p:nvPr/>
        </p:nvSpPr>
        <p:spPr>
          <a:xfrm>
            <a:off x="5056632"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Risks to watch</a:t>
            </a:r>
            <a:endParaRPr lang="en-US" sz="1600" dirty="0"/>
          </a:p>
        </p:txBody>
      </p:sp>
      <p:sp>
        <p:nvSpPr>
          <p:cNvPr id="11" name="Text 9"/>
          <p:cNvSpPr/>
          <p:nvPr/>
        </p:nvSpPr>
        <p:spPr>
          <a:xfrm>
            <a:off x="4572000"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COGS is modeled from model pricing, not yet measured from live token logs.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Heavy web-search use on screening pushes toward the max-cost end.</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FX drift (MYR / SGD) moves realized price; rates are admin-set, not automated.</a:t>
            </a:r>
            <a:endParaRPr lang="en-US" sz="1250" dirty="0"/>
          </a:p>
        </p:txBody>
      </p:sp>
      <p:sp>
        <p:nvSpPr>
          <p:cNvPr id="12" name="Shape 10"/>
          <p:cNvSpPr/>
          <p:nvPr/>
        </p:nvSpPr>
        <p:spPr>
          <a:xfrm>
            <a:off x="8010144" y="1691640"/>
            <a:ext cx="3639312" cy="4297680"/>
          </a:xfrm>
          <a:prstGeom prst="roundRect">
            <a:avLst>
              <a:gd name="adj" fmla="val 3015"/>
            </a:avLst>
          </a:prstGeom>
          <a:solidFill>
            <a:srgbClr val="FFFFFF"/>
          </a:solidFill>
          <a:ln w="12700">
            <a:solidFill>
              <a:srgbClr val="DEDEE3"/>
            </a:solidFill>
            <a:prstDash val="solid"/>
          </a:ln>
          <a:effectLst>
            <a:outerShdw sx="100000" sy="100000" kx="0" ky="0" algn="bl" rotWithShape="0" blurRad="101600" dist="25400" dir="5400000">
              <a:srgbClr val="9AA0B5">
                <a:alpha val="18000"/>
              </a:srgbClr>
            </a:outerShdw>
          </a:effectLst>
        </p:spPr>
      </p:sp>
      <p:sp>
        <p:nvSpPr>
          <p:cNvPr id="13" name="Shape 11"/>
          <p:cNvSpPr/>
          <p:nvPr/>
        </p:nvSpPr>
        <p:spPr>
          <a:xfrm>
            <a:off x="8284464" y="1965960"/>
            <a:ext cx="384048" cy="384048"/>
          </a:xfrm>
          <a:prstGeom prst="ellipse">
            <a:avLst/>
          </a:prstGeom>
          <a:solidFill>
            <a:srgbClr val="16A34A"/>
          </a:solidFill>
          <a:ln/>
        </p:spPr>
      </p:sp>
      <p:sp>
        <p:nvSpPr>
          <p:cNvPr id="14" name="Text 12"/>
          <p:cNvSpPr/>
          <p:nvPr/>
        </p:nvSpPr>
        <p:spPr>
          <a:xfrm>
            <a:off x="8787384" y="1947672"/>
            <a:ext cx="2724912" cy="411480"/>
          </a:xfrm>
          <a:prstGeom prst="rect">
            <a:avLst/>
          </a:prstGeom>
          <a:noFill/>
          <a:ln/>
        </p:spPr>
        <p:txBody>
          <a:bodyPr wrap="square" lIns="0" tIns="0" rIns="0" bIns="0" rtlCol="0" anchor="ctr"/>
          <a:lstStyle/>
          <a:p>
            <a:pPr algn="l" indent="0" marL="0">
              <a:buNone/>
            </a:pPr>
            <a:r>
              <a:rPr lang="en-US" sz="1600" b="1" dirty="0">
                <a:solidFill>
                  <a:srgbClr val="12132A"/>
                </a:solidFill>
                <a:latin typeface="Calibri" pitchFamily="34" charset="0"/>
                <a:ea typeface="Calibri" pitchFamily="34" charset="-122"/>
                <a:cs typeface="Calibri" pitchFamily="34" charset="-120"/>
              </a:rPr>
              <a:t>Recommendations</a:t>
            </a:r>
            <a:endParaRPr lang="en-US" sz="1600" dirty="0"/>
          </a:p>
        </p:txBody>
      </p:sp>
      <p:sp>
        <p:nvSpPr>
          <p:cNvPr id="15" name="Text 13"/>
          <p:cNvSpPr/>
          <p:nvPr/>
        </p:nvSpPr>
        <p:spPr>
          <a:xfrm>
            <a:off x="8302752" y="2560320"/>
            <a:ext cx="3072384" cy="3200400"/>
          </a:xfrm>
          <a:prstGeom prst="rect">
            <a:avLst/>
          </a:prstGeom>
          <a:noFill/>
          <a:ln/>
        </p:spPr>
        <p:txBody>
          <a:bodyPr wrap="square" lIns="0" tIns="0" rIns="0" bIns="0" rtlCol="0" anchor="t"/>
          <a:lstStyle/>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Log per-action token spend to replace these estimates with measured COGS.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Lead growth accounts to top-ups; that is where blended margin expands.</a:t>
            </a:r>
            <a:endParaRPr lang="en-US" sz="1250" dirty="0"/>
          </a:p>
          <a:p>
            <a:pPr algn="l" marL="177800" indent="-177800">
              <a:spcAft>
                <a:spcPts val="1000"/>
              </a:spcAft>
              <a:buSzPct val="100000"/>
              <a:buChar char="•"/>
            </a:pPr>
            <a:r>
              <a:rPr lang="en-US" sz="1250" dirty="0">
                <a:solidFill>
                  <a:srgbClr val="4A5568"/>
                </a:solidFill>
                <a:latin typeface="Calibri" pitchFamily="34" charset="0"/>
                <a:ea typeface="Calibri" pitchFamily="34" charset="-122"/>
                <a:cs typeface="Calibri" pitchFamily="34" charset="-120"/>
              </a:rPr>
              <a:t>Hold unlimited seats as the headline differentiator versus per-seat ATS rivals.</a:t>
            </a:r>
            <a:endParaRPr lang="en-US" sz="1250" dirty="0"/>
          </a:p>
        </p:txBody>
      </p:sp>
      <p:sp>
        <p:nvSpPr>
          <p:cNvPr id="16" name="Text 14"/>
          <p:cNvSpPr/>
          <p:nvPr/>
        </p:nvSpPr>
        <p:spPr>
          <a:xfrm>
            <a:off x="548640" y="6455664"/>
            <a:ext cx="7315200" cy="274320"/>
          </a:xfrm>
          <a:prstGeom prst="rect">
            <a:avLst/>
          </a:prstGeom>
          <a:noFill/>
          <a:ln/>
        </p:spPr>
        <p:txBody>
          <a:bodyPr wrap="square" lIns="0" tIns="0" rIns="0" bIns="0" rtlCol="0" anchor="ctr"/>
          <a:lstStyle/>
          <a:p>
            <a:pPr algn="l" indent="0" marL="0">
              <a:buNone/>
            </a:pPr>
            <a:r>
              <a:rPr lang="en-US" sz="900" dirty="0">
                <a:solidFill>
                  <a:srgbClr val="6B7280"/>
                </a:solidFill>
                <a:latin typeface="Calibri" pitchFamily="34" charset="0"/>
                <a:ea typeface="Calibri" pitchFamily="34" charset="-122"/>
                <a:cs typeface="Calibri" pitchFamily="34" charset="-120"/>
              </a:rPr>
              <a:t>Aster  ·  Pricing model for CFO review</a:t>
            </a:r>
            <a:endParaRPr lang="en-US" sz="900" dirty="0"/>
          </a:p>
        </p:txBody>
      </p:sp>
      <p:sp>
        <p:nvSpPr>
          <p:cNvPr id="17" name="Text 15"/>
          <p:cNvSpPr/>
          <p:nvPr/>
        </p:nvSpPr>
        <p:spPr>
          <a:xfrm>
            <a:off x="11338560" y="6455664"/>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FC2"/>
        </a:solidFill>
      </p:bgPr>
    </p:bg>
    <p:spTree>
      <p:nvGrpSpPr>
        <p:cNvPr id="1" name=""/>
        <p:cNvGrpSpPr/>
        <p:nvPr/>
      </p:nvGrpSpPr>
      <p:grpSpPr>
        <a:xfrm>
          <a:off x="0" y="0"/>
          <a:ext cx="0" cy="0"/>
          <a:chOff x="0" y="0"/>
          <a:chExt cx="0" cy="0"/>
        </a:xfrm>
      </p:grpSpPr>
      <p:sp>
        <p:nvSpPr>
          <p:cNvPr id="2" name="Shape 0"/>
          <p:cNvSpPr/>
          <p:nvPr/>
        </p:nvSpPr>
        <p:spPr>
          <a:xfrm>
            <a:off x="7772400" y="-2286000"/>
            <a:ext cx="6400800" cy="6400800"/>
          </a:xfrm>
          <a:prstGeom prst="ellipse">
            <a:avLst/>
          </a:prstGeom>
          <a:solidFill>
            <a:srgbClr val="0B2AE0">
              <a:alpha val="38000"/>
            </a:srgbClr>
          </a:solidFill>
          <a:ln/>
        </p:spPr>
      </p:sp>
      <p:sp>
        <p:nvSpPr>
          <p:cNvPr id="3" name="Shape 1"/>
          <p:cNvSpPr/>
          <p:nvPr/>
        </p:nvSpPr>
        <p:spPr>
          <a:xfrm>
            <a:off x="-2286000" y="3200400"/>
            <a:ext cx="5943600" cy="5943600"/>
          </a:xfrm>
          <a:prstGeom prst="ellipse">
            <a:avLst/>
          </a:prstGeom>
          <a:solidFill>
            <a:srgbClr val="5570F5">
              <a:alpha val="26000"/>
            </a:srgbClr>
          </a:solidFill>
          <a:ln/>
        </p:spPr>
      </p:sp>
      <p:sp>
        <p:nvSpPr>
          <p:cNvPr id="4" name="Text 2"/>
          <p:cNvSpPr/>
          <p:nvPr/>
        </p:nvSpPr>
        <p:spPr>
          <a:xfrm>
            <a:off x="777240" y="640080"/>
            <a:ext cx="36576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 aster</a:t>
            </a:r>
            <a:endParaRPr lang="en-US" sz="2200" dirty="0"/>
          </a:p>
        </p:txBody>
      </p:sp>
      <p:sp>
        <p:nvSpPr>
          <p:cNvPr id="5" name="Text 3"/>
          <p:cNvSpPr/>
          <p:nvPr/>
        </p:nvSpPr>
        <p:spPr>
          <a:xfrm>
            <a:off x="777240" y="2103120"/>
            <a:ext cx="10058400" cy="457200"/>
          </a:xfrm>
          <a:prstGeom prst="rect">
            <a:avLst/>
          </a:prstGeom>
          <a:noFill/>
          <a:ln/>
        </p:spPr>
        <p:txBody>
          <a:bodyPr wrap="square" lIns="0" tIns="0" rIns="0" bIns="0" rtlCol="0" anchor="ctr"/>
          <a:lstStyle/>
          <a:p>
            <a:pPr algn="l" indent="0" marL="0">
              <a:buNone/>
            </a:pPr>
            <a:r>
              <a:rPr lang="en-US" sz="1800" dirty="0">
                <a:solidFill>
                  <a:srgbClr val="CADCFC"/>
                </a:solidFill>
                <a:latin typeface="Calibri" pitchFamily="34" charset="0"/>
                <a:ea typeface="Calibri" pitchFamily="34" charset="-122"/>
                <a:cs typeface="Calibri" pitchFamily="34" charset="-120"/>
              </a:rPr>
              <a:t>The decision in one line</a:t>
            </a:r>
            <a:endParaRPr lang="en-US" sz="1800" dirty="0"/>
          </a:p>
        </p:txBody>
      </p:sp>
      <p:sp>
        <p:nvSpPr>
          <p:cNvPr id="6" name="Text 4"/>
          <p:cNvSpPr/>
          <p:nvPr/>
        </p:nvSpPr>
        <p:spPr>
          <a:xfrm>
            <a:off x="777240" y="2606040"/>
            <a:ext cx="10332720" cy="1371600"/>
          </a:xfrm>
          <a:prstGeom prst="rect">
            <a:avLst/>
          </a:prstGeom>
          <a:noFill/>
          <a:ln/>
        </p:spPr>
        <p:txBody>
          <a:bodyPr wrap="square" lIns="0" tIns="0" rIns="0" bIns="0" rtlCol="0" anchor="ctr"/>
          <a:lstStyle/>
          <a:p>
            <a:pPr algn="l" indent="0" marL="0">
              <a:buNone/>
            </a:pPr>
            <a:r>
              <a:rPr lang="en-US" sz="3200" b="1" dirty="0">
                <a:solidFill>
                  <a:srgbClr val="FFFFFF"/>
                </a:solidFill>
                <a:latin typeface="Calibri" pitchFamily="34" charset="0"/>
                <a:ea typeface="Calibri" pitchFamily="34" charset="-122"/>
                <a:cs typeface="Calibri" pitchFamily="34" charset="-120"/>
              </a:rPr>
              <a:t>A four-tier subscription with unlimited seats, a generous AI allowance, and high-margin credit top-ups on top.</a:t>
            </a:r>
            <a:endParaRPr lang="en-US" sz="3200" dirty="0"/>
          </a:p>
        </p:txBody>
      </p:sp>
      <p:sp>
        <p:nvSpPr>
          <p:cNvPr id="7" name="Shape 5"/>
          <p:cNvSpPr/>
          <p:nvPr/>
        </p:nvSpPr>
        <p:spPr>
          <a:xfrm>
            <a:off x="822960"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8" name="Text 6"/>
          <p:cNvSpPr/>
          <p:nvPr/>
        </p:nvSpPr>
        <p:spPr>
          <a:xfrm>
            <a:off x="822960"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1.  Confirm list prices</a:t>
            </a:r>
            <a:endParaRPr lang="en-US" sz="1350" dirty="0"/>
          </a:p>
        </p:txBody>
      </p:sp>
      <p:sp>
        <p:nvSpPr>
          <p:cNvPr id="9" name="Shape 7"/>
          <p:cNvSpPr/>
          <p:nvPr/>
        </p:nvSpPr>
        <p:spPr>
          <a:xfrm>
            <a:off x="3685032" y="4663440"/>
            <a:ext cx="2633472"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0" name="Text 8"/>
          <p:cNvSpPr/>
          <p:nvPr/>
        </p:nvSpPr>
        <p:spPr>
          <a:xfrm>
            <a:off x="3685032" y="4663440"/>
            <a:ext cx="2633472"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2.  Log live token cost</a:t>
            </a:r>
            <a:endParaRPr lang="en-US" sz="1350" dirty="0"/>
          </a:p>
        </p:txBody>
      </p:sp>
      <p:sp>
        <p:nvSpPr>
          <p:cNvPr id="11" name="Shape 9"/>
          <p:cNvSpPr/>
          <p:nvPr/>
        </p:nvSpPr>
        <p:spPr>
          <a:xfrm>
            <a:off x="6547104" y="4663440"/>
            <a:ext cx="3511296" cy="548640"/>
          </a:xfrm>
          <a:prstGeom prst="roundRect">
            <a:avLst>
              <a:gd name="adj" fmla="val 50000"/>
            </a:avLst>
          </a:prstGeom>
          <a:solidFill>
            <a:srgbClr val="FFFFFF">
              <a:alpha val="12000"/>
            </a:srgbClr>
          </a:solidFill>
          <a:ln w="12700">
            <a:solidFill>
              <a:srgbClr val="FFFFFF">
                <a:alpha val="45000"/>
              </a:srgbClr>
            </a:solidFill>
            <a:prstDash val="solid"/>
          </a:ln>
        </p:spPr>
      </p:sp>
      <p:sp>
        <p:nvSpPr>
          <p:cNvPr id="12" name="Text 10"/>
          <p:cNvSpPr/>
          <p:nvPr/>
        </p:nvSpPr>
        <p:spPr>
          <a:xfrm>
            <a:off x="6547104" y="4663440"/>
            <a:ext cx="3511296" cy="54864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3.  Re-run margins on real data</a:t>
            </a:r>
            <a:endParaRPr lang="en-US" sz="1350" dirty="0"/>
          </a:p>
        </p:txBody>
      </p:sp>
      <p:sp>
        <p:nvSpPr>
          <p:cNvPr id="13" name="Text 11"/>
          <p:cNvSpPr/>
          <p:nvPr/>
        </p:nvSpPr>
        <p:spPr>
          <a:xfrm>
            <a:off x="822960" y="6126480"/>
            <a:ext cx="10058400" cy="365760"/>
          </a:xfrm>
          <a:prstGeom prst="rect">
            <a:avLst/>
          </a:prstGeom>
          <a:noFill/>
          <a:ln/>
        </p:spPr>
        <p:txBody>
          <a:bodyPr wrap="square" lIns="0" tIns="0" rIns="0" bIns="0" rtlCol="0" anchor="ctr"/>
          <a:lstStyle/>
          <a:p>
            <a:pPr algn="l" indent="0" marL="0">
              <a:buNone/>
            </a:pPr>
            <a:r>
              <a:rPr lang="en-US" sz="1200" i="1" dirty="0">
                <a:solidFill>
                  <a:srgbClr val="9FB0F0"/>
                </a:solidFill>
                <a:latin typeface="Calibri" pitchFamily="34" charset="0"/>
                <a:ea typeface="Calibri" pitchFamily="34" charset="-122"/>
                <a:cs typeface="Calibri" pitchFamily="34" charset="-120"/>
              </a:rPr>
              <a:t>Proposed figures for internal discussion · August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2026-08-10T16:17:41Z</dcterms:created>
  <dcterms:modified xsi:type="dcterms:W3CDTF">2026-08-10T16:17:41Z</dcterms:modified>
</cp:coreProperties>
</file>