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2011680" y="-2377440"/>
            <a:ext cx="5943600" cy="5943600"/>
          </a:xfrm>
          <a:prstGeom prst="ellipse">
            <a:avLst/>
          </a:prstGeom>
          <a:solidFill>
            <a:srgbClr val="5570F5">
              <a:alpha val="28000"/>
            </a:srgbClr>
          </a:solidFill>
          <a:ln/>
        </p:spPr>
      </p:sp>
      <p:sp>
        <p:nvSpPr>
          <p:cNvPr id="3" name="Shape 1"/>
          <p:cNvSpPr/>
          <p:nvPr/>
        </p:nvSpPr>
        <p:spPr>
          <a:xfrm>
            <a:off x="8412480" y="3291840"/>
            <a:ext cx="6217920" cy="6217920"/>
          </a:xfrm>
          <a:prstGeom prst="ellipse">
            <a:avLst/>
          </a:prstGeom>
          <a:solidFill>
            <a:srgbClr val="0B2AE0">
              <a:alpha val="40000"/>
            </a:srgbClr>
          </a:solidFill>
          <a:ln/>
        </p:spPr>
      </p:sp>
      <p:pic>
        <p:nvPicPr>
          <p:cNvPr id="4" name="Image 0" descr="preencoded.png">    </p:cNvPr>
          <p:cNvPicPr>
            <a:picLocks noChangeAspect="1"/>
          </p:cNvPicPr>
          <p:nvPr/>
        </p:nvPicPr>
        <p:blipFill>
          <a:blip r:embed="rId1"/>
          <a:stretch>
            <a:fillRect/>
          </a:stretch>
        </p:blipFill>
        <p:spPr>
          <a:xfrm>
            <a:off x="777240" y="566928"/>
            <a:ext cx="2148840" cy="519303"/>
          </a:xfrm>
          <a:prstGeom prst="rect">
            <a:avLst/>
          </a:prstGeom>
        </p:spPr>
      </p:pic>
      <p:sp>
        <p:nvSpPr>
          <p:cNvPr id="5" name="Text 2"/>
          <p:cNvSpPr/>
          <p:nvPr/>
        </p:nvSpPr>
        <p:spPr>
          <a:xfrm>
            <a:off x="777240" y="2286000"/>
            <a:ext cx="10607040" cy="914400"/>
          </a:xfrm>
          <a:prstGeom prst="rect">
            <a:avLst/>
          </a:prstGeom>
          <a:noFill/>
          <a:ln/>
        </p:spPr>
        <p:txBody>
          <a:bodyPr wrap="square" lIns="0" tIns="0" rIns="0" bIns="0" rtlCol="0" anchor="ctr"/>
          <a:lstStyle/>
          <a:p>
            <a:pPr algn="l" indent="0" marL="0">
              <a:buNone/>
            </a:pPr>
            <a:r>
              <a:rPr lang="en-US" sz="5400" b="1" dirty="0">
                <a:solidFill>
                  <a:srgbClr val="FFFFFF"/>
                </a:solidFill>
                <a:latin typeface="Calibri" pitchFamily="34" charset="0"/>
                <a:ea typeface="Calibri" pitchFamily="34" charset="-122"/>
                <a:cs typeface="Calibri" pitchFamily="34" charset="-120"/>
              </a:rPr>
              <a:t>Pricing model</a:t>
            </a:r>
            <a:endParaRPr lang="en-US" sz="5400" dirty="0"/>
          </a:p>
        </p:txBody>
      </p:sp>
      <p:sp>
        <p:nvSpPr>
          <p:cNvPr id="6" name="Text 3"/>
          <p:cNvSpPr/>
          <p:nvPr/>
        </p:nvSpPr>
        <p:spPr>
          <a:xfrm>
            <a:off x="822960" y="3310128"/>
            <a:ext cx="10058400" cy="548640"/>
          </a:xfrm>
          <a:prstGeom prst="rect">
            <a:avLst/>
          </a:prstGeom>
          <a:noFill/>
          <a:ln/>
        </p:spPr>
        <p:txBody>
          <a:bodyPr wrap="square" lIns="0" tIns="0" rIns="0" bIns="0" rtlCol="0" anchor="ctr"/>
          <a:lstStyle/>
          <a:p>
            <a:pPr algn="l" indent="0" marL="0">
              <a:buNone/>
            </a:pPr>
            <a:r>
              <a:rPr lang="en-US" sz="2000" dirty="0">
                <a:solidFill>
                  <a:srgbClr val="CADCFC"/>
                </a:solidFill>
                <a:latin typeface="Calibri" pitchFamily="34" charset="0"/>
                <a:ea typeface="Calibri" pitchFamily="34" charset="-122"/>
                <a:cs typeface="Calibri" pitchFamily="34" charset="-120"/>
              </a:rPr>
              <a:t>A full proposal for CFO review: tiers, credit economics, and margins</a:t>
            </a:r>
            <a:endParaRPr lang="en-US" sz="2000" dirty="0"/>
          </a:p>
        </p:txBody>
      </p:sp>
      <p:sp>
        <p:nvSpPr>
          <p:cNvPr id="7" name="Shape 4"/>
          <p:cNvSpPr/>
          <p:nvPr/>
        </p:nvSpPr>
        <p:spPr>
          <a:xfrm>
            <a:off x="822960" y="4251960"/>
            <a:ext cx="2221992"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8" name="Text 5"/>
          <p:cNvSpPr/>
          <p:nvPr/>
        </p:nvSpPr>
        <p:spPr>
          <a:xfrm>
            <a:off x="822960" y="4251960"/>
            <a:ext cx="2221992"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subscription tiers</a:t>
            </a:r>
            <a:endParaRPr lang="en-US" sz="1300" dirty="0"/>
          </a:p>
        </p:txBody>
      </p:sp>
      <p:sp>
        <p:nvSpPr>
          <p:cNvPr id="9" name="Shape 6"/>
          <p:cNvSpPr/>
          <p:nvPr/>
        </p:nvSpPr>
        <p:spPr>
          <a:xfrm>
            <a:off x="3273552" y="4251960"/>
            <a:ext cx="2412187"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0" name="Text 7"/>
          <p:cNvSpPr/>
          <p:nvPr/>
        </p:nvSpPr>
        <p:spPr>
          <a:xfrm>
            <a:off x="3273552" y="4251960"/>
            <a:ext cx="2412187"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Usage-based AI credits</a:t>
            </a:r>
            <a:endParaRPr lang="en-US" sz="1300" dirty="0"/>
          </a:p>
        </p:txBody>
      </p:sp>
      <p:sp>
        <p:nvSpPr>
          <p:cNvPr id="11" name="Shape 8"/>
          <p:cNvSpPr/>
          <p:nvPr/>
        </p:nvSpPr>
        <p:spPr>
          <a:xfrm>
            <a:off x="5914339" y="4251960"/>
            <a:ext cx="3363163"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2" name="Text 9"/>
          <p:cNvSpPr/>
          <p:nvPr/>
        </p:nvSpPr>
        <p:spPr>
          <a:xfrm>
            <a:off x="5914339" y="4251960"/>
            <a:ext cx="3363163"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Cost per credit from real models</a:t>
            </a:r>
            <a:endParaRPr lang="en-US" sz="1300" dirty="0"/>
          </a:p>
        </p:txBody>
      </p:sp>
      <p:sp>
        <p:nvSpPr>
          <p:cNvPr id="13" name="Text 10"/>
          <p:cNvSpPr/>
          <p:nvPr/>
        </p:nvSpPr>
        <p:spPr>
          <a:xfrm>
            <a:off x="822960" y="6172200"/>
            <a:ext cx="105156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Prepared for internal discussion  ·  August 2026  ·  Proposed figures, not current live prices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MODEL AT A GLANCE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Two revenue engines, one platform</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Aster charges a monthly subscription for platform access plus a bundle of AI usage, then sells more AI usage as credit top-ups. Seats are unlimited on every plan, so we compete on hiring outcomes, not per-seat price.</a:t>
            </a:r>
            <a:endParaRPr lang="en-US" sz="1400" dirty="0"/>
          </a:p>
        </p:txBody>
      </p:sp>
      <p:sp>
        <p:nvSpPr>
          <p:cNvPr id="5" name="Shape 3"/>
          <p:cNvSpPr/>
          <p:nvPr/>
        </p:nvSpPr>
        <p:spPr>
          <a:xfrm>
            <a:off x="548640"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731520"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4 tiers</a:t>
            </a:r>
            <a:endParaRPr lang="en-US" sz="3000" dirty="0"/>
          </a:p>
        </p:txBody>
      </p:sp>
      <p:sp>
        <p:nvSpPr>
          <p:cNvPr id="7" name="Text 5"/>
          <p:cNvSpPr/>
          <p:nvPr/>
        </p:nvSpPr>
        <p:spPr>
          <a:xfrm>
            <a:off x="731520"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Launch · Scale · Elite · Enterprise</a:t>
            </a:r>
            <a:endParaRPr lang="en-US" sz="1250" dirty="0"/>
          </a:p>
        </p:txBody>
      </p:sp>
      <p:sp>
        <p:nvSpPr>
          <p:cNvPr id="8" name="Shape 6"/>
          <p:cNvSpPr/>
          <p:nvPr/>
        </p:nvSpPr>
        <p:spPr>
          <a:xfrm>
            <a:off x="3346704"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7"/>
          <p:cNvSpPr/>
          <p:nvPr/>
        </p:nvSpPr>
        <p:spPr>
          <a:xfrm>
            <a:off x="3529584"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Unlimited</a:t>
            </a:r>
            <a:endParaRPr lang="en-US" sz="3000" dirty="0"/>
          </a:p>
        </p:txBody>
      </p:sp>
      <p:sp>
        <p:nvSpPr>
          <p:cNvPr id="10" name="Text 8"/>
          <p:cNvSpPr/>
          <p:nvPr/>
        </p:nvSpPr>
        <p:spPr>
          <a:xfrm>
            <a:off x="3529584"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team seats on every plan</a:t>
            </a:r>
            <a:endParaRPr lang="en-US" sz="1250" dirty="0"/>
          </a:p>
        </p:txBody>
      </p:sp>
      <p:sp>
        <p:nvSpPr>
          <p:cNvPr id="11" name="Shape 9"/>
          <p:cNvSpPr/>
          <p:nvPr/>
        </p:nvSpPr>
        <p:spPr>
          <a:xfrm>
            <a:off x="6144768"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6327648"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66–71%</a:t>
            </a:r>
            <a:endParaRPr lang="en-US" sz="3000" dirty="0"/>
          </a:p>
        </p:txBody>
      </p:sp>
      <p:sp>
        <p:nvSpPr>
          <p:cNvPr id="13" name="Text 11"/>
          <p:cNvSpPr/>
          <p:nvPr/>
        </p:nvSpPr>
        <p:spPr>
          <a:xfrm>
            <a:off x="6327648"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all-in gross margin per plan*</a:t>
            </a:r>
            <a:endParaRPr lang="en-US" sz="1250" dirty="0"/>
          </a:p>
        </p:txBody>
      </p:sp>
      <p:sp>
        <p:nvSpPr>
          <p:cNvPr id="14" name="Shape 12"/>
          <p:cNvSpPr/>
          <p:nvPr/>
        </p:nvSpPr>
        <p:spPr>
          <a:xfrm>
            <a:off x="8942832"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9125712"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70–97%</a:t>
            </a:r>
            <a:endParaRPr lang="en-US" sz="3000" dirty="0"/>
          </a:p>
        </p:txBody>
      </p:sp>
      <p:sp>
        <p:nvSpPr>
          <p:cNvPr id="16" name="Text 14"/>
          <p:cNvSpPr/>
          <p:nvPr/>
        </p:nvSpPr>
        <p:spPr>
          <a:xfrm>
            <a:off x="9125712"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margin per credit even at max cost*</a:t>
            </a:r>
            <a:endParaRPr lang="en-US" sz="1250" dirty="0"/>
          </a:p>
        </p:txBody>
      </p:sp>
      <p:sp>
        <p:nvSpPr>
          <p:cNvPr id="17" name="Shape 15"/>
          <p:cNvSpPr/>
          <p:nvPr/>
        </p:nvSpPr>
        <p:spPr>
          <a:xfrm>
            <a:off x="594360" y="4133088"/>
            <a:ext cx="384048" cy="384048"/>
          </a:xfrm>
          <a:prstGeom prst="ellipse">
            <a:avLst/>
          </a:prstGeom>
          <a:solidFill>
            <a:srgbClr val="0B2AE0"/>
          </a:solidFill>
          <a:ln/>
        </p:spPr>
      </p:sp>
      <p:sp>
        <p:nvSpPr>
          <p:cNvPr id="18" name="Text 16"/>
          <p:cNvSpPr/>
          <p:nvPr/>
        </p:nvSpPr>
        <p:spPr>
          <a:xfrm>
            <a:off x="594360" y="41239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9" name="Text 17"/>
          <p:cNvSpPr/>
          <p:nvPr/>
        </p:nvSpPr>
        <p:spPr>
          <a:xfrm>
            <a:off x="1143000" y="4059936"/>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Subscription = access + a generous AI allowance</a:t>
            </a:r>
            <a:endParaRPr lang="en-US" sz="1500" dirty="0"/>
          </a:p>
        </p:txBody>
      </p:sp>
      <p:sp>
        <p:nvSpPr>
          <p:cNvPr id="20" name="Text 18"/>
          <p:cNvSpPr/>
          <p:nvPr/>
        </p:nvSpPr>
        <p:spPr>
          <a:xfrm>
            <a:off x="1143000" y="4370832"/>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Each tier bundles enough screening and AI credits to run its open roles. The bundle is worth 4–5× the plan price at list credit rates, which anchors upgrades.</a:t>
            </a:r>
            <a:endParaRPr lang="en-US" sz="1250" dirty="0"/>
          </a:p>
        </p:txBody>
      </p:sp>
      <p:sp>
        <p:nvSpPr>
          <p:cNvPr id="21" name="Shape 19"/>
          <p:cNvSpPr/>
          <p:nvPr/>
        </p:nvSpPr>
        <p:spPr>
          <a:xfrm>
            <a:off x="594360" y="4882896"/>
            <a:ext cx="384048" cy="384048"/>
          </a:xfrm>
          <a:prstGeom prst="ellipse">
            <a:avLst/>
          </a:prstGeom>
          <a:solidFill>
            <a:srgbClr val="0B2AE0"/>
          </a:solidFill>
          <a:ln/>
        </p:spPr>
      </p:sp>
      <p:sp>
        <p:nvSpPr>
          <p:cNvPr id="22" name="Text 20"/>
          <p:cNvSpPr/>
          <p:nvPr/>
        </p:nvSpPr>
        <p:spPr>
          <a:xfrm>
            <a:off x="594360" y="48737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1"/>
          <p:cNvSpPr/>
          <p:nvPr/>
        </p:nvSpPr>
        <p:spPr>
          <a:xfrm>
            <a:off x="1143000" y="4809744"/>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Credit top-ups are the margin engine</a:t>
            </a:r>
            <a:endParaRPr lang="en-US" sz="1500" dirty="0"/>
          </a:p>
        </p:txBody>
      </p:sp>
      <p:sp>
        <p:nvSpPr>
          <p:cNvPr id="24" name="Text 22"/>
          <p:cNvSpPr/>
          <p:nvPr/>
        </p:nvSpPr>
        <p:spPr>
          <a:xfrm>
            <a:off x="1143000" y="5120640"/>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Overage sells at RM4.09 / RM1.64 / RM2.05 per action against an AI cost of a few sen. This is where blended margin expands as accounts grow.</a:t>
            </a:r>
            <a:endParaRPr lang="en-US" sz="1250" dirty="0"/>
          </a:p>
        </p:txBody>
      </p:sp>
      <p:sp>
        <p:nvSpPr>
          <p:cNvPr id="25" name="Shape 23"/>
          <p:cNvSpPr/>
          <p:nvPr/>
        </p:nvSpPr>
        <p:spPr>
          <a:xfrm>
            <a:off x="594360" y="5632704"/>
            <a:ext cx="384048" cy="384048"/>
          </a:xfrm>
          <a:prstGeom prst="ellipse">
            <a:avLst/>
          </a:prstGeom>
          <a:solidFill>
            <a:srgbClr val="0B2AE0"/>
          </a:solidFill>
          <a:ln/>
        </p:spPr>
      </p:sp>
      <p:sp>
        <p:nvSpPr>
          <p:cNvPr id="26" name="Text 24"/>
          <p:cNvSpPr/>
          <p:nvPr/>
        </p:nvSpPr>
        <p:spPr>
          <a:xfrm>
            <a:off x="594360" y="5623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7" name="Text 25"/>
          <p:cNvSpPr/>
          <p:nvPr/>
        </p:nvSpPr>
        <p:spPr>
          <a:xfrm>
            <a:off x="1143000" y="5559552"/>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The COGS here is grounded, not guessed</a:t>
            </a:r>
            <a:endParaRPr lang="en-US" sz="1500" dirty="0"/>
          </a:p>
        </p:txBody>
      </p:sp>
      <p:sp>
        <p:nvSpPr>
          <p:cNvPr id="28" name="Text 26"/>
          <p:cNvSpPr/>
          <p:nvPr/>
        </p:nvSpPr>
        <p:spPr>
          <a:xfrm>
            <a:off x="1143000" y="5870448"/>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Every AI action is priced against the actual model it runs on (Sonnet 5, Opus 5, Haiku 4.5). Recommend logging live token spend to confirm these estimates.</a:t>
            </a:r>
            <a:endParaRPr lang="en-US" sz="1250" dirty="0"/>
          </a:p>
        </p:txBody>
      </p:sp>
      <p:sp>
        <p:nvSpPr>
          <p:cNvPr id="29" name="Text 27"/>
          <p:cNvSpPr/>
          <p:nvPr/>
        </p:nvSpPr>
        <p:spPr>
          <a:xfrm>
            <a:off x="548640" y="6382512"/>
            <a:ext cx="1088136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 All-in = AI + email + video + payment fees + platform share (slide 10), at typical usage. From published provider pricing; confirm with live logs.</a:t>
            </a:r>
            <a:endParaRPr lang="en-US" sz="950" dirty="0"/>
          </a:p>
        </p:txBody>
      </p:sp>
      <p:sp>
        <p:nvSpPr>
          <p:cNvPr id="30" name="Text 28"/>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31" name="Text 29"/>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PRICING ARCHITECTURE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a customer actually pays for</a:t>
            </a:r>
            <a:endParaRPr lang="en-US" sz="3400" dirty="0"/>
          </a:p>
        </p:txBody>
      </p:sp>
      <p:sp>
        <p:nvSpPr>
          <p:cNvPr id="4" name="Shape 2"/>
          <p:cNvSpPr/>
          <p:nvPr/>
        </p:nvSpPr>
        <p:spPr>
          <a:xfrm>
            <a:off x="548640"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777240" y="2221992"/>
            <a:ext cx="566928" cy="566928"/>
          </a:xfrm>
          <a:prstGeom prst="ellipse">
            <a:avLst/>
          </a:prstGeom>
          <a:solidFill>
            <a:srgbClr val="0B2AE0"/>
          </a:solidFill>
          <a:ln/>
        </p:spPr>
      </p:sp>
      <p:sp>
        <p:nvSpPr>
          <p:cNvPr id="6" name="Text 4"/>
          <p:cNvSpPr/>
          <p:nvPr/>
        </p:nvSpPr>
        <p:spPr>
          <a:xfrm>
            <a:off x="777240"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a:t>
            </a:r>
            <a:endParaRPr lang="en-US" sz="1500" dirty="0"/>
          </a:p>
        </p:txBody>
      </p:sp>
      <p:sp>
        <p:nvSpPr>
          <p:cNvPr id="7" name="Text 5"/>
          <p:cNvSpPr/>
          <p:nvPr/>
        </p:nvSpPr>
        <p:spPr>
          <a:xfrm>
            <a:off x="777240"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Platform access</a:t>
            </a:r>
            <a:endParaRPr lang="en-US" sz="1650" dirty="0"/>
          </a:p>
        </p:txBody>
      </p:sp>
      <p:sp>
        <p:nvSpPr>
          <p:cNvPr id="8" name="Text 6"/>
          <p:cNvSpPr/>
          <p:nvPr/>
        </p:nvSpPr>
        <p:spPr>
          <a:xfrm>
            <a:off x="777240"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One subscription unlocks the whole workflow: branded career site, shared pipeline, scheduling, scorecards, offers and analytics.</a:t>
            </a:r>
            <a:endParaRPr lang="en-US" sz="1250" dirty="0"/>
          </a:p>
        </p:txBody>
      </p:sp>
      <p:sp>
        <p:nvSpPr>
          <p:cNvPr id="9" name="Shape 7"/>
          <p:cNvSpPr/>
          <p:nvPr/>
        </p:nvSpPr>
        <p:spPr>
          <a:xfrm>
            <a:off x="3346704"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0" name="Shape 8"/>
          <p:cNvSpPr/>
          <p:nvPr/>
        </p:nvSpPr>
        <p:spPr>
          <a:xfrm>
            <a:off x="3575304" y="2221992"/>
            <a:ext cx="566928" cy="566928"/>
          </a:xfrm>
          <a:prstGeom prst="ellipse">
            <a:avLst/>
          </a:prstGeom>
          <a:solidFill>
            <a:srgbClr val="0B2AE0"/>
          </a:solidFill>
          <a:ln/>
        </p:spPr>
      </p:sp>
      <p:sp>
        <p:nvSpPr>
          <p:cNvPr id="11" name="Text 9"/>
          <p:cNvSpPr/>
          <p:nvPr/>
        </p:nvSpPr>
        <p:spPr>
          <a:xfrm>
            <a:off x="3575304"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a:t>
            </a:r>
            <a:endParaRPr lang="en-US" sz="1500" dirty="0"/>
          </a:p>
        </p:txBody>
      </p:sp>
      <p:sp>
        <p:nvSpPr>
          <p:cNvPr id="12" name="Text 10"/>
          <p:cNvSpPr/>
          <p:nvPr/>
        </p:nvSpPr>
        <p:spPr>
          <a:xfrm>
            <a:off x="3575304"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Open job slots</a:t>
            </a:r>
            <a:endParaRPr lang="en-US" sz="1650" dirty="0"/>
          </a:p>
        </p:txBody>
      </p:sp>
      <p:sp>
        <p:nvSpPr>
          <p:cNvPr id="13" name="Text 11"/>
          <p:cNvSpPr/>
          <p:nvPr/>
        </p:nvSpPr>
        <p:spPr>
          <a:xfrm>
            <a:off x="3575304"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The main value metric. Plans differ by how many roles can be open at once: 1 → 5 → 10 → unlimited.</a:t>
            </a:r>
            <a:endParaRPr lang="en-US" sz="1250" dirty="0"/>
          </a:p>
        </p:txBody>
      </p:sp>
      <p:sp>
        <p:nvSpPr>
          <p:cNvPr id="14" name="Shape 12"/>
          <p:cNvSpPr/>
          <p:nvPr/>
        </p:nvSpPr>
        <p:spPr>
          <a:xfrm>
            <a:off x="6144768"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Shape 13"/>
          <p:cNvSpPr/>
          <p:nvPr/>
        </p:nvSpPr>
        <p:spPr>
          <a:xfrm>
            <a:off x="6373368" y="2221992"/>
            <a:ext cx="566928" cy="566928"/>
          </a:xfrm>
          <a:prstGeom prst="ellipse">
            <a:avLst/>
          </a:prstGeom>
          <a:solidFill>
            <a:srgbClr val="0B2AE0"/>
          </a:solidFill>
          <a:ln/>
        </p:spPr>
      </p:sp>
      <p:sp>
        <p:nvSpPr>
          <p:cNvPr id="16" name="Text 14"/>
          <p:cNvSpPr/>
          <p:nvPr/>
        </p:nvSpPr>
        <p:spPr>
          <a:xfrm>
            <a:off x="6373368"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AI</a:t>
            </a:r>
            <a:endParaRPr lang="en-US" sz="1500" dirty="0"/>
          </a:p>
        </p:txBody>
      </p:sp>
      <p:sp>
        <p:nvSpPr>
          <p:cNvPr id="17" name="Text 15"/>
          <p:cNvSpPr/>
          <p:nvPr/>
        </p:nvSpPr>
        <p:spPr>
          <a:xfrm>
            <a:off x="6373368"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AI usage credits</a:t>
            </a:r>
            <a:endParaRPr lang="en-US" sz="1650" dirty="0"/>
          </a:p>
        </p:txBody>
      </p:sp>
      <p:sp>
        <p:nvSpPr>
          <p:cNvPr id="18" name="Text 16"/>
          <p:cNvSpPr/>
          <p:nvPr/>
        </p:nvSpPr>
        <p:spPr>
          <a:xfrm>
            <a:off x="6373368"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Screening, ranking, insights, interview questions and job drafts each consume credits. Every plan includes a monthly allowance.</a:t>
            </a:r>
            <a:endParaRPr lang="en-US" sz="1250" dirty="0"/>
          </a:p>
        </p:txBody>
      </p:sp>
      <p:sp>
        <p:nvSpPr>
          <p:cNvPr id="19" name="Shape 17"/>
          <p:cNvSpPr/>
          <p:nvPr/>
        </p:nvSpPr>
        <p:spPr>
          <a:xfrm>
            <a:off x="8942832"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0" name="Shape 18"/>
          <p:cNvSpPr/>
          <p:nvPr/>
        </p:nvSpPr>
        <p:spPr>
          <a:xfrm>
            <a:off x="9171432" y="2221992"/>
            <a:ext cx="566928" cy="566928"/>
          </a:xfrm>
          <a:prstGeom prst="ellipse">
            <a:avLst/>
          </a:prstGeom>
          <a:solidFill>
            <a:srgbClr val="0B2AE0"/>
          </a:solidFill>
          <a:ln/>
        </p:spPr>
      </p:sp>
      <p:sp>
        <p:nvSpPr>
          <p:cNvPr id="21" name="Text 19"/>
          <p:cNvSpPr/>
          <p:nvPr/>
        </p:nvSpPr>
        <p:spPr>
          <a:xfrm>
            <a:off x="9171432"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2" name="Text 20"/>
          <p:cNvSpPr/>
          <p:nvPr/>
        </p:nvSpPr>
        <p:spPr>
          <a:xfrm>
            <a:off x="9171432"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Credit top-ups</a:t>
            </a:r>
            <a:endParaRPr lang="en-US" sz="1650" dirty="0"/>
          </a:p>
        </p:txBody>
      </p:sp>
      <p:sp>
        <p:nvSpPr>
          <p:cNvPr id="23" name="Text 21"/>
          <p:cNvSpPr/>
          <p:nvPr/>
        </p:nvSpPr>
        <p:spPr>
          <a:xfrm>
            <a:off x="9171432"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When the allowance runs out, workspaces buy more credits on demand, priced per action with a plan discount.</a:t>
            </a:r>
            <a:endParaRPr lang="en-US" sz="1250" dirty="0"/>
          </a:p>
        </p:txBody>
      </p:sp>
      <p:sp>
        <p:nvSpPr>
          <p:cNvPr id="24" name="Shape 22"/>
          <p:cNvSpPr/>
          <p:nvPr/>
        </p:nvSpPr>
        <p:spPr>
          <a:xfrm>
            <a:off x="548640" y="5349240"/>
            <a:ext cx="11091672" cy="868680"/>
          </a:xfrm>
          <a:prstGeom prst="roundRect">
            <a:avLst>
              <a:gd name="adj" fmla="val 12632"/>
            </a:avLst>
          </a:prstGeom>
          <a:solidFill>
            <a:srgbClr val="12132A"/>
          </a:solidFill>
          <a:ln w="12700">
            <a:solidFill>
              <a:srgbClr val="12132A"/>
            </a:solidFill>
            <a:prstDash val="solid"/>
          </a:ln>
          <a:effectLst>
            <a:outerShdw sx="100000" sy="100000" kx="0" ky="0" algn="bl" rotWithShape="0" blurRad="101600" dist="25400" dir="5400000">
              <a:srgbClr val="9AA0B5">
                <a:alpha val="18000"/>
              </a:srgbClr>
            </a:outerShdw>
          </a:effectLst>
        </p:spPr>
      </p:sp>
      <p:sp>
        <p:nvSpPr>
          <p:cNvPr id="25" name="Text 23"/>
          <p:cNvSpPr/>
          <p:nvPr/>
        </p:nvSpPr>
        <p:spPr>
          <a:xfrm>
            <a:off x="868680" y="5349240"/>
            <a:ext cx="10424160" cy="86868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No per-seat pricing.  </a:t>
            </a:r>
            <a:pPr algn="l" indent="0" marL="0">
              <a:buNone/>
            </a:pPr>
            <a:r>
              <a:rPr lang="en-US" sz="1350" dirty="0">
                <a:solidFill>
                  <a:srgbClr val="CADCFC"/>
                </a:solidFill>
                <a:latin typeface="Calibri" pitchFamily="34" charset="0"/>
                <a:ea typeface="Calibri" pitchFamily="34" charset="-122"/>
                <a:cs typeface="Calibri" pitchFamily="34" charset="-120"/>
              </a:rPr>
              <a:t>Every plan includes unlimited hiring managers, recruiters and interviewers. Growing the team never raises the bill, which removes the usual reason buyers stall on an ATS.</a:t>
            </a:r>
            <a:endParaRPr lang="en-US" sz="1350" dirty="0"/>
          </a:p>
        </p:txBody>
      </p:sp>
      <p:sp>
        <p:nvSpPr>
          <p:cNvPr id="26" name="Text 2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7" name="Text 2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PROPOSED LIST PRICES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Subscription pricing</a:t>
            </a:r>
            <a:endParaRPr lang="en-US" sz="3400" dirty="0"/>
          </a:p>
        </p:txBody>
      </p:sp>
      <p:sp>
        <p:nvSpPr>
          <p:cNvPr id="4" name="Text 2"/>
          <p:cNvSpPr/>
          <p:nvPr/>
        </p:nvSpPr>
        <p:spPr>
          <a:xfrm>
            <a:off x="548640" y="1481328"/>
            <a:ext cx="109728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All prices in Malaysian Ringgit (MYR), the workspace default. Annual = 2 months free (17% off).</a:t>
            </a:r>
            <a:endParaRPr lang="en-US" sz="1300" dirty="0"/>
          </a:p>
        </p:txBody>
      </p:sp>
      <p:sp>
        <p:nvSpPr>
          <p:cNvPr id="5" name="Shape 3"/>
          <p:cNvSpPr/>
          <p:nvPr/>
        </p:nvSpPr>
        <p:spPr>
          <a:xfrm>
            <a:off x="548640"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804672"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Launch</a:t>
            </a:r>
            <a:endParaRPr lang="en-US" sz="2000" dirty="0"/>
          </a:p>
        </p:txBody>
      </p:sp>
      <p:sp>
        <p:nvSpPr>
          <p:cNvPr id="7" name="Text 5"/>
          <p:cNvSpPr/>
          <p:nvPr/>
        </p:nvSpPr>
        <p:spPr>
          <a:xfrm>
            <a:off x="804672"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First roles</a:t>
            </a:r>
            <a:endParaRPr lang="en-US" sz="1150" dirty="0"/>
          </a:p>
        </p:txBody>
      </p:sp>
      <p:sp>
        <p:nvSpPr>
          <p:cNvPr id="8" name="Text 6"/>
          <p:cNvSpPr/>
          <p:nvPr/>
        </p:nvSpPr>
        <p:spPr>
          <a:xfrm>
            <a:off x="804672"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9" name="Text 7"/>
          <p:cNvSpPr/>
          <p:nvPr/>
        </p:nvSpPr>
        <p:spPr>
          <a:xfrm>
            <a:off x="804672"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RM83 / mo on annual</a:t>
            </a:r>
            <a:endParaRPr lang="en-US" sz="1150" dirty="0"/>
          </a:p>
        </p:txBody>
      </p:sp>
      <p:sp>
        <p:nvSpPr>
          <p:cNvPr id="10" name="Text 8"/>
          <p:cNvSpPr/>
          <p:nvPr/>
        </p:nvSpPr>
        <p:spPr>
          <a:xfrm>
            <a:off x="804672"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RM990 billed yearly</a:t>
            </a:r>
            <a:endParaRPr lang="en-US" sz="1150" dirty="0"/>
          </a:p>
        </p:txBody>
      </p:sp>
      <p:sp>
        <p:nvSpPr>
          <p:cNvPr id="11" name="Shape 9"/>
          <p:cNvSpPr/>
          <p:nvPr/>
        </p:nvSpPr>
        <p:spPr>
          <a:xfrm>
            <a:off x="804672" y="4462272"/>
            <a:ext cx="2167128" cy="0"/>
          </a:xfrm>
          <a:prstGeom prst="line">
            <a:avLst/>
          </a:prstGeom>
          <a:noFill/>
          <a:ln w="12700">
            <a:solidFill>
              <a:srgbClr val="DEDEE3"/>
            </a:solidFill>
            <a:prstDash val="solid"/>
          </a:ln>
        </p:spPr>
      </p:sp>
      <p:sp>
        <p:nvSpPr>
          <p:cNvPr id="12" name="Text 10"/>
          <p:cNvSpPr/>
          <p:nvPr/>
        </p:nvSpPr>
        <p:spPr>
          <a:xfrm>
            <a:off x="804672"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 open job</a:t>
            </a:r>
            <a:endParaRPr lang="en-US" sz="1350" dirty="0"/>
          </a:p>
        </p:txBody>
      </p:sp>
      <p:sp>
        <p:nvSpPr>
          <p:cNvPr id="13" name="Text 11"/>
          <p:cNvSpPr/>
          <p:nvPr/>
        </p:nvSpPr>
        <p:spPr>
          <a:xfrm>
            <a:off x="804672"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14" name="Text 12"/>
          <p:cNvSpPr/>
          <p:nvPr/>
        </p:nvSpPr>
        <p:spPr>
          <a:xfrm>
            <a:off x="804672"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15" name="Shape 13"/>
          <p:cNvSpPr/>
          <p:nvPr/>
        </p:nvSpPr>
        <p:spPr>
          <a:xfrm>
            <a:off x="3346704" y="2011680"/>
            <a:ext cx="2679192" cy="3657600"/>
          </a:xfrm>
          <a:prstGeom prst="roundRect">
            <a:avLst>
              <a:gd name="adj" fmla="val 4096"/>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16" name="Shape 14"/>
          <p:cNvSpPr/>
          <p:nvPr/>
        </p:nvSpPr>
        <p:spPr>
          <a:xfrm>
            <a:off x="4608576" y="2212848"/>
            <a:ext cx="1207008" cy="365760"/>
          </a:xfrm>
          <a:prstGeom prst="roundRect">
            <a:avLst>
              <a:gd name="adj" fmla="val 50000"/>
            </a:avLst>
          </a:prstGeom>
          <a:solidFill>
            <a:srgbClr val="FFFFFF"/>
          </a:solidFill>
          <a:ln/>
        </p:spPr>
      </p:sp>
      <p:sp>
        <p:nvSpPr>
          <p:cNvPr id="17" name="Text 15"/>
          <p:cNvSpPr/>
          <p:nvPr/>
        </p:nvSpPr>
        <p:spPr>
          <a:xfrm>
            <a:off x="4608576" y="2212848"/>
            <a:ext cx="1207008" cy="365760"/>
          </a:xfrm>
          <a:prstGeom prst="rect">
            <a:avLst/>
          </a:prstGeom>
          <a:noFill/>
          <a:ln/>
        </p:spPr>
        <p:txBody>
          <a:bodyPr wrap="square" lIns="0" tIns="0" rIns="0" bIns="0" rtlCol="0" anchor="ctr"/>
          <a:lstStyle/>
          <a:p>
            <a:pPr algn="ctr" indent="0" marL="0">
              <a:buNone/>
            </a:pPr>
            <a:r>
              <a:rPr lang="en-US" sz="850" b="1" spc="100" kern="0" dirty="0">
                <a:solidFill>
                  <a:srgbClr val="0B2AE0"/>
                </a:solidFill>
                <a:latin typeface="Calibri" pitchFamily="34" charset="0"/>
                <a:ea typeface="Calibri" pitchFamily="34" charset="-122"/>
                <a:cs typeface="Calibri" pitchFamily="34" charset="-120"/>
              </a:rPr>
              <a:t>MOST POPULAR</a:t>
            </a:r>
            <a:endParaRPr lang="en-US" sz="850" dirty="0"/>
          </a:p>
        </p:txBody>
      </p:sp>
      <p:sp>
        <p:nvSpPr>
          <p:cNvPr id="18" name="Text 16"/>
          <p:cNvSpPr/>
          <p:nvPr/>
        </p:nvSpPr>
        <p:spPr>
          <a:xfrm>
            <a:off x="3602736" y="2267712"/>
            <a:ext cx="2221992"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Scale</a:t>
            </a:r>
            <a:endParaRPr lang="en-US" sz="2000" dirty="0"/>
          </a:p>
        </p:txBody>
      </p:sp>
      <p:sp>
        <p:nvSpPr>
          <p:cNvPr id="19" name="Text 17"/>
          <p:cNvSpPr/>
          <p:nvPr/>
        </p:nvSpPr>
        <p:spPr>
          <a:xfrm>
            <a:off x="3602736" y="267004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Most popular</a:t>
            </a:r>
            <a:endParaRPr lang="en-US" sz="1150" dirty="0"/>
          </a:p>
        </p:txBody>
      </p:sp>
      <p:sp>
        <p:nvSpPr>
          <p:cNvPr id="20" name="Text 18"/>
          <p:cNvSpPr/>
          <p:nvPr/>
        </p:nvSpPr>
        <p:spPr>
          <a:xfrm>
            <a:off x="3602736" y="3108960"/>
            <a:ext cx="2221992"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RM599</a:t>
            </a:r>
            <a:pPr algn="l" indent="0" marL="0">
              <a:buNone/>
            </a:pPr>
            <a:r>
              <a:rPr lang="en-US" sz="1400" dirty="0">
                <a:solidFill>
                  <a:srgbClr val="CADCFC"/>
                </a:solidFill>
                <a:latin typeface="Calibri" pitchFamily="34" charset="0"/>
                <a:ea typeface="Calibri" pitchFamily="34" charset="-122"/>
                <a:cs typeface="Calibri" pitchFamily="34" charset="-120"/>
              </a:rPr>
              <a:t> /mo</a:t>
            </a:r>
            <a:endParaRPr lang="en-US" sz="3000" dirty="0"/>
          </a:p>
        </p:txBody>
      </p:sp>
      <p:sp>
        <p:nvSpPr>
          <p:cNvPr id="21" name="Text 19"/>
          <p:cNvSpPr/>
          <p:nvPr/>
        </p:nvSpPr>
        <p:spPr>
          <a:xfrm>
            <a:off x="3602736" y="367588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RM499 / mo on annual</a:t>
            </a:r>
            <a:endParaRPr lang="en-US" sz="1150" dirty="0"/>
          </a:p>
        </p:txBody>
      </p:sp>
      <p:sp>
        <p:nvSpPr>
          <p:cNvPr id="22" name="Text 20"/>
          <p:cNvSpPr/>
          <p:nvPr/>
        </p:nvSpPr>
        <p:spPr>
          <a:xfrm>
            <a:off x="3602736" y="3977640"/>
            <a:ext cx="2221992" cy="274320"/>
          </a:xfrm>
          <a:prstGeom prst="rect">
            <a:avLst/>
          </a:prstGeom>
          <a:noFill/>
          <a:ln/>
        </p:spPr>
        <p:txBody>
          <a:bodyPr wrap="square" lIns="0" tIns="0" rIns="0" bIns="0" rtlCol="0" anchor="ctr"/>
          <a:lstStyle/>
          <a:p>
            <a:pPr algn="l" indent="0" marL="0">
              <a:buNone/>
            </a:pPr>
            <a:r>
              <a:rPr lang="en-US" sz="1150" i="1" dirty="0">
                <a:solidFill>
                  <a:srgbClr val="FFFFFF"/>
                </a:solidFill>
                <a:latin typeface="Calibri" pitchFamily="34" charset="0"/>
                <a:ea typeface="Calibri" pitchFamily="34" charset="-122"/>
                <a:cs typeface="Calibri" pitchFamily="34" charset="-120"/>
              </a:rPr>
              <a:t>RM5,990 billed yearly</a:t>
            </a:r>
            <a:endParaRPr lang="en-US" sz="1150" dirty="0"/>
          </a:p>
        </p:txBody>
      </p:sp>
      <p:sp>
        <p:nvSpPr>
          <p:cNvPr id="23" name="Shape 21"/>
          <p:cNvSpPr/>
          <p:nvPr/>
        </p:nvSpPr>
        <p:spPr>
          <a:xfrm>
            <a:off x="3602736" y="4462272"/>
            <a:ext cx="2167128" cy="0"/>
          </a:xfrm>
          <a:prstGeom prst="line">
            <a:avLst/>
          </a:prstGeom>
          <a:noFill/>
          <a:ln w="12700">
            <a:solidFill>
              <a:srgbClr val="3550EE"/>
            </a:solidFill>
            <a:prstDash val="solid"/>
          </a:ln>
        </p:spPr>
      </p:sp>
      <p:sp>
        <p:nvSpPr>
          <p:cNvPr id="24" name="Text 22"/>
          <p:cNvSpPr/>
          <p:nvPr/>
        </p:nvSpPr>
        <p:spPr>
          <a:xfrm>
            <a:off x="3602736" y="4572000"/>
            <a:ext cx="2221992" cy="32004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5 open jobs</a:t>
            </a:r>
            <a:endParaRPr lang="en-US" sz="1350" dirty="0"/>
          </a:p>
        </p:txBody>
      </p:sp>
      <p:sp>
        <p:nvSpPr>
          <p:cNvPr id="25" name="Text 23"/>
          <p:cNvSpPr/>
          <p:nvPr/>
        </p:nvSpPr>
        <p:spPr>
          <a:xfrm>
            <a:off x="3602736" y="4919472"/>
            <a:ext cx="2221992" cy="320040"/>
          </a:xfrm>
          <a:prstGeom prst="rect">
            <a:avLst/>
          </a:prstGeom>
          <a:noFill/>
          <a:ln/>
        </p:spPr>
        <p:txBody>
          <a:bodyPr wrap="square" lIns="0" tIns="0" rIns="0" bIns="0" rtlCol="0" anchor="ctr"/>
          <a:lstStyle/>
          <a:p>
            <a:pPr algn="l" indent="0" marL="0">
              <a:buNone/>
            </a:pPr>
            <a:r>
              <a:rPr lang="en-US" sz="1250" dirty="0">
                <a:solidFill>
                  <a:srgbClr val="CADCFC"/>
                </a:solidFill>
                <a:latin typeface="Calibri" pitchFamily="34" charset="0"/>
                <a:ea typeface="Calibri" pitchFamily="34" charset="-122"/>
                <a:cs typeface="Calibri" pitchFamily="34" charset="-120"/>
              </a:rPr>
              <a:t>Unlimited seats</a:t>
            </a:r>
            <a:endParaRPr lang="en-US" sz="1250" dirty="0"/>
          </a:p>
        </p:txBody>
      </p:sp>
      <p:sp>
        <p:nvSpPr>
          <p:cNvPr id="26" name="Text 24"/>
          <p:cNvSpPr/>
          <p:nvPr/>
        </p:nvSpPr>
        <p:spPr>
          <a:xfrm>
            <a:off x="3602736" y="5230368"/>
            <a:ext cx="2221992" cy="320040"/>
          </a:xfrm>
          <a:prstGeom prst="rect">
            <a:avLst/>
          </a:prstGeom>
          <a:noFill/>
          <a:ln/>
        </p:spPr>
        <p:txBody>
          <a:bodyPr wrap="square" lIns="0" tIns="0" rIns="0" bIns="0" rtlCol="0" anchor="ctr"/>
          <a:lstStyle/>
          <a:p>
            <a:pPr algn="l" indent="0" marL="0">
              <a:buNone/>
            </a:pPr>
            <a:r>
              <a:rPr lang="en-US" sz="1100" i="1" dirty="0">
                <a:solidFill>
                  <a:srgbClr val="CADCFC"/>
                </a:solidFill>
                <a:latin typeface="Calibri" pitchFamily="34" charset="0"/>
                <a:ea typeface="Calibri" pitchFamily="34" charset="-122"/>
                <a:cs typeface="Calibri" pitchFamily="34" charset="-120"/>
              </a:rPr>
              <a:t>14-day free trial of Scale</a:t>
            </a:r>
            <a:endParaRPr lang="en-US" sz="1100" dirty="0"/>
          </a:p>
        </p:txBody>
      </p:sp>
      <p:sp>
        <p:nvSpPr>
          <p:cNvPr id="27" name="Shape 25"/>
          <p:cNvSpPr/>
          <p:nvPr/>
        </p:nvSpPr>
        <p:spPr>
          <a:xfrm>
            <a:off x="6144768"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8" name="Text 26"/>
          <p:cNvSpPr/>
          <p:nvPr/>
        </p:nvSpPr>
        <p:spPr>
          <a:xfrm>
            <a:off x="6400800"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Elite</a:t>
            </a:r>
            <a:endParaRPr lang="en-US" sz="2000" dirty="0"/>
          </a:p>
        </p:txBody>
      </p:sp>
      <p:sp>
        <p:nvSpPr>
          <p:cNvPr id="29" name="Text 27"/>
          <p:cNvSpPr/>
          <p:nvPr/>
        </p:nvSpPr>
        <p:spPr>
          <a:xfrm>
            <a:off x="6400800"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Hiring at volume</a:t>
            </a:r>
            <a:endParaRPr lang="en-US" sz="1150" dirty="0"/>
          </a:p>
        </p:txBody>
      </p:sp>
      <p:sp>
        <p:nvSpPr>
          <p:cNvPr id="30" name="Text 28"/>
          <p:cNvSpPr/>
          <p:nvPr/>
        </p:nvSpPr>
        <p:spPr>
          <a:xfrm>
            <a:off x="6400800"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RM1,399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000" dirty="0"/>
          </a:p>
        </p:txBody>
      </p:sp>
      <p:sp>
        <p:nvSpPr>
          <p:cNvPr id="31" name="Text 29"/>
          <p:cNvSpPr/>
          <p:nvPr/>
        </p:nvSpPr>
        <p:spPr>
          <a:xfrm>
            <a:off x="6400800"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RM1,166 / mo on annual</a:t>
            </a:r>
            <a:endParaRPr lang="en-US" sz="1150" dirty="0"/>
          </a:p>
        </p:txBody>
      </p:sp>
      <p:sp>
        <p:nvSpPr>
          <p:cNvPr id="32" name="Text 30"/>
          <p:cNvSpPr/>
          <p:nvPr/>
        </p:nvSpPr>
        <p:spPr>
          <a:xfrm>
            <a:off x="6400800"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RM13,990 billed yearly</a:t>
            </a:r>
            <a:endParaRPr lang="en-US" sz="1150" dirty="0"/>
          </a:p>
        </p:txBody>
      </p:sp>
      <p:sp>
        <p:nvSpPr>
          <p:cNvPr id="33" name="Shape 31"/>
          <p:cNvSpPr/>
          <p:nvPr/>
        </p:nvSpPr>
        <p:spPr>
          <a:xfrm>
            <a:off x="6400800" y="4462272"/>
            <a:ext cx="2167128" cy="0"/>
          </a:xfrm>
          <a:prstGeom prst="line">
            <a:avLst/>
          </a:prstGeom>
          <a:noFill/>
          <a:ln w="12700">
            <a:solidFill>
              <a:srgbClr val="DEDEE3"/>
            </a:solidFill>
            <a:prstDash val="solid"/>
          </a:ln>
        </p:spPr>
      </p:sp>
      <p:sp>
        <p:nvSpPr>
          <p:cNvPr id="34" name="Text 32"/>
          <p:cNvSpPr/>
          <p:nvPr/>
        </p:nvSpPr>
        <p:spPr>
          <a:xfrm>
            <a:off x="6400800"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10 open jobs</a:t>
            </a:r>
            <a:endParaRPr lang="en-US" sz="1350" dirty="0"/>
          </a:p>
        </p:txBody>
      </p:sp>
      <p:sp>
        <p:nvSpPr>
          <p:cNvPr id="35" name="Text 33"/>
          <p:cNvSpPr/>
          <p:nvPr/>
        </p:nvSpPr>
        <p:spPr>
          <a:xfrm>
            <a:off x="6400800"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36" name="Text 34"/>
          <p:cNvSpPr/>
          <p:nvPr/>
        </p:nvSpPr>
        <p:spPr>
          <a:xfrm>
            <a:off x="6400800"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37" name="Shape 35"/>
          <p:cNvSpPr/>
          <p:nvPr/>
        </p:nvSpPr>
        <p:spPr>
          <a:xfrm>
            <a:off x="8942832"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38" name="Text 36"/>
          <p:cNvSpPr/>
          <p:nvPr/>
        </p:nvSpPr>
        <p:spPr>
          <a:xfrm>
            <a:off x="9198864"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Enterprise</a:t>
            </a:r>
            <a:endParaRPr lang="en-US" sz="2000" dirty="0"/>
          </a:p>
        </p:txBody>
      </p:sp>
      <p:sp>
        <p:nvSpPr>
          <p:cNvPr id="39" name="Text 37"/>
          <p:cNvSpPr/>
          <p:nvPr/>
        </p:nvSpPr>
        <p:spPr>
          <a:xfrm>
            <a:off x="9198864"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Security &amp; scale</a:t>
            </a:r>
            <a:endParaRPr lang="en-US" sz="1150" dirty="0"/>
          </a:p>
        </p:txBody>
      </p:sp>
      <p:sp>
        <p:nvSpPr>
          <p:cNvPr id="40" name="Text 38"/>
          <p:cNvSpPr/>
          <p:nvPr/>
        </p:nvSpPr>
        <p:spPr>
          <a:xfrm>
            <a:off x="9198864"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Let's talk</a:t>
            </a:r>
            <a:endParaRPr lang="en-US" sz="3000" dirty="0"/>
          </a:p>
        </p:txBody>
      </p:sp>
      <p:sp>
        <p:nvSpPr>
          <p:cNvPr id="41" name="Text 39"/>
          <p:cNvSpPr/>
          <p:nvPr/>
        </p:nvSpPr>
        <p:spPr>
          <a:xfrm>
            <a:off x="9198864"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Custom solution</a:t>
            </a:r>
            <a:endParaRPr lang="en-US" sz="1150" dirty="0"/>
          </a:p>
        </p:txBody>
      </p:sp>
      <p:sp>
        <p:nvSpPr>
          <p:cNvPr id="42" name="Text 40"/>
          <p:cNvSpPr/>
          <p:nvPr/>
        </p:nvSpPr>
        <p:spPr>
          <a:xfrm>
            <a:off x="9198864" y="3977640"/>
            <a:ext cx="2221992" cy="274320"/>
          </a:xfrm>
          <a:prstGeom prst="rect">
            <a:avLst/>
          </a:prstGeom>
          <a:noFill/>
          <a:ln/>
        </p:spPr>
        <p:txBody>
          <a:bodyPr wrap="square" lIns="0" tIns="0" rIns="0" bIns="0" rtlCol="0" anchor="ctr"/>
          <a:lstStyle/>
          <a:p>
            <a:pPr algn="l" indent="0" marL="0">
              <a:buNone/>
            </a:pPr>
            <a:r>
              <a:rPr lang="en-US" sz="1150" i="1" dirty="0">
                <a:solidFill>
                  <a:srgbClr val="4A5568"/>
                </a:solidFill>
                <a:latin typeface="Calibri" pitchFamily="34" charset="0"/>
                <a:ea typeface="Calibri" pitchFamily="34" charset="-122"/>
                <a:cs typeface="Calibri" pitchFamily="34" charset="-120"/>
              </a:rPr>
              <a:t>Tailored pricing</a:t>
            </a:r>
            <a:endParaRPr lang="en-US" sz="1150" dirty="0"/>
          </a:p>
        </p:txBody>
      </p:sp>
      <p:sp>
        <p:nvSpPr>
          <p:cNvPr id="43" name="Shape 41"/>
          <p:cNvSpPr/>
          <p:nvPr/>
        </p:nvSpPr>
        <p:spPr>
          <a:xfrm>
            <a:off x="9198864" y="4462272"/>
            <a:ext cx="2167128" cy="0"/>
          </a:xfrm>
          <a:prstGeom prst="line">
            <a:avLst/>
          </a:prstGeom>
          <a:noFill/>
          <a:ln w="12700">
            <a:solidFill>
              <a:srgbClr val="DEDEE3"/>
            </a:solidFill>
            <a:prstDash val="solid"/>
          </a:ln>
        </p:spPr>
      </p:sp>
      <p:sp>
        <p:nvSpPr>
          <p:cNvPr id="44" name="Text 42"/>
          <p:cNvSpPr/>
          <p:nvPr/>
        </p:nvSpPr>
        <p:spPr>
          <a:xfrm>
            <a:off x="9198864"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Unlimited jobs</a:t>
            </a:r>
            <a:endParaRPr lang="en-US" sz="1350" dirty="0"/>
          </a:p>
        </p:txBody>
      </p:sp>
      <p:sp>
        <p:nvSpPr>
          <p:cNvPr id="45" name="Text 43"/>
          <p:cNvSpPr/>
          <p:nvPr/>
        </p:nvSpPr>
        <p:spPr>
          <a:xfrm>
            <a:off x="9198864"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46" name="Text 44"/>
          <p:cNvSpPr/>
          <p:nvPr/>
        </p:nvSpPr>
        <p:spPr>
          <a:xfrm>
            <a:off x="9198864"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47" name="Text 45"/>
          <p:cNvSpPr/>
          <p:nvPr/>
        </p:nvSpPr>
        <p:spPr>
          <a:xfrm>
            <a:off x="548640" y="5943600"/>
            <a:ext cx="105156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Free trial applies to all new signups: 14 days of Scale, no card required.</a:t>
            </a:r>
            <a:endParaRPr lang="en-US" sz="1100" dirty="0"/>
          </a:p>
        </p:txBody>
      </p:sp>
      <p:sp>
        <p:nvSpPr>
          <p:cNvPr id="48" name="Text 46"/>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49" name="Text 47"/>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MONTHLY ALLOWANCES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What's included in each tier</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3593592"/>
                <a:gridCol w="1874520"/>
                <a:gridCol w="1874520"/>
                <a:gridCol w="1874520"/>
                <a:gridCol w="1874520"/>
              </a:tblGrid>
              <a:tr h="36576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Launch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Scale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Elite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Enterprise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Open jobs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Team seats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Applicant screening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Bulk resume uploads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Rank runs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Insights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Interview questions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Job drafts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WhatsApp reminders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Self-scheduling calendar</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SSO · audit logs · white-label</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Support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Priority</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Dedicated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5" name="Text 2"/>
          <p:cNvSpPr/>
          <p:nvPr/>
        </p:nvSpPr>
        <p:spPr>
          <a:xfrm>
            <a:off x="548640" y="640080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Job drafts are sold only as credits on every tier, including Enterprise, so drafting is pure add-on revenue.</a:t>
            </a:r>
            <a:endParaRPr lang="en-US" sz="1000" dirty="0"/>
          </a:p>
        </p:txBody>
      </p:sp>
      <p:sp>
        <p:nvSpPr>
          <p:cNvPr id="6" name="Text 3"/>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7" name="Text 4"/>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WHY THE BUNDLE DRIVES UPGRADES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included AI is worth 4–5× the plan price</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Priced at list credit rates, each tier's monthly allowance is worth far more than the subscription. That gap is the upgrade story, and it is affordable because the underlying AI cost is a few cents per action (next slide).</a:t>
            </a:r>
            <a:endParaRPr lang="en-US" sz="1400" dirty="0"/>
          </a:p>
        </p:txBody>
      </p:sp>
      <p:sp>
        <p:nvSpPr>
          <p:cNvPr id="5" name="Shape 3"/>
          <p:cNvSpPr/>
          <p:nvPr/>
        </p:nvSpPr>
        <p:spPr>
          <a:xfrm>
            <a:off x="86868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4300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Launch</a:t>
            </a:r>
            <a:endParaRPr lang="en-US" sz="1800" dirty="0"/>
          </a:p>
        </p:txBody>
      </p:sp>
      <p:sp>
        <p:nvSpPr>
          <p:cNvPr id="7" name="Text 5"/>
          <p:cNvSpPr/>
          <p:nvPr/>
        </p:nvSpPr>
        <p:spPr>
          <a:xfrm>
            <a:off x="288036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4.8×</a:t>
            </a:r>
            <a:endParaRPr lang="en-US" sz="2400" dirty="0"/>
          </a:p>
        </p:txBody>
      </p:sp>
      <p:sp>
        <p:nvSpPr>
          <p:cNvPr id="8" name="Text 6"/>
          <p:cNvSpPr/>
          <p:nvPr/>
        </p:nvSpPr>
        <p:spPr>
          <a:xfrm>
            <a:off x="269748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9" name="Text 7"/>
          <p:cNvSpPr/>
          <p:nvPr/>
        </p:nvSpPr>
        <p:spPr>
          <a:xfrm>
            <a:off x="114300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0" name="Text 8"/>
          <p:cNvSpPr/>
          <p:nvPr/>
        </p:nvSpPr>
        <p:spPr>
          <a:xfrm>
            <a:off x="114300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RM474</a:t>
            </a:r>
            <a:endParaRPr lang="en-US" sz="2800" dirty="0"/>
          </a:p>
        </p:txBody>
      </p:sp>
      <p:sp>
        <p:nvSpPr>
          <p:cNvPr id="11" name="Shape 9"/>
          <p:cNvSpPr/>
          <p:nvPr/>
        </p:nvSpPr>
        <p:spPr>
          <a:xfrm>
            <a:off x="1143000" y="4526280"/>
            <a:ext cx="2834640" cy="0"/>
          </a:xfrm>
          <a:prstGeom prst="line">
            <a:avLst/>
          </a:prstGeom>
          <a:noFill/>
          <a:ln w="12700">
            <a:solidFill>
              <a:srgbClr val="DEDEE3"/>
            </a:solidFill>
            <a:prstDash val="solid"/>
          </a:ln>
        </p:spPr>
      </p:sp>
      <p:sp>
        <p:nvSpPr>
          <p:cNvPr id="12" name="Text 10"/>
          <p:cNvSpPr/>
          <p:nvPr/>
        </p:nvSpPr>
        <p:spPr>
          <a:xfrm>
            <a:off x="114300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13" name="Text 11"/>
          <p:cNvSpPr/>
          <p:nvPr/>
        </p:nvSpPr>
        <p:spPr>
          <a:xfrm>
            <a:off x="114300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RM99</a:t>
            </a:r>
            <a:endParaRPr lang="en-US" sz="2400" dirty="0"/>
          </a:p>
        </p:txBody>
      </p:sp>
      <p:sp>
        <p:nvSpPr>
          <p:cNvPr id="14" name="Shape 12"/>
          <p:cNvSpPr/>
          <p:nvPr/>
        </p:nvSpPr>
        <p:spPr>
          <a:xfrm>
            <a:off x="457200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484632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Scale</a:t>
            </a:r>
            <a:endParaRPr lang="en-US" sz="1800" dirty="0"/>
          </a:p>
        </p:txBody>
      </p:sp>
      <p:sp>
        <p:nvSpPr>
          <p:cNvPr id="16" name="Text 14"/>
          <p:cNvSpPr/>
          <p:nvPr/>
        </p:nvSpPr>
        <p:spPr>
          <a:xfrm>
            <a:off x="658368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4.2×</a:t>
            </a:r>
            <a:endParaRPr lang="en-US" sz="2400" dirty="0"/>
          </a:p>
        </p:txBody>
      </p:sp>
      <p:sp>
        <p:nvSpPr>
          <p:cNvPr id="17" name="Text 15"/>
          <p:cNvSpPr/>
          <p:nvPr/>
        </p:nvSpPr>
        <p:spPr>
          <a:xfrm>
            <a:off x="640080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18" name="Text 16"/>
          <p:cNvSpPr/>
          <p:nvPr/>
        </p:nvSpPr>
        <p:spPr>
          <a:xfrm>
            <a:off x="484632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9" name="Text 17"/>
          <p:cNvSpPr/>
          <p:nvPr/>
        </p:nvSpPr>
        <p:spPr>
          <a:xfrm>
            <a:off x="484632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RM2,511</a:t>
            </a:r>
            <a:endParaRPr lang="en-US" sz="2800" dirty="0"/>
          </a:p>
        </p:txBody>
      </p:sp>
      <p:sp>
        <p:nvSpPr>
          <p:cNvPr id="20" name="Shape 18"/>
          <p:cNvSpPr/>
          <p:nvPr/>
        </p:nvSpPr>
        <p:spPr>
          <a:xfrm>
            <a:off x="4846320" y="4526280"/>
            <a:ext cx="2834640" cy="0"/>
          </a:xfrm>
          <a:prstGeom prst="line">
            <a:avLst/>
          </a:prstGeom>
          <a:noFill/>
          <a:ln w="12700">
            <a:solidFill>
              <a:srgbClr val="DEDEE3"/>
            </a:solidFill>
            <a:prstDash val="solid"/>
          </a:ln>
        </p:spPr>
      </p:sp>
      <p:sp>
        <p:nvSpPr>
          <p:cNvPr id="21" name="Text 19"/>
          <p:cNvSpPr/>
          <p:nvPr/>
        </p:nvSpPr>
        <p:spPr>
          <a:xfrm>
            <a:off x="484632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22" name="Text 20"/>
          <p:cNvSpPr/>
          <p:nvPr/>
        </p:nvSpPr>
        <p:spPr>
          <a:xfrm>
            <a:off x="484632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RM599</a:t>
            </a:r>
            <a:endParaRPr lang="en-US" sz="2400" dirty="0"/>
          </a:p>
        </p:txBody>
      </p:sp>
      <p:sp>
        <p:nvSpPr>
          <p:cNvPr id="23" name="Shape 21"/>
          <p:cNvSpPr/>
          <p:nvPr/>
        </p:nvSpPr>
        <p:spPr>
          <a:xfrm>
            <a:off x="827532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4" name="Text 22"/>
          <p:cNvSpPr/>
          <p:nvPr/>
        </p:nvSpPr>
        <p:spPr>
          <a:xfrm>
            <a:off x="854964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Elite</a:t>
            </a:r>
            <a:endParaRPr lang="en-US" sz="1800" dirty="0"/>
          </a:p>
        </p:txBody>
      </p:sp>
      <p:sp>
        <p:nvSpPr>
          <p:cNvPr id="25" name="Text 23"/>
          <p:cNvSpPr/>
          <p:nvPr/>
        </p:nvSpPr>
        <p:spPr>
          <a:xfrm>
            <a:off x="1028700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3.8×</a:t>
            </a:r>
            <a:endParaRPr lang="en-US" sz="2400" dirty="0"/>
          </a:p>
        </p:txBody>
      </p:sp>
      <p:sp>
        <p:nvSpPr>
          <p:cNvPr id="26" name="Text 24"/>
          <p:cNvSpPr/>
          <p:nvPr/>
        </p:nvSpPr>
        <p:spPr>
          <a:xfrm>
            <a:off x="1010412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27" name="Text 25"/>
          <p:cNvSpPr/>
          <p:nvPr/>
        </p:nvSpPr>
        <p:spPr>
          <a:xfrm>
            <a:off x="854964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28" name="Text 26"/>
          <p:cNvSpPr/>
          <p:nvPr/>
        </p:nvSpPr>
        <p:spPr>
          <a:xfrm>
            <a:off x="8549640" y="3904488"/>
            <a:ext cx="2834640" cy="502920"/>
          </a:xfrm>
          <a:prstGeom prst="rect">
            <a:avLst/>
          </a:prstGeom>
          <a:noFill/>
          <a:ln/>
        </p:spPr>
        <p:txBody>
          <a:bodyPr wrap="square" lIns="0" tIns="0" rIns="0" bIns="0" rtlCol="0" anchor="ctr"/>
          <a:lstStyle/>
          <a:p>
            <a:pPr algn="l" indent="0" marL="0">
              <a:buNone/>
            </a:pPr>
            <a:r>
              <a:rPr lang="en-US" sz="2800" b="1" dirty="0">
                <a:solidFill>
                  <a:srgbClr val="0B2AE0"/>
                </a:solidFill>
                <a:latin typeface="Calibri" pitchFamily="34" charset="0"/>
                <a:ea typeface="Calibri" pitchFamily="34" charset="-122"/>
                <a:cs typeface="Calibri" pitchFamily="34" charset="-120"/>
              </a:rPr>
              <a:t>RM5,317</a:t>
            </a:r>
            <a:endParaRPr lang="en-US" sz="2800" dirty="0"/>
          </a:p>
        </p:txBody>
      </p:sp>
      <p:sp>
        <p:nvSpPr>
          <p:cNvPr id="29" name="Shape 27"/>
          <p:cNvSpPr/>
          <p:nvPr/>
        </p:nvSpPr>
        <p:spPr>
          <a:xfrm>
            <a:off x="8549640" y="4526280"/>
            <a:ext cx="2834640" cy="0"/>
          </a:xfrm>
          <a:prstGeom prst="line">
            <a:avLst/>
          </a:prstGeom>
          <a:noFill/>
          <a:ln w="12700">
            <a:solidFill>
              <a:srgbClr val="DEDEE3"/>
            </a:solidFill>
            <a:prstDash val="solid"/>
          </a:ln>
        </p:spPr>
      </p:sp>
      <p:sp>
        <p:nvSpPr>
          <p:cNvPr id="30" name="Text 28"/>
          <p:cNvSpPr/>
          <p:nvPr/>
        </p:nvSpPr>
        <p:spPr>
          <a:xfrm>
            <a:off x="854964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31" name="Text 29"/>
          <p:cNvSpPr/>
          <p:nvPr/>
        </p:nvSpPr>
        <p:spPr>
          <a:xfrm>
            <a:off x="854964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RM1,399</a:t>
            </a:r>
            <a:endParaRPr lang="en-US" sz="2400" dirty="0"/>
          </a:p>
        </p:txBody>
      </p:sp>
      <p:sp>
        <p:nvSpPr>
          <p:cNvPr id="32" name="Text 30"/>
          <p:cNvSpPr/>
          <p:nvPr/>
        </p:nvSpPr>
        <p:spPr>
          <a:xfrm>
            <a:off x="548640" y="5806440"/>
            <a:ext cx="10972800" cy="27432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Included value = monthly allowance priced at list credit rates (RM4.09 screening · RM1.64 AI Rank / Insight / Questions).</a:t>
            </a:r>
            <a:endParaRPr lang="en-US" sz="1050" dirty="0"/>
          </a:p>
        </p:txBody>
      </p:sp>
      <p:sp>
        <p:nvSpPr>
          <p:cNvPr id="33" name="Text 3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34" name="Text 3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USAGE-BASED REVENUE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 pricing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760720" cy="914400"/>
        </p:xfrm>
        <a:graphic>
          <a:graphicData uri="http://schemas.openxmlformats.org/drawingml/2006/table">
            <a:tbl>
              <a:tblPr/>
              <a:tblGrid>
                <a:gridCol w="3749040"/>
                <a:gridCol w="2011680"/>
              </a:tblGrid>
              <a:tr h="47548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Credit</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List price (MYR)</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Applicant / resume screening</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RM4.09</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Rank</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Insight</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Interview questions</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RM1.64</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Job draft (Opus)</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RM2.05</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800600"/>
            <a:ext cx="5760720" cy="274320"/>
          </a:xfrm>
          <a:prstGeom prst="rect">
            <a:avLst/>
          </a:prstGeom>
          <a:noFill/>
          <a:ln/>
        </p:spPr>
        <p:txBody>
          <a:bodyPr wrap="square" lIns="0" tIns="0" rIns="0" bIns="0" rtlCol="0" anchor="ctr"/>
          <a:lstStyle/>
          <a:p>
            <a:pPr algn="l" indent="0" marL="0">
              <a:buNone/>
            </a:pPr>
            <a:r>
              <a:rPr lang="en-US" sz="1200" b="1" dirty="0">
                <a:solidFill>
                  <a:srgbClr val="12132A"/>
                </a:solidFill>
                <a:latin typeface="Calibri" pitchFamily="34" charset="0"/>
                <a:ea typeface="Calibri" pitchFamily="34" charset="-122"/>
                <a:cs typeface="Calibri" pitchFamily="34" charset="-120"/>
              </a:rPr>
              <a:t>Formula (computed server-side, never trusted from the client):</a:t>
            </a:r>
            <a:endParaRPr lang="en-US" sz="1200" dirty="0"/>
          </a:p>
        </p:txBody>
      </p:sp>
      <p:sp>
        <p:nvSpPr>
          <p:cNvPr id="6" name="Shape 3"/>
          <p:cNvSpPr/>
          <p:nvPr/>
        </p:nvSpPr>
        <p:spPr>
          <a:xfrm>
            <a:off x="548640" y="5120640"/>
            <a:ext cx="5760720" cy="685800"/>
          </a:xfrm>
          <a:prstGeom prst="roundRect">
            <a:avLst>
              <a:gd name="adj" fmla="val 13333"/>
            </a:avLst>
          </a:prstGeom>
          <a:solidFill>
            <a:srgbClr val="EAEEFE"/>
          </a:solidFill>
          <a:ln w="12700">
            <a:solidFill>
              <a:srgbClr val="D7DEFB"/>
            </a:solidFill>
            <a:prstDash val="solid"/>
          </a:ln>
        </p:spPr>
      </p:sp>
      <p:sp>
        <p:nvSpPr>
          <p:cNvPr id="7" name="Text 4"/>
          <p:cNvSpPr/>
          <p:nvPr/>
        </p:nvSpPr>
        <p:spPr>
          <a:xfrm>
            <a:off x="640080" y="5120640"/>
            <a:ext cx="5577840" cy="685800"/>
          </a:xfrm>
          <a:prstGeom prst="rect">
            <a:avLst/>
          </a:prstGeom>
          <a:noFill/>
          <a:ln/>
        </p:spPr>
        <p:txBody>
          <a:bodyPr wrap="square" lIns="0" tIns="0" rIns="0" bIns="0" rtlCol="0" anchor="ctr"/>
          <a:lstStyle/>
          <a:p>
            <a:pPr algn="ctr" indent="0" marL="0">
              <a:buNone/>
            </a:pPr>
            <a:r>
              <a:rPr lang="en-US" sz="1400" b="1" dirty="0">
                <a:solidFill>
                  <a:srgbClr val="0B2AE0"/>
                </a:solidFill>
                <a:latin typeface="Calibri" pitchFamily="34" charset="0"/>
                <a:ea typeface="Calibri" pitchFamily="34" charset="-122"/>
                <a:cs typeface="Calibri" pitchFamily="34" charset="-120"/>
              </a:rPr>
              <a:t>price  =  base USD  ×  FX rate  ×  (1 − plan discount)</a:t>
            </a:r>
            <a:endParaRPr lang="en-US" sz="1400" dirty="0"/>
          </a:p>
        </p:txBody>
      </p:sp>
      <p:sp>
        <p:nvSpPr>
          <p:cNvPr id="8" name="Shape 5"/>
          <p:cNvSpPr/>
          <p:nvPr/>
        </p:nvSpPr>
        <p:spPr>
          <a:xfrm>
            <a:off x="6583680" y="1737360"/>
            <a:ext cx="5056632" cy="1920240"/>
          </a:xfrm>
          <a:prstGeom prst="roundRect">
            <a:avLst>
              <a:gd name="adj" fmla="val 571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6"/>
          <p:cNvSpPr/>
          <p:nvPr/>
        </p:nvSpPr>
        <p:spPr>
          <a:xfrm>
            <a:off x="6858000" y="192024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Plan discount on credits</a:t>
            </a:r>
            <a:endParaRPr lang="en-US" sz="1500" dirty="0"/>
          </a:p>
        </p:txBody>
      </p:sp>
      <p:sp>
        <p:nvSpPr>
          <p:cNvPr id="10" name="Text 7"/>
          <p:cNvSpPr/>
          <p:nvPr/>
        </p:nvSpPr>
        <p:spPr>
          <a:xfrm>
            <a:off x="6858000" y="233172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Launch</a:t>
            </a:r>
            <a:endParaRPr lang="en-US" sz="1300" dirty="0"/>
          </a:p>
        </p:txBody>
      </p:sp>
      <p:sp>
        <p:nvSpPr>
          <p:cNvPr id="11" name="Text 8"/>
          <p:cNvSpPr/>
          <p:nvPr/>
        </p:nvSpPr>
        <p:spPr>
          <a:xfrm>
            <a:off x="10058400" y="2331720"/>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0%</a:t>
            </a:r>
            <a:endParaRPr lang="en-US" sz="1400" dirty="0"/>
          </a:p>
        </p:txBody>
      </p:sp>
      <p:sp>
        <p:nvSpPr>
          <p:cNvPr id="12" name="Text 9"/>
          <p:cNvSpPr/>
          <p:nvPr/>
        </p:nvSpPr>
        <p:spPr>
          <a:xfrm>
            <a:off x="6858000" y="271576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Scale</a:t>
            </a:r>
            <a:endParaRPr lang="en-US" sz="1300" dirty="0"/>
          </a:p>
        </p:txBody>
      </p:sp>
      <p:sp>
        <p:nvSpPr>
          <p:cNvPr id="13" name="Text 10"/>
          <p:cNvSpPr/>
          <p:nvPr/>
        </p:nvSpPr>
        <p:spPr>
          <a:xfrm>
            <a:off x="10058400" y="2715768"/>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10%</a:t>
            </a:r>
            <a:endParaRPr lang="en-US" sz="1400" dirty="0"/>
          </a:p>
        </p:txBody>
      </p:sp>
      <p:sp>
        <p:nvSpPr>
          <p:cNvPr id="14" name="Text 11"/>
          <p:cNvSpPr/>
          <p:nvPr/>
        </p:nvSpPr>
        <p:spPr>
          <a:xfrm>
            <a:off x="6858000" y="309981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Elite / Enterprise</a:t>
            </a:r>
            <a:endParaRPr lang="en-US" sz="1300" dirty="0"/>
          </a:p>
        </p:txBody>
      </p:sp>
      <p:sp>
        <p:nvSpPr>
          <p:cNvPr id="15" name="Text 12"/>
          <p:cNvSpPr/>
          <p:nvPr/>
        </p:nvSpPr>
        <p:spPr>
          <a:xfrm>
            <a:off x="10058400" y="3099816"/>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20%</a:t>
            </a:r>
            <a:endParaRPr lang="en-US" sz="1400" dirty="0"/>
          </a:p>
        </p:txBody>
      </p:sp>
      <p:sp>
        <p:nvSpPr>
          <p:cNvPr id="16" name="Shape 13"/>
          <p:cNvSpPr/>
          <p:nvPr/>
        </p:nvSpPr>
        <p:spPr>
          <a:xfrm>
            <a:off x="6583680" y="3840480"/>
            <a:ext cx="5056632" cy="1965960"/>
          </a:xfrm>
          <a:prstGeom prst="roundRect">
            <a:avLst>
              <a:gd name="adj" fmla="val 5581"/>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7" name="Text 14"/>
          <p:cNvSpPr/>
          <p:nvPr/>
        </p:nvSpPr>
        <p:spPr>
          <a:xfrm>
            <a:off x="6858000" y="402336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Currency (FX rate vs USD)</a:t>
            </a:r>
            <a:endParaRPr lang="en-US" sz="1500" dirty="0"/>
          </a:p>
        </p:txBody>
      </p:sp>
      <p:sp>
        <p:nvSpPr>
          <p:cNvPr id="18" name="Text 15"/>
          <p:cNvSpPr/>
          <p:nvPr/>
        </p:nvSpPr>
        <p:spPr>
          <a:xfrm>
            <a:off x="6858000" y="443484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USD</a:t>
            </a:r>
            <a:endParaRPr lang="en-US" sz="1300" dirty="0"/>
          </a:p>
        </p:txBody>
      </p:sp>
      <p:sp>
        <p:nvSpPr>
          <p:cNvPr id="19" name="Text 16"/>
          <p:cNvSpPr/>
          <p:nvPr/>
        </p:nvSpPr>
        <p:spPr>
          <a:xfrm>
            <a:off x="10058400" y="4434840"/>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1.00</a:t>
            </a:r>
            <a:endParaRPr lang="en-US" sz="1400" dirty="0"/>
          </a:p>
        </p:txBody>
      </p:sp>
      <p:sp>
        <p:nvSpPr>
          <p:cNvPr id="20" name="Text 17"/>
          <p:cNvSpPr/>
          <p:nvPr/>
        </p:nvSpPr>
        <p:spPr>
          <a:xfrm>
            <a:off x="6858000" y="481888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MYR (default)</a:t>
            </a:r>
            <a:endParaRPr lang="en-US" sz="1300" dirty="0"/>
          </a:p>
        </p:txBody>
      </p:sp>
      <p:sp>
        <p:nvSpPr>
          <p:cNvPr id="21" name="Text 18"/>
          <p:cNvSpPr/>
          <p:nvPr/>
        </p:nvSpPr>
        <p:spPr>
          <a:xfrm>
            <a:off x="10058400" y="4818888"/>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4.09</a:t>
            </a:r>
            <a:endParaRPr lang="en-US" sz="1400" dirty="0"/>
          </a:p>
        </p:txBody>
      </p:sp>
      <p:sp>
        <p:nvSpPr>
          <p:cNvPr id="22" name="Text 19"/>
          <p:cNvSpPr/>
          <p:nvPr/>
        </p:nvSpPr>
        <p:spPr>
          <a:xfrm>
            <a:off x="6858000" y="520293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SGD</a:t>
            </a:r>
            <a:endParaRPr lang="en-US" sz="1300" dirty="0"/>
          </a:p>
        </p:txBody>
      </p:sp>
      <p:sp>
        <p:nvSpPr>
          <p:cNvPr id="23" name="Text 20"/>
          <p:cNvSpPr/>
          <p:nvPr/>
        </p:nvSpPr>
        <p:spPr>
          <a:xfrm>
            <a:off x="10058400" y="5202936"/>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1.29</a:t>
            </a:r>
            <a:endParaRPr lang="en-US" sz="1400" dirty="0"/>
          </a:p>
        </p:txBody>
      </p:sp>
      <p:sp>
        <p:nvSpPr>
          <p:cNvPr id="24" name="Text 2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5" name="Text 2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COST OF GOODS, PER ACTION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each AI credit costs us to serve</a:t>
            </a:r>
            <a:endParaRPr lang="en-US" sz="3400" dirty="0"/>
          </a:p>
        </p:txBody>
      </p:sp>
      <p:sp>
        <p:nvSpPr>
          <p:cNvPr id="4" name="Text 2"/>
          <p:cNvSpPr/>
          <p:nvPr/>
        </p:nvSpPr>
        <p:spPr>
          <a:xfrm>
            <a:off x="548640" y="1463040"/>
            <a:ext cx="11064240" cy="5486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Each action runs on a specific Claude model. Costs below use standard model pricing; "max" assumes a full-length output plus web-search company lookups. Even at the maximum, every credit keeps most of its price.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7635240" cy="914400"/>
        </p:xfrm>
        <a:graphic>
          <a:graphicData uri="http://schemas.openxmlformats.org/drawingml/2006/table">
            <a:tbl>
              <a:tblPr/>
              <a:tblGrid>
                <a:gridCol w="2286000"/>
                <a:gridCol w="960120"/>
                <a:gridCol w="914400"/>
                <a:gridCol w="1097280"/>
                <a:gridCol w="1005840"/>
                <a:gridCol w="1371600"/>
              </a:tblGrid>
              <a:tr h="4572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Credit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Runs on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Sells for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Typical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Max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 at max</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Resume / applicant screening</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RM4.09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~RM0.16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~RM0.57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86%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Rank</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Insight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Haiku 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97%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Interview questions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Haiku 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RM1.64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97%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Job draft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Opus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RM2.05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~RM0.29</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~RM0.45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78%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6" name="Shape 3"/>
          <p:cNvSpPr/>
          <p:nvPr/>
        </p:nvSpPr>
        <p:spPr>
          <a:xfrm>
            <a:off x="8458200" y="2148840"/>
            <a:ext cx="3182112" cy="3291840"/>
          </a:xfrm>
          <a:prstGeom prst="roundRect">
            <a:avLst>
              <a:gd name="adj" fmla="val 3448"/>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686800" y="2331720"/>
            <a:ext cx="2743200" cy="274320"/>
          </a:xfrm>
          <a:prstGeom prst="rect">
            <a:avLst/>
          </a:prstGeom>
          <a:noFill/>
          <a:ln/>
        </p:spPr>
        <p:txBody>
          <a:bodyPr wrap="square" lIns="0" tIns="0" rIns="0" bIns="0" rtlCol="0" anchor="ctr"/>
          <a:lstStyle/>
          <a:p>
            <a:pPr algn="l" indent="0" marL="0">
              <a:buNone/>
            </a:pPr>
            <a:r>
              <a:rPr lang="en-US" sz="1100" b="1" spc="150" kern="0" dirty="0">
                <a:solidFill>
                  <a:srgbClr val="0B2AE0"/>
                </a:solidFill>
                <a:latin typeface="Calibri" pitchFamily="34" charset="0"/>
                <a:ea typeface="Calibri" pitchFamily="34" charset="-122"/>
                <a:cs typeface="Calibri" pitchFamily="34" charset="-120"/>
              </a:rPr>
              <a:t>WORKED EXAMPLE</a:t>
            </a:r>
            <a:endParaRPr lang="en-US" sz="1100" dirty="0"/>
          </a:p>
        </p:txBody>
      </p:sp>
      <p:sp>
        <p:nvSpPr>
          <p:cNvPr id="8" name="Text 5"/>
          <p:cNvSpPr/>
          <p:nvPr/>
        </p:nvSpPr>
        <p:spPr>
          <a:xfrm>
            <a:off x="8686800" y="2606040"/>
            <a:ext cx="274320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A 3-page resume</a:t>
            </a:r>
            <a:endParaRPr lang="en-US" sz="1800" dirty="0"/>
          </a:p>
        </p:txBody>
      </p:sp>
      <p:sp>
        <p:nvSpPr>
          <p:cNvPr id="9" name="Text 6"/>
          <p:cNvSpPr/>
          <p:nvPr/>
        </p:nvSpPr>
        <p:spPr>
          <a:xfrm>
            <a:off x="8686800" y="3017520"/>
            <a:ext cx="2743200" cy="2286000"/>
          </a:xfrm>
          <a:prstGeom prst="rect">
            <a:avLst/>
          </a:prstGeom>
          <a:noFill/>
          <a:ln/>
        </p:spPr>
        <p:txBody>
          <a:bodyPr wrap="square" lIns="0" tIns="0" rIns="0" bIns="0" rtlCol="0" anchor="t"/>
          <a:lstStyle/>
          <a:p>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Screening runs on Sonnet 5. A 3-page resume plus the parsing prompt is a small request: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Typical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~RM0.16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Worst case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~RM0.57</a:t>
            </a:r>
            <a:pPr algn="l" indent="0" marL="0">
              <a:lnSpc>
                <a:spcPct val="105000"/>
              </a:lnSpc>
              <a:buNone/>
            </a:pPr>
            <a:r>
              <a:rPr lang="en-US" sz="1100" dirty="0">
                <a:solidFill>
                  <a:srgbClr val="6B7280"/>
                </a:solidFill>
                <a:latin typeface="Calibri" pitchFamily="34" charset="0"/>
                <a:ea typeface="Calibri" pitchFamily="34" charset="-122"/>
                <a:cs typeface="Calibri" pitchFamily="34" charset="-120"/>
              </a:rPr>
              <a:t>  (page images + web-search company lookups + full output)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Sold for </a:t>
            </a:r>
            <a:pPr algn="l" indent="0" marL="0">
              <a:lnSpc>
                <a:spcPct val="105000"/>
              </a:lnSpc>
              <a:buNone/>
            </a:pPr>
            <a:r>
              <a:rPr lang="en-US" sz="1250" b="1" dirty="0">
                <a:solidFill>
                  <a:srgbClr val="0B2AE0"/>
                </a:solidFill>
                <a:latin typeface="Calibri" pitchFamily="34" charset="0"/>
                <a:ea typeface="Calibri" pitchFamily="34" charset="-122"/>
                <a:cs typeface="Calibri" pitchFamily="34" charset="-120"/>
              </a:rPr>
              <a:t>RM4.09</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 → you keep </a:t>
            </a:r>
            <a:pPr algn="l" indent="0" marL="0">
              <a:lnSpc>
                <a:spcPct val="105000"/>
              </a:lnSpc>
              <a:buNone/>
            </a:pPr>
            <a:r>
              <a:rPr lang="en-US" sz="1250" b="1" dirty="0">
                <a:solidFill>
                  <a:srgbClr val="16A34A"/>
                </a:solidFill>
                <a:latin typeface="Calibri" pitchFamily="34" charset="0"/>
                <a:ea typeface="Calibri" pitchFamily="34" charset="-122"/>
                <a:cs typeface="Calibri" pitchFamily="34" charset="-120"/>
              </a:rPr>
              <a:t>86% even in the worst case.</a:t>
            </a:r>
            <a:endParaRPr lang="en-US" sz="1250" dirty="0"/>
          </a:p>
        </p:txBody>
      </p:sp>
      <p:sp>
        <p:nvSpPr>
          <p:cNvPr id="10" name="Shape 7"/>
          <p:cNvSpPr/>
          <p:nvPr/>
        </p:nvSpPr>
        <p:spPr>
          <a:xfrm>
            <a:off x="548640" y="4956048"/>
            <a:ext cx="7635240" cy="749808"/>
          </a:xfrm>
          <a:prstGeom prst="roundRect">
            <a:avLst>
              <a:gd name="adj" fmla="val 1463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1" name="Text 8"/>
          <p:cNvSpPr/>
          <p:nvPr/>
        </p:nvSpPr>
        <p:spPr>
          <a:xfrm>
            <a:off x="777240" y="4956048"/>
            <a:ext cx="7178040" cy="749808"/>
          </a:xfrm>
          <a:prstGeom prst="rect">
            <a:avLst/>
          </a:prstGeom>
          <a:noFill/>
          <a:ln/>
        </p:spPr>
        <p:txBody>
          <a:bodyPr wrap="square" lIns="0" tIns="0" rIns="0" bIns="0" rtlCol="0" anchor="ctr"/>
          <a:lstStyle/>
          <a:p>
            <a:pPr algn="l" indent="0" marL="0">
              <a:buNone/>
            </a:pPr>
            <a:r>
              <a:rPr lang="en-US" sz="1150" b="1" dirty="0">
                <a:solidFill>
                  <a:srgbClr val="0B2AE0"/>
                </a:solidFill>
                <a:latin typeface="Calibri" pitchFamily="34" charset="0"/>
                <a:ea typeface="Calibri" pitchFamily="34" charset="-122"/>
                <a:cs typeface="Calibri" pitchFamily="34" charset="-120"/>
              </a:rPr>
              <a:t>How AI Rank is metered:  </a:t>
            </a:r>
            <a:pPr algn="l" indent="0" marL="0">
              <a:buNone/>
            </a:pPr>
            <a:r>
              <a:rPr lang="en-US" sz="1150" dirty="0">
                <a:solidFill>
                  <a:srgbClr val="4A5568"/>
                </a:solidFill>
                <a:latin typeface="Calibri" pitchFamily="34" charset="0"/>
                <a:ea typeface="Calibri" pitchFamily="34" charset="-122"/>
                <a:cs typeface="Calibri" pitchFamily="34" charset="-120"/>
              </a:rPr>
              <a:t>1 credit per 10 candidates (50 in Candidate Search). Re-ranking re-scores the whole pool as one Claude call, so it re-charges by batch size, 11 candidates = 2 credits. One call covers a batch, so margin rises with batch size.</a:t>
            </a:r>
            <a:endParaRPr lang="en-US" sz="1150" dirty="0"/>
          </a:p>
        </p:txBody>
      </p:sp>
      <p:sp>
        <p:nvSpPr>
          <p:cNvPr id="12" name="Text 9"/>
          <p:cNvSpPr/>
          <p:nvPr/>
        </p:nvSpPr>
        <p:spPr>
          <a:xfrm>
            <a:off x="548640" y="5852160"/>
            <a:ext cx="11064240" cy="45720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Claude API is billed in USD (Sonnet 5 $3/$15, Opus 5 $5/$25, Haiku 4.5 $1/$5 per 1M tokens), converted here at RM4.09/USD. Web search ≈ RM0.04 per lookup. Sonnet's intro $2/$10 rate (through 31 Aug) is a near-term tailwind; a weaker ringgit is a risk (see slide 13).</a:t>
            </a:r>
            <a:endParaRPr lang="en-US" sz="1000" dirty="0"/>
          </a:p>
        </p:txBody>
      </p:sp>
      <p:sp>
        <p:nvSpPr>
          <p:cNvPr id="13" name="Text 10"/>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4" name="Text 11"/>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WHAT IT COSTS TO RUN A WORKSPACE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full cost stack</a:t>
            </a:r>
            <a:endParaRPr lang="en-US" sz="3400" dirty="0"/>
          </a:p>
        </p:txBody>
      </p:sp>
      <p:sp>
        <p:nvSpPr>
          <p:cNvPr id="4" name="Text 2"/>
          <p:cNvSpPr/>
          <p:nvPr/>
        </p:nvSpPr>
        <p:spPr>
          <a:xfrm>
            <a:off x="548640" y="1463040"/>
            <a:ext cx="1106424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Every workspace draws on a handful of paid services. All are Aster's cost except WhatsApp, which runs on the customer's own Meta account.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7863840" cy="914400"/>
        </p:xfrm>
        <a:graphic>
          <a:graphicData uri="http://schemas.openxmlformats.org/drawingml/2006/table">
            <a:tbl>
              <a:tblPr/>
              <a:tblGrid>
                <a:gridCol w="2194560"/>
                <a:gridCol w="1783080"/>
                <a:gridCol w="2514600"/>
                <a:gridCol w="1371600"/>
              </a:tblGrid>
              <a:tr h="45720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Cost driver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Provider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Basis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Who pays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AI inference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Anthropic (Claude)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Per action, from tokens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Transactional email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Resend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 RM0.004 / email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Video interviews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Daily.co</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RM0.016 / participant-min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Database + file storage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Supabase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Fixed base + storage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Hosting / CDN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Vercel</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Fixed</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Payment processing</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Stripe (Malaysia)</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3% + RM1 / charge</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00" dirty="0">
                          <a:solidFill>
                            <a:srgbClr val="4A5568"/>
                          </a:solidFill>
                          <a:latin typeface="Calibri" pitchFamily="34" charset="0"/>
                          <a:ea typeface="Calibri" pitchFamily="34" charset="-122"/>
                          <a:cs typeface="Calibri" pitchFamily="34" charset="-120"/>
                        </a:rPr>
                        <a:t>Aster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00" b="1" dirty="0">
                          <a:solidFill>
                            <a:srgbClr val="12132A"/>
                          </a:solidFill>
                          <a:latin typeface="Calibri" pitchFamily="34" charset="0"/>
                          <a:ea typeface="Calibri" pitchFamily="34" charset="-122"/>
                          <a:cs typeface="Calibri" pitchFamily="34" charset="-120"/>
                        </a:rPr>
                        <a:t>WhatsApp reminders</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Meta Cloud API</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568"/>
                          </a:solidFill>
                          <a:latin typeface="Calibri" pitchFamily="34" charset="0"/>
                          <a:ea typeface="Calibri" pitchFamily="34" charset="-122"/>
                          <a:cs typeface="Calibri" pitchFamily="34" charset="-120"/>
                        </a:rPr>
                        <a:t>Customer's own account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6A34A"/>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6" name="Shape 3"/>
          <p:cNvSpPr/>
          <p:nvPr/>
        </p:nvSpPr>
        <p:spPr>
          <a:xfrm>
            <a:off x="8595360" y="2011680"/>
            <a:ext cx="3044952" cy="1691640"/>
          </a:xfrm>
          <a:prstGeom prst="roundRect">
            <a:avLst>
              <a:gd name="adj" fmla="val 6486"/>
            </a:avLst>
          </a:prstGeom>
          <a:solidFill>
            <a:srgbClr val="DCFCE7"/>
          </a:solidFill>
          <a:ln w="12700">
            <a:solidFill>
              <a:srgbClr val="BBE6C6"/>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823960" y="2212848"/>
            <a:ext cx="2606040" cy="548640"/>
          </a:xfrm>
          <a:prstGeom prst="rect">
            <a:avLst/>
          </a:prstGeom>
          <a:noFill/>
          <a:ln/>
        </p:spPr>
        <p:txBody>
          <a:bodyPr wrap="square" lIns="0" tIns="0" rIns="0" bIns="0" rtlCol="0" anchor="ctr"/>
          <a:lstStyle/>
          <a:p>
            <a:pPr algn="l" indent="0" marL="0">
              <a:buNone/>
            </a:pPr>
            <a:r>
              <a:rPr lang="en-US" sz="1500" b="1" dirty="0">
                <a:solidFill>
                  <a:srgbClr val="166534"/>
                </a:solidFill>
                <a:latin typeface="Calibri" pitchFamily="34" charset="0"/>
                <a:ea typeface="Calibri" pitchFamily="34" charset="-122"/>
                <a:cs typeface="Calibri" pitchFamily="34" charset="-120"/>
              </a:rPr>
              <a:t>WhatsApp: billed to customer</a:t>
            </a:r>
            <a:endParaRPr lang="en-US" sz="1500" dirty="0"/>
          </a:p>
        </p:txBody>
      </p:sp>
      <p:sp>
        <p:nvSpPr>
          <p:cNvPr id="8" name="Text 5"/>
          <p:cNvSpPr/>
          <p:nvPr/>
        </p:nvSpPr>
        <p:spPr>
          <a:xfrm>
            <a:off x="8823960" y="2761488"/>
            <a:ext cx="2606040" cy="822960"/>
          </a:xfrm>
          <a:prstGeom prst="rect">
            <a:avLst/>
          </a:prstGeom>
          <a:noFill/>
          <a:ln/>
        </p:spPr>
        <p:txBody>
          <a:bodyPr wrap="square" lIns="0" tIns="0" rIns="0" bIns="0" rtlCol="0" anchor="ctr"/>
          <a:lstStyle/>
          <a:p>
            <a:pPr algn="l" indent="0" marL="0">
              <a:buNone/>
            </a:pPr>
            <a:r>
              <a:rPr lang="en-US" sz="1200" dirty="0">
                <a:solidFill>
                  <a:srgbClr val="1E6B3A"/>
                </a:solidFill>
                <a:latin typeface="Calibri" pitchFamily="34" charset="0"/>
                <a:ea typeface="Calibri" pitchFamily="34" charset="-122"/>
                <a:cs typeface="Calibri" pitchFamily="34" charset="-120"/>
              </a:rPr>
              <a:t>Customers connect their own WhatsApp Business account and pay Meta directly, so reminder volume never lands on our bill.</a:t>
            </a:r>
            <a:endParaRPr lang="en-US" sz="1200" dirty="0"/>
          </a:p>
        </p:txBody>
      </p:sp>
      <p:sp>
        <p:nvSpPr>
          <p:cNvPr id="9" name="Shape 6"/>
          <p:cNvSpPr/>
          <p:nvPr/>
        </p:nvSpPr>
        <p:spPr>
          <a:xfrm>
            <a:off x="8595360" y="3886200"/>
            <a:ext cx="3044952" cy="1783080"/>
          </a:xfrm>
          <a:prstGeom prst="roundRect">
            <a:avLst>
              <a:gd name="adj" fmla="val 615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0" name="Text 7"/>
          <p:cNvSpPr/>
          <p:nvPr/>
        </p:nvSpPr>
        <p:spPr>
          <a:xfrm>
            <a:off x="8823960" y="4087368"/>
            <a:ext cx="260604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Fixed platform cost</a:t>
            </a:r>
            <a:endParaRPr lang="en-US" sz="1400" dirty="0"/>
          </a:p>
        </p:txBody>
      </p:sp>
      <p:sp>
        <p:nvSpPr>
          <p:cNvPr id="11" name="Text 8"/>
          <p:cNvSpPr/>
          <p:nvPr/>
        </p:nvSpPr>
        <p:spPr>
          <a:xfrm>
            <a:off x="8823960" y="4389120"/>
            <a:ext cx="2606040" cy="457200"/>
          </a:xfrm>
          <a:prstGeom prst="rect">
            <a:avLst/>
          </a:prstGeom>
          <a:noFill/>
          <a:ln/>
        </p:spPr>
        <p:txBody>
          <a:bodyPr wrap="square" lIns="0" tIns="0" rIns="0" bIns="0" rtlCol="0" anchor="ctr"/>
          <a:lstStyle/>
          <a:p>
            <a:pPr algn="l" indent="0" marL="0">
              <a:buNone/>
            </a:pPr>
            <a:r>
              <a:rPr lang="en-US" sz="2400" b="1" dirty="0">
                <a:solidFill>
                  <a:srgbClr val="0B2AE0"/>
                </a:solidFill>
                <a:latin typeface="Calibri" pitchFamily="34" charset="0"/>
                <a:ea typeface="Calibri" pitchFamily="34" charset="-122"/>
                <a:cs typeface="Calibri" pitchFamily="34" charset="-120"/>
              </a:rPr>
              <a:t>≈ RM270 / mo</a:t>
            </a:r>
            <a:endParaRPr lang="en-US" sz="2400" dirty="0"/>
          </a:p>
        </p:txBody>
      </p:sp>
      <p:sp>
        <p:nvSpPr>
          <p:cNvPr id="12" name="Text 9"/>
          <p:cNvSpPr/>
          <p:nvPr/>
        </p:nvSpPr>
        <p:spPr>
          <a:xfrm>
            <a:off x="8823960" y="4864608"/>
            <a:ext cx="2606040" cy="77724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Supabase Pro + Vercel + Resend base, shared across every workspace. Per-company overhead shrinks toward zero as you grow.</a:t>
            </a:r>
            <a:endParaRPr lang="en-US" sz="1100" dirty="0"/>
          </a:p>
        </p:txBody>
      </p:sp>
      <p:sp>
        <p:nvSpPr>
          <p:cNvPr id="13" name="Text 10"/>
          <p:cNvSpPr/>
          <p:nvPr/>
        </p:nvSpPr>
        <p:spPr>
          <a:xfrm>
            <a:off x="548640" y="5943600"/>
            <a:ext cx="11064240" cy="45720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Provider list prices (Aug 2026): Resend Pro $20/50K emails then $0.90/1K · Daily.co $0.004/participant-min after 10K free · Supabase Pro $25 · Stripe MY 3% + RM1. Converted at RM4.09/USD.</a:t>
            </a:r>
            <a:endParaRPr lang="en-US" sz="950" dirty="0"/>
          </a:p>
        </p:txBody>
      </p:sp>
      <p:sp>
        <p:nvSpPr>
          <p:cNvPr id="14" name="Text 1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5" name="Text 1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ALL-IN UNIT ECONOMICS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Cost to serve, per company / month</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7680960" cy="914400"/>
        </p:xfrm>
        <a:graphic>
          <a:graphicData uri="http://schemas.openxmlformats.org/drawingml/2006/table">
            <a:tbl>
              <a:tblPr/>
              <a:tblGrid>
                <a:gridCol w="2743200"/>
                <a:gridCol w="1645920"/>
                <a:gridCol w="1645920"/>
                <a:gridCol w="1645920"/>
              </a:tblGrid>
              <a:tr h="41148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Cost line / mo</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Launch</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Scale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Elite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inference (typical)</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RM115</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RM260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Email (Resend)</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RM0.20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RM1.10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RM3.00</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Video (Daily.co)</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RM7</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RM92</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Payment fee (Stripe)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RM4</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RM43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Platform share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RM3</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84048">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WhatsApp (billed to 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i="1" dirty="0">
                          <a:solidFill>
                            <a:srgbClr val="16A34A"/>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i="1" dirty="0">
                          <a:solidFill>
                            <a:srgbClr val="16A34A"/>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i="1" dirty="0">
                          <a:solidFill>
                            <a:srgbClr val="16A34A"/>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Total cost to serve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RM34</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RM171</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RM401</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5720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Plan price</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RM599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RM1,399</a:t>
                      </a:r>
                      <a:endParaRPr lang="en-US" sz="125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0292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All-in gross margin</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66%</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71%</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71%</a:t>
                      </a:r>
                      <a:endParaRPr lang="en-US" sz="14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412480" y="1874520"/>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641080" y="2002536"/>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Launch</a:t>
            </a:r>
            <a:endParaRPr lang="en-US" sz="1400" dirty="0"/>
          </a:p>
        </p:txBody>
      </p:sp>
      <p:sp>
        <p:nvSpPr>
          <p:cNvPr id="7" name="Text 4"/>
          <p:cNvSpPr/>
          <p:nvPr/>
        </p:nvSpPr>
        <p:spPr>
          <a:xfrm>
            <a:off x="8641080" y="2404872"/>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8" name="Text 5"/>
          <p:cNvSpPr/>
          <p:nvPr/>
        </p:nvSpPr>
        <p:spPr>
          <a:xfrm>
            <a:off x="10314432" y="2093976"/>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66%</a:t>
            </a:r>
            <a:endParaRPr lang="en-US" sz="3000" dirty="0"/>
          </a:p>
        </p:txBody>
      </p:sp>
      <p:sp>
        <p:nvSpPr>
          <p:cNvPr id="9" name="Shape 6"/>
          <p:cNvSpPr/>
          <p:nvPr/>
        </p:nvSpPr>
        <p:spPr>
          <a:xfrm>
            <a:off x="8412480" y="3044952"/>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0" name="Text 7"/>
          <p:cNvSpPr/>
          <p:nvPr/>
        </p:nvSpPr>
        <p:spPr>
          <a:xfrm>
            <a:off x="8641080" y="3172968"/>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Scale</a:t>
            </a:r>
            <a:endParaRPr lang="en-US" sz="1400" dirty="0"/>
          </a:p>
        </p:txBody>
      </p:sp>
      <p:sp>
        <p:nvSpPr>
          <p:cNvPr id="11" name="Text 8"/>
          <p:cNvSpPr/>
          <p:nvPr/>
        </p:nvSpPr>
        <p:spPr>
          <a:xfrm>
            <a:off x="8641080" y="3575304"/>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12" name="Text 9"/>
          <p:cNvSpPr/>
          <p:nvPr/>
        </p:nvSpPr>
        <p:spPr>
          <a:xfrm>
            <a:off x="10314432" y="3264408"/>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71%</a:t>
            </a:r>
            <a:endParaRPr lang="en-US" sz="3000" dirty="0"/>
          </a:p>
        </p:txBody>
      </p:sp>
      <p:sp>
        <p:nvSpPr>
          <p:cNvPr id="13" name="Shape 10"/>
          <p:cNvSpPr/>
          <p:nvPr/>
        </p:nvSpPr>
        <p:spPr>
          <a:xfrm>
            <a:off x="8412480" y="4215384"/>
            <a:ext cx="322783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4" name="Text 11"/>
          <p:cNvSpPr/>
          <p:nvPr/>
        </p:nvSpPr>
        <p:spPr>
          <a:xfrm>
            <a:off x="8641080" y="4343400"/>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Elite</a:t>
            </a:r>
            <a:endParaRPr lang="en-US" sz="1400" dirty="0"/>
          </a:p>
        </p:txBody>
      </p:sp>
      <p:sp>
        <p:nvSpPr>
          <p:cNvPr id="15" name="Text 12"/>
          <p:cNvSpPr/>
          <p:nvPr/>
        </p:nvSpPr>
        <p:spPr>
          <a:xfrm>
            <a:off x="8641080" y="4745736"/>
            <a:ext cx="1828800" cy="365760"/>
          </a:xfrm>
          <a:prstGeom prst="rect">
            <a:avLst/>
          </a:prstGeom>
          <a:noFill/>
          <a:ln/>
        </p:spPr>
        <p:txBody>
          <a:bodyPr wrap="square" lIns="0" tIns="0" rIns="0" bIns="0" rtlCol="0" anchor="ctr"/>
          <a:lstStyle/>
          <a:p>
            <a:pPr algn="l" indent="0" marL="0">
              <a:buNone/>
            </a:pPr>
            <a:r>
              <a:rPr lang="en-US" sz="1100" dirty="0">
                <a:solidFill>
                  <a:srgbClr val="4A5568"/>
                </a:solidFill>
                <a:latin typeface="Calibri" pitchFamily="34" charset="0"/>
                <a:ea typeface="Calibri" pitchFamily="34" charset="-122"/>
                <a:cs typeface="Calibri" pitchFamily="34" charset="-120"/>
              </a:rPr>
              <a:t>all-in gross margin</a:t>
            </a:r>
            <a:endParaRPr lang="en-US" sz="1100" dirty="0"/>
          </a:p>
        </p:txBody>
      </p:sp>
      <p:sp>
        <p:nvSpPr>
          <p:cNvPr id="16" name="Text 13"/>
          <p:cNvSpPr/>
          <p:nvPr/>
        </p:nvSpPr>
        <p:spPr>
          <a:xfrm>
            <a:off x="10314432" y="4434840"/>
            <a:ext cx="114300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71%</a:t>
            </a:r>
            <a:endParaRPr lang="en-US" sz="3000" dirty="0"/>
          </a:p>
        </p:txBody>
      </p:sp>
      <p:sp>
        <p:nvSpPr>
          <p:cNvPr id="17" name="Text 14"/>
          <p:cNvSpPr/>
          <p:nvPr/>
        </p:nvSpPr>
        <p:spPr>
          <a:xfrm>
            <a:off x="548640" y="6144768"/>
            <a:ext cx="1106424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Assumes typical AI usage at the plan allowance and ~5 / 25 / 70 video interviews per month. Monthly card billing (annual lowers the Stripe fee). Platform share amortises toward zero with scale. Realistic usage runs lower, so margins run higher.</a:t>
            </a:r>
            <a:endParaRPr lang="en-US" sz="950" dirty="0"/>
          </a:p>
        </p:txBody>
      </p:sp>
      <p:sp>
        <p:nvSpPr>
          <p:cNvPr id="18" name="Text 15"/>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9" name="Text 16"/>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WHERE MARGIN EXPANDS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top-ups carry the highest margin</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Once an account exhausts its allowance, every extra action sells at the list rate against a few cents of AI cost. Growth accounts that buy top-ups lift blended margin above the subscription-only figures.</a:t>
            </a:r>
            <a:endParaRPr lang="en-US" sz="1400" dirty="0"/>
          </a:p>
        </p:txBody>
      </p:sp>
      <p:sp>
        <p:nvSpPr>
          <p:cNvPr id="5" name="Shape 3"/>
          <p:cNvSpPr/>
          <p:nvPr/>
        </p:nvSpPr>
        <p:spPr>
          <a:xfrm>
            <a:off x="86868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2471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Screening</a:t>
            </a:r>
            <a:endParaRPr lang="en-US" sz="1550" dirty="0"/>
          </a:p>
        </p:txBody>
      </p:sp>
      <p:sp>
        <p:nvSpPr>
          <p:cNvPr id="7" name="Text 5"/>
          <p:cNvSpPr/>
          <p:nvPr/>
        </p:nvSpPr>
        <p:spPr>
          <a:xfrm>
            <a:off x="112471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96%</a:t>
            </a:r>
            <a:endParaRPr lang="en-US" sz="4600" dirty="0"/>
          </a:p>
        </p:txBody>
      </p:sp>
      <p:sp>
        <p:nvSpPr>
          <p:cNvPr id="8" name="Text 6"/>
          <p:cNvSpPr/>
          <p:nvPr/>
        </p:nvSpPr>
        <p:spPr>
          <a:xfrm>
            <a:off x="112471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9" name="Shape 7"/>
          <p:cNvSpPr/>
          <p:nvPr/>
        </p:nvSpPr>
        <p:spPr>
          <a:xfrm>
            <a:off x="1124712" y="4370832"/>
            <a:ext cx="2871216" cy="0"/>
          </a:xfrm>
          <a:prstGeom prst="line">
            <a:avLst/>
          </a:prstGeom>
          <a:noFill/>
          <a:ln w="12700">
            <a:solidFill>
              <a:srgbClr val="DEDEE3"/>
            </a:solidFill>
            <a:prstDash val="solid"/>
          </a:ln>
        </p:spPr>
      </p:sp>
      <p:sp>
        <p:nvSpPr>
          <p:cNvPr id="10" name="Text 8"/>
          <p:cNvSpPr/>
          <p:nvPr/>
        </p:nvSpPr>
        <p:spPr>
          <a:xfrm>
            <a:off x="112471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RM4.09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RM0.16</a:t>
            </a:r>
            <a:endParaRPr lang="en-US" sz="1300" dirty="0"/>
          </a:p>
        </p:txBody>
      </p:sp>
      <p:sp>
        <p:nvSpPr>
          <p:cNvPr id="11" name="Shape 9"/>
          <p:cNvSpPr/>
          <p:nvPr/>
        </p:nvSpPr>
        <p:spPr>
          <a:xfrm>
            <a:off x="457200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482803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AI Rank / Insight / Q</a:t>
            </a:r>
            <a:endParaRPr lang="en-US" sz="1550" dirty="0"/>
          </a:p>
        </p:txBody>
      </p:sp>
      <p:sp>
        <p:nvSpPr>
          <p:cNvPr id="13" name="Text 11"/>
          <p:cNvSpPr/>
          <p:nvPr/>
        </p:nvSpPr>
        <p:spPr>
          <a:xfrm>
            <a:off x="482803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88%</a:t>
            </a:r>
            <a:endParaRPr lang="en-US" sz="4600" dirty="0"/>
          </a:p>
        </p:txBody>
      </p:sp>
      <p:sp>
        <p:nvSpPr>
          <p:cNvPr id="14" name="Text 12"/>
          <p:cNvSpPr/>
          <p:nvPr/>
        </p:nvSpPr>
        <p:spPr>
          <a:xfrm>
            <a:off x="482803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15" name="Shape 13"/>
          <p:cNvSpPr/>
          <p:nvPr/>
        </p:nvSpPr>
        <p:spPr>
          <a:xfrm>
            <a:off x="4828032" y="4370832"/>
            <a:ext cx="2871216" cy="0"/>
          </a:xfrm>
          <a:prstGeom prst="line">
            <a:avLst/>
          </a:prstGeom>
          <a:noFill/>
          <a:ln w="12700">
            <a:solidFill>
              <a:srgbClr val="DEDEE3"/>
            </a:solidFill>
            <a:prstDash val="solid"/>
          </a:ln>
        </p:spPr>
      </p:sp>
      <p:sp>
        <p:nvSpPr>
          <p:cNvPr id="16" name="Text 14"/>
          <p:cNvSpPr/>
          <p:nvPr/>
        </p:nvSpPr>
        <p:spPr>
          <a:xfrm>
            <a:off x="482803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RM1.64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RM0.20</a:t>
            </a:r>
            <a:endParaRPr lang="en-US" sz="1300" dirty="0"/>
          </a:p>
        </p:txBody>
      </p:sp>
      <p:sp>
        <p:nvSpPr>
          <p:cNvPr id="17" name="Shape 15"/>
          <p:cNvSpPr/>
          <p:nvPr/>
        </p:nvSpPr>
        <p:spPr>
          <a:xfrm>
            <a:off x="827532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8" name="Text 16"/>
          <p:cNvSpPr/>
          <p:nvPr/>
        </p:nvSpPr>
        <p:spPr>
          <a:xfrm>
            <a:off x="853135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Job draft (Opus)</a:t>
            </a:r>
            <a:endParaRPr lang="en-US" sz="1550" dirty="0"/>
          </a:p>
        </p:txBody>
      </p:sp>
      <p:sp>
        <p:nvSpPr>
          <p:cNvPr id="19" name="Text 17"/>
          <p:cNvSpPr/>
          <p:nvPr/>
        </p:nvSpPr>
        <p:spPr>
          <a:xfrm>
            <a:off x="853135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86%</a:t>
            </a:r>
            <a:endParaRPr lang="en-US" sz="4600" dirty="0"/>
          </a:p>
        </p:txBody>
      </p:sp>
      <p:sp>
        <p:nvSpPr>
          <p:cNvPr id="20" name="Text 18"/>
          <p:cNvSpPr/>
          <p:nvPr/>
        </p:nvSpPr>
        <p:spPr>
          <a:xfrm>
            <a:off x="853135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21" name="Shape 19"/>
          <p:cNvSpPr/>
          <p:nvPr/>
        </p:nvSpPr>
        <p:spPr>
          <a:xfrm>
            <a:off x="8531352" y="4370832"/>
            <a:ext cx="2871216" cy="0"/>
          </a:xfrm>
          <a:prstGeom prst="line">
            <a:avLst/>
          </a:prstGeom>
          <a:noFill/>
          <a:ln w="12700">
            <a:solidFill>
              <a:srgbClr val="DEDEE3"/>
            </a:solidFill>
            <a:prstDash val="solid"/>
          </a:ln>
        </p:spPr>
      </p:sp>
      <p:sp>
        <p:nvSpPr>
          <p:cNvPr id="22" name="Text 20"/>
          <p:cNvSpPr/>
          <p:nvPr/>
        </p:nvSpPr>
        <p:spPr>
          <a:xfrm>
            <a:off x="853135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RM2.05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RM0.29</a:t>
            </a:r>
            <a:endParaRPr lang="en-US" sz="1300" dirty="0"/>
          </a:p>
        </p:txBody>
      </p:sp>
      <p:sp>
        <p:nvSpPr>
          <p:cNvPr id="23" name="Text 21"/>
          <p:cNvSpPr/>
          <p:nvPr/>
        </p:nvSpPr>
        <p:spPr>
          <a:xfrm>
            <a:off x="548640" y="5577840"/>
            <a:ext cx="109728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At list price and typical cost. Even at maximum unit cost and the 20% Elite discount, every credit stays above 65% margin.</a:t>
            </a:r>
            <a:endParaRPr lang="en-US" sz="1100" dirty="0"/>
          </a:p>
        </p:txBody>
      </p:sp>
      <p:sp>
        <p:nvSpPr>
          <p:cNvPr id="24" name="Text 2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5" name="Text 2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REVENUE MODEL</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Three account-mix scenarios</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680960" cy="914400"/>
        </p:xfrm>
        <a:graphic>
          <a:graphicData uri="http://schemas.openxmlformats.org/drawingml/2006/table">
            <a:tbl>
              <a:tblPr/>
              <a:tblGrid>
                <a:gridCol w="2743200"/>
                <a:gridCol w="1645920"/>
                <a:gridCol w="1645920"/>
                <a:gridCol w="1645920"/>
              </a:tblGrid>
              <a:tr h="41148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Conservative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Base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Growth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Launch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Scale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Elite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Enterprise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Subscription MRR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RM49,900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RM124,785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RM288,540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 Top-up uplift (≈15%)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RM7,485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RM18,718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RM43,281</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Total MRR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RM57,385</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RM143,503</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RM331,821</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r h="50292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Annual run-rate (ARR)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RM689K</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RM1.72M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RM3.98M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503920" y="1600200"/>
            <a:ext cx="3136392" cy="4343400"/>
          </a:xfrm>
          <a:prstGeom prst="roundRect">
            <a:avLst>
              <a:gd name="adj" fmla="val 3499"/>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732520" y="1828800"/>
            <a:ext cx="2743200" cy="274320"/>
          </a:xfrm>
          <a:prstGeom prst="rect">
            <a:avLst/>
          </a:prstGeom>
          <a:noFill/>
          <a:ln/>
        </p:spPr>
        <p:txBody>
          <a:bodyPr wrap="square" lIns="0" tIns="0" rIns="0" bIns="0" rtlCol="0" anchor="ctr"/>
          <a:lstStyle/>
          <a:p>
            <a:pPr algn="l" indent="0" marL="0">
              <a:buNone/>
            </a:pPr>
            <a:r>
              <a:rPr lang="en-US" sz="1100" b="1" spc="200" kern="0" dirty="0">
                <a:solidFill>
                  <a:srgbClr val="CADCFC"/>
                </a:solidFill>
                <a:latin typeface="Calibri" pitchFamily="34" charset="0"/>
                <a:ea typeface="Calibri" pitchFamily="34" charset="-122"/>
                <a:cs typeface="Calibri" pitchFamily="34" charset="-120"/>
              </a:rPr>
              <a:t>BASE CASE</a:t>
            </a:r>
            <a:endParaRPr lang="en-US" sz="1100" dirty="0"/>
          </a:p>
        </p:txBody>
      </p:sp>
      <p:sp>
        <p:nvSpPr>
          <p:cNvPr id="7" name="Text 4"/>
          <p:cNvSpPr/>
          <p:nvPr/>
        </p:nvSpPr>
        <p:spPr>
          <a:xfrm>
            <a:off x="8732520" y="2148840"/>
            <a:ext cx="2743200" cy="731520"/>
          </a:xfrm>
          <a:prstGeom prst="rect">
            <a:avLst/>
          </a:prstGeom>
          <a:noFill/>
          <a:ln/>
        </p:spPr>
        <p:txBody>
          <a:bodyPr wrap="square" lIns="0" tIns="0" rIns="0" bIns="0" rtlCol="0" anchor="ctr"/>
          <a:lstStyle/>
          <a:p>
            <a:pPr algn="l" indent="0" marL="0">
              <a:buNone/>
            </a:pPr>
            <a:r>
              <a:rPr lang="en-US" sz="4000" b="1" dirty="0">
                <a:solidFill>
                  <a:srgbClr val="FFFFFF"/>
                </a:solidFill>
                <a:latin typeface="Calibri" pitchFamily="34" charset="0"/>
                <a:ea typeface="Calibri" pitchFamily="34" charset="-122"/>
                <a:cs typeface="Calibri" pitchFamily="34" charset="-120"/>
              </a:rPr>
              <a:t>RM1.72M</a:t>
            </a:r>
            <a:endParaRPr lang="en-US" sz="4000" dirty="0"/>
          </a:p>
        </p:txBody>
      </p:sp>
      <p:sp>
        <p:nvSpPr>
          <p:cNvPr id="8" name="Text 5"/>
          <p:cNvSpPr/>
          <p:nvPr/>
        </p:nvSpPr>
        <p:spPr>
          <a:xfrm>
            <a:off x="8732520" y="2880360"/>
            <a:ext cx="2743200" cy="274320"/>
          </a:xfrm>
          <a:prstGeom prst="rect">
            <a:avLst/>
          </a:prstGeom>
          <a:noFill/>
          <a:ln/>
        </p:spPr>
        <p:txBody>
          <a:bodyPr wrap="square" lIns="0" tIns="0" rIns="0" bIns="0" rtlCol="0" anchor="ctr"/>
          <a:lstStyle/>
          <a:p>
            <a:pPr algn="l" indent="0" marL="0">
              <a:buNone/>
            </a:pPr>
            <a:r>
              <a:rPr lang="en-US" sz="1300" dirty="0">
                <a:solidFill>
                  <a:srgbClr val="CADCFC"/>
                </a:solidFill>
                <a:latin typeface="Calibri" pitchFamily="34" charset="0"/>
                <a:ea typeface="Calibri" pitchFamily="34" charset="-122"/>
                <a:cs typeface="Calibri" pitchFamily="34" charset="-120"/>
              </a:rPr>
              <a:t>projected ARR</a:t>
            </a:r>
            <a:endParaRPr lang="en-US" sz="1300" dirty="0"/>
          </a:p>
        </p:txBody>
      </p:sp>
      <p:sp>
        <p:nvSpPr>
          <p:cNvPr id="9" name="Shape 6"/>
          <p:cNvSpPr/>
          <p:nvPr/>
        </p:nvSpPr>
        <p:spPr>
          <a:xfrm>
            <a:off x="8732520" y="3383280"/>
            <a:ext cx="2651760" cy="0"/>
          </a:xfrm>
          <a:prstGeom prst="line">
            <a:avLst/>
          </a:prstGeom>
          <a:noFill/>
          <a:ln w="12700">
            <a:solidFill>
              <a:srgbClr val="3550EE"/>
            </a:solidFill>
            <a:prstDash val="solid"/>
          </a:ln>
        </p:spPr>
      </p:sp>
      <p:sp>
        <p:nvSpPr>
          <p:cNvPr id="10" name="Text 7"/>
          <p:cNvSpPr/>
          <p:nvPr/>
        </p:nvSpPr>
        <p:spPr>
          <a:xfrm>
            <a:off x="8732520" y="356616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221 </a:t>
            </a:r>
            <a:pPr algn="l" indent="0" marL="0">
              <a:buNone/>
            </a:pPr>
            <a:r>
              <a:rPr lang="en-US" sz="1300" dirty="0">
                <a:solidFill>
                  <a:srgbClr val="CADCFC"/>
                </a:solidFill>
                <a:latin typeface="Calibri" pitchFamily="34" charset="0"/>
                <a:ea typeface="Calibri" pitchFamily="34" charset="-122"/>
                <a:cs typeface="Calibri" pitchFamily="34" charset="-120"/>
              </a:rPr>
              <a:t>paying accounts</a:t>
            </a:r>
            <a:endParaRPr lang="en-US" sz="2000" dirty="0"/>
          </a:p>
        </p:txBody>
      </p:sp>
      <p:sp>
        <p:nvSpPr>
          <p:cNvPr id="11" name="Text 8"/>
          <p:cNvSpPr/>
          <p:nvPr/>
        </p:nvSpPr>
        <p:spPr>
          <a:xfrm>
            <a:off x="8732520" y="406908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RM649 </a:t>
            </a:r>
            <a:pPr algn="l" indent="0" marL="0">
              <a:buNone/>
            </a:pPr>
            <a:r>
              <a:rPr lang="en-US" sz="1300" dirty="0">
                <a:solidFill>
                  <a:srgbClr val="CADCFC"/>
                </a:solidFill>
                <a:latin typeface="Calibri" pitchFamily="34" charset="0"/>
                <a:ea typeface="Calibri" pitchFamily="34" charset="-122"/>
                <a:cs typeface="Calibri" pitchFamily="34" charset="-120"/>
              </a:rPr>
              <a:t>blended ARPA / mo</a:t>
            </a:r>
            <a:endParaRPr lang="en-US" sz="2000" dirty="0"/>
          </a:p>
        </p:txBody>
      </p:sp>
      <p:sp>
        <p:nvSpPr>
          <p:cNvPr id="12" name="Text 9"/>
          <p:cNvSpPr/>
          <p:nvPr/>
        </p:nvSpPr>
        <p:spPr>
          <a:xfrm>
            <a:off x="8732520" y="4572000"/>
            <a:ext cx="2743200" cy="6400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~72% </a:t>
            </a:r>
            <a:pPr algn="l" indent="0" marL="0">
              <a:buNone/>
            </a:pPr>
            <a:r>
              <a:rPr lang="en-US" sz="1300" dirty="0">
                <a:solidFill>
                  <a:srgbClr val="CADCFC"/>
                </a:solidFill>
                <a:latin typeface="Calibri" pitchFamily="34" charset="0"/>
                <a:ea typeface="Calibri" pitchFamily="34" charset="-122"/>
                <a:cs typeface="Calibri" pitchFamily="34" charset="-120"/>
              </a:rPr>
              <a:t>blended all-in margin</a:t>
            </a:r>
            <a:endParaRPr lang="en-US" sz="2000" dirty="0"/>
          </a:p>
        </p:txBody>
      </p:sp>
      <p:sp>
        <p:nvSpPr>
          <p:cNvPr id="13" name="Text 10"/>
          <p:cNvSpPr/>
          <p:nvPr/>
        </p:nvSpPr>
        <p:spPr>
          <a:xfrm>
            <a:off x="8732520" y="5257800"/>
            <a:ext cx="2697480" cy="548640"/>
          </a:xfrm>
          <a:prstGeom prst="rect">
            <a:avLst/>
          </a:prstGeom>
          <a:noFill/>
          <a:ln/>
        </p:spPr>
        <p:txBody>
          <a:bodyPr wrap="square" lIns="0" tIns="0" rIns="0" bIns="0" rtlCol="0" anchor="ctr"/>
          <a:lstStyle/>
          <a:p>
            <a:pPr algn="l" indent="0" marL="0">
              <a:buNone/>
            </a:pPr>
            <a:r>
              <a:rPr lang="en-US" sz="1150" i="1" dirty="0">
                <a:solidFill>
                  <a:srgbClr val="CADCFC"/>
                </a:solidFill>
                <a:latin typeface="Calibri" pitchFamily="34" charset="0"/>
                <a:ea typeface="Calibri" pitchFamily="34" charset="-122"/>
                <a:cs typeface="Calibri" pitchFamily="34" charset="-120"/>
              </a:rPr>
              <a:t>Annual prepay pulls cash forward and lifts retention.</a:t>
            </a:r>
            <a:endParaRPr lang="en-US" sz="1150" dirty="0"/>
          </a:p>
        </p:txBody>
      </p:sp>
      <p:sp>
        <p:nvSpPr>
          <p:cNvPr id="14" name="Text 11"/>
          <p:cNvSpPr/>
          <p:nvPr/>
        </p:nvSpPr>
        <p:spPr>
          <a:xfrm>
            <a:off x="548640" y="608076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Illustrative. Enterprise is a custom plan with no list price; modelled here at an assumed ~RM6,000/mo for the scenario only. Adjust mix, Enterprise deal size, and top-up rate with your CFO.</a:t>
            </a:r>
            <a:endParaRPr lang="en-US" sz="1000" dirty="0"/>
          </a:p>
        </p:txBody>
      </p:sp>
      <p:sp>
        <p:nvSpPr>
          <p:cNvPr id="15" name="Text 1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6" name="Text 1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FOR THE DISCUSSION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Assumptions, risks &amp; recommendations</a:t>
            </a:r>
            <a:endParaRPr lang="en-US" sz="3400" dirty="0"/>
          </a:p>
        </p:txBody>
      </p:sp>
      <p:sp>
        <p:nvSpPr>
          <p:cNvPr id="4" name="Shape 2"/>
          <p:cNvSpPr/>
          <p:nvPr/>
        </p:nvSpPr>
        <p:spPr>
          <a:xfrm>
            <a:off x="548640"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822960" y="1965960"/>
            <a:ext cx="384048" cy="384048"/>
          </a:xfrm>
          <a:prstGeom prst="ellipse">
            <a:avLst/>
          </a:prstGeom>
          <a:solidFill>
            <a:srgbClr val="0B2AE0"/>
          </a:solidFill>
          <a:ln/>
        </p:spPr>
      </p:sp>
      <p:sp>
        <p:nvSpPr>
          <p:cNvPr id="6" name="Text 4"/>
          <p:cNvSpPr/>
          <p:nvPr/>
        </p:nvSpPr>
        <p:spPr>
          <a:xfrm>
            <a:off x="1325880"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Decide / validate</a:t>
            </a:r>
            <a:endParaRPr lang="en-US" sz="1600" dirty="0"/>
          </a:p>
        </p:txBody>
      </p:sp>
      <p:sp>
        <p:nvSpPr>
          <p:cNvPr id="7" name="Text 5"/>
          <p:cNvSpPr/>
          <p:nvPr/>
        </p:nvSpPr>
        <p:spPr>
          <a:xfrm>
            <a:off x="841248"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Sign off the list prices (RM99 / RM599 / RM1,399) or reset them; they are proposed, not live in Stripe.</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Confirm the annual discount (2 months free = 17%).</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Set the Enterprise floor and what the premium buys (SSO, audit, white-label).</a:t>
            </a:r>
            <a:endParaRPr lang="en-US" sz="1250" dirty="0"/>
          </a:p>
        </p:txBody>
      </p:sp>
      <p:sp>
        <p:nvSpPr>
          <p:cNvPr id="8" name="Shape 6"/>
          <p:cNvSpPr/>
          <p:nvPr/>
        </p:nvSpPr>
        <p:spPr>
          <a:xfrm>
            <a:off x="4279392"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9" name="Shape 7"/>
          <p:cNvSpPr/>
          <p:nvPr/>
        </p:nvSpPr>
        <p:spPr>
          <a:xfrm>
            <a:off x="4553712" y="1965960"/>
            <a:ext cx="384048" cy="384048"/>
          </a:xfrm>
          <a:prstGeom prst="ellipse">
            <a:avLst/>
          </a:prstGeom>
          <a:solidFill>
            <a:srgbClr val="B45309"/>
          </a:solidFill>
          <a:ln/>
        </p:spPr>
      </p:sp>
      <p:sp>
        <p:nvSpPr>
          <p:cNvPr id="10" name="Text 8"/>
          <p:cNvSpPr/>
          <p:nvPr/>
        </p:nvSpPr>
        <p:spPr>
          <a:xfrm>
            <a:off x="5056632"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Risks to watch</a:t>
            </a:r>
            <a:endParaRPr lang="en-US" sz="1600" dirty="0"/>
          </a:p>
        </p:txBody>
      </p:sp>
      <p:sp>
        <p:nvSpPr>
          <p:cNvPr id="11" name="Text 9"/>
          <p:cNvSpPr/>
          <p:nvPr/>
        </p:nvSpPr>
        <p:spPr>
          <a:xfrm>
            <a:off x="4572000"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Costs are modeled from provider pricing, not yet measured from live logs.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AI is billed in USD (≈ RM4.09); a weaker ringgit raises real cost of goods.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Video (Daily.co) is the next-largest cost after AI; interview-heavy Elite accounts compress margin.</a:t>
            </a:r>
            <a:endParaRPr lang="en-US" sz="1250" dirty="0"/>
          </a:p>
        </p:txBody>
      </p:sp>
      <p:sp>
        <p:nvSpPr>
          <p:cNvPr id="12" name="Shape 10"/>
          <p:cNvSpPr/>
          <p:nvPr/>
        </p:nvSpPr>
        <p:spPr>
          <a:xfrm>
            <a:off x="8010144"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3" name="Shape 11"/>
          <p:cNvSpPr/>
          <p:nvPr/>
        </p:nvSpPr>
        <p:spPr>
          <a:xfrm>
            <a:off x="8284464" y="1965960"/>
            <a:ext cx="384048" cy="384048"/>
          </a:xfrm>
          <a:prstGeom prst="ellipse">
            <a:avLst/>
          </a:prstGeom>
          <a:solidFill>
            <a:srgbClr val="16A34A"/>
          </a:solidFill>
          <a:ln/>
        </p:spPr>
      </p:sp>
      <p:sp>
        <p:nvSpPr>
          <p:cNvPr id="14" name="Text 12"/>
          <p:cNvSpPr/>
          <p:nvPr/>
        </p:nvSpPr>
        <p:spPr>
          <a:xfrm>
            <a:off x="8787384"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Recommendations</a:t>
            </a:r>
            <a:endParaRPr lang="en-US" sz="1600" dirty="0"/>
          </a:p>
        </p:txBody>
      </p:sp>
      <p:sp>
        <p:nvSpPr>
          <p:cNvPr id="15" name="Text 13"/>
          <p:cNvSpPr/>
          <p:nvPr/>
        </p:nvSpPr>
        <p:spPr>
          <a:xfrm>
            <a:off x="8302752"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Log per-action token spend to replace these estimates with measured COGS.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Lead growth accounts to top-ups; that is where blended margin expands.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Hold unlimited seats as the headline differentiator versus per-seat ATS rivals.</a:t>
            </a:r>
            <a:endParaRPr lang="en-US" sz="1250" dirty="0"/>
          </a:p>
        </p:txBody>
      </p:sp>
      <p:sp>
        <p:nvSpPr>
          <p:cNvPr id="16" name="Text 1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7" name="Text 1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7772400" y="-2286000"/>
            <a:ext cx="6400800" cy="6400800"/>
          </a:xfrm>
          <a:prstGeom prst="ellipse">
            <a:avLst/>
          </a:prstGeom>
          <a:solidFill>
            <a:srgbClr val="0B2AE0">
              <a:alpha val="38000"/>
            </a:srgbClr>
          </a:solidFill>
          <a:ln/>
        </p:spPr>
      </p:sp>
      <p:sp>
        <p:nvSpPr>
          <p:cNvPr id="3" name="Shape 1"/>
          <p:cNvSpPr/>
          <p:nvPr/>
        </p:nvSpPr>
        <p:spPr>
          <a:xfrm>
            <a:off x="-2286000" y="3200400"/>
            <a:ext cx="5943600" cy="5943600"/>
          </a:xfrm>
          <a:prstGeom prst="ellipse">
            <a:avLst/>
          </a:prstGeom>
          <a:solidFill>
            <a:srgbClr val="5570F5">
              <a:alpha val="26000"/>
            </a:srgbClr>
          </a:solidFill>
          <a:ln/>
        </p:spPr>
      </p:sp>
      <p:pic>
        <p:nvPicPr>
          <p:cNvPr id="4" name="Image 0" descr="preencoded.png">    </p:cNvPr>
          <p:cNvPicPr>
            <a:picLocks noChangeAspect="1"/>
          </p:cNvPicPr>
          <p:nvPr/>
        </p:nvPicPr>
        <p:blipFill>
          <a:blip r:embed="rId1"/>
          <a:stretch>
            <a:fillRect/>
          </a:stretch>
        </p:blipFill>
        <p:spPr>
          <a:xfrm>
            <a:off x="777240" y="621792"/>
            <a:ext cx="1874520" cy="453009"/>
          </a:xfrm>
          <a:prstGeom prst="rect">
            <a:avLst/>
          </a:prstGeom>
        </p:spPr>
      </p:pic>
      <p:sp>
        <p:nvSpPr>
          <p:cNvPr id="5" name="Text 2"/>
          <p:cNvSpPr/>
          <p:nvPr/>
        </p:nvSpPr>
        <p:spPr>
          <a:xfrm>
            <a:off x="777240" y="2103120"/>
            <a:ext cx="10058400" cy="457200"/>
          </a:xfrm>
          <a:prstGeom prst="rect">
            <a:avLst/>
          </a:prstGeom>
          <a:noFill/>
          <a:ln/>
        </p:spPr>
        <p:txBody>
          <a:bodyPr wrap="square" lIns="0" tIns="0" rIns="0" bIns="0" rtlCol="0" anchor="ctr"/>
          <a:lstStyle/>
          <a:p>
            <a:pPr algn="l" indent="0" marL="0">
              <a:buNone/>
            </a:pPr>
            <a:r>
              <a:rPr lang="en-US" sz="1800" dirty="0">
                <a:solidFill>
                  <a:srgbClr val="CADCFC"/>
                </a:solidFill>
                <a:latin typeface="Calibri" pitchFamily="34" charset="0"/>
                <a:ea typeface="Calibri" pitchFamily="34" charset="-122"/>
                <a:cs typeface="Calibri" pitchFamily="34" charset="-120"/>
              </a:rPr>
              <a:t>The decision in one line</a:t>
            </a:r>
            <a:endParaRPr lang="en-US" sz="1800" dirty="0"/>
          </a:p>
        </p:txBody>
      </p:sp>
      <p:sp>
        <p:nvSpPr>
          <p:cNvPr id="6" name="Text 3"/>
          <p:cNvSpPr/>
          <p:nvPr/>
        </p:nvSpPr>
        <p:spPr>
          <a:xfrm>
            <a:off x="777240" y="2606040"/>
            <a:ext cx="10332720" cy="137160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A four-tier subscription with unlimited seats, a generous AI allowance, and high-margin credit top-ups on top.</a:t>
            </a:r>
            <a:endParaRPr lang="en-US" sz="3200" dirty="0"/>
          </a:p>
        </p:txBody>
      </p:sp>
      <p:sp>
        <p:nvSpPr>
          <p:cNvPr id="7" name="Shape 4"/>
          <p:cNvSpPr/>
          <p:nvPr/>
        </p:nvSpPr>
        <p:spPr>
          <a:xfrm>
            <a:off x="822960"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8" name="Text 5"/>
          <p:cNvSpPr/>
          <p:nvPr/>
        </p:nvSpPr>
        <p:spPr>
          <a:xfrm>
            <a:off x="822960"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  Confirm list prices</a:t>
            </a:r>
            <a:endParaRPr lang="en-US" sz="1350" dirty="0"/>
          </a:p>
        </p:txBody>
      </p:sp>
      <p:sp>
        <p:nvSpPr>
          <p:cNvPr id="9" name="Shape 6"/>
          <p:cNvSpPr/>
          <p:nvPr/>
        </p:nvSpPr>
        <p:spPr>
          <a:xfrm>
            <a:off x="3685032"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0" name="Text 7"/>
          <p:cNvSpPr/>
          <p:nvPr/>
        </p:nvSpPr>
        <p:spPr>
          <a:xfrm>
            <a:off x="3685032"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  Log live token cost</a:t>
            </a:r>
            <a:endParaRPr lang="en-US" sz="1350" dirty="0"/>
          </a:p>
        </p:txBody>
      </p:sp>
      <p:sp>
        <p:nvSpPr>
          <p:cNvPr id="11" name="Shape 8"/>
          <p:cNvSpPr/>
          <p:nvPr/>
        </p:nvSpPr>
        <p:spPr>
          <a:xfrm>
            <a:off x="6547104" y="4663440"/>
            <a:ext cx="3511296"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2" name="Text 9"/>
          <p:cNvSpPr/>
          <p:nvPr/>
        </p:nvSpPr>
        <p:spPr>
          <a:xfrm>
            <a:off x="6547104" y="4663440"/>
            <a:ext cx="3511296"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  Re-run margins on real data</a:t>
            </a:r>
            <a:endParaRPr lang="en-US" sz="1350" dirty="0"/>
          </a:p>
        </p:txBody>
      </p:sp>
      <p:sp>
        <p:nvSpPr>
          <p:cNvPr id="13" name="Text 10"/>
          <p:cNvSpPr/>
          <p:nvPr/>
        </p:nvSpPr>
        <p:spPr>
          <a:xfrm>
            <a:off x="822960" y="6126480"/>
            <a:ext cx="100584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Proposed figures for internal discussion · August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2026-08-11T02:09:22Z</dcterms:created>
  <dcterms:modified xsi:type="dcterms:W3CDTF">2026-08-11T02:09:22Z</dcterms:modified>
</cp:coreProperties>
</file>