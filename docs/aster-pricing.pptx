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2011680" y="-2377440"/>
            <a:ext cx="5943600" cy="5943600"/>
          </a:xfrm>
          <a:prstGeom prst="ellipse">
            <a:avLst/>
          </a:prstGeom>
          <a:solidFill>
            <a:srgbClr val="5570F5">
              <a:alpha val="28000"/>
            </a:srgbClr>
          </a:solidFill>
          <a:ln/>
        </p:spPr>
      </p:sp>
      <p:sp>
        <p:nvSpPr>
          <p:cNvPr id="3" name="Shape 1"/>
          <p:cNvSpPr/>
          <p:nvPr/>
        </p:nvSpPr>
        <p:spPr>
          <a:xfrm>
            <a:off x="8412480" y="3291840"/>
            <a:ext cx="6217920" cy="6217920"/>
          </a:xfrm>
          <a:prstGeom prst="ellipse">
            <a:avLst/>
          </a:prstGeom>
          <a:solidFill>
            <a:srgbClr val="0B2AE0">
              <a:alpha val="40000"/>
            </a:srgbClr>
          </a:solidFill>
          <a:ln/>
        </p:spPr>
      </p:sp>
      <p:pic>
        <p:nvPicPr>
          <p:cNvPr id="4" name="Image 0" descr="preencoded.png">    </p:cNvPr>
          <p:cNvPicPr>
            <a:picLocks noChangeAspect="1"/>
          </p:cNvPicPr>
          <p:nvPr/>
        </p:nvPicPr>
        <p:blipFill>
          <a:blip r:embed="rId1"/>
          <a:stretch>
            <a:fillRect/>
          </a:stretch>
        </p:blipFill>
        <p:spPr>
          <a:xfrm>
            <a:off x="777240" y="566928"/>
            <a:ext cx="2148840" cy="519303"/>
          </a:xfrm>
          <a:prstGeom prst="rect">
            <a:avLst/>
          </a:prstGeom>
        </p:spPr>
      </p:pic>
      <p:sp>
        <p:nvSpPr>
          <p:cNvPr id="5" name="Text 2"/>
          <p:cNvSpPr/>
          <p:nvPr/>
        </p:nvSpPr>
        <p:spPr>
          <a:xfrm>
            <a:off x="777240" y="2286000"/>
            <a:ext cx="10607040" cy="91440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Pricing model</a:t>
            </a:r>
            <a:endParaRPr lang="en-US" sz="5400" dirty="0"/>
          </a:p>
        </p:txBody>
      </p:sp>
      <p:sp>
        <p:nvSpPr>
          <p:cNvPr id="6" name="Text 3"/>
          <p:cNvSpPr/>
          <p:nvPr/>
        </p:nvSpPr>
        <p:spPr>
          <a:xfrm>
            <a:off x="822960" y="3310128"/>
            <a:ext cx="10058400" cy="548640"/>
          </a:xfrm>
          <a:prstGeom prst="rect">
            <a:avLst/>
          </a:prstGeom>
          <a:noFill/>
          <a:ln/>
        </p:spPr>
        <p:txBody>
          <a:bodyPr wrap="square" lIns="0" tIns="0" rIns="0" bIns="0" rtlCol="0" anchor="ctr"/>
          <a:lstStyle/>
          <a:p>
            <a:pPr algn="l" indent="0" marL="0">
              <a:buNone/>
            </a:pPr>
            <a:r>
              <a:rPr lang="en-US" sz="2000" dirty="0">
                <a:solidFill>
                  <a:srgbClr val="CADCFC"/>
                </a:solidFill>
                <a:latin typeface="Calibri" pitchFamily="34" charset="0"/>
                <a:ea typeface="Calibri" pitchFamily="34" charset="-122"/>
                <a:cs typeface="Calibri" pitchFamily="34" charset="-120"/>
              </a:rPr>
              <a:t>A full pricing proposal: tiers, credit economics, and margins</a:t>
            </a:r>
            <a:endParaRPr lang="en-US" sz="2000" dirty="0"/>
          </a:p>
        </p:txBody>
      </p:sp>
      <p:sp>
        <p:nvSpPr>
          <p:cNvPr id="7" name="Shape 4"/>
          <p:cNvSpPr/>
          <p:nvPr/>
        </p:nvSpPr>
        <p:spPr>
          <a:xfrm>
            <a:off x="822960" y="4251960"/>
            <a:ext cx="2221992"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8" name="Text 5"/>
          <p:cNvSpPr/>
          <p:nvPr/>
        </p:nvSpPr>
        <p:spPr>
          <a:xfrm>
            <a:off x="822960" y="4251960"/>
            <a:ext cx="222199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subscription tiers</a:t>
            </a:r>
            <a:endParaRPr lang="en-US" sz="1300" dirty="0"/>
          </a:p>
        </p:txBody>
      </p:sp>
      <p:sp>
        <p:nvSpPr>
          <p:cNvPr id="9" name="Shape 6"/>
          <p:cNvSpPr/>
          <p:nvPr/>
        </p:nvSpPr>
        <p:spPr>
          <a:xfrm>
            <a:off x="3273552" y="4251960"/>
            <a:ext cx="2412187"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10" name="Text 7"/>
          <p:cNvSpPr/>
          <p:nvPr/>
        </p:nvSpPr>
        <p:spPr>
          <a:xfrm>
            <a:off x="3273552" y="4251960"/>
            <a:ext cx="2412187"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Usage-based AI credits</a:t>
            </a:r>
            <a:endParaRPr lang="en-US" sz="1300" dirty="0"/>
          </a:p>
        </p:txBody>
      </p:sp>
      <p:sp>
        <p:nvSpPr>
          <p:cNvPr id="11" name="Shape 8"/>
          <p:cNvSpPr/>
          <p:nvPr/>
        </p:nvSpPr>
        <p:spPr>
          <a:xfrm>
            <a:off x="5914339" y="4251960"/>
            <a:ext cx="3363163"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12" name="Text 9"/>
          <p:cNvSpPr/>
          <p:nvPr/>
        </p:nvSpPr>
        <p:spPr>
          <a:xfrm>
            <a:off x="5914339" y="4251960"/>
            <a:ext cx="3363163"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Cost per credit from real models</a:t>
            </a:r>
            <a:endParaRPr lang="en-US" sz="1300" dirty="0"/>
          </a:p>
        </p:txBody>
      </p:sp>
      <p:sp>
        <p:nvSpPr>
          <p:cNvPr id="13" name="Text 10"/>
          <p:cNvSpPr/>
          <p:nvPr/>
        </p:nvSpPr>
        <p:spPr>
          <a:xfrm>
            <a:off x="822960" y="6172200"/>
            <a:ext cx="10515600" cy="365760"/>
          </a:xfrm>
          <a:prstGeom prst="rect">
            <a:avLst/>
          </a:prstGeom>
          <a:noFill/>
          <a:ln/>
        </p:spPr>
        <p:txBody>
          <a:bodyPr wrap="square" lIns="0" tIns="0" rIns="0" bIns="0" rtlCol="0" anchor="ctr"/>
          <a:lstStyle/>
          <a:p>
            <a:pPr algn="l" indent="0" marL="0">
              <a:buNone/>
            </a:pPr>
            <a:r>
              <a:rPr lang="en-US" sz="1200" i="1" dirty="0">
                <a:solidFill>
                  <a:srgbClr val="9FB0F0"/>
                </a:solidFill>
                <a:latin typeface="Calibri" pitchFamily="34" charset="0"/>
                <a:ea typeface="Calibri" pitchFamily="34" charset="-122"/>
                <a:cs typeface="Calibri" pitchFamily="34" charset="-120"/>
              </a:rPr>
              <a:t>Prepared for internal discussion  ·  August 2026  ·  Proposed figures, not current live prices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MODEL AT A GLANCE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Two revenue engines, one platform</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algn="l" indent="0" marL="0">
              <a:buNone/>
            </a:pPr>
            <a:r>
              <a:rPr lang="en-US" sz="1400" dirty="0">
                <a:solidFill>
                  <a:srgbClr val="4A5568"/>
                </a:solidFill>
                <a:latin typeface="Calibri" pitchFamily="34" charset="0"/>
                <a:ea typeface="Calibri" pitchFamily="34" charset="-122"/>
                <a:cs typeface="Calibri" pitchFamily="34" charset="-120"/>
              </a:rPr>
              <a:t>Aster charges a monthly subscription for platform access plus a bundle of AI usage, then sells more AI usage as credit top-ups. Seats are unlimited on every plan, so we compete on hiring outcomes, not per-seat price.</a:t>
            </a:r>
            <a:endParaRPr lang="en-US" sz="1400" dirty="0"/>
          </a:p>
        </p:txBody>
      </p:sp>
      <p:sp>
        <p:nvSpPr>
          <p:cNvPr id="5" name="Shape 3"/>
          <p:cNvSpPr/>
          <p:nvPr/>
        </p:nvSpPr>
        <p:spPr>
          <a:xfrm>
            <a:off x="548640"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731520" y="2487168"/>
            <a:ext cx="2313432" cy="548640"/>
          </a:xfrm>
          <a:prstGeom prst="rect">
            <a:avLst/>
          </a:prstGeom>
          <a:noFill/>
          <a:ln/>
        </p:spPr>
        <p:txBody>
          <a:bodyPr wrap="square" lIns="0" tIns="0" rIns="0" bIns="0" rtlCol="0" anchor="ctr"/>
          <a:lstStyle/>
          <a:p>
            <a:pPr algn="l" indent="0" marL="0">
              <a:buNone/>
            </a:pPr>
            <a:r>
              <a:rPr lang="en-US" sz="3000" b="1" dirty="0">
                <a:solidFill>
                  <a:srgbClr val="0B2AE0"/>
                </a:solidFill>
                <a:latin typeface="Calibri" pitchFamily="34" charset="0"/>
                <a:ea typeface="Calibri" pitchFamily="34" charset="-122"/>
                <a:cs typeface="Calibri" pitchFamily="34" charset="-120"/>
              </a:rPr>
              <a:t>4 tiers</a:t>
            </a:r>
            <a:endParaRPr lang="en-US" sz="3000" dirty="0"/>
          </a:p>
        </p:txBody>
      </p:sp>
      <p:sp>
        <p:nvSpPr>
          <p:cNvPr id="7" name="Text 5"/>
          <p:cNvSpPr/>
          <p:nvPr/>
        </p:nvSpPr>
        <p:spPr>
          <a:xfrm>
            <a:off x="731520"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Launch · Scale · Elite · Enterprise</a:t>
            </a:r>
            <a:endParaRPr lang="en-US" sz="1250" dirty="0"/>
          </a:p>
        </p:txBody>
      </p:sp>
      <p:sp>
        <p:nvSpPr>
          <p:cNvPr id="8" name="Shape 6"/>
          <p:cNvSpPr/>
          <p:nvPr/>
        </p:nvSpPr>
        <p:spPr>
          <a:xfrm>
            <a:off x="3346704"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9" name="Text 7"/>
          <p:cNvSpPr/>
          <p:nvPr/>
        </p:nvSpPr>
        <p:spPr>
          <a:xfrm>
            <a:off x="3529584" y="2487168"/>
            <a:ext cx="2313432" cy="548640"/>
          </a:xfrm>
          <a:prstGeom prst="rect">
            <a:avLst/>
          </a:prstGeom>
          <a:noFill/>
          <a:ln/>
        </p:spPr>
        <p:txBody>
          <a:bodyPr wrap="square" lIns="0" tIns="0" rIns="0" bIns="0" rtlCol="0" anchor="ctr"/>
          <a:lstStyle/>
          <a:p>
            <a:pPr algn="l" indent="0" marL="0">
              <a:buNone/>
            </a:pPr>
            <a:r>
              <a:rPr lang="en-US" sz="3000" b="1" dirty="0">
                <a:solidFill>
                  <a:srgbClr val="0B2AE0"/>
                </a:solidFill>
                <a:latin typeface="Calibri" pitchFamily="34" charset="0"/>
                <a:ea typeface="Calibri" pitchFamily="34" charset="-122"/>
                <a:cs typeface="Calibri" pitchFamily="34" charset="-120"/>
              </a:rPr>
              <a:t>Unlimited</a:t>
            </a:r>
            <a:endParaRPr lang="en-US" sz="3000" dirty="0"/>
          </a:p>
        </p:txBody>
      </p:sp>
      <p:sp>
        <p:nvSpPr>
          <p:cNvPr id="10" name="Text 8"/>
          <p:cNvSpPr/>
          <p:nvPr/>
        </p:nvSpPr>
        <p:spPr>
          <a:xfrm>
            <a:off x="3529584"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team seats on every plan</a:t>
            </a:r>
            <a:endParaRPr lang="en-US" sz="1250" dirty="0"/>
          </a:p>
        </p:txBody>
      </p:sp>
      <p:sp>
        <p:nvSpPr>
          <p:cNvPr id="11" name="Shape 9"/>
          <p:cNvSpPr/>
          <p:nvPr/>
        </p:nvSpPr>
        <p:spPr>
          <a:xfrm>
            <a:off x="6144768"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2" name="Text 10"/>
          <p:cNvSpPr/>
          <p:nvPr/>
        </p:nvSpPr>
        <p:spPr>
          <a:xfrm>
            <a:off x="6327648" y="2487168"/>
            <a:ext cx="2313432" cy="548640"/>
          </a:xfrm>
          <a:prstGeom prst="rect">
            <a:avLst/>
          </a:prstGeom>
          <a:noFill/>
          <a:ln/>
        </p:spPr>
        <p:txBody>
          <a:bodyPr wrap="square" lIns="0" tIns="0" rIns="0" bIns="0" rtlCol="0" anchor="ctr"/>
          <a:lstStyle/>
          <a:p>
            <a:pPr algn="l" indent="0" marL="0">
              <a:buNone/>
            </a:pPr>
            <a:r>
              <a:rPr lang="en-US" sz="3000" b="1" dirty="0">
                <a:solidFill>
                  <a:srgbClr val="16A34A"/>
                </a:solidFill>
                <a:latin typeface="Calibri" pitchFamily="34" charset="0"/>
                <a:ea typeface="Calibri" pitchFamily="34" charset="-122"/>
                <a:cs typeface="Calibri" pitchFamily="34" charset="-120"/>
              </a:rPr>
              <a:t>66–71%</a:t>
            </a:r>
            <a:endParaRPr lang="en-US" sz="3000" dirty="0"/>
          </a:p>
        </p:txBody>
      </p:sp>
      <p:sp>
        <p:nvSpPr>
          <p:cNvPr id="13" name="Text 11"/>
          <p:cNvSpPr/>
          <p:nvPr/>
        </p:nvSpPr>
        <p:spPr>
          <a:xfrm>
            <a:off x="6327648"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all-in gross margin per plan*</a:t>
            </a:r>
            <a:endParaRPr lang="en-US" sz="1250" dirty="0"/>
          </a:p>
        </p:txBody>
      </p:sp>
      <p:sp>
        <p:nvSpPr>
          <p:cNvPr id="14" name="Shape 12"/>
          <p:cNvSpPr/>
          <p:nvPr/>
        </p:nvSpPr>
        <p:spPr>
          <a:xfrm>
            <a:off x="8942832" y="2331720"/>
            <a:ext cx="2679192" cy="1417320"/>
          </a:xfrm>
          <a:prstGeom prst="roundRect">
            <a:avLst>
              <a:gd name="adj" fmla="val 7742"/>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5" name="Text 13"/>
          <p:cNvSpPr/>
          <p:nvPr/>
        </p:nvSpPr>
        <p:spPr>
          <a:xfrm>
            <a:off x="9125712" y="2487168"/>
            <a:ext cx="2313432" cy="548640"/>
          </a:xfrm>
          <a:prstGeom prst="rect">
            <a:avLst/>
          </a:prstGeom>
          <a:noFill/>
          <a:ln/>
        </p:spPr>
        <p:txBody>
          <a:bodyPr wrap="square" lIns="0" tIns="0" rIns="0" bIns="0" rtlCol="0" anchor="ctr"/>
          <a:lstStyle/>
          <a:p>
            <a:pPr algn="l" indent="0" marL="0">
              <a:buNone/>
            </a:pPr>
            <a:r>
              <a:rPr lang="en-US" sz="3000" b="1" dirty="0">
                <a:solidFill>
                  <a:srgbClr val="16A34A"/>
                </a:solidFill>
                <a:latin typeface="Calibri" pitchFamily="34" charset="0"/>
                <a:ea typeface="Calibri" pitchFamily="34" charset="-122"/>
                <a:cs typeface="Calibri" pitchFamily="34" charset="-120"/>
              </a:rPr>
              <a:t>70–97%</a:t>
            </a:r>
            <a:endParaRPr lang="en-US" sz="3000" dirty="0"/>
          </a:p>
        </p:txBody>
      </p:sp>
      <p:sp>
        <p:nvSpPr>
          <p:cNvPr id="16" name="Text 14"/>
          <p:cNvSpPr/>
          <p:nvPr/>
        </p:nvSpPr>
        <p:spPr>
          <a:xfrm>
            <a:off x="9125712" y="3108960"/>
            <a:ext cx="2313432" cy="5486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margin per credit even at max cost*</a:t>
            </a:r>
            <a:endParaRPr lang="en-US" sz="1250" dirty="0"/>
          </a:p>
        </p:txBody>
      </p:sp>
      <p:sp>
        <p:nvSpPr>
          <p:cNvPr id="17" name="Shape 15"/>
          <p:cNvSpPr/>
          <p:nvPr/>
        </p:nvSpPr>
        <p:spPr>
          <a:xfrm>
            <a:off x="594360" y="4133088"/>
            <a:ext cx="384048" cy="384048"/>
          </a:xfrm>
          <a:prstGeom prst="ellipse">
            <a:avLst/>
          </a:prstGeom>
          <a:solidFill>
            <a:srgbClr val="0B2AE0"/>
          </a:solidFill>
          <a:ln/>
        </p:spPr>
      </p:sp>
      <p:sp>
        <p:nvSpPr>
          <p:cNvPr id="18" name="Text 16"/>
          <p:cNvSpPr/>
          <p:nvPr/>
        </p:nvSpPr>
        <p:spPr>
          <a:xfrm>
            <a:off x="594360" y="41239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p:nvPr/>
        </p:nvSpPr>
        <p:spPr>
          <a:xfrm>
            <a:off x="1143000" y="4059936"/>
            <a:ext cx="1042416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Subscription = access + a generous AI allowance</a:t>
            </a:r>
            <a:endParaRPr lang="en-US" sz="1500" dirty="0"/>
          </a:p>
        </p:txBody>
      </p:sp>
      <p:sp>
        <p:nvSpPr>
          <p:cNvPr id="20" name="Text 18"/>
          <p:cNvSpPr/>
          <p:nvPr/>
        </p:nvSpPr>
        <p:spPr>
          <a:xfrm>
            <a:off x="1143000" y="4370832"/>
            <a:ext cx="10424160" cy="45720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Each tier bundles enough screening and AI credits to run its open roles. The bundle is worth 4–5× the plan price at list credit rates, which anchors upgrades.</a:t>
            </a:r>
            <a:endParaRPr lang="en-US" sz="1250" dirty="0"/>
          </a:p>
        </p:txBody>
      </p:sp>
      <p:sp>
        <p:nvSpPr>
          <p:cNvPr id="21" name="Shape 19"/>
          <p:cNvSpPr/>
          <p:nvPr/>
        </p:nvSpPr>
        <p:spPr>
          <a:xfrm>
            <a:off x="594360" y="4882896"/>
            <a:ext cx="384048" cy="384048"/>
          </a:xfrm>
          <a:prstGeom prst="ellipse">
            <a:avLst/>
          </a:prstGeom>
          <a:solidFill>
            <a:srgbClr val="0B2AE0"/>
          </a:solidFill>
          <a:ln/>
        </p:spPr>
      </p:sp>
      <p:sp>
        <p:nvSpPr>
          <p:cNvPr id="22" name="Text 20"/>
          <p:cNvSpPr/>
          <p:nvPr/>
        </p:nvSpPr>
        <p:spPr>
          <a:xfrm>
            <a:off x="594360" y="4873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1"/>
          <p:cNvSpPr/>
          <p:nvPr/>
        </p:nvSpPr>
        <p:spPr>
          <a:xfrm>
            <a:off x="1143000" y="4809744"/>
            <a:ext cx="1042416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Credit top-ups are the margin engine</a:t>
            </a:r>
            <a:endParaRPr lang="en-US" sz="1500" dirty="0"/>
          </a:p>
        </p:txBody>
      </p:sp>
      <p:sp>
        <p:nvSpPr>
          <p:cNvPr id="24" name="Text 22"/>
          <p:cNvSpPr/>
          <p:nvPr/>
        </p:nvSpPr>
        <p:spPr>
          <a:xfrm>
            <a:off x="1143000" y="5120640"/>
            <a:ext cx="10424160" cy="45720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Overage sells at RM4.09 / RM1.64 / RM2.05 per action against an AI cost of a few sen. This is where blended margin expands as accounts grow.</a:t>
            </a:r>
            <a:endParaRPr lang="en-US" sz="1250" dirty="0"/>
          </a:p>
        </p:txBody>
      </p:sp>
      <p:sp>
        <p:nvSpPr>
          <p:cNvPr id="25" name="Shape 23"/>
          <p:cNvSpPr/>
          <p:nvPr/>
        </p:nvSpPr>
        <p:spPr>
          <a:xfrm>
            <a:off x="594360" y="5632704"/>
            <a:ext cx="384048" cy="384048"/>
          </a:xfrm>
          <a:prstGeom prst="ellipse">
            <a:avLst/>
          </a:prstGeom>
          <a:solidFill>
            <a:srgbClr val="0B2AE0"/>
          </a:solidFill>
          <a:ln/>
        </p:spPr>
      </p:sp>
      <p:sp>
        <p:nvSpPr>
          <p:cNvPr id="26" name="Text 24"/>
          <p:cNvSpPr/>
          <p:nvPr/>
        </p:nvSpPr>
        <p:spPr>
          <a:xfrm>
            <a:off x="594360" y="5623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p:nvPr/>
        </p:nvSpPr>
        <p:spPr>
          <a:xfrm>
            <a:off x="1143000" y="5559552"/>
            <a:ext cx="1042416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The COGS here is grounded, not guessed</a:t>
            </a:r>
            <a:endParaRPr lang="en-US" sz="1500" dirty="0"/>
          </a:p>
        </p:txBody>
      </p:sp>
      <p:sp>
        <p:nvSpPr>
          <p:cNvPr id="28" name="Text 26"/>
          <p:cNvSpPr/>
          <p:nvPr/>
        </p:nvSpPr>
        <p:spPr>
          <a:xfrm>
            <a:off x="1143000" y="5870448"/>
            <a:ext cx="10424160" cy="45720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Every AI action is priced against the actual model it runs on (Sonnet 5, Opus 5, Haiku 4.5). Recommend logging live token spend to confirm these estimates.</a:t>
            </a:r>
            <a:endParaRPr lang="en-US" sz="1250" dirty="0"/>
          </a:p>
        </p:txBody>
      </p:sp>
      <p:sp>
        <p:nvSpPr>
          <p:cNvPr id="29" name="Text 27"/>
          <p:cNvSpPr/>
          <p:nvPr/>
        </p:nvSpPr>
        <p:spPr>
          <a:xfrm>
            <a:off x="548640" y="6382512"/>
            <a:ext cx="1088136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 All-in = AI + email + video + payment fees + platform share (slide 10), at typical usage. From published provider pricing; confirm with live logs.</a:t>
            </a:r>
            <a:endParaRPr lang="en-US" sz="950" dirty="0"/>
          </a:p>
        </p:txBody>
      </p:sp>
      <p:sp>
        <p:nvSpPr>
          <p:cNvPr id="30" name="Text 28"/>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31" name="Text 29"/>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PRICING ARCHITECTURE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What a customer actually pays for</a:t>
            </a:r>
            <a:endParaRPr lang="en-US" sz="3400" dirty="0"/>
          </a:p>
        </p:txBody>
      </p:sp>
      <p:sp>
        <p:nvSpPr>
          <p:cNvPr id="4" name="Shape 2"/>
          <p:cNvSpPr/>
          <p:nvPr/>
        </p:nvSpPr>
        <p:spPr>
          <a:xfrm>
            <a:off x="548640"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5" name="Shape 3"/>
          <p:cNvSpPr/>
          <p:nvPr/>
        </p:nvSpPr>
        <p:spPr>
          <a:xfrm>
            <a:off x="777240" y="2221992"/>
            <a:ext cx="566928" cy="566928"/>
          </a:xfrm>
          <a:prstGeom prst="ellipse">
            <a:avLst/>
          </a:prstGeom>
          <a:solidFill>
            <a:srgbClr val="0B2AE0"/>
          </a:solidFill>
          <a:ln/>
        </p:spPr>
      </p:sp>
      <p:sp>
        <p:nvSpPr>
          <p:cNvPr id="6" name="Text 4"/>
          <p:cNvSpPr/>
          <p:nvPr/>
        </p:nvSpPr>
        <p:spPr>
          <a:xfrm>
            <a:off x="777240"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7" name="Text 5"/>
          <p:cNvSpPr/>
          <p:nvPr/>
        </p:nvSpPr>
        <p:spPr>
          <a:xfrm>
            <a:off x="777240"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Platform access</a:t>
            </a:r>
            <a:endParaRPr lang="en-US" sz="1650" dirty="0"/>
          </a:p>
        </p:txBody>
      </p:sp>
      <p:sp>
        <p:nvSpPr>
          <p:cNvPr id="8" name="Text 6"/>
          <p:cNvSpPr/>
          <p:nvPr/>
        </p:nvSpPr>
        <p:spPr>
          <a:xfrm>
            <a:off x="777240"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One subscription unlocks the whole workflow: branded career site, shared pipeline, scheduling, scorecards, offers and analytics.</a:t>
            </a:r>
            <a:endParaRPr lang="en-US" sz="1250" dirty="0"/>
          </a:p>
        </p:txBody>
      </p:sp>
      <p:sp>
        <p:nvSpPr>
          <p:cNvPr id="9" name="Shape 7"/>
          <p:cNvSpPr/>
          <p:nvPr/>
        </p:nvSpPr>
        <p:spPr>
          <a:xfrm>
            <a:off x="3346704"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0" name="Shape 8"/>
          <p:cNvSpPr/>
          <p:nvPr/>
        </p:nvSpPr>
        <p:spPr>
          <a:xfrm>
            <a:off x="3575304" y="2221992"/>
            <a:ext cx="566928" cy="566928"/>
          </a:xfrm>
          <a:prstGeom prst="ellipse">
            <a:avLst/>
          </a:prstGeom>
          <a:solidFill>
            <a:srgbClr val="0B2AE0"/>
          </a:solidFill>
          <a:ln/>
        </p:spPr>
      </p:sp>
      <p:sp>
        <p:nvSpPr>
          <p:cNvPr id="11" name="Text 9"/>
          <p:cNvSpPr/>
          <p:nvPr/>
        </p:nvSpPr>
        <p:spPr>
          <a:xfrm>
            <a:off x="3575304"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a:t>
            </a:r>
            <a:endParaRPr lang="en-US" sz="1500" dirty="0"/>
          </a:p>
        </p:txBody>
      </p:sp>
      <p:sp>
        <p:nvSpPr>
          <p:cNvPr id="12" name="Text 10"/>
          <p:cNvSpPr/>
          <p:nvPr/>
        </p:nvSpPr>
        <p:spPr>
          <a:xfrm>
            <a:off x="3575304"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Open job slots</a:t>
            </a:r>
            <a:endParaRPr lang="en-US" sz="1650" dirty="0"/>
          </a:p>
        </p:txBody>
      </p:sp>
      <p:sp>
        <p:nvSpPr>
          <p:cNvPr id="13" name="Text 11"/>
          <p:cNvSpPr/>
          <p:nvPr/>
        </p:nvSpPr>
        <p:spPr>
          <a:xfrm>
            <a:off x="3575304"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The main value metric. Plans differ by how many roles can be open at once: 1 → 5 → 10 → unlimited.</a:t>
            </a:r>
            <a:endParaRPr lang="en-US" sz="1250" dirty="0"/>
          </a:p>
        </p:txBody>
      </p:sp>
      <p:sp>
        <p:nvSpPr>
          <p:cNvPr id="14" name="Shape 12"/>
          <p:cNvSpPr/>
          <p:nvPr/>
        </p:nvSpPr>
        <p:spPr>
          <a:xfrm>
            <a:off x="6144768"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5" name="Shape 13"/>
          <p:cNvSpPr/>
          <p:nvPr/>
        </p:nvSpPr>
        <p:spPr>
          <a:xfrm>
            <a:off x="6373368" y="2221992"/>
            <a:ext cx="566928" cy="566928"/>
          </a:xfrm>
          <a:prstGeom prst="ellipse">
            <a:avLst/>
          </a:prstGeom>
          <a:solidFill>
            <a:srgbClr val="0B2AE0"/>
          </a:solidFill>
          <a:ln/>
        </p:spPr>
      </p:sp>
      <p:sp>
        <p:nvSpPr>
          <p:cNvPr id="16" name="Text 14"/>
          <p:cNvSpPr/>
          <p:nvPr/>
        </p:nvSpPr>
        <p:spPr>
          <a:xfrm>
            <a:off x="6373368"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17" name="Text 15"/>
          <p:cNvSpPr/>
          <p:nvPr/>
        </p:nvSpPr>
        <p:spPr>
          <a:xfrm>
            <a:off x="6373368"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AI usage credits</a:t>
            </a:r>
            <a:endParaRPr lang="en-US" sz="1650" dirty="0"/>
          </a:p>
        </p:txBody>
      </p:sp>
      <p:sp>
        <p:nvSpPr>
          <p:cNvPr id="18" name="Text 16"/>
          <p:cNvSpPr/>
          <p:nvPr/>
        </p:nvSpPr>
        <p:spPr>
          <a:xfrm>
            <a:off x="6373368"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Screening, ranking, insights, interview questions and job drafts each consume credits. Every plan includes a monthly allowance.</a:t>
            </a:r>
            <a:endParaRPr lang="en-US" sz="1250" dirty="0"/>
          </a:p>
        </p:txBody>
      </p:sp>
      <p:sp>
        <p:nvSpPr>
          <p:cNvPr id="19" name="Shape 17"/>
          <p:cNvSpPr/>
          <p:nvPr/>
        </p:nvSpPr>
        <p:spPr>
          <a:xfrm>
            <a:off x="8942832" y="1965960"/>
            <a:ext cx="2679192" cy="310896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20" name="Shape 18"/>
          <p:cNvSpPr/>
          <p:nvPr/>
        </p:nvSpPr>
        <p:spPr>
          <a:xfrm>
            <a:off x="9171432" y="2221992"/>
            <a:ext cx="566928" cy="566928"/>
          </a:xfrm>
          <a:prstGeom prst="ellipse">
            <a:avLst/>
          </a:prstGeom>
          <a:solidFill>
            <a:srgbClr val="0B2AE0"/>
          </a:solidFill>
          <a:ln/>
        </p:spPr>
      </p:sp>
      <p:sp>
        <p:nvSpPr>
          <p:cNvPr id="21" name="Text 19"/>
          <p:cNvSpPr/>
          <p:nvPr/>
        </p:nvSpPr>
        <p:spPr>
          <a:xfrm>
            <a:off x="9171432" y="22128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9171432" y="2926080"/>
            <a:ext cx="2221992" cy="457200"/>
          </a:xfrm>
          <a:prstGeom prst="rect">
            <a:avLst/>
          </a:prstGeom>
          <a:noFill/>
          <a:ln/>
        </p:spPr>
        <p:txBody>
          <a:bodyPr wrap="square" lIns="0" tIns="0" rIns="0" bIns="0" rtlCol="0" anchor="ctr"/>
          <a:lstStyle/>
          <a:p>
            <a:pPr algn="l" indent="0" marL="0">
              <a:buNone/>
            </a:pPr>
            <a:r>
              <a:rPr lang="en-US" sz="1650" b="1" dirty="0">
                <a:solidFill>
                  <a:srgbClr val="12132A"/>
                </a:solidFill>
                <a:latin typeface="Calibri" pitchFamily="34" charset="0"/>
                <a:ea typeface="Calibri" pitchFamily="34" charset="-122"/>
                <a:cs typeface="Calibri" pitchFamily="34" charset="-120"/>
              </a:rPr>
              <a:t>Credit top-ups</a:t>
            </a:r>
            <a:endParaRPr lang="en-US" sz="1650" dirty="0"/>
          </a:p>
        </p:txBody>
      </p:sp>
      <p:sp>
        <p:nvSpPr>
          <p:cNvPr id="23" name="Text 21"/>
          <p:cNvSpPr/>
          <p:nvPr/>
        </p:nvSpPr>
        <p:spPr>
          <a:xfrm>
            <a:off x="9171432" y="3383280"/>
            <a:ext cx="2221992" cy="155448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When the allowance runs out, workspaces buy more credits on demand, priced per action with a plan discount.</a:t>
            </a:r>
            <a:endParaRPr lang="en-US" sz="1250" dirty="0"/>
          </a:p>
        </p:txBody>
      </p:sp>
      <p:sp>
        <p:nvSpPr>
          <p:cNvPr id="24" name="Shape 22"/>
          <p:cNvSpPr/>
          <p:nvPr/>
        </p:nvSpPr>
        <p:spPr>
          <a:xfrm>
            <a:off x="548640" y="5349240"/>
            <a:ext cx="11091672" cy="868680"/>
          </a:xfrm>
          <a:prstGeom prst="roundRect">
            <a:avLst>
              <a:gd name="adj" fmla="val 12632"/>
            </a:avLst>
          </a:prstGeom>
          <a:solidFill>
            <a:srgbClr val="12132A"/>
          </a:solidFill>
          <a:ln w="12700">
            <a:solidFill>
              <a:srgbClr val="12132A"/>
            </a:solidFill>
            <a:prstDash val="solid"/>
          </a:ln>
          <a:effectLst>
            <a:outerShdw sx="100000" sy="100000" kx="0" ky="0" algn="bl" rotWithShape="0" blurRad="101600" dist="25400" dir="5400000">
              <a:srgbClr val="9AA0B5">
                <a:alpha val="18000"/>
              </a:srgbClr>
            </a:outerShdw>
          </a:effectLst>
        </p:spPr>
      </p:sp>
      <p:sp>
        <p:nvSpPr>
          <p:cNvPr id="25" name="Text 23"/>
          <p:cNvSpPr/>
          <p:nvPr/>
        </p:nvSpPr>
        <p:spPr>
          <a:xfrm>
            <a:off x="868680" y="5349240"/>
            <a:ext cx="10424160" cy="86868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No per-seat pricing.  </a:t>
            </a:r>
            <a:pPr algn="l" indent="0" marL="0">
              <a:buNone/>
            </a:pPr>
            <a:r>
              <a:rPr lang="en-US" sz="1350" dirty="0">
                <a:solidFill>
                  <a:srgbClr val="CADCFC"/>
                </a:solidFill>
                <a:latin typeface="Calibri" pitchFamily="34" charset="0"/>
                <a:ea typeface="Calibri" pitchFamily="34" charset="-122"/>
                <a:cs typeface="Calibri" pitchFamily="34" charset="-120"/>
              </a:rPr>
              <a:t>Every plan includes unlimited hiring managers, recruiters and interviewers. Growing the team never raises the bill, which removes the usual reason buyers stall on an ATS.</a:t>
            </a:r>
            <a:endParaRPr lang="en-US" sz="1350" dirty="0"/>
          </a:p>
        </p:txBody>
      </p:sp>
      <p:sp>
        <p:nvSpPr>
          <p:cNvPr id="26" name="Text 24"/>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27" name="Text 25"/>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PROPOSED LIST PRICES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Subscription pricing</a:t>
            </a:r>
            <a:endParaRPr lang="en-US" sz="3400" dirty="0"/>
          </a:p>
        </p:txBody>
      </p:sp>
      <p:sp>
        <p:nvSpPr>
          <p:cNvPr id="4" name="Text 2"/>
          <p:cNvSpPr/>
          <p:nvPr/>
        </p:nvSpPr>
        <p:spPr>
          <a:xfrm>
            <a:off x="548640" y="1481328"/>
            <a:ext cx="109728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All prices in Malaysian Ringgit (MYR), the workspace default. Annual = 2 months free (17% off).</a:t>
            </a:r>
            <a:endParaRPr lang="en-US" sz="1300" dirty="0"/>
          </a:p>
        </p:txBody>
      </p:sp>
      <p:sp>
        <p:nvSpPr>
          <p:cNvPr id="5" name="Shape 3"/>
          <p:cNvSpPr/>
          <p:nvPr/>
        </p:nvSpPr>
        <p:spPr>
          <a:xfrm>
            <a:off x="548640" y="2011680"/>
            <a:ext cx="2679192" cy="365760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804672" y="2267712"/>
            <a:ext cx="2221992" cy="41148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Launch</a:t>
            </a:r>
            <a:endParaRPr lang="en-US" sz="2000" dirty="0"/>
          </a:p>
        </p:txBody>
      </p:sp>
      <p:sp>
        <p:nvSpPr>
          <p:cNvPr id="7" name="Text 5"/>
          <p:cNvSpPr/>
          <p:nvPr/>
        </p:nvSpPr>
        <p:spPr>
          <a:xfrm>
            <a:off x="804672" y="267004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First roles</a:t>
            </a:r>
            <a:endParaRPr lang="en-US" sz="1150" dirty="0"/>
          </a:p>
        </p:txBody>
      </p:sp>
      <p:sp>
        <p:nvSpPr>
          <p:cNvPr id="8" name="Text 6"/>
          <p:cNvSpPr/>
          <p:nvPr/>
        </p:nvSpPr>
        <p:spPr>
          <a:xfrm>
            <a:off x="804672" y="3108960"/>
            <a:ext cx="2221992" cy="548640"/>
          </a:xfrm>
          <a:prstGeom prst="rect">
            <a:avLst/>
          </a:prstGeom>
          <a:noFill/>
          <a:ln/>
        </p:spPr>
        <p:txBody>
          <a:bodyPr wrap="square" lIns="0" tIns="0" rIns="0" bIns="0" rtlCol="0" anchor="ctr"/>
          <a:lstStyle/>
          <a:p>
            <a:pPr algn="l" indent="0" marL="0">
              <a:buNone/>
            </a:pPr>
            <a:r>
              <a:rPr lang="en-US" sz="3000" b="1" dirty="0">
                <a:solidFill>
                  <a:srgbClr val="12132A"/>
                </a:solidFill>
                <a:latin typeface="Calibri" pitchFamily="34" charset="0"/>
                <a:ea typeface="Calibri" pitchFamily="34" charset="-122"/>
                <a:cs typeface="Calibri" pitchFamily="34" charset="-120"/>
              </a:rPr>
              <a:t>RM99</a:t>
            </a:r>
            <a:pPr algn="l" indent="0" marL="0">
              <a:buNone/>
            </a:pPr>
            <a:r>
              <a:rPr lang="en-US" sz="1400" dirty="0">
                <a:solidFill>
                  <a:srgbClr val="4A5568"/>
                </a:solidFill>
                <a:latin typeface="Calibri" pitchFamily="34" charset="0"/>
                <a:ea typeface="Calibri" pitchFamily="34" charset="-122"/>
                <a:cs typeface="Calibri" pitchFamily="34" charset="-120"/>
              </a:rPr>
              <a:t> /mo</a:t>
            </a:r>
            <a:endParaRPr lang="en-US" sz="3000" dirty="0"/>
          </a:p>
        </p:txBody>
      </p:sp>
      <p:sp>
        <p:nvSpPr>
          <p:cNvPr id="9" name="Text 7"/>
          <p:cNvSpPr/>
          <p:nvPr/>
        </p:nvSpPr>
        <p:spPr>
          <a:xfrm>
            <a:off x="804672" y="367588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RM83 / mo on annual</a:t>
            </a:r>
            <a:endParaRPr lang="en-US" sz="1150" dirty="0"/>
          </a:p>
        </p:txBody>
      </p:sp>
      <p:sp>
        <p:nvSpPr>
          <p:cNvPr id="10" name="Text 8"/>
          <p:cNvSpPr/>
          <p:nvPr/>
        </p:nvSpPr>
        <p:spPr>
          <a:xfrm>
            <a:off x="804672" y="3977640"/>
            <a:ext cx="2221992" cy="274320"/>
          </a:xfrm>
          <a:prstGeom prst="rect">
            <a:avLst/>
          </a:prstGeom>
          <a:noFill/>
          <a:ln/>
        </p:spPr>
        <p:txBody>
          <a:bodyPr wrap="square" lIns="0" tIns="0" rIns="0" bIns="0" rtlCol="0" anchor="ctr"/>
          <a:lstStyle/>
          <a:p>
            <a:pPr algn="l" indent="0" marL="0">
              <a:buNone/>
            </a:pPr>
            <a:r>
              <a:rPr lang="en-US" sz="1150" i="1" dirty="0">
                <a:solidFill>
                  <a:srgbClr val="16A34A"/>
                </a:solidFill>
                <a:latin typeface="Calibri" pitchFamily="34" charset="0"/>
                <a:ea typeface="Calibri" pitchFamily="34" charset="-122"/>
                <a:cs typeface="Calibri" pitchFamily="34" charset="-120"/>
              </a:rPr>
              <a:t>RM990 billed yearly</a:t>
            </a:r>
            <a:endParaRPr lang="en-US" sz="1150" dirty="0"/>
          </a:p>
        </p:txBody>
      </p:sp>
      <p:sp>
        <p:nvSpPr>
          <p:cNvPr id="11" name="Shape 9"/>
          <p:cNvSpPr/>
          <p:nvPr/>
        </p:nvSpPr>
        <p:spPr>
          <a:xfrm>
            <a:off x="804672" y="4462272"/>
            <a:ext cx="2167128" cy="0"/>
          </a:xfrm>
          <a:prstGeom prst="line">
            <a:avLst/>
          </a:prstGeom>
          <a:noFill/>
          <a:ln w="12700">
            <a:solidFill>
              <a:srgbClr val="DEDEE3"/>
            </a:solidFill>
            <a:prstDash val="solid"/>
          </a:ln>
        </p:spPr>
      </p:sp>
      <p:sp>
        <p:nvSpPr>
          <p:cNvPr id="12" name="Text 10"/>
          <p:cNvSpPr/>
          <p:nvPr/>
        </p:nvSpPr>
        <p:spPr>
          <a:xfrm>
            <a:off x="804672" y="4572000"/>
            <a:ext cx="2221992" cy="320040"/>
          </a:xfrm>
          <a:prstGeom prst="rect">
            <a:avLst/>
          </a:prstGeom>
          <a:noFill/>
          <a:ln/>
        </p:spPr>
        <p:txBody>
          <a:bodyPr wrap="square" lIns="0" tIns="0" rIns="0" bIns="0" rtlCol="0" anchor="ctr"/>
          <a:lstStyle/>
          <a:p>
            <a:pPr algn="l" indent="0" marL="0">
              <a:buNone/>
            </a:pPr>
            <a:r>
              <a:rPr lang="en-US" sz="1350" b="1" dirty="0">
                <a:solidFill>
                  <a:srgbClr val="12132A"/>
                </a:solidFill>
                <a:latin typeface="Calibri" pitchFamily="34" charset="0"/>
                <a:ea typeface="Calibri" pitchFamily="34" charset="-122"/>
                <a:cs typeface="Calibri" pitchFamily="34" charset="-120"/>
              </a:rPr>
              <a:t>1 open job</a:t>
            </a:r>
            <a:endParaRPr lang="en-US" sz="1350" dirty="0"/>
          </a:p>
        </p:txBody>
      </p:sp>
      <p:sp>
        <p:nvSpPr>
          <p:cNvPr id="13" name="Text 11"/>
          <p:cNvSpPr/>
          <p:nvPr/>
        </p:nvSpPr>
        <p:spPr>
          <a:xfrm>
            <a:off x="804672" y="4919472"/>
            <a:ext cx="2221992" cy="3200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Unlimited seats</a:t>
            </a:r>
            <a:endParaRPr lang="en-US" sz="1250" dirty="0"/>
          </a:p>
        </p:txBody>
      </p:sp>
      <p:sp>
        <p:nvSpPr>
          <p:cNvPr id="14" name="Text 12"/>
          <p:cNvSpPr/>
          <p:nvPr/>
        </p:nvSpPr>
        <p:spPr>
          <a:xfrm>
            <a:off x="804672" y="5230368"/>
            <a:ext cx="2221992" cy="320040"/>
          </a:xfrm>
          <a:prstGeom prst="rect">
            <a:avLst/>
          </a:prstGeom>
          <a:noFill/>
          <a:ln/>
        </p:spPr>
        <p:txBody>
          <a:bodyPr wrap="square" lIns="0" tIns="0" rIns="0" bIns="0" rtlCol="0" anchor="ctr"/>
          <a:lstStyle/>
          <a:p>
            <a:pPr algn="l" indent="0" marL="0">
              <a:buNone/>
            </a:pPr>
            <a:r>
              <a:rPr lang="en-US" sz="1100" i="1" dirty="0">
                <a:solidFill>
                  <a:srgbClr val="4A5568"/>
                </a:solidFill>
                <a:latin typeface="Calibri" pitchFamily="34" charset="0"/>
                <a:ea typeface="Calibri" pitchFamily="34" charset="-122"/>
                <a:cs typeface="Calibri" pitchFamily="34" charset="-120"/>
              </a:rPr>
              <a:t>14-day free trial of Scale</a:t>
            </a:r>
            <a:endParaRPr lang="en-US" sz="1100" dirty="0"/>
          </a:p>
        </p:txBody>
      </p:sp>
      <p:sp>
        <p:nvSpPr>
          <p:cNvPr id="15" name="Shape 13"/>
          <p:cNvSpPr/>
          <p:nvPr/>
        </p:nvSpPr>
        <p:spPr>
          <a:xfrm>
            <a:off x="3346704" y="2011680"/>
            <a:ext cx="2679192" cy="3657600"/>
          </a:xfrm>
          <a:prstGeom prst="roundRect">
            <a:avLst>
              <a:gd name="adj" fmla="val 4096"/>
            </a:avLst>
          </a:prstGeom>
          <a:solidFill>
            <a:srgbClr val="0B2AE0"/>
          </a:solidFill>
          <a:ln w="12700">
            <a:solidFill>
              <a:srgbClr val="0B2AE0"/>
            </a:solidFill>
            <a:prstDash val="solid"/>
          </a:ln>
          <a:effectLst>
            <a:outerShdw sx="100000" sy="100000" kx="0" ky="0" algn="bl" rotWithShape="0" blurRad="101600" dist="25400" dir="5400000">
              <a:srgbClr val="9AA0B5">
                <a:alpha val="18000"/>
              </a:srgbClr>
            </a:outerShdw>
          </a:effectLst>
        </p:spPr>
      </p:sp>
      <p:sp>
        <p:nvSpPr>
          <p:cNvPr id="16" name="Shape 14"/>
          <p:cNvSpPr/>
          <p:nvPr/>
        </p:nvSpPr>
        <p:spPr>
          <a:xfrm>
            <a:off x="4608576" y="2212848"/>
            <a:ext cx="1207008" cy="365760"/>
          </a:xfrm>
          <a:prstGeom prst="roundRect">
            <a:avLst>
              <a:gd name="adj" fmla="val 50000"/>
            </a:avLst>
          </a:prstGeom>
          <a:solidFill>
            <a:srgbClr val="FFFFFF"/>
          </a:solidFill>
          <a:ln/>
        </p:spPr>
      </p:sp>
      <p:sp>
        <p:nvSpPr>
          <p:cNvPr id="17" name="Text 15"/>
          <p:cNvSpPr/>
          <p:nvPr/>
        </p:nvSpPr>
        <p:spPr>
          <a:xfrm>
            <a:off x="4608576" y="2212848"/>
            <a:ext cx="1207008" cy="365760"/>
          </a:xfrm>
          <a:prstGeom prst="rect">
            <a:avLst/>
          </a:prstGeom>
          <a:noFill/>
          <a:ln/>
        </p:spPr>
        <p:txBody>
          <a:bodyPr wrap="square" lIns="0" tIns="0" rIns="0" bIns="0" rtlCol="0" anchor="ctr"/>
          <a:lstStyle/>
          <a:p>
            <a:pPr algn="ctr" indent="0" marL="0">
              <a:buNone/>
            </a:pPr>
            <a:r>
              <a:rPr lang="en-US" sz="850" b="1" spc="100" kern="0" dirty="0">
                <a:solidFill>
                  <a:srgbClr val="0B2AE0"/>
                </a:solidFill>
                <a:latin typeface="Calibri" pitchFamily="34" charset="0"/>
                <a:ea typeface="Calibri" pitchFamily="34" charset="-122"/>
                <a:cs typeface="Calibri" pitchFamily="34" charset="-120"/>
              </a:rPr>
              <a:t>MOST POPULAR</a:t>
            </a:r>
            <a:endParaRPr lang="en-US" sz="850" dirty="0"/>
          </a:p>
        </p:txBody>
      </p:sp>
      <p:sp>
        <p:nvSpPr>
          <p:cNvPr id="18" name="Text 16"/>
          <p:cNvSpPr/>
          <p:nvPr/>
        </p:nvSpPr>
        <p:spPr>
          <a:xfrm>
            <a:off x="3602736" y="2267712"/>
            <a:ext cx="2221992"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Scale</a:t>
            </a:r>
            <a:endParaRPr lang="en-US" sz="2000" dirty="0"/>
          </a:p>
        </p:txBody>
      </p:sp>
      <p:sp>
        <p:nvSpPr>
          <p:cNvPr id="19" name="Text 17"/>
          <p:cNvSpPr/>
          <p:nvPr/>
        </p:nvSpPr>
        <p:spPr>
          <a:xfrm>
            <a:off x="3602736" y="2670048"/>
            <a:ext cx="2221992" cy="27432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Most popular</a:t>
            </a:r>
            <a:endParaRPr lang="en-US" sz="1150" dirty="0"/>
          </a:p>
        </p:txBody>
      </p:sp>
      <p:sp>
        <p:nvSpPr>
          <p:cNvPr id="20" name="Text 18"/>
          <p:cNvSpPr/>
          <p:nvPr/>
        </p:nvSpPr>
        <p:spPr>
          <a:xfrm>
            <a:off x="3602736" y="3108960"/>
            <a:ext cx="2221992"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RM599</a:t>
            </a:r>
            <a:pPr algn="l" indent="0" marL="0">
              <a:buNone/>
            </a:pPr>
            <a:r>
              <a:rPr lang="en-US" sz="1400" dirty="0">
                <a:solidFill>
                  <a:srgbClr val="CADCFC"/>
                </a:solidFill>
                <a:latin typeface="Calibri" pitchFamily="34" charset="0"/>
                <a:ea typeface="Calibri" pitchFamily="34" charset="-122"/>
                <a:cs typeface="Calibri" pitchFamily="34" charset="-120"/>
              </a:rPr>
              <a:t> /mo</a:t>
            </a:r>
            <a:endParaRPr lang="en-US" sz="3000" dirty="0"/>
          </a:p>
        </p:txBody>
      </p:sp>
      <p:sp>
        <p:nvSpPr>
          <p:cNvPr id="21" name="Text 19"/>
          <p:cNvSpPr/>
          <p:nvPr/>
        </p:nvSpPr>
        <p:spPr>
          <a:xfrm>
            <a:off x="3602736" y="3675888"/>
            <a:ext cx="2221992" cy="27432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RM499 / mo on annual</a:t>
            </a:r>
            <a:endParaRPr lang="en-US" sz="1150" dirty="0"/>
          </a:p>
        </p:txBody>
      </p:sp>
      <p:sp>
        <p:nvSpPr>
          <p:cNvPr id="22" name="Text 20"/>
          <p:cNvSpPr/>
          <p:nvPr/>
        </p:nvSpPr>
        <p:spPr>
          <a:xfrm>
            <a:off x="3602736" y="3977640"/>
            <a:ext cx="2221992" cy="274320"/>
          </a:xfrm>
          <a:prstGeom prst="rect">
            <a:avLst/>
          </a:prstGeom>
          <a:noFill/>
          <a:ln/>
        </p:spPr>
        <p:txBody>
          <a:bodyPr wrap="square" lIns="0" tIns="0" rIns="0" bIns="0" rtlCol="0" anchor="ctr"/>
          <a:lstStyle/>
          <a:p>
            <a:pPr algn="l" indent="0" marL="0">
              <a:buNone/>
            </a:pPr>
            <a:r>
              <a:rPr lang="en-US" sz="1150" i="1" dirty="0">
                <a:solidFill>
                  <a:srgbClr val="FFFFFF"/>
                </a:solidFill>
                <a:latin typeface="Calibri" pitchFamily="34" charset="0"/>
                <a:ea typeface="Calibri" pitchFamily="34" charset="-122"/>
                <a:cs typeface="Calibri" pitchFamily="34" charset="-120"/>
              </a:rPr>
              <a:t>RM5,990 billed yearly</a:t>
            </a:r>
            <a:endParaRPr lang="en-US" sz="1150" dirty="0"/>
          </a:p>
        </p:txBody>
      </p:sp>
      <p:sp>
        <p:nvSpPr>
          <p:cNvPr id="23" name="Shape 21"/>
          <p:cNvSpPr/>
          <p:nvPr/>
        </p:nvSpPr>
        <p:spPr>
          <a:xfrm>
            <a:off x="3602736" y="4462272"/>
            <a:ext cx="2167128" cy="0"/>
          </a:xfrm>
          <a:prstGeom prst="line">
            <a:avLst/>
          </a:prstGeom>
          <a:noFill/>
          <a:ln w="12700">
            <a:solidFill>
              <a:srgbClr val="3550EE"/>
            </a:solidFill>
            <a:prstDash val="solid"/>
          </a:ln>
        </p:spPr>
      </p:sp>
      <p:sp>
        <p:nvSpPr>
          <p:cNvPr id="24" name="Text 22"/>
          <p:cNvSpPr/>
          <p:nvPr/>
        </p:nvSpPr>
        <p:spPr>
          <a:xfrm>
            <a:off x="3602736" y="4572000"/>
            <a:ext cx="2221992"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5 open jobs</a:t>
            </a:r>
            <a:endParaRPr lang="en-US" sz="1350" dirty="0"/>
          </a:p>
        </p:txBody>
      </p:sp>
      <p:sp>
        <p:nvSpPr>
          <p:cNvPr id="25" name="Text 23"/>
          <p:cNvSpPr/>
          <p:nvPr/>
        </p:nvSpPr>
        <p:spPr>
          <a:xfrm>
            <a:off x="3602736" y="4919472"/>
            <a:ext cx="2221992" cy="320040"/>
          </a:xfrm>
          <a:prstGeom prst="rect">
            <a:avLst/>
          </a:prstGeom>
          <a:noFill/>
          <a:ln/>
        </p:spPr>
        <p:txBody>
          <a:bodyPr wrap="square" lIns="0" tIns="0" rIns="0" bIns="0" rtlCol="0" anchor="ctr"/>
          <a:lstStyle/>
          <a:p>
            <a:pPr algn="l" indent="0" marL="0">
              <a:buNone/>
            </a:pPr>
            <a:r>
              <a:rPr lang="en-US" sz="1250" dirty="0">
                <a:solidFill>
                  <a:srgbClr val="CADCFC"/>
                </a:solidFill>
                <a:latin typeface="Calibri" pitchFamily="34" charset="0"/>
                <a:ea typeface="Calibri" pitchFamily="34" charset="-122"/>
                <a:cs typeface="Calibri" pitchFamily="34" charset="-120"/>
              </a:rPr>
              <a:t>Unlimited seats</a:t>
            </a:r>
            <a:endParaRPr lang="en-US" sz="1250" dirty="0"/>
          </a:p>
        </p:txBody>
      </p:sp>
      <p:sp>
        <p:nvSpPr>
          <p:cNvPr id="26" name="Text 24"/>
          <p:cNvSpPr/>
          <p:nvPr/>
        </p:nvSpPr>
        <p:spPr>
          <a:xfrm>
            <a:off x="3602736" y="5230368"/>
            <a:ext cx="2221992" cy="320040"/>
          </a:xfrm>
          <a:prstGeom prst="rect">
            <a:avLst/>
          </a:prstGeom>
          <a:noFill/>
          <a:ln/>
        </p:spPr>
        <p:txBody>
          <a:bodyPr wrap="square" lIns="0" tIns="0" rIns="0" bIns="0"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14-day free trial of Scale</a:t>
            </a:r>
            <a:endParaRPr lang="en-US" sz="1100" dirty="0"/>
          </a:p>
        </p:txBody>
      </p:sp>
      <p:sp>
        <p:nvSpPr>
          <p:cNvPr id="27" name="Shape 25"/>
          <p:cNvSpPr/>
          <p:nvPr/>
        </p:nvSpPr>
        <p:spPr>
          <a:xfrm>
            <a:off x="6144768" y="2011680"/>
            <a:ext cx="2679192" cy="365760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28" name="Text 26"/>
          <p:cNvSpPr/>
          <p:nvPr/>
        </p:nvSpPr>
        <p:spPr>
          <a:xfrm>
            <a:off x="6400800" y="2267712"/>
            <a:ext cx="2221992" cy="41148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Elite</a:t>
            </a:r>
            <a:endParaRPr lang="en-US" sz="2000" dirty="0"/>
          </a:p>
        </p:txBody>
      </p:sp>
      <p:sp>
        <p:nvSpPr>
          <p:cNvPr id="29" name="Text 27"/>
          <p:cNvSpPr/>
          <p:nvPr/>
        </p:nvSpPr>
        <p:spPr>
          <a:xfrm>
            <a:off x="6400800" y="267004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Hiring at volume</a:t>
            </a:r>
            <a:endParaRPr lang="en-US" sz="1150" dirty="0"/>
          </a:p>
        </p:txBody>
      </p:sp>
      <p:sp>
        <p:nvSpPr>
          <p:cNvPr id="30" name="Text 28"/>
          <p:cNvSpPr/>
          <p:nvPr/>
        </p:nvSpPr>
        <p:spPr>
          <a:xfrm>
            <a:off x="6400800" y="3108960"/>
            <a:ext cx="2221992" cy="548640"/>
          </a:xfrm>
          <a:prstGeom prst="rect">
            <a:avLst/>
          </a:prstGeom>
          <a:noFill/>
          <a:ln/>
        </p:spPr>
        <p:txBody>
          <a:bodyPr wrap="square" lIns="0" tIns="0" rIns="0" bIns="0" rtlCol="0" anchor="ctr"/>
          <a:lstStyle/>
          <a:p>
            <a:pPr algn="l" indent="0" marL="0">
              <a:buNone/>
            </a:pPr>
            <a:r>
              <a:rPr lang="en-US" sz="3000" b="1" dirty="0">
                <a:solidFill>
                  <a:srgbClr val="12132A"/>
                </a:solidFill>
                <a:latin typeface="Calibri" pitchFamily="34" charset="0"/>
                <a:ea typeface="Calibri" pitchFamily="34" charset="-122"/>
                <a:cs typeface="Calibri" pitchFamily="34" charset="-120"/>
              </a:rPr>
              <a:t>RM1,399</a:t>
            </a:r>
            <a:pPr algn="l" indent="0" marL="0">
              <a:buNone/>
            </a:pPr>
            <a:r>
              <a:rPr lang="en-US" sz="1400" dirty="0">
                <a:solidFill>
                  <a:srgbClr val="4A5568"/>
                </a:solidFill>
                <a:latin typeface="Calibri" pitchFamily="34" charset="0"/>
                <a:ea typeface="Calibri" pitchFamily="34" charset="-122"/>
                <a:cs typeface="Calibri" pitchFamily="34" charset="-120"/>
              </a:rPr>
              <a:t> /mo</a:t>
            </a:r>
            <a:endParaRPr lang="en-US" sz="3000" dirty="0"/>
          </a:p>
        </p:txBody>
      </p:sp>
      <p:sp>
        <p:nvSpPr>
          <p:cNvPr id="31" name="Text 29"/>
          <p:cNvSpPr/>
          <p:nvPr/>
        </p:nvSpPr>
        <p:spPr>
          <a:xfrm>
            <a:off x="6400800" y="367588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RM1,166 / mo on annual</a:t>
            </a:r>
            <a:endParaRPr lang="en-US" sz="1150" dirty="0"/>
          </a:p>
        </p:txBody>
      </p:sp>
      <p:sp>
        <p:nvSpPr>
          <p:cNvPr id="32" name="Text 30"/>
          <p:cNvSpPr/>
          <p:nvPr/>
        </p:nvSpPr>
        <p:spPr>
          <a:xfrm>
            <a:off x="6400800" y="3977640"/>
            <a:ext cx="2221992" cy="274320"/>
          </a:xfrm>
          <a:prstGeom prst="rect">
            <a:avLst/>
          </a:prstGeom>
          <a:noFill/>
          <a:ln/>
        </p:spPr>
        <p:txBody>
          <a:bodyPr wrap="square" lIns="0" tIns="0" rIns="0" bIns="0" rtlCol="0" anchor="ctr"/>
          <a:lstStyle/>
          <a:p>
            <a:pPr algn="l" indent="0" marL="0">
              <a:buNone/>
            </a:pPr>
            <a:r>
              <a:rPr lang="en-US" sz="1150" i="1" dirty="0">
                <a:solidFill>
                  <a:srgbClr val="16A34A"/>
                </a:solidFill>
                <a:latin typeface="Calibri" pitchFamily="34" charset="0"/>
                <a:ea typeface="Calibri" pitchFamily="34" charset="-122"/>
                <a:cs typeface="Calibri" pitchFamily="34" charset="-120"/>
              </a:rPr>
              <a:t>RM13,990 billed yearly</a:t>
            </a:r>
            <a:endParaRPr lang="en-US" sz="1150" dirty="0"/>
          </a:p>
        </p:txBody>
      </p:sp>
      <p:sp>
        <p:nvSpPr>
          <p:cNvPr id="33" name="Shape 31"/>
          <p:cNvSpPr/>
          <p:nvPr/>
        </p:nvSpPr>
        <p:spPr>
          <a:xfrm>
            <a:off x="6400800" y="4462272"/>
            <a:ext cx="2167128" cy="0"/>
          </a:xfrm>
          <a:prstGeom prst="line">
            <a:avLst/>
          </a:prstGeom>
          <a:noFill/>
          <a:ln w="12700">
            <a:solidFill>
              <a:srgbClr val="DEDEE3"/>
            </a:solidFill>
            <a:prstDash val="solid"/>
          </a:ln>
        </p:spPr>
      </p:sp>
      <p:sp>
        <p:nvSpPr>
          <p:cNvPr id="34" name="Text 32"/>
          <p:cNvSpPr/>
          <p:nvPr/>
        </p:nvSpPr>
        <p:spPr>
          <a:xfrm>
            <a:off x="6400800" y="4572000"/>
            <a:ext cx="2221992" cy="320040"/>
          </a:xfrm>
          <a:prstGeom prst="rect">
            <a:avLst/>
          </a:prstGeom>
          <a:noFill/>
          <a:ln/>
        </p:spPr>
        <p:txBody>
          <a:bodyPr wrap="square" lIns="0" tIns="0" rIns="0" bIns="0" rtlCol="0" anchor="ctr"/>
          <a:lstStyle/>
          <a:p>
            <a:pPr algn="l" indent="0" marL="0">
              <a:buNone/>
            </a:pPr>
            <a:r>
              <a:rPr lang="en-US" sz="1350" b="1" dirty="0">
                <a:solidFill>
                  <a:srgbClr val="12132A"/>
                </a:solidFill>
                <a:latin typeface="Calibri" pitchFamily="34" charset="0"/>
                <a:ea typeface="Calibri" pitchFamily="34" charset="-122"/>
                <a:cs typeface="Calibri" pitchFamily="34" charset="-120"/>
              </a:rPr>
              <a:t>10 open jobs</a:t>
            </a:r>
            <a:endParaRPr lang="en-US" sz="1350" dirty="0"/>
          </a:p>
        </p:txBody>
      </p:sp>
      <p:sp>
        <p:nvSpPr>
          <p:cNvPr id="35" name="Text 33"/>
          <p:cNvSpPr/>
          <p:nvPr/>
        </p:nvSpPr>
        <p:spPr>
          <a:xfrm>
            <a:off x="6400800" y="4919472"/>
            <a:ext cx="2221992" cy="3200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Unlimited seats</a:t>
            </a:r>
            <a:endParaRPr lang="en-US" sz="1250" dirty="0"/>
          </a:p>
        </p:txBody>
      </p:sp>
      <p:sp>
        <p:nvSpPr>
          <p:cNvPr id="36" name="Text 34"/>
          <p:cNvSpPr/>
          <p:nvPr/>
        </p:nvSpPr>
        <p:spPr>
          <a:xfrm>
            <a:off x="6400800" y="5230368"/>
            <a:ext cx="2221992" cy="320040"/>
          </a:xfrm>
          <a:prstGeom prst="rect">
            <a:avLst/>
          </a:prstGeom>
          <a:noFill/>
          <a:ln/>
        </p:spPr>
        <p:txBody>
          <a:bodyPr wrap="square" lIns="0" tIns="0" rIns="0" bIns="0" rtlCol="0" anchor="ctr"/>
          <a:lstStyle/>
          <a:p>
            <a:pPr algn="l" indent="0" marL="0">
              <a:buNone/>
            </a:pPr>
            <a:r>
              <a:rPr lang="en-US" sz="1100" i="1" dirty="0">
                <a:solidFill>
                  <a:srgbClr val="4A5568"/>
                </a:solidFill>
                <a:latin typeface="Calibri" pitchFamily="34" charset="0"/>
                <a:ea typeface="Calibri" pitchFamily="34" charset="-122"/>
                <a:cs typeface="Calibri" pitchFamily="34" charset="-120"/>
              </a:rPr>
              <a:t>14-day free trial of Scale</a:t>
            </a:r>
            <a:endParaRPr lang="en-US" sz="1100" dirty="0"/>
          </a:p>
        </p:txBody>
      </p:sp>
      <p:sp>
        <p:nvSpPr>
          <p:cNvPr id="37" name="Shape 35"/>
          <p:cNvSpPr/>
          <p:nvPr/>
        </p:nvSpPr>
        <p:spPr>
          <a:xfrm>
            <a:off x="8942832" y="2011680"/>
            <a:ext cx="2679192" cy="3657600"/>
          </a:xfrm>
          <a:prstGeom prst="roundRect">
            <a:avLst>
              <a:gd name="adj" fmla="val 409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38" name="Text 36"/>
          <p:cNvSpPr/>
          <p:nvPr/>
        </p:nvSpPr>
        <p:spPr>
          <a:xfrm>
            <a:off x="9198864" y="2267712"/>
            <a:ext cx="2221992" cy="41148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Enterprise</a:t>
            </a:r>
            <a:endParaRPr lang="en-US" sz="2000" dirty="0"/>
          </a:p>
        </p:txBody>
      </p:sp>
      <p:sp>
        <p:nvSpPr>
          <p:cNvPr id="39" name="Text 37"/>
          <p:cNvSpPr/>
          <p:nvPr/>
        </p:nvSpPr>
        <p:spPr>
          <a:xfrm>
            <a:off x="9198864" y="267004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Security &amp; scale</a:t>
            </a:r>
            <a:endParaRPr lang="en-US" sz="1150" dirty="0"/>
          </a:p>
        </p:txBody>
      </p:sp>
      <p:sp>
        <p:nvSpPr>
          <p:cNvPr id="40" name="Text 38"/>
          <p:cNvSpPr/>
          <p:nvPr/>
        </p:nvSpPr>
        <p:spPr>
          <a:xfrm>
            <a:off x="9198864" y="3108960"/>
            <a:ext cx="2221992" cy="548640"/>
          </a:xfrm>
          <a:prstGeom prst="rect">
            <a:avLst/>
          </a:prstGeom>
          <a:noFill/>
          <a:ln/>
        </p:spPr>
        <p:txBody>
          <a:bodyPr wrap="square" lIns="0" tIns="0" rIns="0" bIns="0" rtlCol="0" anchor="ctr"/>
          <a:lstStyle/>
          <a:p>
            <a:pPr algn="l" indent="0" marL="0">
              <a:buNone/>
            </a:pPr>
            <a:r>
              <a:rPr lang="en-US" sz="3000" b="1" dirty="0">
                <a:solidFill>
                  <a:srgbClr val="12132A"/>
                </a:solidFill>
                <a:latin typeface="Calibri" pitchFamily="34" charset="0"/>
                <a:ea typeface="Calibri" pitchFamily="34" charset="-122"/>
                <a:cs typeface="Calibri" pitchFamily="34" charset="-120"/>
              </a:rPr>
              <a:t>Let's talk</a:t>
            </a:r>
            <a:endParaRPr lang="en-US" sz="3000" dirty="0"/>
          </a:p>
        </p:txBody>
      </p:sp>
      <p:sp>
        <p:nvSpPr>
          <p:cNvPr id="41" name="Text 39"/>
          <p:cNvSpPr/>
          <p:nvPr/>
        </p:nvSpPr>
        <p:spPr>
          <a:xfrm>
            <a:off x="9198864" y="3675888"/>
            <a:ext cx="2221992" cy="27432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Custom solution</a:t>
            </a:r>
            <a:endParaRPr lang="en-US" sz="1150" dirty="0"/>
          </a:p>
        </p:txBody>
      </p:sp>
      <p:sp>
        <p:nvSpPr>
          <p:cNvPr id="42" name="Text 40"/>
          <p:cNvSpPr/>
          <p:nvPr/>
        </p:nvSpPr>
        <p:spPr>
          <a:xfrm>
            <a:off x="9198864" y="3977640"/>
            <a:ext cx="2221992" cy="274320"/>
          </a:xfrm>
          <a:prstGeom prst="rect">
            <a:avLst/>
          </a:prstGeom>
          <a:noFill/>
          <a:ln/>
        </p:spPr>
        <p:txBody>
          <a:bodyPr wrap="square" lIns="0" tIns="0" rIns="0" bIns="0" rtlCol="0" anchor="ctr"/>
          <a:lstStyle/>
          <a:p>
            <a:pPr algn="l" indent="0" marL="0">
              <a:buNone/>
            </a:pPr>
            <a:r>
              <a:rPr lang="en-US" sz="1150" i="1" dirty="0">
                <a:solidFill>
                  <a:srgbClr val="4A5568"/>
                </a:solidFill>
                <a:latin typeface="Calibri" pitchFamily="34" charset="0"/>
                <a:ea typeface="Calibri" pitchFamily="34" charset="-122"/>
                <a:cs typeface="Calibri" pitchFamily="34" charset="-120"/>
              </a:rPr>
              <a:t>Tailored pricing</a:t>
            </a:r>
            <a:endParaRPr lang="en-US" sz="1150" dirty="0"/>
          </a:p>
        </p:txBody>
      </p:sp>
      <p:sp>
        <p:nvSpPr>
          <p:cNvPr id="43" name="Shape 41"/>
          <p:cNvSpPr/>
          <p:nvPr/>
        </p:nvSpPr>
        <p:spPr>
          <a:xfrm>
            <a:off x="9198864" y="4462272"/>
            <a:ext cx="2167128" cy="0"/>
          </a:xfrm>
          <a:prstGeom prst="line">
            <a:avLst/>
          </a:prstGeom>
          <a:noFill/>
          <a:ln w="12700">
            <a:solidFill>
              <a:srgbClr val="DEDEE3"/>
            </a:solidFill>
            <a:prstDash val="solid"/>
          </a:ln>
        </p:spPr>
      </p:sp>
      <p:sp>
        <p:nvSpPr>
          <p:cNvPr id="44" name="Text 42"/>
          <p:cNvSpPr/>
          <p:nvPr/>
        </p:nvSpPr>
        <p:spPr>
          <a:xfrm>
            <a:off x="9198864" y="4572000"/>
            <a:ext cx="2221992" cy="320040"/>
          </a:xfrm>
          <a:prstGeom prst="rect">
            <a:avLst/>
          </a:prstGeom>
          <a:noFill/>
          <a:ln/>
        </p:spPr>
        <p:txBody>
          <a:bodyPr wrap="square" lIns="0" tIns="0" rIns="0" bIns="0" rtlCol="0" anchor="ctr"/>
          <a:lstStyle/>
          <a:p>
            <a:pPr algn="l" indent="0" marL="0">
              <a:buNone/>
            </a:pPr>
            <a:r>
              <a:rPr lang="en-US" sz="1350" b="1" dirty="0">
                <a:solidFill>
                  <a:srgbClr val="12132A"/>
                </a:solidFill>
                <a:latin typeface="Calibri" pitchFamily="34" charset="0"/>
                <a:ea typeface="Calibri" pitchFamily="34" charset="-122"/>
                <a:cs typeface="Calibri" pitchFamily="34" charset="-120"/>
              </a:rPr>
              <a:t>Unlimited jobs</a:t>
            </a:r>
            <a:endParaRPr lang="en-US" sz="1350" dirty="0"/>
          </a:p>
        </p:txBody>
      </p:sp>
      <p:sp>
        <p:nvSpPr>
          <p:cNvPr id="45" name="Text 43"/>
          <p:cNvSpPr/>
          <p:nvPr/>
        </p:nvSpPr>
        <p:spPr>
          <a:xfrm>
            <a:off x="9198864" y="4919472"/>
            <a:ext cx="2221992" cy="320040"/>
          </a:xfrm>
          <a:prstGeom prst="rect">
            <a:avLst/>
          </a:prstGeom>
          <a:noFill/>
          <a:ln/>
        </p:spPr>
        <p:txBody>
          <a:bodyPr wrap="square" lIns="0" tIns="0" rIns="0" bIns="0" rtlCol="0" anchor="ctr"/>
          <a:lstStyle/>
          <a:p>
            <a:pPr algn="l" indent="0" marL="0">
              <a:buNone/>
            </a:pPr>
            <a:r>
              <a:rPr lang="en-US" sz="1250" dirty="0">
                <a:solidFill>
                  <a:srgbClr val="4A5568"/>
                </a:solidFill>
                <a:latin typeface="Calibri" pitchFamily="34" charset="0"/>
                <a:ea typeface="Calibri" pitchFamily="34" charset="-122"/>
                <a:cs typeface="Calibri" pitchFamily="34" charset="-120"/>
              </a:rPr>
              <a:t>Unlimited seats</a:t>
            </a:r>
            <a:endParaRPr lang="en-US" sz="1250" dirty="0"/>
          </a:p>
        </p:txBody>
      </p:sp>
      <p:sp>
        <p:nvSpPr>
          <p:cNvPr id="46" name="Text 44"/>
          <p:cNvSpPr/>
          <p:nvPr/>
        </p:nvSpPr>
        <p:spPr>
          <a:xfrm>
            <a:off x="9198864" y="5230368"/>
            <a:ext cx="2221992" cy="320040"/>
          </a:xfrm>
          <a:prstGeom prst="rect">
            <a:avLst/>
          </a:prstGeom>
          <a:noFill/>
          <a:ln/>
        </p:spPr>
        <p:txBody>
          <a:bodyPr wrap="square" lIns="0" tIns="0" rIns="0" bIns="0" rtlCol="0" anchor="ctr"/>
          <a:lstStyle/>
          <a:p>
            <a:pPr algn="l" indent="0" marL="0">
              <a:buNone/>
            </a:pPr>
            <a:r>
              <a:rPr lang="en-US" sz="1100" i="1" dirty="0">
                <a:solidFill>
                  <a:srgbClr val="4A5568"/>
                </a:solidFill>
                <a:latin typeface="Calibri" pitchFamily="34" charset="0"/>
                <a:ea typeface="Calibri" pitchFamily="34" charset="-122"/>
                <a:cs typeface="Calibri" pitchFamily="34" charset="-120"/>
              </a:rPr>
              <a:t>14-day free trial of Scale</a:t>
            </a:r>
            <a:endParaRPr lang="en-US" sz="1100" dirty="0"/>
          </a:p>
        </p:txBody>
      </p:sp>
      <p:sp>
        <p:nvSpPr>
          <p:cNvPr id="47" name="Text 45"/>
          <p:cNvSpPr/>
          <p:nvPr/>
        </p:nvSpPr>
        <p:spPr>
          <a:xfrm>
            <a:off x="548640" y="5943600"/>
            <a:ext cx="1051560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Free trial applies to all new signups: 14 days of Scale, no card required.</a:t>
            </a:r>
            <a:endParaRPr lang="en-US" sz="1100" dirty="0"/>
          </a:p>
        </p:txBody>
      </p:sp>
      <p:sp>
        <p:nvSpPr>
          <p:cNvPr id="48" name="Text 46"/>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49" name="Text 47"/>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MONTHLY ALLOWANCES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What's included in each tier</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593592"/>
                <a:gridCol w="1874520"/>
                <a:gridCol w="1874520"/>
                <a:gridCol w="1874520"/>
                <a:gridCol w="1874520"/>
              </a:tblGrid>
              <a:tr h="365760">
                <a:tc>
                  <a:txBody>
                    <a:bodyPr/>
                    <a:lstStyle/>
                    <a:p>
                      <a:pPr algn="l" indent="0" marL="0">
                        <a:buNone/>
                      </a:pP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Launch</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Elite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Open jobs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Team seats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Applicant screening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Bulk resume uploads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AI Rank runs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AI Insights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Interview questions / mo</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Unlimited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Job drafts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Credits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WhatsApp reminders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Self-scheduling calendar</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SSO · audit logs · white-label</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9BEC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2132A"/>
                          </a:solidFill>
                          <a:latin typeface="Calibri" pitchFamily="34" charset="0"/>
                          <a:ea typeface="Calibri" pitchFamily="34" charset="-122"/>
                          <a:cs typeface="Calibri" pitchFamily="34" charset="-120"/>
                        </a:rPr>
                        <a:t>Support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Ticket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Ticket</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Priority</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150" dirty="0">
                          <a:solidFill>
                            <a:srgbClr val="4A5568"/>
                          </a:solidFill>
                          <a:latin typeface="Calibri" pitchFamily="34" charset="0"/>
                          <a:ea typeface="Calibri" pitchFamily="34" charset="-122"/>
                          <a:cs typeface="Calibri" pitchFamily="34" charset="-120"/>
                        </a:rPr>
                        <a:t>Dedicated</a:t>
                      </a:r>
                      <a:endParaRPr lang="en-US" sz="11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bl>
          </a:graphicData>
        </a:graphic>
      </p:graphicFrame>
      <p:sp>
        <p:nvSpPr>
          <p:cNvPr id="5" name="Text 2"/>
          <p:cNvSpPr/>
          <p:nvPr/>
        </p:nvSpPr>
        <p:spPr>
          <a:xfrm>
            <a:off x="548640" y="6400800"/>
            <a:ext cx="1097280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Job drafts are sold only as credits on every tier, including Enterprise, so drafting is pure add-on revenue.</a:t>
            </a:r>
            <a:endParaRPr lang="en-US" sz="1000" dirty="0"/>
          </a:p>
        </p:txBody>
      </p:sp>
      <p:sp>
        <p:nvSpPr>
          <p:cNvPr id="6" name="Text 3"/>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7"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WHY THE BUNDLE DRIVES UPGRADES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The included AI is worth 4–5× the plan price</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algn="l" indent="0" marL="0">
              <a:buNone/>
            </a:pPr>
            <a:r>
              <a:rPr lang="en-US" sz="1400" dirty="0">
                <a:solidFill>
                  <a:srgbClr val="4A5568"/>
                </a:solidFill>
                <a:latin typeface="Calibri" pitchFamily="34" charset="0"/>
                <a:ea typeface="Calibri" pitchFamily="34" charset="-122"/>
                <a:cs typeface="Calibri" pitchFamily="34" charset="-120"/>
              </a:rPr>
              <a:t>Priced at list credit rates, each tier's monthly allowance is worth far more than the subscription. That gap is the upgrade story, and it is affordable because the underlying AI cost is a few cents per action (next slide).</a:t>
            </a:r>
            <a:endParaRPr lang="en-US" sz="1400" dirty="0"/>
          </a:p>
        </p:txBody>
      </p:sp>
      <p:sp>
        <p:nvSpPr>
          <p:cNvPr id="5" name="Shape 3"/>
          <p:cNvSpPr/>
          <p:nvPr/>
        </p:nvSpPr>
        <p:spPr>
          <a:xfrm>
            <a:off x="868680" y="2514600"/>
            <a:ext cx="3383280" cy="3017520"/>
          </a:xfrm>
          <a:prstGeom prst="roundRect">
            <a:avLst>
              <a:gd name="adj" fmla="val 363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1143000" y="2770632"/>
            <a:ext cx="283464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Launch</a:t>
            </a:r>
            <a:endParaRPr lang="en-US" sz="1800" dirty="0"/>
          </a:p>
        </p:txBody>
      </p:sp>
      <p:sp>
        <p:nvSpPr>
          <p:cNvPr id="7" name="Text 5"/>
          <p:cNvSpPr/>
          <p:nvPr/>
        </p:nvSpPr>
        <p:spPr>
          <a:xfrm>
            <a:off x="2880360" y="2715768"/>
            <a:ext cx="1097280" cy="457200"/>
          </a:xfrm>
          <a:prstGeom prst="rect">
            <a:avLst/>
          </a:prstGeom>
          <a:noFill/>
          <a:ln/>
        </p:spPr>
        <p:txBody>
          <a:bodyPr wrap="square" lIns="0" tIns="0" rIns="0" bIns="0" rtlCol="0" anchor="ctr"/>
          <a:lstStyle/>
          <a:p>
            <a:pPr algn="r" indent="0" marL="0">
              <a:buNone/>
            </a:pPr>
            <a:r>
              <a:rPr lang="en-US" sz="2400" b="1" dirty="0">
                <a:solidFill>
                  <a:srgbClr val="16A34A"/>
                </a:solidFill>
                <a:latin typeface="Calibri" pitchFamily="34" charset="0"/>
                <a:ea typeface="Calibri" pitchFamily="34" charset="-122"/>
                <a:cs typeface="Calibri" pitchFamily="34" charset="-120"/>
              </a:rPr>
              <a:t>4.8×</a:t>
            </a:r>
            <a:endParaRPr lang="en-US" sz="2400" dirty="0"/>
          </a:p>
        </p:txBody>
      </p:sp>
      <p:sp>
        <p:nvSpPr>
          <p:cNvPr id="8" name="Text 6"/>
          <p:cNvSpPr/>
          <p:nvPr/>
        </p:nvSpPr>
        <p:spPr>
          <a:xfrm>
            <a:off x="2697480" y="3172968"/>
            <a:ext cx="12801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value-to-price</a:t>
            </a:r>
            <a:endParaRPr lang="en-US" sz="1000" dirty="0"/>
          </a:p>
        </p:txBody>
      </p:sp>
      <p:sp>
        <p:nvSpPr>
          <p:cNvPr id="9" name="Text 7"/>
          <p:cNvSpPr/>
          <p:nvPr/>
        </p:nvSpPr>
        <p:spPr>
          <a:xfrm>
            <a:off x="1143000" y="3657600"/>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Included AI value / mo</a:t>
            </a:r>
            <a:endParaRPr lang="en-US" sz="1200" dirty="0"/>
          </a:p>
        </p:txBody>
      </p:sp>
      <p:sp>
        <p:nvSpPr>
          <p:cNvPr id="10" name="Text 8"/>
          <p:cNvSpPr/>
          <p:nvPr/>
        </p:nvSpPr>
        <p:spPr>
          <a:xfrm>
            <a:off x="1143000" y="3904488"/>
            <a:ext cx="2834640" cy="502920"/>
          </a:xfrm>
          <a:prstGeom prst="rect">
            <a:avLst/>
          </a:prstGeom>
          <a:noFill/>
          <a:ln/>
        </p:spPr>
        <p:txBody>
          <a:bodyPr wrap="square" lIns="0" tIns="0" rIns="0" bIns="0" rtlCol="0" anchor="ctr"/>
          <a:lstStyle/>
          <a:p>
            <a:pPr algn="l" indent="0" marL="0">
              <a:buNone/>
            </a:pPr>
            <a:r>
              <a:rPr lang="en-US" sz="2800" b="1" dirty="0">
                <a:solidFill>
                  <a:srgbClr val="0B2AE0"/>
                </a:solidFill>
                <a:latin typeface="Calibri" pitchFamily="34" charset="0"/>
                <a:ea typeface="Calibri" pitchFamily="34" charset="-122"/>
                <a:cs typeface="Calibri" pitchFamily="34" charset="-120"/>
              </a:rPr>
              <a:t>RM474</a:t>
            </a:r>
            <a:endParaRPr lang="en-US" sz="2800" dirty="0"/>
          </a:p>
        </p:txBody>
      </p:sp>
      <p:sp>
        <p:nvSpPr>
          <p:cNvPr id="11" name="Shape 9"/>
          <p:cNvSpPr/>
          <p:nvPr/>
        </p:nvSpPr>
        <p:spPr>
          <a:xfrm>
            <a:off x="1143000" y="4526280"/>
            <a:ext cx="2834640" cy="0"/>
          </a:xfrm>
          <a:prstGeom prst="line">
            <a:avLst/>
          </a:prstGeom>
          <a:noFill/>
          <a:ln w="12700">
            <a:solidFill>
              <a:srgbClr val="DEDEE3"/>
            </a:solidFill>
            <a:prstDash val="solid"/>
          </a:ln>
        </p:spPr>
      </p:sp>
      <p:sp>
        <p:nvSpPr>
          <p:cNvPr id="12" name="Text 10"/>
          <p:cNvSpPr/>
          <p:nvPr/>
        </p:nvSpPr>
        <p:spPr>
          <a:xfrm>
            <a:off x="1143000" y="4636008"/>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Plan price / mo</a:t>
            </a:r>
            <a:endParaRPr lang="en-US" sz="1200" dirty="0"/>
          </a:p>
        </p:txBody>
      </p:sp>
      <p:sp>
        <p:nvSpPr>
          <p:cNvPr id="13" name="Text 11"/>
          <p:cNvSpPr/>
          <p:nvPr/>
        </p:nvSpPr>
        <p:spPr>
          <a:xfrm>
            <a:off x="1143000" y="4873752"/>
            <a:ext cx="2834640" cy="457200"/>
          </a:xfrm>
          <a:prstGeom prst="rect">
            <a:avLst/>
          </a:prstGeom>
          <a:noFill/>
          <a:ln/>
        </p:spPr>
        <p:txBody>
          <a:bodyPr wrap="square" lIns="0" tIns="0" rIns="0" bIns="0" rtlCol="0" anchor="ctr"/>
          <a:lstStyle/>
          <a:p>
            <a:pPr algn="l" indent="0" marL="0">
              <a:buNone/>
            </a:pPr>
            <a:r>
              <a:rPr lang="en-US" sz="2400" b="1" dirty="0">
                <a:solidFill>
                  <a:srgbClr val="12132A"/>
                </a:solidFill>
                <a:latin typeface="Calibri" pitchFamily="34" charset="0"/>
                <a:ea typeface="Calibri" pitchFamily="34" charset="-122"/>
                <a:cs typeface="Calibri" pitchFamily="34" charset="-120"/>
              </a:rPr>
              <a:t>RM99</a:t>
            </a:r>
            <a:endParaRPr lang="en-US" sz="2400" dirty="0"/>
          </a:p>
        </p:txBody>
      </p:sp>
      <p:sp>
        <p:nvSpPr>
          <p:cNvPr id="14" name="Shape 12"/>
          <p:cNvSpPr/>
          <p:nvPr/>
        </p:nvSpPr>
        <p:spPr>
          <a:xfrm>
            <a:off x="4572000" y="2514600"/>
            <a:ext cx="3383280" cy="3017520"/>
          </a:xfrm>
          <a:prstGeom prst="roundRect">
            <a:avLst>
              <a:gd name="adj" fmla="val 363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5" name="Text 13"/>
          <p:cNvSpPr/>
          <p:nvPr/>
        </p:nvSpPr>
        <p:spPr>
          <a:xfrm>
            <a:off x="4846320" y="2770632"/>
            <a:ext cx="283464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Scale</a:t>
            </a:r>
            <a:endParaRPr lang="en-US" sz="1800" dirty="0"/>
          </a:p>
        </p:txBody>
      </p:sp>
      <p:sp>
        <p:nvSpPr>
          <p:cNvPr id="16" name="Text 14"/>
          <p:cNvSpPr/>
          <p:nvPr/>
        </p:nvSpPr>
        <p:spPr>
          <a:xfrm>
            <a:off x="6583680" y="2715768"/>
            <a:ext cx="1097280" cy="457200"/>
          </a:xfrm>
          <a:prstGeom prst="rect">
            <a:avLst/>
          </a:prstGeom>
          <a:noFill/>
          <a:ln/>
        </p:spPr>
        <p:txBody>
          <a:bodyPr wrap="square" lIns="0" tIns="0" rIns="0" bIns="0" rtlCol="0" anchor="ctr"/>
          <a:lstStyle/>
          <a:p>
            <a:pPr algn="r" indent="0" marL="0">
              <a:buNone/>
            </a:pPr>
            <a:r>
              <a:rPr lang="en-US" sz="2400" b="1" dirty="0">
                <a:solidFill>
                  <a:srgbClr val="16A34A"/>
                </a:solidFill>
                <a:latin typeface="Calibri" pitchFamily="34" charset="0"/>
                <a:ea typeface="Calibri" pitchFamily="34" charset="-122"/>
                <a:cs typeface="Calibri" pitchFamily="34" charset="-120"/>
              </a:rPr>
              <a:t>4.2×</a:t>
            </a:r>
            <a:endParaRPr lang="en-US" sz="2400" dirty="0"/>
          </a:p>
        </p:txBody>
      </p:sp>
      <p:sp>
        <p:nvSpPr>
          <p:cNvPr id="17" name="Text 15"/>
          <p:cNvSpPr/>
          <p:nvPr/>
        </p:nvSpPr>
        <p:spPr>
          <a:xfrm>
            <a:off x="6400800" y="3172968"/>
            <a:ext cx="12801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value-to-price</a:t>
            </a:r>
            <a:endParaRPr lang="en-US" sz="1000" dirty="0"/>
          </a:p>
        </p:txBody>
      </p:sp>
      <p:sp>
        <p:nvSpPr>
          <p:cNvPr id="18" name="Text 16"/>
          <p:cNvSpPr/>
          <p:nvPr/>
        </p:nvSpPr>
        <p:spPr>
          <a:xfrm>
            <a:off x="4846320" y="3657600"/>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Included AI value / mo</a:t>
            </a:r>
            <a:endParaRPr lang="en-US" sz="1200" dirty="0"/>
          </a:p>
        </p:txBody>
      </p:sp>
      <p:sp>
        <p:nvSpPr>
          <p:cNvPr id="19" name="Text 17"/>
          <p:cNvSpPr/>
          <p:nvPr/>
        </p:nvSpPr>
        <p:spPr>
          <a:xfrm>
            <a:off x="4846320" y="3904488"/>
            <a:ext cx="2834640" cy="502920"/>
          </a:xfrm>
          <a:prstGeom prst="rect">
            <a:avLst/>
          </a:prstGeom>
          <a:noFill/>
          <a:ln/>
        </p:spPr>
        <p:txBody>
          <a:bodyPr wrap="square" lIns="0" tIns="0" rIns="0" bIns="0" rtlCol="0" anchor="ctr"/>
          <a:lstStyle/>
          <a:p>
            <a:pPr algn="l" indent="0" marL="0">
              <a:buNone/>
            </a:pPr>
            <a:r>
              <a:rPr lang="en-US" sz="2800" b="1" dirty="0">
                <a:solidFill>
                  <a:srgbClr val="0B2AE0"/>
                </a:solidFill>
                <a:latin typeface="Calibri" pitchFamily="34" charset="0"/>
                <a:ea typeface="Calibri" pitchFamily="34" charset="-122"/>
                <a:cs typeface="Calibri" pitchFamily="34" charset="-120"/>
              </a:rPr>
              <a:t>RM2,511</a:t>
            </a:r>
            <a:endParaRPr lang="en-US" sz="2800" dirty="0"/>
          </a:p>
        </p:txBody>
      </p:sp>
      <p:sp>
        <p:nvSpPr>
          <p:cNvPr id="20" name="Shape 18"/>
          <p:cNvSpPr/>
          <p:nvPr/>
        </p:nvSpPr>
        <p:spPr>
          <a:xfrm>
            <a:off x="4846320" y="4526280"/>
            <a:ext cx="2834640" cy="0"/>
          </a:xfrm>
          <a:prstGeom prst="line">
            <a:avLst/>
          </a:prstGeom>
          <a:noFill/>
          <a:ln w="12700">
            <a:solidFill>
              <a:srgbClr val="DEDEE3"/>
            </a:solidFill>
            <a:prstDash val="solid"/>
          </a:ln>
        </p:spPr>
      </p:sp>
      <p:sp>
        <p:nvSpPr>
          <p:cNvPr id="21" name="Text 19"/>
          <p:cNvSpPr/>
          <p:nvPr/>
        </p:nvSpPr>
        <p:spPr>
          <a:xfrm>
            <a:off x="4846320" y="4636008"/>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Plan price / mo</a:t>
            </a:r>
            <a:endParaRPr lang="en-US" sz="1200" dirty="0"/>
          </a:p>
        </p:txBody>
      </p:sp>
      <p:sp>
        <p:nvSpPr>
          <p:cNvPr id="22" name="Text 20"/>
          <p:cNvSpPr/>
          <p:nvPr/>
        </p:nvSpPr>
        <p:spPr>
          <a:xfrm>
            <a:off x="4846320" y="4873752"/>
            <a:ext cx="2834640" cy="457200"/>
          </a:xfrm>
          <a:prstGeom prst="rect">
            <a:avLst/>
          </a:prstGeom>
          <a:noFill/>
          <a:ln/>
        </p:spPr>
        <p:txBody>
          <a:bodyPr wrap="square" lIns="0" tIns="0" rIns="0" bIns="0" rtlCol="0" anchor="ctr"/>
          <a:lstStyle/>
          <a:p>
            <a:pPr algn="l" indent="0" marL="0">
              <a:buNone/>
            </a:pPr>
            <a:r>
              <a:rPr lang="en-US" sz="2400" b="1" dirty="0">
                <a:solidFill>
                  <a:srgbClr val="12132A"/>
                </a:solidFill>
                <a:latin typeface="Calibri" pitchFamily="34" charset="0"/>
                <a:ea typeface="Calibri" pitchFamily="34" charset="-122"/>
                <a:cs typeface="Calibri" pitchFamily="34" charset="-120"/>
              </a:rPr>
              <a:t>RM599</a:t>
            </a:r>
            <a:endParaRPr lang="en-US" sz="2400" dirty="0"/>
          </a:p>
        </p:txBody>
      </p:sp>
      <p:sp>
        <p:nvSpPr>
          <p:cNvPr id="23" name="Shape 21"/>
          <p:cNvSpPr/>
          <p:nvPr/>
        </p:nvSpPr>
        <p:spPr>
          <a:xfrm>
            <a:off x="8275320" y="2514600"/>
            <a:ext cx="3383280" cy="3017520"/>
          </a:xfrm>
          <a:prstGeom prst="roundRect">
            <a:avLst>
              <a:gd name="adj" fmla="val 3636"/>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24" name="Text 22"/>
          <p:cNvSpPr/>
          <p:nvPr/>
        </p:nvSpPr>
        <p:spPr>
          <a:xfrm>
            <a:off x="8549640" y="2770632"/>
            <a:ext cx="283464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Elite</a:t>
            </a:r>
            <a:endParaRPr lang="en-US" sz="1800" dirty="0"/>
          </a:p>
        </p:txBody>
      </p:sp>
      <p:sp>
        <p:nvSpPr>
          <p:cNvPr id="25" name="Text 23"/>
          <p:cNvSpPr/>
          <p:nvPr/>
        </p:nvSpPr>
        <p:spPr>
          <a:xfrm>
            <a:off x="10287000" y="2715768"/>
            <a:ext cx="1097280" cy="457200"/>
          </a:xfrm>
          <a:prstGeom prst="rect">
            <a:avLst/>
          </a:prstGeom>
          <a:noFill/>
          <a:ln/>
        </p:spPr>
        <p:txBody>
          <a:bodyPr wrap="square" lIns="0" tIns="0" rIns="0" bIns="0" rtlCol="0" anchor="ctr"/>
          <a:lstStyle/>
          <a:p>
            <a:pPr algn="r" indent="0" marL="0">
              <a:buNone/>
            </a:pPr>
            <a:r>
              <a:rPr lang="en-US" sz="2400" b="1" dirty="0">
                <a:solidFill>
                  <a:srgbClr val="16A34A"/>
                </a:solidFill>
                <a:latin typeface="Calibri" pitchFamily="34" charset="0"/>
                <a:ea typeface="Calibri" pitchFamily="34" charset="-122"/>
                <a:cs typeface="Calibri" pitchFamily="34" charset="-120"/>
              </a:rPr>
              <a:t>3.8×</a:t>
            </a:r>
            <a:endParaRPr lang="en-US" sz="2400" dirty="0"/>
          </a:p>
        </p:txBody>
      </p:sp>
      <p:sp>
        <p:nvSpPr>
          <p:cNvPr id="26" name="Text 24"/>
          <p:cNvSpPr/>
          <p:nvPr/>
        </p:nvSpPr>
        <p:spPr>
          <a:xfrm>
            <a:off x="10104120" y="3172968"/>
            <a:ext cx="128016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value-to-price</a:t>
            </a:r>
            <a:endParaRPr lang="en-US" sz="1000" dirty="0"/>
          </a:p>
        </p:txBody>
      </p:sp>
      <p:sp>
        <p:nvSpPr>
          <p:cNvPr id="27" name="Text 25"/>
          <p:cNvSpPr/>
          <p:nvPr/>
        </p:nvSpPr>
        <p:spPr>
          <a:xfrm>
            <a:off x="8549640" y="3657600"/>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Included AI value / mo</a:t>
            </a:r>
            <a:endParaRPr lang="en-US" sz="1200" dirty="0"/>
          </a:p>
        </p:txBody>
      </p:sp>
      <p:sp>
        <p:nvSpPr>
          <p:cNvPr id="28" name="Text 26"/>
          <p:cNvSpPr/>
          <p:nvPr/>
        </p:nvSpPr>
        <p:spPr>
          <a:xfrm>
            <a:off x="8549640" y="3904488"/>
            <a:ext cx="2834640" cy="502920"/>
          </a:xfrm>
          <a:prstGeom prst="rect">
            <a:avLst/>
          </a:prstGeom>
          <a:noFill/>
          <a:ln/>
        </p:spPr>
        <p:txBody>
          <a:bodyPr wrap="square" lIns="0" tIns="0" rIns="0" bIns="0" rtlCol="0" anchor="ctr"/>
          <a:lstStyle/>
          <a:p>
            <a:pPr algn="l" indent="0" marL="0">
              <a:buNone/>
            </a:pPr>
            <a:r>
              <a:rPr lang="en-US" sz="2800" b="1" dirty="0">
                <a:solidFill>
                  <a:srgbClr val="0B2AE0"/>
                </a:solidFill>
                <a:latin typeface="Calibri" pitchFamily="34" charset="0"/>
                <a:ea typeface="Calibri" pitchFamily="34" charset="-122"/>
                <a:cs typeface="Calibri" pitchFamily="34" charset="-120"/>
              </a:rPr>
              <a:t>RM5,317</a:t>
            </a:r>
            <a:endParaRPr lang="en-US" sz="2800" dirty="0"/>
          </a:p>
        </p:txBody>
      </p:sp>
      <p:sp>
        <p:nvSpPr>
          <p:cNvPr id="29" name="Shape 27"/>
          <p:cNvSpPr/>
          <p:nvPr/>
        </p:nvSpPr>
        <p:spPr>
          <a:xfrm>
            <a:off x="8549640" y="4526280"/>
            <a:ext cx="2834640" cy="0"/>
          </a:xfrm>
          <a:prstGeom prst="line">
            <a:avLst/>
          </a:prstGeom>
          <a:noFill/>
          <a:ln w="12700">
            <a:solidFill>
              <a:srgbClr val="DEDEE3"/>
            </a:solidFill>
            <a:prstDash val="solid"/>
          </a:ln>
        </p:spPr>
      </p:sp>
      <p:sp>
        <p:nvSpPr>
          <p:cNvPr id="30" name="Text 28"/>
          <p:cNvSpPr/>
          <p:nvPr/>
        </p:nvSpPr>
        <p:spPr>
          <a:xfrm>
            <a:off x="8549640" y="4636008"/>
            <a:ext cx="2834640" cy="27432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Plan price / mo</a:t>
            </a:r>
            <a:endParaRPr lang="en-US" sz="1200" dirty="0"/>
          </a:p>
        </p:txBody>
      </p:sp>
      <p:sp>
        <p:nvSpPr>
          <p:cNvPr id="31" name="Text 29"/>
          <p:cNvSpPr/>
          <p:nvPr/>
        </p:nvSpPr>
        <p:spPr>
          <a:xfrm>
            <a:off x="8549640" y="4873752"/>
            <a:ext cx="2834640" cy="457200"/>
          </a:xfrm>
          <a:prstGeom prst="rect">
            <a:avLst/>
          </a:prstGeom>
          <a:noFill/>
          <a:ln/>
        </p:spPr>
        <p:txBody>
          <a:bodyPr wrap="square" lIns="0" tIns="0" rIns="0" bIns="0" rtlCol="0" anchor="ctr"/>
          <a:lstStyle/>
          <a:p>
            <a:pPr algn="l" indent="0" marL="0">
              <a:buNone/>
            </a:pPr>
            <a:r>
              <a:rPr lang="en-US" sz="2400" b="1" dirty="0">
                <a:solidFill>
                  <a:srgbClr val="12132A"/>
                </a:solidFill>
                <a:latin typeface="Calibri" pitchFamily="34" charset="0"/>
                <a:ea typeface="Calibri" pitchFamily="34" charset="-122"/>
                <a:cs typeface="Calibri" pitchFamily="34" charset="-120"/>
              </a:rPr>
              <a:t>RM1,399</a:t>
            </a:r>
            <a:endParaRPr lang="en-US" sz="2400" dirty="0"/>
          </a:p>
        </p:txBody>
      </p:sp>
      <p:sp>
        <p:nvSpPr>
          <p:cNvPr id="32" name="Text 30"/>
          <p:cNvSpPr/>
          <p:nvPr/>
        </p:nvSpPr>
        <p:spPr>
          <a:xfrm>
            <a:off x="548640" y="5806440"/>
            <a:ext cx="10972800"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Included value = monthly allowance priced at list credit rates (RM4.09 screening · RM1.64 AI Rank / Insight / Questions).</a:t>
            </a:r>
            <a:endParaRPr lang="en-US" sz="1050" dirty="0"/>
          </a:p>
        </p:txBody>
      </p:sp>
      <p:sp>
        <p:nvSpPr>
          <p:cNvPr id="33" name="Text 31"/>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34" name="Text 32"/>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USAGE-BASED REVENUE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Credit top-up pricing</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760720" cy="914400"/>
        </p:xfrm>
        <a:graphic>
          <a:graphicData uri="http://schemas.openxmlformats.org/drawingml/2006/table">
            <a:tbl>
              <a:tblPr/>
              <a:tblGrid>
                <a:gridCol w="3749040"/>
                <a:gridCol w="201168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Credit</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List price (MYR)</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Applicant / resume screening</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RM4.09</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AI Rank</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RM1.64</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AI Insight</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RM1.64</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Interview questions</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RM1.64</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75488">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Job draft (Opus)</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B2AE0"/>
                          </a:solidFill>
                          <a:latin typeface="Calibri" pitchFamily="34" charset="0"/>
                          <a:ea typeface="Calibri" pitchFamily="34" charset="-122"/>
                          <a:cs typeface="Calibri" pitchFamily="34" charset="-120"/>
                        </a:rPr>
                        <a:t>RM2.05</a:t>
                      </a:r>
                      <a:endParaRPr lang="en-US" sz="13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00600"/>
            <a:ext cx="5760720" cy="274320"/>
          </a:xfrm>
          <a:prstGeom prst="rect">
            <a:avLst/>
          </a:prstGeom>
          <a:noFill/>
          <a:ln/>
        </p:spPr>
        <p:txBody>
          <a:bodyPr wrap="square" lIns="0" tIns="0" rIns="0" bIns="0" rtlCol="0" anchor="ctr"/>
          <a:lstStyle/>
          <a:p>
            <a:pPr algn="l" indent="0" marL="0">
              <a:buNone/>
            </a:pPr>
            <a:r>
              <a:rPr lang="en-US" sz="1200" b="1" dirty="0">
                <a:solidFill>
                  <a:srgbClr val="12132A"/>
                </a:solidFill>
                <a:latin typeface="Calibri" pitchFamily="34" charset="0"/>
                <a:ea typeface="Calibri" pitchFamily="34" charset="-122"/>
                <a:cs typeface="Calibri" pitchFamily="34" charset="-120"/>
              </a:rPr>
              <a:t>Formula (computed server-side, never trusted from the client):</a:t>
            </a:r>
            <a:endParaRPr lang="en-US" sz="1200" dirty="0"/>
          </a:p>
        </p:txBody>
      </p:sp>
      <p:sp>
        <p:nvSpPr>
          <p:cNvPr id="6" name="Shape 3"/>
          <p:cNvSpPr/>
          <p:nvPr/>
        </p:nvSpPr>
        <p:spPr>
          <a:xfrm>
            <a:off x="548640" y="5120640"/>
            <a:ext cx="5760720" cy="685800"/>
          </a:xfrm>
          <a:prstGeom prst="roundRect">
            <a:avLst>
              <a:gd name="adj" fmla="val 13333"/>
            </a:avLst>
          </a:prstGeom>
          <a:solidFill>
            <a:srgbClr val="EAEEFE"/>
          </a:solidFill>
          <a:ln w="12700">
            <a:solidFill>
              <a:srgbClr val="D7DEFB"/>
            </a:solidFill>
            <a:prstDash val="solid"/>
          </a:ln>
        </p:spPr>
      </p:sp>
      <p:sp>
        <p:nvSpPr>
          <p:cNvPr id="7" name="Text 4"/>
          <p:cNvSpPr/>
          <p:nvPr/>
        </p:nvSpPr>
        <p:spPr>
          <a:xfrm>
            <a:off x="640080" y="5120640"/>
            <a:ext cx="5577840" cy="685800"/>
          </a:xfrm>
          <a:prstGeom prst="rect">
            <a:avLst/>
          </a:prstGeom>
          <a:noFill/>
          <a:ln/>
        </p:spPr>
        <p:txBody>
          <a:bodyPr wrap="square" lIns="0" tIns="0" rIns="0" bIns="0" rtlCol="0" anchor="ctr"/>
          <a:lstStyle/>
          <a:p>
            <a:pPr algn="ctr" indent="0" marL="0">
              <a:buNone/>
            </a:pPr>
            <a:r>
              <a:rPr lang="en-US" sz="1400" b="1" dirty="0">
                <a:solidFill>
                  <a:srgbClr val="0B2AE0"/>
                </a:solidFill>
                <a:latin typeface="Calibri" pitchFamily="34" charset="0"/>
                <a:ea typeface="Calibri" pitchFamily="34" charset="-122"/>
                <a:cs typeface="Calibri" pitchFamily="34" charset="-120"/>
              </a:rPr>
              <a:t>price  =  base USD  ×  FX rate  ×  (1 − plan discount)</a:t>
            </a:r>
            <a:endParaRPr lang="en-US" sz="1400" dirty="0"/>
          </a:p>
        </p:txBody>
      </p:sp>
      <p:sp>
        <p:nvSpPr>
          <p:cNvPr id="8" name="Shape 5"/>
          <p:cNvSpPr/>
          <p:nvPr/>
        </p:nvSpPr>
        <p:spPr>
          <a:xfrm>
            <a:off x="6583680" y="1737360"/>
            <a:ext cx="5056632" cy="1920240"/>
          </a:xfrm>
          <a:prstGeom prst="roundRect">
            <a:avLst>
              <a:gd name="adj" fmla="val 5714"/>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9" name="Text 6"/>
          <p:cNvSpPr/>
          <p:nvPr/>
        </p:nvSpPr>
        <p:spPr>
          <a:xfrm>
            <a:off x="6858000" y="1920240"/>
            <a:ext cx="457200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Plan discount on credits</a:t>
            </a:r>
            <a:endParaRPr lang="en-US" sz="1500" dirty="0"/>
          </a:p>
        </p:txBody>
      </p:sp>
      <p:sp>
        <p:nvSpPr>
          <p:cNvPr id="10" name="Text 7"/>
          <p:cNvSpPr/>
          <p:nvPr/>
        </p:nvSpPr>
        <p:spPr>
          <a:xfrm>
            <a:off x="6858000" y="2331720"/>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Launch</a:t>
            </a:r>
            <a:endParaRPr lang="en-US" sz="1300" dirty="0"/>
          </a:p>
        </p:txBody>
      </p:sp>
      <p:sp>
        <p:nvSpPr>
          <p:cNvPr id="11" name="Text 8"/>
          <p:cNvSpPr/>
          <p:nvPr/>
        </p:nvSpPr>
        <p:spPr>
          <a:xfrm>
            <a:off x="10058400" y="2331720"/>
            <a:ext cx="1371600" cy="320040"/>
          </a:xfrm>
          <a:prstGeom prst="rect">
            <a:avLst/>
          </a:prstGeom>
          <a:noFill/>
          <a:ln/>
        </p:spPr>
        <p:txBody>
          <a:bodyPr wrap="square" lIns="0" tIns="0" rIns="0" bIns="0" rtlCol="0" anchor="ctr"/>
          <a:lstStyle/>
          <a:p>
            <a:pPr algn="r" indent="0" marL="0">
              <a:buNone/>
            </a:pPr>
            <a:r>
              <a:rPr lang="en-US" sz="1400" b="1" dirty="0">
                <a:solidFill>
                  <a:srgbClr val="0B2AE0"/>
                </a:solidFill>
                <a:latin typeface="Calibri" pitchFamily="34" charset="0"/>
                <a:ea typeface="Calibri" pitchFamily="34" charset="-122"/>
                <a:cs typeface="Calibri" pitchFamily="34" charset="-120"/>
              </a:rPr>
              <a:t>0%</a:t>
            </a:r>
            <a:endParaRPr lang="en-US" sz="1400" dirty="0"/>
          </a:p>
        </p:txBody>
      </p:sp>
      <p:sp>
        <p:nvSpPr>
          <p:cNvPr id="12" name="Text 9"/>
          <p:cNvSpPr/>
          <p:nvPr/>
        </p:nvSpPr>
        <p:spPr>
          <a:xfrm>
            <a:off x="6858000" y="2715768"/>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Scale</a:t>
            </a:r>
            <a:endParaRPr lang="en-US" sz="1300" dirty="0"/>
          </a:p>
        </p:txBody>
      </p:sp>
      <p:sp>
        <p:nvSpPr>
          <p:cNvPr id="13" name="Text 10"/>
          <p:cNvSpPr/>
          <p:nvPr/>
        </p:nvSpPr>
        <p:spPr>
          <a:xfrm>
            <a:off x="10058400" y="2715768"/>
            <a:ext cx="1371600" cy="320040"/>
          </a:xfrm>
          <a:prstGeom prst="rect">
            <a:avLst/>
          </a:prstGeom>
          <a:noFill/>
          <a:ln/>
        </p:spPr>
        <p:txBody>
          <a:bodyPr wrap="square" lIns="0" tIns="0" rIns="0" bIns="0" rtlCol="0" anchor="ctr"/>
          <a:lstStyle/>
          <a:p>
            <a:pPr algn="r" indent="0" marL="0">
              <a:buNone/>
            </a:pPr>
            <a:r>
              <a:rPr lang="en-US" sz="1400" b="1" dirty="0">
                <a:solidFill>
                  <a:srgbClr val="0B2AE0"/>
                </a:solidFill>
                <a:latin typeface="Calibri" pitchFamily="34" charset="0"/>
                <a:ea typeface="Calibri" pitchFamily="34" charset="-122"/>
                <a:cs typeface="Calibri" pitchFamily="34" charset="-120"/>
              </a:rPr>
              <a:t>10%</a:t>
            </a:r>
            <a:endParaRPr lang="en-US" sz="1400" dirty="0"/>
          </a:p>
        </p:txBody>
      </p:sp>
      <p:sp>
        <p:nvSpPr>
          <p:cNvPr id="14" name="Text 11"/>
          <p:cNvSpPr/>
          <p:nvPr/>
        </p:nvSpPr>
        <p:spPr>
          <a:xfrm>
            <a:off x="6858000" y="3099816"/>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Elite / Enterprise</a:t>
            </a:r>
            <a:endParaRPr lang="en-US" sz="1300" dirty="0"/>
          </a:p>
        </p:txBody>
      </p:sp>
      <p:sp>
        <p:nvSpPr>
          <p:cNvPr id="15" name="Text 12"/>
          <p:cNvSpPr/>
          <p:nvPr/>
        </p:nvSpPr>
        <p:spPr>
          <a:xfrm>
            <a:off x="10058400" y="3099816"/>
            <a:ext cx="1371600" cy="320040"/>
          </a:xfrm>
          <a:prstGeom prst="rect">
            <a:avLst/>
          </a:prstGeom>
          <a:noFill/>
          <a:ln/>
        </p:spPr>
        <p:txBody>
          <a:bodyPr wrap="square" lIns="0" tIns="0" rIns="0" bIns="0" rtlCol="0" anchor="ctr"/>
          <a:lstStyle/>
          <a:p>
            <a:pPr algn="r" indent="0" marL="0">
              <a:buNone/>
            </a:pPr>
            <a:r>
              <a:rPr lang="en-US" sz="1400" b="1" dirty="0">
                <a:solidFill>
                  <a:srgbClr val="0B2AE0"/>
                </a:solidFill>
                <a:latin typeface="Calibri" pitchFamily="34" charset="0"/>
                <a:ea typeface="Calibri" pitchFamily="34" charset="-122"/>
                <a:cs typeface="Calibri" pitchFamily="34" charset="-120"/>
              </a:rPr>
              <a:t>20%</a:t>
            </a:r>
            <a:endParaRPr lang="en-US" sz="1400" dirty="0"/>
          </a:p>
        </p:txBody>
      </p:sp>
      <p:sp>
        <p:nvSpPr>
          <p:cNvPr id="16" name="Shape 13"/>
          <p:cNvSpPr/>
          <p:nvPr/>
        </p:nvSpPr>
        <p:spPr>
          <a:xfrm>
            <a:off x="6583680" y="3840480"/>
            <a:ext cx="5056632" cy="1965960"/>
          </a:xfrm>
          <a:prstGeom prst="roundRect">
            <a:avLst>
              <a:gd name="adj" fmla="val 5581"/>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7" name="Text 14"/>
          <p:cNvSpPr/>
          <p:nvPr/>
        </p:nvSpPr>
        <p:spPr>
          <a:xfrm>
            <a:off x="6858000" y="4023360"/>
            <a:ext cx="4572000" cy="32004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Currency (FX rate vs USD)</a:t>
            </a:r>
            <a:endParaRPr lang="en-US" sz="1500" dirty="0"/>
          </a:p>
        </p:txBody>
      </p:sp>
      <p:sp>
        <p:nvSpPr>
          <p:cNvPr id="18" name="Text 15"/>
          <p:cNvSpPr/>
          <p:nvPr/>
        </p:nvSpPr>
        <p:spPr>
          <a:xfrm>
            <a:off x="6858000" y="4434840"/>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USD</a:t>
            </a:r>
            <a:endParaRPr lang="en-US" sz="1300" dirty="0"/>
          </a:p>
        </p:txBody>
      </p:sp>
      <p:sp>
        <p:nvSpPr>
          <p:cNvPr id="19" name="Text 16"/>
          <p:cNvSpPr/>
          <p:nvPr/>
        </p:nvSpPr>
        <p:spPr>
          <a:xfrm>
            <a:off x="10058400" y="4434840"/>
            <a:ext cx="1371600" cy="320040"/>
          </a:xfrm>
          <a:prstGeom prst="rect">
            <a:avLst/>
          </a:prstGeom>
          <a:noFill/>
          <a:ln/>
        </p:spPr>
        <p:txBody>
          <a:bodyPr wrap="square" lIns="0" tIns="0" rIns="0" bIns="0" rtlCol="0" anchor="ctr"/>
          <a:lstStyle/>
          <a:p>
            <a:pPr algn="r" indent="0" marL="0">
              <a:buNone/>
            </a:pPr>
            <a:r>
              <a:rPr lang="en-US" sz="1400" b="1" dirty="0">
                <a:solidFill>
                  <a:srgbClr val="12132A"/>
                </a:solidFill>
                <a:latin typeface="Calibri" pitchFamily="34" charset="0"/>
                <a:ea typeface="Calibri" pitchFamily="34" charset="-122"/>
                <a:cs typeface="Calibri" pitchFamily="34" charset="-120"/>
              </a:rPr>
              <a:t>× 1.00</a:t>
            </a:r>
            <a:endParaRPr lang="en-US" sz="1400" dirty="0"/>
          </a:p>
        </p:txBody>
      </p:sp>
      <p:sp>
        <p:nvSpPr>
          <p:cNvPr id="20" name="Text 17"/>
          <p:cNvSpPr/>
          <p:nvPr/>
        </p:nvSpPr>
        <p:spPr>
          <a:xfrm>
            <a:off x="6858000" y="4818888"/>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MYR (default)</a:t>
            </a:r>
            <a:endParaRPr lang="en-US" sz="1300" dirty="0"/>
          </a:p>
        </p:txBody>
      </p:sp>
      <p:sp>
        <p:nvSpPr>
          <p:cNvPr id="21" name="Text 18"/>
          <p:cNvSpPr/>
          <p:nvPr/>
        </p:nvSpPr>
        <p:spPr>
          <a:xfrm>
            <a:off x="10058400" y="4818888"/>
            <a:ext cx="1371600" cy="320040"/>
          </a:xfrm>
          <a:prstGeom prst="rect">
            <a:avLst/>
          </a:prstGeom>
          <a:noFill/>
          <a:ln/>
        </p:spPr>
        <p:txBody>
          <a:bodyPr wrap="square" lIns="0" tIns="0" rIns="0" bIns="0" rtlCol="0" anchor="ctr"/>
          <a:lstStyle/>
          <a:p>
            <a:pPr algn="r" indent="0" marL="0">
              <a:buNone/>
            </a:pPr>
            <a:r>
              <a:rPr lang="en-US" sz="1400" b="1" dirty="0">
                <a:solidFill>
                  <a:srgbClr val="12132A"/>
                </a:solidFill>
                <a:latin typeface="Calibri" pitchFamily="34" charset="0"/>
                <a:ea typeface="Calibri" pitchFamily="34" charset="-122"/>
                <a:cs typeface="Calibri" pitchFamily="34" charset="-120"/>
              </a:rPr>
              <a:t>× 4.09</a:t>
            </a:r>
            <a:endParaRPr lang="en-US" sz="1400" dirty="0"/>
          </a:p>
        </p:txBody>
      </p:sp>
      <p:sp>
        <p:nvSpPr>
          <p:cNvPr id="22" name="Text 19"/>
          <p:cNvSpPr/>
          <p:nvPr/>
        </p:nvSpPr>
        <p:spPr>
          <a:xfrm>
            <a:off x="6858000" y="5202936"/>
            <a:ext cx="3200400"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SGD</a:t>
            </a:r>
            <a:endParaRPr lang="en-US" sz="1300" dirty="0"/>
          </a:p>
        </p:txBody>
      </p:sp>
      <p:sp>
        <p:nvSpPr>
          <p:cNvPr id="23" name="Text 20"/>
          <p:cNvSpPr/>
          <p:nvPr/>
        </p:nvSpPr>
        <p:spPr>
          <a:xfrm>
            <a:off x="10058400" y="5202936"/>
            <a:ext cx="1371600" cy="320040"/>
          </a:xfrm>
          <a:prstGeom prst="rect">
            <a:avLst/>
          </a:prstGeom>
          <a:noFill/>
          <a:ln/>
        </p:spPr>
        <p:txBody>
          <a:bodyPr wrap="square" lIns="0" tIns="0" rIns="0" bIns="0" rtlCol="0" anchor="ctr"/>
          <a:lstStyle/>
          <a:p>
            <a:pPr algn="r" indent="0" marL="0">
              <a:buNone/>
            </a:pPr>
            <a:r>
              <a:rPr lang="en-US" sz="1400" b="1" dirty="0">
                <a:solidFill>
                  <a:srgbClr val="12132A"/>
                </a:solidFill>
                <a:latin typeface="Calibri" pitchFamily="34" charset="0"/>
                <a:ea typeface="Calibri" pitchFamily="34" charset="-122"/>
                <a:cs typeface="Calibri" pitchFamily="34" charset="-120"/>
              </a:rPr>
              <a:t>× 1.29</a:t>
            </a:r>
            <a:endParaRPr lang="en-US" sz="1400" dirty="0"/>
          </a:p>
        </p:txBody>
      </p:sp>
      <p:sp>
        <p:nvSpPr>
          <p:cNvPr id="24" name="Text 21"/>
          <p:cNvSpPr/>
          <p:nvPr/>
        </p:nvSpPr>
        <p:spPr>
          <a:xfrm>
            <a:off x="548640" y="6035040"/>
            <a:ext cx="1106424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Top-ups are sold in a minimum of 20 credits, billed as one Stripe charge. That processing fee is folded into the credit margins on slide 11.</a:t>
            </a:r>
            <a:endParaRPr lang="en-US" sz="1000" dirty="0"/>
          </a:p>
        </p:txBody>
      </p:sp>
      <p:sp>
        <p:nvSpPr>
          <p:cNvPr id="25" name="Text 22"/>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26" name="Text 23"/>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COST OF GOODS, PER ACTION</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What each AI credit costs us to serve</a:t>
            </a:r>
            <a:endParaRPr lang="en-US" sz="3400" dirty="0"/>
          </a:p>
        </p:txBody>
      </p:sp>
      <p:sp>
        <p:nvSpPr>
          <p:cNvPr id="4" name="Text 2"/>
          <p:cNvSpPr/>
          <p:nvPr/>
        </p:nvSpPr>
        <p:spPr>
          <a:xfrm>
            <a:off x="548640" y="1463040"/>
            <a:ext cx="11064240" cy="5486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Each action runs on a specific Claude model. Costs below use standard model pricing; "max" assumes a full-length output plus web-search company lookups. Even at the maximum, every credit keeps most of its price.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7635240" cy="914400"/>
        </p:xfrm>
        <a:graphic>
          <a:graphicData uri="http://schemas.openxmlformats.org/drawingml/2006/table">
            <a:tbl>
              <a:tblPr/>
              <a:tblGrid>
                <a:gridCol w="2286000"/>
                <a:gridCol w="960120"/>
                <a:gridCol w="914400"/>
                <a:gridCol w="1097280"/>
                <a:gridCol w="1005840"/>
                <a:gridCol w="137160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Runs on</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Sells for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Typical cost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Max cost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Margin at max</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Resume / applicant screening</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Sonnet 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RM4.09</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~RM0.16</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~RM0.57</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86%</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AI Rank</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Sonnet 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RM1.64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~RM0.20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~RM0.49</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AI Insight</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Haiku 4.5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RM1.64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~RM0.04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~RM0.05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97%</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Interview questions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Haiku 4.5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RM1.64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~RM0.04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~RM0.04</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97%</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Job draft</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Opus 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RM2.05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~RM0.29</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A5568"/>
                          </a:solidFill>
                          <a:latin typeface="Calibri" pitchFamily="34" charset="0"/>
                          <a:ea typeface="Calibri" pitchFamily="34" charset="-122"/>
                          <a:cs typeface="Calibri" pitchFamily="34" charset="-120"/>
                        </a:rPr>
                        <a:t>~RM0.45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6A34A"/>
                          </a:solidFill>
                          <a:latin typeface="Calibri" pitchFamily="34" charset="0"/>
                          <a:ea typeface="Calibri" pitchFamily="34" charset="-122"/>
                          <a:cs typeface="Calibri" pitchFamily="34" charset="-120"/>
                        </a:rPr>
                        <a:t>78%</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bl>
          </a:graphicData>
        </a:graphic>
      </p:graphicFrame>
      <p:sp>
        <p:nvSpPr>
          <p:cNvPr id="6" name="Shape 3"/>
          <p:cNvSpPr/>
          <p:nvPr/>
        </p:nvSpPr>
        <p:spPr>
          <a:xfrm>
            <a:off x="8458200" y="2148840"/>
            <a:ext cx="3182112" cy="3291840"/>
          </a:xfrm>
          <a:prstGeom prst="roundRect">
            <a:avLst>
              <a:gd name="adj" fmla="val 3448"/>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7" name="Text 4"/>
          <p:cNvSpPr/>
          <p:nvPr/>
        </p:nvSpPr>
        <p:spPr>
          <a:xfrm>
            <a:off x="8686800" y="2331720"/>
            <a:ext cx="2743200" cy="274320"/>
          </a:xfrm>
          <a:prstGeom prst="rect">
            <a:avLst/>
          </a:prstGeom>
          <a:noFill/>
          <a:ln/>
        </p:spPr>
        <p:txBody>
          <a:bodyPr wrap="square" lIns="0" tIns="0" rIns="0" bIns="0" rtlCol="0" anchor="ctr"/>
          <a:lstStyle/>
          <a:p>
            <a:pPr algn="l" indent="0" marL="0">
              <a:buNone/>
            </a:pPr>
            <a:r>
              <a:rPr lang="en-US" sz="1100" b="1" spc="150" kern="0" dirty="0">
                <a:solidFill>
                  <a:srgbClr val="0B2AE0"/>
                </a:solidFill>
                <a:latin typeface="Calibri" pitchFamily="34" charset="0"/>
                <a:ea typeface="Calibri" pitchFamily="34" charset="-122"/>
                <a:cs typeface="Calibri" pitchFamily="34" charset="-120"/>
              </a:rPr>
              <a:t>WORKED EXAMPLE</a:t>
            </a:r>
            <a:endParaRPr lang="en-US" sz="1100" dirty="0"/>
          </a:p>
        </p:txBody>
      </p:sp>
      <p:sp>
        <p:nvSpPr>
          <p:cNvPr id="8" name="Text 5"/>
          <p:cNvSpPr/>
          <p:nvPr/>
        </p:nvSpPr>
        <p:spPr>
          <a:xfrm>
            <a:off x="8686800" y="2606040"/>
            <a:ext cx="2743200" cy="36576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A 3-page resume</a:t>
            </a:r>
            <a:endParaRPr lang="en-US" sz="1800" dirty="0"/>
          </a:p>
        </p:txBody>
      </p:sp>
      <p:sp>
        <p:nvSpPr>
          <p:cNvPr id="9" name="Text 6"/>
          <p:cNvSpPr/>
          <p:nvPr/>
        </p:nvSpPr>
        <p:spPr>
          <a:xfrm>
            <a:off x="8686800" y="3017520"/>
            <a:ext cx="2743200" cy="2286000"/>
          </a:xfrm>
          <a:prstGeom prst="rect">
            <a:avLst/>
          </a:prstGeom>
          <a:noFill/>
          <a:ln/>
        </p:spPr>
        <p:txBody>
          <a:bodyPr wrap="square" lIns="0" tIns="0" rIns="0" bIns="0" rtlCol="0" anchor="t"/>
          <a:lstStyle/>
          <a:p>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Screening runs on Sonnet 5. A 3-page resume plus the parsing prompt is a small request:
</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Typical  </a:t>
            </a:r>
            <a:pPr algn="l" indent="0" marL="0">
              <a:lnSpc>
                <a:spcPct val="105000"/>
              </a:lnSpc>
              <a:buNone/>
            </a:pPr>
            <a:r>
              <a:rPr lang="en-US" sz="1250" b="1" dirty="0">
                <a:solidFill>
                  <a:srgbClr val="12132A"/>
                </a:solidFill>
                <a:latin typeface="Calibri" pitchFamily="34" charset="0"/>
                <a:ea typeface="Calibri" pitchFamily="34" charset="-122"/>
                <a:cs typeface="Calibri" pitchFamily="34" charset="-120"/>
              </a:rPr>
              <a:t>~RM0.16
</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Worst case  </a:t>
            </a:r>
            <a:pPr algn="l" indent="0" marL="0">
              <a:lnSpc>
                <a:spcPct val="105000"/>
              </a:lnSpc>
              <a:buNone/>
            </a:pPr>
            <a:r>
              <a:rPr lang="en-US" sz="1250" b="1" dirty="0">
                <a:solidFill>
                  <a:srgbClr val="12132A"/>
                </a:solidFill>
                <a:latin typeface="Calibri" pitchFamily="34" charset="0"/>
                <a:ea typeface="Calibri" pitchFamily="34" charset="-122"/>
                <a:cs typeface="Calibri" pitchFamily="34" charset="-120"/>
              </a:rPr>
              <a:t>~RM0.57</a:t>
            </a:r>
            <a:pPr algn="l" indent="0" marL="0">
              <a:lnSpc>
                <a:spcPct val="105000"/>
              </a:lnSpc>
              <a:buNone/>
            </a:pPr>
            <a:r>
              <a:rPr lang="en-US" sz="1100" dirty="0">
                <a:solidFill>
                  <a:srgbClr val="6B7280"/>
                </a:solidFill>
                <a:latin typeface="Calibri" pitchFamily="34" charset="0"/>
                <a:ea typeface="Calibri" pitchFamily="34" charset="-122"/>
                <a:cs typeface="Calibri" pitchFamily="34" charset="-120"/>
              </a:rPr>
              <a:t>  (page images + web-search company lookups + full output)
</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Sold for </a:t>
            </a:r>
            <a:pPr algn="l" indent="0" marL="0">
              <a:lnSpc>
                <a:spcPct val="105000"/>
              </a:lnSpc>
              <a:buNone/>
            </a:pPr>
            <a:r>
              <a:rPr lang="en-US" sz="1250" b="1" dirty="0">
                <a:solidFill>
                  <a:srgbClr val="0B2AE0"/>
                </a:solidFill>
                <a:latin typeface="Calibri" pitchFamily="34" charset="0"/>
                <a:ea typeface="Calibri" pitchFamily="34" charset="-122"/>
                <a:cs typeface="Calibri" pitchFamily="34" charset="-120"/>
              </a:rPr>
              <a:t>RM4.09</a:t>
            </a:r>
            <a:pPr algn="l" indent="0" marL="0">
              <a:lnSpc>
                <a:spcPct val="105000"/>
              </a:lnSpc>
              <a:buNone/>
            </a:pPr>
            <a:r>
              <a:rPr lang="en-US" sz="1250" dirty="0">
                <a:solidFill>
                  <a:srgbClr val="4A5568"/>
                </a:solidFill>
                <a:latin typeface="Calibri" pitchFamily="34" charset="0"/>
                <a:ea typeface="Calibri" pitchFamily="34" charset="-122"/>
                <a:cs typeface="Calibri" pitchFamily="34" charset="-120"/>
              </a:rPr>
              <a:t> → you keep </a:t>
            </a:r>
            <a:pPr algn="l" indent="0" marL="0">
              <a:lnSpc>
                <a:spcPct val="105000"/>
              </a:lnSpc>
              <a:buNone/>
            </a:pPr>
            <a:r>
              <a:rPr lang="en-US" sz="1250" b="1" dirty="0">
                <a:solidFill>
                  <a:srgbClr val="16A34A"/>
                </a:solidFill>
                <a:latin typeface="Calibri" pitchFamily="34" charset="0"/>
                <a:ea typeface="Calibri" pitchFamily="34" charset="-122"/>
                <a:cs typeface="Calibri" pitchFamily="34" charset="-120"/>
              </a:rPr>
              <a:t>86% even in the worst case.</a:t>
            </a:r>
            <a:endParaRPr lang="en-US" sz="1250" dirty="0"/>
          </a:p>
        </p:txBody>
      </p:sp>
      <p:sp>
        <p:nvSpPr>
          <p:cNvPr id="10" name="Shape 7"/>
          <p:cNvSpPr/>
          <p:nvPr/>
        </p:nvSpPr>
        <p:spPr>
          <a:xfrm>
            <a:off x="548640" y="4956048"/>
            <a:ext cx="7635240" cy="749808"/>
          </a:xfrm>
          <a:prstGeom prst="roundRect">
            <a:avLst>
              <a:gd name="adj" fmla="val 14634"/>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1" name="Text 8"/>
          <p:cNvSpPr/>
          <p:nvPr/>
        </p:nvSpPr>
        <p:spPr>
          <a:xfrm>
            <a:off x="777240" y="4956048"/>
            <a:ext cx="7178040" cy="749808"/>
          </a:xfrm>
          <a:prstGeom prst="rect">
            <a:avLst/>
          </a:prstGeom>
          <a:noFill/>
          <a:ln/>
        </p:spPr>
        <p:txBody>
          <a:bodyPr wrap="square" lIns="0" tIns="0" rIns="0" bIns="0" rtlCol="0" anchor="ctr"/>
          <a:lstStyle/>
          <a:p>
            <a:pPr algn="l" indent="0" marL="0">
              <a:buNone/>
            </a:pPr>
            <a:r>
              <a:rPr lang="en-US" sz="1150" b="1" dirty="0">
                <a:solidFill>
                  <a:srgbClr val="0B2AE0"/>
                </a:solidFill>
                <a:latin typeface="Calibri" pitchFamily="34" charset="0"/>
                <a:ea typeface="Calibri" pitchFamily="34" charset="-122"/>
                <a:cs typeface="Calibri" pitchFamily="34" charset="-120"/>
              </a:rPr>
              <a:t>How AI Rank is metered:  </a:t>
            </a:r>
            <a:pPr algn="l" indent="0" marL="0">
              <a:buNone/>
            </a:pPr>
            <a:r>
              <a:rPr lang="en-US" sz="1150" dirty="0">
                <a:solidFill>
                  <a:srgbClr val="4A5568"/>
                </a:solidFill>
                <a:latin typeface="Calibri" pitchFamily="34" charset="0"/>
                <a:ea typeface="Calibri" pitchFamily="34" charset="-122"/>
                <a:cs typeface="Calibri" pitchFamily="34" charset="-120"/>
              </a:rPr>
              <a:t>1 credit per 10 candidates (50 in Candidate Search). Re-ranking re-scores the whole pool as one Claude call, so it re-charges by batch size, 11 candidates = 2 credits. One call covers a batch, so margin rises with batch size.</a:t>
            </a:r>
            <a:endParaRPr lang="en-US" sz="1150" dirty="0"/>
          </a:p>
        </p:txBody>
      </p:sp>
      <p:sp>
        <p:nvSpPr>
          <p:cNvPr id="12" name="Text 9"/>
          <p:cNvSpPr/>
          <p:nvPr/>
        </p:nvSpPr>
        <p:spPr>
          <a:xfrm>
            <a:off x="548640" y="5852160"/>
            <a:ext cx="11064240" cy="45720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Claude API is billed in USD (Sonnet 5 $3/$15, Opus 5 $5/$25, Haiku 4.5 $1/$5 per 1M tokens), converted here at RM4.09/USD. Web search ≈ RM0.04 per lookup. Sonnet's intro $2/$10 rate (through 31 Aug) is a near-term tailwind; a weaker ringgit is a risk (see slide 13).</a:t>
            </a:r>
            <a:endParaRPr lang="en-US" sz="1000" dirty="0"/>
          </a:p>
        </p:txBody>
      </p:sp>
      <p:sp>
        <p:nvSpPr>
          <p:cNvPr id="13" name="Text 10"/>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14" name="Text 11"/>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WHAT IT COSTS TO RUN A WORKSPACE</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The full cost stack</a:t>
            </a:r>
            <a:endParaRPr lang="en-US" sz="3400" dirty="0"/>
          </a:p>
        </p:txBody>
      </p:sp>
      <p:sp>
        <p:nvSpPr>
          <p:cNvPr id="4" name="Text 2"/>
          <p:cNvSpPr/>
          <p:nvPr/>
        </p:nvSpPr>
        <p:spPr>
          <a:xfrm>
            <a:off x="548640" y="1463040"/>
            <a:ext cx="1106424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Every workspace draws on a handful of paid services. All are Aster's cost except WhatsApp, which runs on the customer's own Meta account.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863840" cy="914400"/>
        </p:xfrm>
        <a:graphic>
          <a:graphicData uri="http://schemas.openxmlformats.org/drawingml/2006/table">
            <a:tbl>
              <a:tblPr/>
              <a:tblGrid>
                <a:gridCol w="2194560"/>
                <a:gridCol w="1783080"/>
                <a:gridCol w="2514600"/>
                <a:gridCol w="137160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Cost driver</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Provider</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Basis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Who pays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AI inference</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Anthropic (Claude)</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Per action, from tokens</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Aster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Transactional email</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Resend</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 RM0.004 / email</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Aster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Video interviews</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Daily.co</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RM0.016 / participant-min</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Aster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Database + file storage</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Supabase</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Fixed base + storage</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Aster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Hosting / CDN</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Vercel</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Aster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Payment processing</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Stripe (Malaysia)</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3% + RM1 / charge</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00" dirty="0">
                          <a:solidFill>
                            <a:srgbClr val="4A5568"/>
                          </a:solidFill>
                          <a:latin typeface="Calibri" pitchFamily="34" charset="0"/>
                          <a:ea typeface="Calibri" pitchFamily="34" charset="-122"/>
                          <a:cs typeface="Calibri" pitchFamily="34" charset="-120"/>
                        </a:rPr>
                        <a:t>Aster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57200">
                <a:tc>
                  <a:txBody>
                    <a:bodyPr/>
                    <a:lstStyle/>
                    <a:p>
                      <a:pPr algn="l" indent="0" marL="0">
                        <a:buNone/>
                      </a:pPr>
                      <a:r>
                        <a:rPr lang="en-US" sz="1200" b="1" dirty="0">
                          <a:solidFill>
                            <a:srgbClr val="12132A"/>
                          </a:solidFill>
                          <a:latin typeface="Calibri" pitchFamily="34" charset="0"/>
                          <a:ea typeface="Calibri" pitchFamily="34" charset="-122"/>
                          <a:cs typeface="Calibri" pitchFamily="34" charset="-120"/>
                        </a:rPr>
                        <a:t>WhatsApp reminders</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Meta Cloud API</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568"/>
                          </a:solidFill>
                          <a:latin typeface="Calibri" pitchFamily="34" charset="0"/>
                          <a:ea typeface="Calibri" pitchFamily="34" charset="-122"/>
                          <a:cs typeface="Calibri" pitchFamily="34" charset="-120"/>
                        </a:rPr>
                        <a:t>Customer's own account</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6A34A"/>
                          </a:solidFill>
                          <a:latin typeface="Calibri" pitchFamily="34" charset="0"/>
                          <a:ea typeface="Calibri" pitchFamily="34" charset="-122"/>
                          <a:cs typeface="Calibri" pitchFamily="34" charset="-120"/>
                        </a:rPr>
                        <a:t>Customer</a:t>
                      </a:r>
                      <a:endParaRPr lang="en-US" sz="12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bl>
          </a:graphicData>
        </a:graphic>
      </p:graphicFrame>
      <p:sp>
        <p:nvSpPr>
          <p:cNvPr id="6" name="Shape 3"/>
          <p:cNvSpPr/>
          <p:nvPr/>
        </p:nvSpPr>
        <p:spPr>
          <a:xfrm>
            <a:off x="8595360" y="2011680"/>
            <a:ext cx="3044952" cy="1691640"/>
          </a:xfrm>
          <a:prstGeom prst="roundRect">
            <a:avLst>
              <a:gd name="adj" fmla="val 6486"/>
            </a:avLst>
          </a:prstGeom>
          <a:solidFill>
            <a:srgbClr val="DCFCE7"/>
          </a:solidFill>
          <a:ln w="12700">
            <a:solidFill>
              <a:srgbClr val="BBE6C6"/>
            </a:solidFill>
            <a:prstDash val="solid"/>
          </a:ln>
          <a:effectLst>
            <a:outerShdw sx="100000" sy="100000" kx="0" ky="0" algn="bl" rotWithShape="0" blurRad="101600" dist="25400" dir="5400000">
              <a:srgbClr val="9AA0B5">
                <a:alpha val="18000"/>
              </a:srgbClr>
            </a:outerShdw>
          </a:effectLst>
        </p:spPr>
      </p:sp>
      <p:sp>
        <p:nvSpPr>
          <p:cNvPr id="7" name="Text 4"/>
          <p:cNvSpPr/>
          <p:nvPr/>
        </p:nvSpPr>
        <p:spPr>
          <a:xfrm>
            <a:off x="8823960" y="2212848"/>
            <a:ext cx="2606040" cy="548640"/>
          </a:xfrm>
          <a:prstGeom prst="rect">
            <a:avLst/>
          </a:prstGeom>
          <a:noFill/>
          <a:ln/>
        </p:spPr>
        <p:txBody>
          <a:bodyPr wrap="square" lIns="0" tIns="0" rIns="0" bIns="0" rtlCol="0" anchor="ctr"/>
          <a:lstStyle/>
          <a:p>
            <a:pPr algn="l" indent="0" marL="0">
              <a:buNone/>
            </a:pPr>
            <a:r>
              <a:rPr lang="en-US" sz="1500" b="1" dirty="0">
                <a:solidFill>
                  <a:srgbClr val="166534"/>
                </a:solidFill>
                <a:latin typeface="Calibri" pitchFamily="34" charset="0"/>
                <a:ea typeface="Calibri" pitchFamily="34" charset="-122"/>
                <a:cs typeface="Calibri" pitchFamily="34" charset="-120"/>
              </a:rPr>
              <a:t>WhatsApp: billed to customer</a:t>
            </a:r>
            <a:endParaRPr lang="en-US" sz="1500" dirty="0"/>
          </a:p>
        </p:txBody>
      </p:sp>
      <p:sp>
        <p:nvSpPr>
          <p:cNvPr id="8" name="Text 5"/>
          <p:cNvSpPr/>
          <p:nvPr/>
        </p:nvSpPr>
        <p:spPr>
          <a:xfrm>
            <a:off x="8823960" y="2761488"/>
            <a:ext cx="2606040" cy="822960"/>
          </a:xfrm>
          <a:prstGeom prst="rect">
            <a:avLst/>
          </a:prstGeom>
          <a:noFill/>
          <a:ln/>
        </p:spPr>
        <p:txBody>
          <a:bodyPr wrap="square" lIns="0" tIns="0" rIns="0" bIns="0" rtlCol="0" anchor="ctr"/>
          <a:lstStyle/>
          <a:p>
            <a:pPr algn="l" indent="0" marL="0">
              <a:buNone/>
            </a:pPr>
            <a:r>
              <a:rPr lang="en-US" sz="1200" dirty="0">
                <a:solidFill>
                  <a:srgbClr val="1E6B3A"/>
                </a:solidFill>
                <a:latin typeface="Calibri" pitchFamily="34" charset="0"/>
                <a:ea typeface="Calibri" pitchFamily="34" charset="-122"/>
                <a:cs typeface="Calibri" pitchFamily="34" charset="-120"/>
              </a:rPr>
              <a:t>Customers connect their own WhatsApp Business account and pay Meta directly, so reminder volume never lands on our bill.</a:t>
            </a:r>
            <a:endParaRPr lang="en-US" sz="1200" dirty="0"/>
          </a:p>
        </p:txBody>
      </p:sp>
      <p:sp>
        <p:nvSpPr>
          <p:cNvPr id="9" name="Shape 6"/>
          <p:cNvSpPr/>
          <p:nvPr/>
        </p:nvSpPr>
        <p:spPr>
          <a:xfrm>
            <a:off x="8595360" y="3886200"/>
            <a:ext cx="3044952" cy="1783080"/>
          </a:xfrm>
          <a:prstGeom prst="roundRect">
            <a:avLst>
              <a:gd name="adj" fmla="val 6154"/>
            </a:avLst>
          </a:prstGeom>
          <a:solidFill>
            <a:srgbClr val="EAEE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0" name="Text 7"/>
          <p:cNvSpPr/>
          <p:nvPr/>
        </p:nvSpPr>
        <p:spPr>
          <a:xfrm>
            <a:off x="8823960" y="4087368"/>
            <a:ext cx="260604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Fixed platform cost</a:t>
            </a:r>
            <a:endParaRPr lang="en-US" sz="1400" dirty="0"/>
          </a:p>
        </p:txBody>
      </p:sp>
      <p:sp>
        <p:nvSpPr>
          <p:cNvPr id="11" name="Text 8"/>
          <p:cNvSpPr/>
          <p:nvPr/>
        </p:nvSpPr>
        <p:spPr>
          <a:xfrm>
            <a:off x="8823960" y="4389120"/>
            <a:ext cx="2606040" cy="457200"/>
          </a:xfrm>
          <a:prstGeom prst="rect">
            <a:avLst/>
          </a:prstGeom>
          <a:noFill/>
          <a:ln/>
        </p:spPr>
        <p:txBody>
          <a:bodyPr wrap="square" lIns="0" tIns="0" rIns="0" bIns="0" rtlCol="0" anchor="ctr"/>
          <a:lstStyle/>
          <a:p>
            <a:pPr algn="l" indent="0" marL="0">
              <a:buNone/>
            </a:pPr>
            <a:r>
              <a:rPr lang="en-US" sz="2400" b="1" dirty="0">
                <a:solidFill>
                  <a:srgbClr val="0B2AE0"/>
                </a:solidFill>
                <a:latin typeface="Calibri" pitchFamily="34" charset="0"/>
                <a:ea typeface="Calibri" pitchFamily="34" charset="-122"/>
                <a:cs typeface="Calibri" pitchFamily="34" charset="-120"/>
              </a:rPr>
              <a:t>≈ RM270 / mo</a:t>
            </a:r>
            <a:endParaRPr lang="en-US" sz="2400" dirty="0"/>
          </a:p>
        </p:txBody>
      </p:sp>
      <p:sp>
        <p:nvSpPr>
          <p:cNvPr id="12" name="Text 9"/>
          <p:cNvSpPr/>
          <p:nvPr/>
        </p:nvSpPr>
        <p:spPr>
          <a:xfrm>
            <a:off x="8823960" y="4864608"/>
            <a:ext cx="2606040" cy="777240"/>
          </a:xfrm>
          <a:prstGeom prst="rect">
            <a:avLst/>
          </a:prstGeom>
          <a:noFill/>
          <a:ln/>
        </p:spPr>
        <p:txBody>
          <a:bodyPr wrap="square" lIns="0" tIns="0" rIns="0" bIns="0" rtlCol="0" anchor="ctr"/>
          <a:lstStyle/>
          <a:p>
            <a:pPr algn="l" indent="0" marL="0">
              <a:buNone/>
            </a:pPr>
            <a:r>
              <a:rPr lang="en-US" sz="1100" dirty="0">
                <a:solidFill>
                  <a:srgbClr val="4A5568"/>
                </a:solidFill>
                <a:latin typeface="Calibri" pitchFamily="34" charset="0"/>
                <a:ea typeface="Calibri" pitchFamily="34" charset="-122"/>
                <a:cs typeface="Calibri" pitchFamily="34" charset="-120"/>
              </a:rPr>
              <a:t>Supabase Pro + Vercel + Resend base, shared across every workspace. Per-company overhead shrinks toward zero as you grow.</a:t>
            </a:r>
            <a:endParaRPr lang="en-US" sz="1100" dirty="0"/>
          </a:p>
        </p:txBody>
      </p:sp>
      <p:sp>
        <p:nvSpPr>
          <p:cNvPr id="13" name="Text 10"/>
          <p:cNvSpPr/>
          <p:nvPr/>
        </p:nvSpPr>
        <p:spPr>
          <a:xfrm>
            <a:off x="548640" y="5943600"/>
            <a:ext cx="11064240" cy="45720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Provider list prices (Aug 2026): Resend Pro $20/50K emails then $0.90/1K · Daily.co $0.004/participant-min after 10K free · Supabase Pro $25 · Stripe MY 3% + RM1. Converted at RM4.09/USD.</a:t>
            </a:r>
            <a:endParaRPr lang="en-US" sz="950" dirty="0"/>
          </a:p>
        </p:txBody>
      </p:sp>
      <p:sp>
        <p:nvSpPr>
          <p:cNvPr id="14" name="Text 11"/>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15" name="Text 12"/>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ALL-IN UNIT ECONOMICS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Cost to serve, per company / month</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7680960" cy="914400"/>
        </p:xfrm>
        <a:graphic>
          <a:graphicData uri="http://schemas.openxmlformats.org/drawingml/2006/table">
            <a:tbl>
              <a:tblPr/>
              <a:tblGrid>
                <a:gridCol w="2743200"/>
                <a:gridCol w="1645920"/>
                <a:gridCol w="1645920"/>
                <a:gridCol w="164592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Cost line / mo</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Launch</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Scale</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Elite</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r>
              <a:tr h="384048">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AI inference (typical)</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RM20</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RM115</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RM260</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Email (Resend)</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RM0.20</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RM1.10</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RM3.00</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Video (Daily.co)</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RM7</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RM33</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RM92</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Payment fee (Stripe)</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RM4</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RM19</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RM43</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Platform share</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RM3</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RM3</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RM3</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WhatsApp (billed to customer)</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i="1" dirty="0">
                          <a:solidFill>
                            <a:srgbClr val="16A34A"/>
                          </a:solidFill>
                          <a:latin typeface="Calibri" pitchFamily="34" charset="0"/>
                          <a:ea typeface="Calibri" pitchFamily="34" charset="-122"/>
                          <a:cs typeface="Calibri" pitchFamily="34" charset="-120"/>
                        </a:rPr>
                        <a:t>Customer</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i="1" dirty="0">
                          <a:solidFill>
                            <a:srgbClr val="16A34A"/>
                          </a:solidFill>
                          <a:latin typeface="Calibri" pitchFamily="34" charset="0"/>
                          <a:ea typeface="Calibri" pitchFamily="34" charset="-122"/>
                          <a:cs typeface="Calibri" pitchFamily="34" charset="-120"/>
                        </a:rPr>
                        <a:t>Customer</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i="1" dirty="0">
                          <a:solidFill>
                            <a:srgbClr val="16A34A"/>
                          </a:solidFill>
                          <a:latin typeface="Calibri" pitchFamily="34" charset="0"/>
                          <a:ea typeface="Calibri" pitchFamily="34" charset="-122"/>
                          <a:cs typeface="Calibri" pitchFamily="34" charset="-120"/>
                        </a:rPr>
                        <a:t>Customer</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Total cost to serve</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RM34</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RM171</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RM401</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5720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Plan price</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RM99</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RM599</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RM1,399</a:t>
                      </a:r>
                      <a:endParaRPr lang="en-US" sz="125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502920">
                <a:tc>
                  <a:txBody>
                    <a:bodyPr/>
                    <a:lstStyle/>
                    <a:p>
                      <a:pPr algn="l" indent="0" marL="0">
                        <a:buNone/>
                      </a:pPr>
                      <a:r>
                        <a:rPr lang="en-US" sz="1400" b="1" dirty="0">
                          <a:solidFill>
                            <a:srgbClr val="12132A"/>
                          </a:solidFill>
                          <a:latin typeface="Calibri" pitchFamily="34" charset="0"/>
                          <a:ea typeface="Calibri" pitchFamily="34" charset="-122"/>
                          <a:cs typeface="Calibri" pitchFamily="34" charset="-120"/>
                        </a:rPr>
                        <a:t>All-in gross margin</a:t>
                      </a:r>
                      <a:endParaRPr lang="en-US" sz="14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66%</a:t>
                      </a:r>
                      <a:endParaRPr lang="en-US" sz="14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101600" marR="1016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r>
            </a:tbl>
          </a:graphicData>
        </a:graphic>
      </p:graphicFrame>
      <p:sp>
        <p:nvSpPr>
          <p:cNvPr id="5" name="Shape 2"/>
          <p:cNvSpPr/>
          <p:nvPr/>
        </p:nvSpPr>
        <p:spPr>
          <a:xfrm>
            <a:off x="8412480" y="1874520"/>
            <a:ext cx="3227832" cy="1051560"/>
          </a:xfrm>
          <a:prstGeom prst="roundRect">
            <a:avLst>
              <a:gd name="adj" fmla="val 10435"/>
            </a:avLst>
          </a:prstGeom>
          <a:solidFill>
            <a:srgbClr val="F5F7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6" name="Text 3"/>
          <p:cNvSpPr/>
          <p:nvPr/>
        </p:nvSpPr>
        <p:spPr>
          <a:xfrm>
            <a:off x="8641080" y="2002536"/>
            <a:ext cx="18288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Launch</a:t>
            </a:r>
            <a:endParaRPr lang="en-US" sz="1400" dirty="0"/>
          </a:p>
        </p:txBody>
      </p:sp>
      <p:sp>
        <p:nvSpPr>
          <p:cNvPr id="7" name="Text 4"/>
          <p:cNvSpPr/>
          <p:nvPr/>
        </p:nvSpPr>
        <p:spPr>
          <a:xfrm>
            <a:off x="8641080" y="2404872"/>
            <a:ext cx="1828800" cy="365760"/>
          </a:xfrm>
          <a:prstGeom prst="rect">
            <a:avLst/>
          </a:prstGeom>
          <a:noFill/>
          <a:ln/>
        </p:spPr>
        <p:txBody>
          <a:bodyPr wrap="square" lIns="0" tIns="0" rIns="0" bIns="0" rtlCol="0" anchor="ctr"/>
          <a:lstStyle/>
          <a:p>
            <a:pPr algn="l" indent="0" marL="0">
              <a:buNone/>
            </a:pPr>
            <a:r>
              <a:rPr lang="en-US" sz="1100" dirty="0">
                <a:solidFill>
                  <a:srgbClr val="4A5568"/>
                </a:solidFill>
                <a:latin typeface="Calibri" pitchFamily="34" charset="0"/>
                <a:ea typeface="Calibri" pitchFamily="34" charset="-122"/>
                <a:cs typeface="Calibri" pitchFamily="34" charset="-120"/>
              </a:rPr>
              <a:t>all-in gross margin</a:t>
            </a:r>
            <a:endParaRPr lang="en-US" sz="1100" dirty="0"/>
          </a:p>
        </p:txBody>
      </p:sp>
      <p:sp>
        <p:nvSpPr>
          <p:cNvPr id="8" name="Text 5"/>
          <p:cNvSpPr/>
          <p:nvPr/>
        </p:nvSpPr>
        <p:spPr>
          <a:xfrm>
            <a:off x="10314432" y="2093976"/>
            <a:ext cx="1143000" cy="621792"/>
          </a:xfrm>
          <a:prstGeom prst="rect">
            <a:avLst/>
          </a:prstGeom>
          <a:noFill/>
          <a:ln/>
        </p:spPr>
        <p:txBody>
          <a:bodyPr wrap="square" lIns="0" tIns="0" rIns="0" bIns="0" rtlCol="0" anchor="ctr"/>
          <a:lstStyle/>
          <a:p>
            <a:pPr algn="r" indent="0" marL="0">
              <a:buNone/>
            </a:pPr>
            <a:r>
              <a:rPr lang="en-US" sz="3000" b="1" dirty="0">
                <a:solidFill>
                  <a:srgbClr val="16A34A"/>
                </a:solidFill>
                <a:latin typeface="Calibri" pitchFamily="34" charset="0"/>
                <a:ea typeface="Calibri" pitchFamily="34" charset="-122"/>
                <a:cs typeface="Calibri" pitchFamily="34" charset="-120"/>
              </a:rPr>
              <a:t>66%</a:t>
            </a:r>
            <a:endParaRPr lang="en-US" sz="3000" dirty="0"/>
          </a:p>
        </p:txBody>
      </p:sp>
      <p:sp>
        <p:nvSpPr>
          <p:cNvPr id="9" name="Shape 6"/>
          <p:cNvSpPr/>
          <p:nvPr/>
        </p:nvSpPr>
        <p:spPr>
          <a:xfrm>
            <a:off x="8412480" y="3044952"/>
            <a:ext cx="3227832" cy="1051560"/>
          </a:xfrm>
          <a:prstGeom prst="roundRect">
            <a:avLst>
              <a:gd name="adj" fmla="val 10435"/>
            </a:avLst>
          </a:prstGeom>
          <a:solidFill>
            <a:srgbClr val="F5F7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0" name="Text 7"/>
          <p:cNvSpPr/>
          <p:nvPr/>
        </p:nvSpPr>
        <p:spPr>
          <a:xfrm>
            <a:off x="8641080" y="3172968"/>
            <a:ext cx="18288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Scale</a:t>
            </a:r>
            <a:endParaRPr lang="en-US" sz="1400" dirty="0"/>
          </a:p>
        </p:txBody>
      </p:sp>
      <p:sp>
        <p:nvSpPr>
          <p:cNvPr id="11" name="Text 8"/>
          <p:cNvSpPr/>
          <p:nvPr/>
        </p:nvSpPr>
        <p:spPr>
          <a:xfrm>
            <a:off x="8641080" y="3575304"/>
            <a:ext cx="1828800" cy="365760"/>
          </a:xfrm>
          <a:prstGeom prst="rect">
            <a:avLst/>
          </a:prstGeom>
          <a:noFill/>
          <a:ln/>
        </p:spPr>
        <p:txBody>
          <a:bodyPr wrap="square" lIns="0" tIns="0" rIns="0" bIns="0" rtlCol="0" anchor="ctr"/>
          <a:lstStyle/>
          <a:p>
            <a:pPr algn="l" indent="0" marL="0">
              <a:buNone/>
            </a:pPr>
            <a:r>
              <a:rPr lang="en-US" sz="1100" dirty="0">
                <a:solidFill>
                  <a:srgbClr val="4A5568"/>
                </a:solidFill>
                <a:latin typeface="Calibri" pitchFamily="34" charset="0"/>
                <a:ea typeface="Calibri" pitchFamily="34" charset="-122"/>
                <a:cs typeface="Calibri" pitchFamily="34" charset="-120"/>
              </a:rPr>
              <a:t>all-in gross margin</a:t>
            </a:r>
            <a:endParaRPr lang="en-US" sz="1100" dirty="0"/>
          </a:p>
        </p:txBody>
      </p:sp>
      <p:sp>
        <p:nvSpPr>
          <p:cNvPr id="12" name="Text 9"/>
          <p:cNvSpPr/>
          <p:nvPr/>
        </p:nvSpPr>
        <p:spPr>
          <a:xfrm>
            <a:off x="10314432" y="3264408"/>
            <a:ext cx="1143000" cy="621792"/>
          </a:xfrm>
          <a:prstGeom prst="rect">
            <a:avLst/>
          </a:prstGeom>
          <a:noFill/>
          <a:ln/>
        </p:spPr>
        <p:txBody>
          <a:bodyPr wrap="square" lIns="0" tIns="0" rIns="0" bIns="0" rtlCol="0" anchor="ctr"/>
          <a:lstStyle/>
          <a:p>
            <a:pPr algn="r" indent="0" marL="0">
              <a:buNone/>
            </a:pPr>
            <a:r>
              <a:rPr lang="en-US" sz="3000" b="1" dirty="0">
                <a:solidFill>
                  <a:srgbClr val="16A34A"/>
                </a:solidFill>
                <a:latin typeface="Calibri" pitchFamily="34" charset="0"/>
                <a:ea typeface="Calibri" pitchFamily="34" charset="-122"/>
                <a:cs typeface="Calibri" pitchFamily="34" charset="-120"/>
              </a:rPr>
              <a:t>71%</a:t>
            </a:r>
            <a:endParaRPr lang="en-US" sz="3000" dirty="0"/>
          </a:p>
        </p:txBody>
      </p:sp>
      <p:sp>
        <p:nvSpPr>
          <p:cNvPr id="13" name="Shape 10"/>
          <p:cNvSpPr/>
          <p:nvPr/>
        </p:nvSpPr>
        <p:spPr>
          <a:xfrm>
            <a:off x="8412480" y="4215384"/>
            <a:ext cx="3227832" cy="1051560"/>
          </a:xfrm>
          <a:prstGeom prst="roundRect">
            <a:avLst>
              <a:gd name="adj" fmla="val 10435"/>
            </a:avLst>
          </a:prstGeom>
          <a:solidFill>
            <a:srgbClr val="F5F7FE"/>
          </a:solidFill>
          <a:ln w="12700">
            <a:solidFill>
              <a:srgbClr val="D7DEFB"/>
            </a:solidFill>
            <a:prstDash val="solid"/>
          </a:ln>
          <a:effectLst>
            <a:outerShdw sx="100000" sy="100000" kx="0" ky="0" algn="bl" rotWithShape="0" blurRad="101600" dist="25400" dir="5400000">
              <a:srgbClr val="9AA0B5">
                <a:alpha val="18000"/>
              </a:srgbClr>
            </a:outerShdw>
          </a:effectLst>
        </p:spPr>
      </p:sp>
      <p:sp>
        <p:nvSpPr>
          <p:cNvPr id="14" name="Text 11"/>
          <p:cNvSpPr/>
          <p:nvPr/>
        </p:nvSpPr>
        <p:spPr>
          <a:xfrm>
            <a:off x="8641080" y="4343400"/>
            <a:ext cx="18288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Elite</a:t>
            </a:r>
            <a:endParaRPr lang="en-US" sz="1400" dirty="0"/>
          </a:p>
        </p:txBody>
      </p:sp>
      <p:sp>
        <p:nvSpPr>
          <p:cNvPr id="15" name="Text 12"/>
          <p:cNvSpPr/>
          <p:nvPr/>
        </p:nvSpPr>
        <p:spPr>
          <a:xfrm>
            <a:off x="8641080" y="4745736"/>
            <a:ext cx="1828800" cy="365760"/>
          </a:xfrm>
          <a:prstGeom prst="rect">
            <a:avLst/>
          </a:prstGeom>
          <a:noFill/>
          <a:ln/>
        </p:spPr>
        <p:txBody>
          <a:bodyPr wrap="square" lIns="0" tIns="0" rIns="0" bIns="0" rtlCol="0" anchor="ctr"/>
          <a:lstStyle/>
          <a:p>
            <a:pPr algn="l" indent="0" marL="0">
              <a:buNone/>
            </a:pPr>
            <a:r>
              <a:rPr lang="en-US" sz="1100" dirty="0">
                <a:solidFill>
                  <a:srgbClr val="4A5568"/>
                </a:solidFill>
                <a:latin typeface="Calibri" pitchFamily="34" charset="0"/>
                <a:ea typeface="Calibri" pitchFamily="34" charset="-122"/>
                <a:cs typeface="Calibri" pitchFamily="34" charset="-120"/>
              </a:rPr>
              <a:t>all-in gross margin</a:t>
            </a:r>
            <a:endParaRPr lang="en-US" sz="1100" dirty="0"/>
          </a:p>
        </p:txBody>
      </p:sp>
      <p:sp>
        <p:nvSpPr>
          <p:cNvPr id="16" name="Text 13"/>
          <p:cNvSpPr/>
          <p:nvPr/>
        </p:nvSpPr>
        <p:spPr>
          <a:xfrm>
            <a:off x="10314432" y="4434840"/>
            <a:ext cx="1143000" cy="621792"/>
          </a:xfrm>
          <a:prstGeom prst="rect">
            <a:avLst/>
          </a:prstGeom>
          <a:noFill/>
          <a:ln/>
        </p:spPr>
        <p:txBody>
          <a:bodyPr wrap="square" lIns="0" tIns="0" rIns="0" bIns="0" rtlCol="0" anchor="ctr"/>
          <a:lstStyle/>
          <a:p>
            <a:pPr algn="r" indent="0" marL="0">
              <a:buNone/>
            </a:pPr>
            <a:r>
              <a:rPr lang="en-US" sz="3000" b="1" dirty="0">
                <a:solidFill>
                  <a:srgbClr val="16A34A"/>
                </a:solidFill>
                <a:latin typeface="Calibri" pitchFamily="34" charset="0"/>
                <a:ea typeface="Calibri" pitchFamily="34" charset="-122"/>
                <a:cs typeface="Calibri" pitchFamily="34" charset="-120"/>
              </a:rPr>
              <a:t>71%</a:t>
            </a:r>
            <a:endParaRPr lang="en-US" sz="3000" dirty="0"/>
          </a:p>
        </p:txBody>
      </p:sp>
      <p:sp>
        <p:nvSpPr>
          <p:cNvPr id="17" name="Text 14"/>
          <p:cNvSpPr/>
          <p:nvPr/>
        </p:nvSpPr>
        <p:spPr>
          <a:xfrm>
            <a:off x="548640" y="6144768"/>
            <a:ext cx="1106424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Assumes typical AI usage at the plan allowance and ~5 / 25 / 70 video interviews per month. Monthly card billing (annual lowers the Stripe fee). Platform share amortises toward zero with scale. Realistic usage runs lower, so margins run higher.</a:t>
            </a:r>
            <a:endParaRPr lang="en-US" sz="950" dirty="0"/>
          </a:p>
        </p:txBody>
      </p:sp>
      <p:sp>
        <p:nvSpPr>
          <p:cNvPr id="18" name="Text 15"/>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19" name="Text 16"/>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WHERE MARGIN EXPANDS</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Credit top-ups carry the highest margin</a:t>
            </a:r>
            <a:endParaRPr lang="en-US" sz="34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algn="l" indent="0" marL="0">
              <a:buNone/>
            </a:pPr>
            <a:r>
              <a:rPr lang="en-US" sz="1400" dirty="0">
                <a:solidFill>
                  <a:srgbClr val="4A5568"/>
                </a:solidFill>
                <a:latin typeface="Calibri" pitchFamily="34" charset="0"/>
                <a:ea typeface="Calibri" pitchFamily="34" charset="-122"/>
                <a:cs typeface="Calibri" pitchFamily="34" charset="-120"/>
              </a:rPr>
              <a:t>Once an account exhausts its allowance, every extra action sells at the list rate. Cost here includes both AI inference and the one-time Stripe fee, spread across a minimum 20-credit top-up. Growth accounts that buy top-ups lift blended margin.</a:t>
            </a:r>
            <a:endParaRPr lang="en-US" sz="1400" dirty="0"/>
          </a:p>
        </p:txBody>
      </p:sp>
      <p:sp>
        <p:nvSpPr>
          <p:cNvPr id="5" name="Shape 3"/>
          <p:cNvSpPr/>
          <p:nvPr/>
        </p:nvSpPr>
        <p:spPr>
          <a:xfrm>
            <a:off x="868680" y="2468880"/>
            <a:ext cx="3383280" cy="2788920"/>
          </a:xfrm>
          <a:prstGeom prst="roundRect">
            <a:avLst>
              <a:gd name="adj" fmla="val 3934"/>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6" name="Text 4"/>
          <p:cNvSpPr/>
          <p:nvPr/>
        </p:nvSpPr>
        <p:spPr>
          <a:xfrm>
            <a:off x="1124712" y="2697480"/>
            <a:ext cx="2926080" cy="457200"/>
          </a:xfrm>
          <a:prstGeom prst="rect">
            <a:avLst/>
          </a:prstGeom>
          <a:noFill/>
          <a:ln/>
        </p:spPr>
        <p:txBody>
          <a:bodyPr wrap="square" lIns="0" tIns="0" rIns="0" bIns="0" rtlCol="0" anchor="ctr"/>
          <a:lstStyle/>
          <a:p>
            <a:pPr algn="l" indent="0" marL="0">
              <a:buNone/>
            </a:pPr>
            <a:r>
              <a:rPr lang="en-US" sz="1550" b="1" dirty="0">
                <a:solidFill>
                  <a:srgbClr val="12132A"/>
                </a:solidFill>
                <a:latin typeface="Calibri" pitchFamily="34" charset="0"/>
                <a:ea typeface="Calibri" pitchFamily="34" charset="-122"/>
                <a:cs typeface="Calibri" pitchFamily="34" charset="-120"/>
              </a:rPr>
              <a:t>Screening</a:t>
            </a:r>
            <a:endParaRPr lang="en-US" sz="1550" dirty="0"/>
          </a:p>
        </p:txBody>
      </p:sp>
      <p:sp>
        <p:nvSpPr>
          <p:cNvPr id="7" name="Text 5"/>
          <p:cNvSpPr/>
          <p:nvPr/>
        </p:nvSpPr>
        <p:spPr>
          <a:xfrm>
            <a:off x="1124712" y="3200400"/>
            <a:ext cx="2871216" cy="777240"/>
          </a:xfrm>
          <a:prstGeom prst="rect">
            <a:avLst/>
          </a:prstGeom>
          <a:noFill/>
          <a:ln/>
        </p:spPr>
        <p:txBody>
          <a:bodyPr wrap="square" lIns="0" tIns="0" rIns="0" bIns="0" rtlCol="0" anchor="ctr"/>
          <a:lstStyle/>
          <a:p>
            <a:pPr algn="l" indent="0" marL="0">
              <a:buNone/>
            </a:pPr>
            <a:r>
              <a:rPr lang="en-US" sz="4600" b="1" dirty="0">
                <a:solidFill>
                  <a:srgbClr val="16A34A"/>
                </a:solidFill>
                <a:latin typeface="Calibri" pitchFamily="34" charset="0"/>
                <a:ea typeface="Calibri" pitchFamily="34" charset="-122"/>
                <a:cs typeface="Calibri" pitchFamily="34" charset="-120"/>
              </a:rPr>
              <a:t>92%</a:t>
            </a:r>
            <a:endParaRPr lang="en-US" sz="4600" dirty="0"/>
          </a:p>
        </p:txBody>
      </p:sp>
      <p:sp>
        <p:nvSpPr>
          <p:cNvPr id="8" name="Text 6"/>
          <p:cNvSpPr/>
          <p:nvPr/>
        </p:nvSpPr>
        <p:spPr>
          <a:xfrm>
            <a:off x="1124712" y="4005072"/>
            <a:ext cx="2871216"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gross margin at list</a:t>
            </a:r>
            <a:endParaRPr lang="en-US" sz="1100" dirty="0"/>
          </a:p>
        </p:txBody>
      </p:sp>
      <p:sp>
        <p:nvSpPr>
          <p:cNvPr id="9" name="Shape 7"/>
          <p:cNvSpPr/>
          <p:nvPr/>
        </p:nvSpPr>
        <p:spPr>
          <a:xfrm>
            <a:off x="1124712" y="4370832"/>
            <a:ext cx="2871216" cy="0"/>
          </a:xfrm>
          <a:prstGeom prst="line">
            <a:avLst/>
          </a:prstGeom>
          <a:noFill/>
          <a:ln w="12700">
            <a:solidFill>
              <a:srgbClr val="DEDEE3"/>
            </a:solidFill>
            <a:prstDash val="solid"/>
          </a:ln>
        </p:spPr>
      </p:sp>
      <p:sp>
        <p:nvSpPr>
          <p:cNvPr id="10" name="Text 8"/>
          <p:cNvSpPr/>
          <p:nvPr/>
        </p:nvSpPr>
        <p:spPr>
          <a:xfrm>
            <a:off x="1124712" y="4480560"/>
            <a:ext cx="292608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Price </a:t>
            </a:r>
            <a:pPr algn="l" indent="0" marL="0">
              <a:buNone/>
            </a:pPr>
            <a:r>
              <a:rPr lang="en-US" sz="1300" b="1" dirty="0">
                <a:solidFill>
                  <a:srgbClr val="12132A"/>
                </a:solidFill>
                <a:latin typeface="Calibri" pitchFamily="34" charset="0"/>
                <a:ea typeface="Calibri" pitchFamily="34" charset="-122"/>
                <a:cs typeface="Calibri" pitchFamily="34" charset="-120"/>
              </a:rPr>
              <a:t>RM4.09   </a:t>
            </a:r>
            <a:pPr algn="l" indent="0" marL="0">
              <a:buNone/>
            </a:pPr>
            <a:r>
              <a:rPr lang="en-US" sz="1300" dirty="0">
                <a:solidFill>
                  <a:srgbClr val="4A5568"/>
                </a:solidFill>
                <a:latin typeface="Calibri" pitchFamily="34" charset="0"/>
                <a:ea typeface="Calibri" pitchFamily="34" charset="-122"/>
                <a:cs typeface="Calibri" pitchFamily="34" charset="-120"/>
              </a:rPr>
              <a:t>Cost </a:t>
            </a:r>
            <a:pPr algn="l" indent="0" marL="0">
              <a:buNone/>
            </a:pPr>
            <a:r>
              <a:rPr lang="en-US" sz="1300" b="1" dirty="0">
                <a:solidFill>
                  <a:srgbClr val="12132A"/>
                </a:solidFill>
                <a:latin typeface="Calibri" pitchFamily="34" charset="0"/>
                <a:ea typeface="Calibri" pitchFamily="34" charset="-122"/>
                <a:cs typeface="Calibri" pitchFamily="34" charset="-120"/>
              </a:rPr>
              <a:t>RM0.33</a:t>
            </a:r>
            <a:endParaRPr lang="en-US" sz="1300" dirty="0"/>
          </a:p>
        </p:txBody>
      </p:sp>
      <p:sp>
        <p:nvSpPr>
          <p:cNvPr id="11" name="Shape 9"/>
          <p:cNvSpPr/>
          <p:nvPr/>
        </p:nvSpPr>
        <p:spPr>
          <a:xfrm>
            <a:off x="4572000" y="2468880"/>
            <a:ext cx="3383280" cy="2788920"/>
          </a:xfrm>
          <a:prstGeom prst="roundRect">
            <a:avLst>
              <a:gd name="adj" fmla="val 3934"/>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2" name="Text 10"/>
          <p:cNvSpPr/>
          <p:nvPr/>
        </p:nvSpPr>
        <p:spPr>
          <a:xfrm>
            <a:off x="4828032" y="2697480"/>
            <a:ext cx="2926080" cy="457200"/>
          </a:xfrm>
          <a:prstGeom prst="rect">
            <a:avLst/>
          </a:prstGeom>
          <a:noFill/>
          <a:ln/>
        </p:spPr>
        <p:txBody>
          <a:bodyPr wrap="square" lIns="0" tIns="0" rIns="0" bIns="0" rtlCol="0" anchor="ctr"/>
          <a:lstStyle/>
          <a:p>
            <a:pPr algn="l" indent="0" marL="0">
              <a:buNone/>
            </a:pPr>
            <a:r>
              <a:rPr lang="en-US" sz="1550" b="1" dirty="0">
                <a:solidFill>
                  <a:srgbClr val="12132A"/>
                </a:solidFill>
                <a:latin typeface="Calibri" pitchFamily="34" charset="0"/>
                <a:ea typeface="Calibri" pitchFamily="34" charset="-122"/>
                <a:cs typeface="Calibri" pitchFamily="34" charset="-120"/>
              </a:rPr>
              <a:t>AI Rank / Insight / Q</a:t>
            </a:r>
            <a:endParaRPr lang="en-US" sz="1550" dirty="0"/>
          </a:p>
        </p:txBody>
      </p:sp>
      <p:sp>
        <p:nvSpPr>
          <p:cNvPr id="13" name="Text 11"/>
          <p:cNvSpPr/>
          <p:nvPr/>
        </p:nvSpPr>
        <p:spPr>
          <a:xfrm>
            <a:off x="4828032" y="3200400"/>
            <a:ext cx="2871216" cy="777240"/>
          </a:xfrm>
          <a:prstGeom prst="rect">
            <a:avLst/>
          </a:prstGeom>
          <a:noFill/>
          <a:ln/>
        </p:spPr>
        <p:txBody>
          <a:bodyPr wrap="square" lIns="0" tIns="0" rIns="0" bIns="0" rtlCol="0" anchor="ctr"/>
          <a:lstStyle/>
          <a:p>
            <a:pPr algn="l" indent="0" marL="0">
              <a:buNone/>
            </a:pPr>
            <a:r>
              <a:rPr lang="en-US" sz="4600" b="1" dirty="0">
                <a:solidFill>
                  <a:srgbClr val="16A34A"/>
                </a:solidFill>
                <a:latin typeface="Calibri" pitchFamily="34" charset="0"/>
                <a:ea typeface="Calibri" pitchFamily="34" charset="-122"/>
                <a:cs typeface="Calibri" pitchFamily="34" charset="-120"/>
              </a:rPr>
              <a:t>82%</a:t>
            </a:r>
            <a:endParaRPr lang="en-US" sz="4600" dirty="0"/>
          </a:p>
        </p:txBody>
      </p:sp>
      <p:sp>
        <p:nvSpPr>
          <p:cNvPr id="14" name="Text 12"/>
          <p:cNvSpPr/>
          <p:nvPr/>
        </p:nvSpPr>
        <p:spPr>
          <a:xfrm>
            <a:off x="4828032" y="4005072"/>
            <a:ext cx="2871216"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gross margin at list</a:t>
            </a:r>
            <a:endParaRPr lang="en-US" sz="1100" dirty="0"/>
          </a:p>
        </p:txBody>
      </p:sp>
      <p:sp>
        <p:nvSpPr>
          <p:cNvPr id="15" name="Shape 13"/>
          <p:cNvSpPr/>
          <p:nvPr/>
        </p:nvSpPr>
        <p:spPr>
          <a:xfrm>
            <a:off x="4828032" y="4370832"/>
            <a:ext cx="2871216" cy="0"/>
          </a:xfrm>
          <a:prstGeom prst="line">
            <a:avLst/>
          </a:prstGeom>
          <a:noFill/>
          <a:ln w="12700">
            <a:solidFill>
              <a:srgbClr val="DEDEE3"/>
            </a:solidFill>
            <a:prstDash val="solid"/>
          </a:ln>
        </p:spPr>
      </p:sp>
      <p:sp>
        <p:nvSpPr>
          <p:cNvPr id="16" name="Text 14"/>
          <p:cNvSpPr/>
          <p:nvPr/>
        </p:nvSpPr>
        <p:spPr>
          <a:xfrm>
            <a:off x="4828032" y="4480560"/>
            <a:ext cx="292608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Price </a:t>
            </a:r>
            <a:pPr algn="l" indent="0" marL="0">
              <a:buNone/>
            </a:pPr>
            <a:r>
              <a:rPr lang="en-US" sz="1300" b="1" dirty="0">
                <a:solidFill>
                  <a:srgbClr val="12132A"/>
                </a:solidFill>
                <a:latin typeface="Calibri" pitchFamily="34" charset="0"/>
                <a:ea typeface="Calibri" pitchFamily="34" charset="-122"/>
                <a:cs typeface="Calibri" pitchFamily="34" charset="-120"/>
              </a:rPr>
              <a:t>RM1.64   </a:t>
            </a:r>
            <a:pPr algn="l" indent="0" marL="0">
              <a:buNone/>
            </a:pPr>
            <a:r>
              <a:rPr lang="en-US" sz="1300" dirty="0">
                <a:solidFill>
                  <a:srgbClr val="4A5568"/>
                </a:solidFill>
                <a:latin typeface="Calibri" pitchFamily="34" charset="0"/>
                <a:ea typeface="Calibri" pitchFamily="34" charset="-122"/>
                <a:cs typeface="Calibri" pitchFamily="34" charset="-120"/>
              </a:rPr>
              <a:t>Cost </a:t>
            </a:r>
            <a:pPr algn="l" indent="0" marL="0">
              <a:buNone/>
            </a:pPr>
            <a:r>
              <a:rPr lang="en-US" sz="1300" b="1" dirty="0">
                <a:solidFill>
                  <a:srgbClr val="12132A"/>
                </a:solidFill>
                <a:latin typeface="Calibri" pitchFamily="34" charset="0"/>
                <a:ea typeface="Calibri" pitchFamily="34" charset="-122"/>
                <a:cs typeface="Calibri" pitchFamily="34" charset="-120"/>
              </a:rPr>
              <a:t>RM0.30</a:t>
            </a:r>
            <a:endParaRPr lang="en-US" sz="1300" dirty="0"/>
          </a:p>
        </p:txBody>
      </p:sp>
      <p:sp>
        <p:nvSpPr>
          <p:cNvPr id="17" name="Shape 15"/>
          <p:cNvSpPr/>
          <p:nvPr/>
        </p:nvSpPr>
        <p:spPr>
          <a:xfrm>
            <a:off x="8275320" y="2468880"/>
            <a:ext cx="3383280" cy="2788920"/>
          </a:xfrm>
          <a:prstGeom prst="roundRect">
            <a:avLst>
              <a:gd name="adj" fmla="val 3934"/>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8" name="Text 16"/>
          <p:cNvSpPr/>
          <p:nvPr/>
        </p:nvSpPr>
        <p:spPr>
          <a:xfrm>
            <a:off x="8531352" y="2697480"/>
            <a:ext cx="2926080" cy="457200"/>
          </a:xfrm>
          <a:prstGeom prst="rect">
            <a:avLst/>
          </a:prstGeom>
          <a:noFill/>
          <a:ln/>
        </p:spPr>
        <p:txBody>
          <a:bodyPr wrap="square" lIns="0" tIns="0" rIns="0" bIns="0" rtlCol="0" anchor="ctr"/>
          <a:lstStyle/>
          <a:p>
            <a:pPr algn="l" indent="0" marL="0">
              <a:buNone/>
            </a:pPr>
            <a:r>
              <a:rPr lang="en-US" sz="1550" b="1" dirty="0">
                <a:solidFill>
                  <a:srgbClr val="12132A"/>
                </a:solidFill>
                <a:latin typeface="Calibri" pitchFamily="34" charset="0"/>
                <a:ea typeface="Calibri" pitchFamily="34" charset="-122"/>
                <a:cs typeface="Calibri" pitchFamily="34" charset="-120"/>
              </a:rPr>
              <a:t>Job draft (Opus)</a:t>
            </a:r>
            <a:endParaRPr lang="en-US" sz="1550" dirty="0"/>
          </a:p>
        </p:txBody>
      </p:sp>
      <p:sp>
        <p:nvSpPr>
          <p:cNvPr id="19" name="Text 17"/>
          <p:cNvSpPr/>
          <p:nvPr/>
        </p:nvSpPr>
        <p:spPr>
          <a:xfrm>
            <a:off x="8531352" y="3200400"/>
            <a:ext cx="2871216" cy="777240"/>
          </a:xfrm>
          <a:prstGeom prst="rect">
            <a:avLst/>
          </a:prstGeom>
          <a:noFill/>
          <a:ln/>
        </p:spPr>
        <p:txBody>
          <a:bodyPr wrap="square" lIns="0" tIns="0" rIns="0" bIns="0" rtlCol="0" anchor="ctr"/>
          <a:lstStyle/>
          <a:p>
            <a:pPr algn="l" indent="0" marL="0">
              <a:buNone/>
            </a:pPr>
            <a:r>
              <a:rPr lang="en-US" sz="4600" b="1" dirty="0">
                <a:solidFill>
                  <a:srgbClr val="16A34A"/>
                </a:solidFill>
                <a:latin typeface="Calibri" pitchFamily="34" charset="0"/>
                <a:ea typeface="Calibri" pitchFamily="34" charset="-122"/>
                <a:cs typeface="Calibri" pitchFamily="34" charset="-120"/>
              </a:rPr>
              <a:t>91%</a:t>
            </a:r>
            <a:endParaRPr lang="en-US" sz="4600" dirty="0"/>
          </a:p>
        </p:txBody>
      </p:sp>
      <p:sp>
        <p:nvSpPr>
          <p:cNvPr id="20" name="Text 18"/>
          <p:cNvSpPr/>
          <p:nvPr/>
        </p:nvSpPr>
        <p:spPr>
          <a:xfrm>
            <a:off x="8531352" y="4005072"/>
            <a:ext cx="2871216" cy="274320"/>
          </a:xfrm>
          <a:prstGeom prst="rect">
            <a:avLst/>
          </a:prstGeom>
          <a:noFill/>
          <a:ln/>
        </p:spPr>
        <p:txBody>
          <a:bodyPr wrap="square" lIns="0" tIns="0" rIns="0" bIns="0" rtlCol="0" anchor="ctr"/>
          <a:lstStyle/>
          <a:p>
            <a:pPr algn="l" indent="0" marL="0">
              <a:buNone/>
            </a:pPr>
            <a:r>
              <a:rPr lang="en-US" sz="1100" dirty="0">
                <a:solidFill>
                  <a:srgbClr val="6B7280"/>
                </a:solidFill>
                <a:latin typeface="Calibri" pitchFamily="34" charset="0"/>
                <a:ea typeface="Calibri" pitchFamily="34" charset="-122"/>
                <a:cs typeface="Calibri" pitchFamily="34" charset="-120"/>
              </a:rPr>
              <a:t>gross margin at list</a:t>
            </a:r>
            <a:endParaRPr lang="en-US" sz="1100" dirty="0"/>
          </a:p>
        </p:txBody>
      </p:sp>
      <p:sp>
        <p:nvSpPr>
          <p:cNvPr id="21" name="Shape 19"/>
          <p:cNvSpPr/>
          <p:nvPr/>
        </p:nvSpPr>
        <p:spPr>
          <a:xfrm>
            <a:off x="8531352" y="4370832"/>
            <a:ext cx="2871216" cy="0"/>
          </a:xfrm>
          <a:prstGeom prst="line">
            <a:avLst/>
          </a:prstGeom>
          <a:noFill/>
          <a:ln w="12700">
            <a:solidFill>
              <a:srgbClr val="DEDEE3"/>
            </a:solidFill>
            <a:prstDash val="solid"/>
          </a:ln>
        </p:spPr>
      </p:sp>
      <p:sp>
        <p:nvSpPr>
          <p:cNvPr id="22" name="Text 20"/>
          <p:cNvSpPr/>
          <p:nvPr/>
        </p:nvSpPr>
        <p:spPr>
          <a:xfrm>
            <a:off x="8531352" y="4480560"/>
            <a:ext cx="2926080" cy="45720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Price </a:t>
            </a:r>
            <a:pPr algn="l" indent="0" marL="0">
              <a:buNone/>
            </a:pPr>
            <a:r>
              <a:rPr lang="en-US" sz="1300" b="1" dirty="0">
                <a:solidFill>
                  <a:srgbClr val="12132A"/>
                </a:solidFill>
                <a:latin typeface="Calibri" pitchFamily="34" charset="0"/>
                <a:ea typeface="Calibri" pitchFamily="34" charset="-122"/>
                <a:cs typeface="Calibri" pitchFamily="34" charset="-120"/>
              </a:rPr>
              <a:t>RM2.05   </a:t>
            </a:r>
            <a:pPr algn="l" indent="0" marL="0">
              <a:buNone/>
            </a:pPr>
            <a:r>
              <a:rPr lang="en-US" sz="1300" dirty="0">
                <a:solidFill>
                  <a:srgbClr val="4A5568"/>
                </a:solidFill>
                <a:latin typeface="Calibri" pitchFamily="34" charset="0"/>
                <a:ea typeface="Calibri" pitchFamily="34" charset="-122"/>
                <a:cs typeface="Calibri" pitchFamily="34" charset="-120"/>
              </a:rPr>
              <a:t>Cost </a:t>
            </a:r>
            <a:pPr algn="l" indent="0" marL="0">
              <a:buNone/>
            </a:pPr>
            <a:r>
              <a:rPr lang="en-US" sz="1300" b="1" dirty="0">
                <a:solidFill>
                  <a:srgbClr val="12132A"/>
                </a:solidFill>
                <a:latin typeface="Calibri" pitchFamily="34" charset="0"/>
                <a:ea typeface="Calibri" pitchFamily="34" charset="-122"/>
                <a:cs typeface="Calibri" pitchFamily="34" charset="-120"/>
              </a:rPr>
              <a:t>RM0.18</a:t>
            </a:r>
            <a:endParaRPr lang="en-US" sz="1300" dirty="0"/>
          </a:p>
        </p:txBody>
      </p:sp>
      <p:sp>
        <p:nvSpPr>
          <p:cNvPr id="23" name="Text 21"/>
          <p:cNvSpPr/>
          <p:nvPr/>
        </p:nvSpPr>
        <p:spPr>
          <a:xfrm>
            <a:off x="548640" y="5577840"/>
            <a:ext cx="1097280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Cost = AI inference + Stripe (3% + RM1 per top-up, min 20 credits). The fixed fee amortises across the batch, so per-credit processing is a few sen and margin stays in the 80s+.</a:t>
            </a:r>
            <a:endParaRPr lang="en-US" sz="1100" dirty="0"/>
          </a:p>
        </p:txBody>
      </p:sp>
      <p:sp>
        <p:nvSpPr>
          <p:cNvPr id="24" name="Text 22"/>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25" name="Text 23"/>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REVENUE MODEL</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Three account-mix scenarios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2743200"/>
                <a:gridCol w="1645920"/>
                <a:gridCol w="1645920"/>
                <a:gridCol w="1645920"/>
              </a:tblGrid>
              <a:tr h="411480">
                <a:tc>
                  <a:txBody>
                    <a:bodyPr/>
                    <a:lstStyle/>
                    <a:p>
                      <a:pPr algn="l" indent="0" marL="0">
                        <a:buNone/>
                      </a:pP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Conservative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B2AE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Growth</a:t>
                      </a:r>
                      <a:endParaRPr lang="en-US" sz="13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0A1FC2"/>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Launch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120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250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Scale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70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150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Elite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Enterprise accounts</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38912">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Subscription MRR</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RM49,900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RM124,785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c>
                  <a:txBody>
                    <a:bodyPr/>
                    <a:lstStyle/>
                    <a:p>
                      <a:pPr algn="ctr" indent="0" marL="0">
                        <a:buNone/>
                      </a:pPr>
                      <a:r>
                        <a:rPr lang="en-US" sz="1250" b="1" dirty="0">
                          <a:solidFill>
                            <a:srgbClr val="4A5568"/>
                          </a:solidFill>
                          <a:latin typeface="Calibri" pitchFamily="34" charset="0"/>
                          <a:ea typeface="Calibri" pitchFamily="34" charset="-122"/>
                          <a:cs typeface="Calibri" pitchFamily="34" charset="-120"/>
                        </a:rPr>
                        <a:t>RM288,540</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5F7FE"/>
                    </a:solidFill>
                  </a:tcPr>
                </a:tc>
              </a:tr>
              <a:tr h="438912">
                <a:tc>
                  <a:txBody>
                    <a:bodyPr/>
                    <a:lstStyle/>
                    <a:p>
                      <a:pPr algn="l" indent="0" marL="0">
                        <a:buNone/>
                      </a:pPr>
                      <a:r>
                        <a:rPr lang="en-US" sz="1250" b="1" dirty="0">
                          <a:solidFill>
                            <a:srgbClr val="12132A"/>
                          </a:solidFill>
                          <a:latin typeface="Calibri" pitchFamily="34" charset="0"/>
                          <a:ea typeface="Calibri" pitchFamily="34" charset="-122"/>
                          <a:cs typeface="Calibri" pitchFamily="34" charset="-120"/>
                        </a:rPr>
                        <a:t>+ Top-up uplift (≈15%)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RM7,485</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RM18,718</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A5568"/>
                          </a:solidFill>
                          <a:latin typeface="Calibri" pitchFamily="34" charset="0"/>
                          <a:ea typeface="Calibri" pitchFamily="34" charset="-122"/>
                          <a:cs typeface="Calibri" pitchFamily="34" charset="-120"/>
                        </a:rPr>
                        <a:t>RM43,281</a:t>
                      </a:r>
                      <a:endParaRPr lang="en-US" sz="125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2132A"/>
                          </a:solidFill>
                          <a:latin typeface="Calibri" pitchFamily="34" charset="0"/>
                          <a:ea typeface="Calibri" pitchFamily="34" charset="-122"/>
                          <a:cs typeface="Calibri" pitchFamily="34" charset="-120"/>
                        </a:rPr>
                        <a:t>Total MRR</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RM57,385</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RM143,503</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RM331,821</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r>
              <a:tr h="502920">
                <a:tc>
                  <a:txBody>
                    <a:bodyPr/>
                    <a:lstStyle/>
                    <a:p>
                      <a:pPr algn="l" indent="0" marL="0">
                        <a:buNone/>
                      </a:pPr>
                      <a:r>
                        <a:rPr lang="en-US" sz="1400" b="1" dirty="0">
                          <a:solidFill>
                            <a:srgbClr val="12132A"/>
                          </a:solidFill>
                          <a:latin typeface="Calibri" pitchFamily="34" charset="0"/>
                          <a:ea typeface="Calibri" pitchFamily="34" charset="-122"/>
                          <a:cs typeface="Calibri" pitchFamily="34" charset="-120"/>
                        </a:rPr>
                        <a:t>Annual run-rate (ARR)</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RM689K</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RM1.72M</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RM3.98M</a:t>
                      </a:r>
                      <a:endParaRPr lang="en-US" sz="1400" dirty="0">
                        <a:latin typeface="Calibri" charset="0"/>
                        <a:ea typeface="Calibri" charset="0"/>
                        <a:cs typeface="Calibri" charset="0"/>
                      </a:endParaRPr>
                    </a:p>
                  </a:txBody>
                  <a:tcPr marL="76200" marR="76200" marT="25400" marB="25400" anchor="ctr">
                    <a:lnL w="6350" cap="flat" cmpd="sng" algn="ctr">
                      <a:solidFill>
                        <a:srgbClr val="E6E8F0"/>
                      </a:solidFill>
                      <a:prstDash val="solid"/>
                      <a:round/>
                      <a:headEnd type="none" w="med" len="med"/>
                      <a:tailEnd type="none" w="med" len="med"/>
                    </a:lnL>
                    <a:lnR w="6350" cap="flat" cmpd="sng" algn="ctr">
                      <a:solidFill>
                        <a:srgbClr val="E6E8F0"/>
                      </a:solidFill>
                      <a:prstDash val="solid"/>
                      <a:round/>
                      <a:headEnd type="none" w="med" len="med"/>
                      <a:tailEnd type="none" w="med" len="med"/>
                    </a:lnR>
                    <a:lnT w="6350" cap="flat" cmpd="sng" algn="ctr">
                      <a:solidFill>
                        <a:srgbClr val="E6E8F0"/>
                      </a:solidFill>
                      <a:prstDash val="solid"/>
                      <a:round/>
                      <a:headEnd type="none" w="med" len="med"/>
                      <a:tailEnd type="none" w="med" len="med"/>
                    </a:lnT>
                    <a:lnB w="6350" cap="flat" cmpd="sng" algn="ctr">
                      <a:solidFill>
                        <a:srgbClr val="E6E8F0"/>
                      </a:solidFill>
                      <a:prstDash val="solid"/>
                      <a:round/>
                      <a:headEnd type="none" w="med" len="med"/>
                      <a:tailEnd type="none" w="med" len="med"/>
                    </a:lnB>
                    <a:solidFill>
                      <a:srgbClr val="EFFBF1"/>
                    </a:solidFill>
                  </a:tcPr>
                </a:tc>
              </a:tr>
            </a:tbl>
          </a:graphicData>
        </a:graphic>
      </p:graphicFrame>
      <p:sp>
        <p:nvSpPr>
          <p:cNvPr id="5" name="Shape 2"/>
          <p:cNvSpPr/>
          <p:nvPr/>
        </p:nvSpPr>
        <p:spPr>
          <a:xfrm>
            <a:off x="8503920" y="1600200"/>
            <a:ext cx="3136392" cy="4343400"/>
          </a:xfrm>
          <a:prstGeom prst="roundRect">
            <a:avLst>
              <a:gd name="adj" fmla="val 3499"/>
            </a:avLst>
          </a:prstGeom>
          <a:solidFill>
            <a:srgbClr val="0B2AE0"/>
          </a:solidFill>
          <a:ln w="12700">
            <a:solidFill>
              <a:srgbClr val="0B2AE0"/>
            </a:solidFill>
            <a:prstDash val="solid"/>
          </a:ln>
          <a:effectLst>
            <a:outerShdw sx="100000" sy="100000" kx="0" ky="0" algn="bl" rotWithShape="0" blurRad="101600" dist="25400" dir="5400000">
              <a:srgbClr val="9AA0B5">
                <a:alpha val="18000"/>
              </a:srgbClr>
            </a:outerShdw>
          </a:effectLst>
        </p:spPr>
      </p:sp>
      <p:sp>
        <p:nvSpPr>
          <p:cNvPr id="6" name="Text 3"/>
          <p:cNvSpPr/>
          <p:nvPr/>
        </p:nvSpPr>
        <p:spPr>
          <a:xfrm>
            <a:off x="8732520" y="1828800"/>
            <a:ext cx="2743200" cy="274320"/>
          </a:xfrm>
          <a:prstGeom prst="rect">
            <a:avLst/>
          </a:prstGeom>
          <a:noFill/>
          <a:ln/>
        </p:spPr>
        <p:txBody>
          <a:bodyPr wrap="square" lIns="0" tIns="0" rIns="0" bIns="0"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BASE CASE</a:t>
            </a:r>
            <a:endParaRPr lang="en-US" sz="1100" dirty="0"/>
          </a:p>
        </p:txBody>
      </p:sp>
      <p:sp>
        <p:nvSpPr>
          <p:cNvPr id="7" name="Text 4"/>
          <p:cNvSpPr/>
          <p:nvPr/>
        </p:nvSpPr>
        <p:spPr>
          <a:xfrm>
            <a:off x="8732520" y="2148840"/>
            <a:ext cx="2743200" cy="73152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RM1.72M</a:t>
            </a:r>
            <a:endParaRPr lang="en-US" sz="4000" dirty="0"/>
          </a:p>
        </p:txBody>
      </p:sp>
      <p:sp>
        <p:nvSpPr>
          <p:cNvPr id="8" name="Text 5"/>
          <p:cNvSpPr/>
          <p:nvPr/>
        </p:nvSpPr>
        <p:spPr>
          <a:xfrm>
            <a:off x="8732520" y="2880360"/>
            <a:ext cx="2743200" cy="274320"/>
          </a:xfrm>
          <a:prstGeom prst="rect">
            <a:avLst/>
          </a:prstGeom>
          <a:noFill/>
          <a:ln/>
        </p:spPr>
        <p:txBody>
          <a:bodyPr wrap="square" lIns="0" tIns="0" rIns="0" bIns="0"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projected ARR</a:t>
            </a:r>
            <a:endParaRPr lang="en-US" sz="1300" dirty="0"/>
          </a:p>
        </p:txBody>
      </p:sp>
      <p:sp>
        <p:nvSpPr>
          <p:cNvPr id="9" name="Shape 6"/>
          <p:cNvSpPr/>
          <p:nvPr/>
        </p:nvSpPr>
        <p:spPr>
          <a:xfrm>
            <a:off x="8732520" y="3383280"/>
            <a:ext cx="2651760" cy="0"/>
          </a:xfrm>
          <a:prstGeom prst="line">
            <a:avLst/>
          </a:prstGeom>
          <a:noFill/>
          <a:ln w="12700">
            <a:solidFill>
              <a:srgbClr val="3550EE"/>
            </a:solidFill>
            <a:prstDash val="solid"/>
          </a:ln>
        </p:spPr>
      </p:sp>
      <p:sp>
        <p:nvSpPr>
          <p:cNvPr id="10" name="Text 7"/>
          <p:cNvSpPr/>
          <p:nvPr/>
        </p:nvSpPr>
        <p:spPr>
          <a:xfrm>
            <a:off x="8732520" y="3566160"/>
            <a:ext cx="274320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221 </a:t>
            </a:r>
            <a:pPr algn="l" indent="0" marL="0">
              <a:buNone/>
            </a:pPr>
            <a:r>
              <a:rPr lang="en-US" sz="1300" dirty="0">
                <a:solidFill>
                  <a:srgbClr val="CADCFC"/>
                </a:solidFill>
                <a:latin typeface="Calibri" pitchFamily="34" charset="0"/>
                <a:ea typeface="Calibri" pitchFamily="34" charset="-122"/>
                <a:cs typeface="Calibri" pitchFamily="34" charset="-120"/>
              </a:rPr>
              <a:t>paying accounts</a:t>
            </a:r>
            <a:endParaRPr lang="en-US" sz="2000" dirty="0"/>
          </a:p>
        </p:txBody>
      </p:sp>
      <p:sp>
        <p:nvSpPr>
          <p:cNvPr id="11" name="Text 8"/>
          <p:cNvSpPr/>
          <p:nvPr/>
        </p:nvSpPr>
        <p:spPr>
          <a:xfrm>
            <a:off x="8732520" y="4069080"/>
            <a:ext cx="274320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RM649 </a:t>
            </a:r>
            <a:pPr algn="l" indent="0" marL="0">
              <a:buNone/>
            </a:pPr>
            <a:r>
              <a:rPr lang="en-US" sz="1300" dirty="0">
                <a:solidFill>
                  <a:srgbClr val="CADCFC"/>
                </a:solidFill>
                <a:latin typeface="Calibri" pitchFamily="34" charset="0"/>
                <a:ea typeface="Calibri" pitchFamily="34" charset="-122"/>
                <a:cs typeface="Calibri" pitchFamily="34" charset="-120"/>
              </a:rPr>
              <a:t>blended ARPA / mo</a:t>
            </a:r>
            <a:endParaRPr lang="en-US" sz="2000" dirty="0"/>
          </a:p>
        </p:txBody>
      </p:sp>
      <p:sp>
        <p:nvSpPr>
          <p:cNvPr id="12" name="Text 9"/>
          <p:cNvSpPr/>
          <p:nvPr/>
        </p:nvSpPr>
        <p:spPr>
          <a:xfrm>
            <a:off x="8732520" y="4572000"/>
            <a:ext cx="2743200"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~72% </a:t>
            </a:r>
            <a:pPr algn="l" indent="0" marL="0">
              <a:buNone/>
            </a:pPr>
            <a:r>
              <a:rPr lang="en-US" sz="1300" dirty="0">
                <a:solidFill>
                  <a:srgbClr val="CADCFC"/>
                </a:solidFill>
                <a:latin typeface="Calibri" pitchFamily="34" charset="0"/>
                <a:ea typeface="Calibri" pitchFamily="34" charset="-122"/>
                <a:cs typeface="Calibri" pitchFamily="34" charset="-120"/>
              </a:rPr>
              <a:t>blended all-in margin</a:t>
            </a:r>
            <a:endParaRPr lang="en-US" sz="2000" dirty="0"/>
          </a:p>
        </p:txBody>
      </p:sp>
      <p:sp>
        <p:nvSpPr>
          <p:cNvPr id="13" name="Text 10"/>
          <p:cNvSpPr/>
          <p:nvPr/>
        </p:nvSpPr>
        <p:spPr>
          <a:xfrm>
            <a:off x="8732520" y="5257800"/>
            <a:ext cx="2697480" cy="548640"/>
          </a:xfrm>
          <a:prstGeom prst="rect">
            <a:avLst/>
          </a:prstGeom>
          <a:noFill/>
          <a:ln/>
        </p:spPr>
        <p:txBody>
          <a:bodyPr wrap="square" lIns="0" tIns="0" rIns="0" bIns="0" rtlCol="0" anchor="ctr"/>
          <a:lstStyle/>
          <a:p>
            <a:pPr algn="l" indent="0" marL="0">
              <a:buNone/>
            </a:pPr>
            <a:r>
              <a:rPr lang="en-US" sz="1150" i="1" dirty="0">
                <a:solidFill>
                  <a:srgbClr val="CADCFC"/>
                </a:solidFill>
                <a:latin typeface="Calibri" pitchFamily="34" charset="0"/>
                <a:ea typeface="Calibri" pitchFamily="34" charset="-122"/>
                <a:cs typeface="Calibri" pitchFamily="34" charset="-120"/>
              </a:rPr>
              <a:t>Annual prepay pulls cash forward and lifts retention.</a:t>
            </a:r>
            <a:endParaRPr lang="en-US" sz="1150" dirty="0"/>
          </a:p>
        </p:txBody>
      </p:sp>
      <p:sp>
        <p:nvSpPr>
          <p:cNvPr id="14" name="Text 11"/>
          <p:cNvSpPr/>
          <p:nvPr/>
        </p:nvSpPr>
        <p:spPr>
          <a:xfrm>
            <a:off x="548640" y="6080760"/>
            <a:ext cx="1097280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Illustrative. Enterprise is a custom plan with no list price; modelled here at an assumed ~RM6,000/mo for the scenario only. Adjust mix, Enterprise deal size, and top-up rate as pricing is finalised.</a:t>
            </a:r>
            <a:endParaRPr lang="en-US" sz="1000" dirty="0"/>
          </a:p>
        </p:txBody>
      </p:sp>
      <p:sp>
        <p:nvSpPr>
          <p:cNvPr id="15" name="Text 12"/>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16" name="Text 13"/>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FOR THE DISCUSSION</a:t>
            </a:r>
            <a:endParaRPr lang="en-US" sz="1200" dirty="0"/>
          </a:p>
        </p:txBody>
      </p:sp>
      <p:sp>
        <p:nvSpPr>
          <p:cNvPr id="3" name="Text 1"/>
          <p:cNvSpPr/>
          <p:nvPr/>
        </p:nvSpPr>
        <p:spPr>
          <a:xfrm>
            <a:off x="548640" y="777240"/>
            <a:ext cx="11064240" cy="822960"/>
          </a:xfrm>
          <a:prstGeom prst="rect">
            <a:avLst/>
          </a:prstGeom>
          <a:noFill/>
          <a:ln/>
        </p:spPr>
        <p:txBody>
          <a:bodyPr wrap="square" lIns="0" tIns="0" rIns="0" bIns="0" rtlCol="0" anchor="ctr"/>
          <a:lstStyle/>
          <a:p>
            <a:pPr algn="l" indent="0" marL="0">
              <a:buNone/>
            </a:pPr>
            <a:r>
              <a:rPr lang="en-US" sz="3400" b="1" dirty="0">
                <a:solidFill>
                  <a:srgbClr val="12132A"/>
                </a:solidFill>
                <a:latin typeface="Calibri" pitchFamily="34" charset="0"/>
                <a:ea typeface="Calibri" pitchFamily="34" charset="-122"/>
                <a:cs typeface="Calibri" pitchFamily="34" charset="-120"/>
              </a:rPr>
              <a:t>Assumptions, risks &amp; recommendations</a:t>
            </a:r>
            <a:endParaRPr lang="en-US" sz="3400" dirty="0"/>
          </a:p>
        </p:txBody>
      </p:sp>
      <p:sp>
        <p:nvSpPr>
          <p:cNvPr id="4" name="Shape 2"/>
          <p:cNvSpPr/>
          <p:nvPr/>
        </p:nvSpPr>
        <p:spPr>
          <a:xfrm>
            <a:off x="548640" y="1691640"/>
            <a:ext cx="3639312" cy="4297680"/>
          </a:xfrm>
          <a:prstGeom prst="roundRect">
            <a:avLst>
              <a:gd name="adj" fmla="val 3015"/>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5" name="Shape 3"/>
          <p:cNvSpPr/>
          <p:nvPr/>
        </p:nvSpPr>
        <p:spPr>
          <a:xfrm>
            <a:off x="822960" y="1965960"/>
            <a:ext cx="384048" cy="384048"/>
          </a:xfrm>
          <a:prstGeom prst="ellipse">
            <a:avLst/>
          </a:prstGeom>
          <a:solidFill>
            <a:srgbClr val="0B2AE0"/>
          </a:solidFill>
          <a:ln/>
        </p:spPr>
      </p:sp>
      <p:sp>
        <p:nvSpPr>
          <p:cNvPr id="6" name="Text 4"/>
          <p:cNvSpPr/>
          <p:nvPr/>
        </p:nvSpPr>
        <p:spPr>
          <a:xfrm>
            <a:off x="1325880" y="1947672"/>
            <a:ext cx="2724912" cy="41148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Decide / validate</a:t>
            </a:r>
            <a:endParaRPr lang="en-US" sz="1600" dirty="0"/>
          </a:p>
        </p:txBody>
      </p:sp>
      <p:sp>
        <p:nvSpPr>
          <p:cNvPr id="7" name="Text 5"/>
          <p:cNvSpPr/>
          <p:nvPr/>
        </p:nvSpPr>
        <p:spPr>
          <a:xfrm>
            <a:off x="841248" y="2560320"/>
            <a:ext cx="3072384" cy="3200400"/>
          </a:xfrm>
          <a:prstGeom prst="rect">
            <a:avLst/>
          </a:prstGeom>
          <a:noFill/>
          <a:ln/>
        </p:spPr>
        <p:txBody>
          <a:bodyPr wrap="square" lIns="0" tIns="0" rIns="0" bIns="0" rtlCol="0" anchor="t"/>
          <a:lstStyle/>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Sign off the list prices (RM99 / RM599 / RM1,399) or reset them; they are proposed, not live in Stripe.</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Confirm the annual discount (2 months free = 17%).</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Set the Enterprise floor and what the premium buys (SSO, audit, white-label).</a:t>
            </a:r>
            <a:endParaRPr lang="en-US" sz="1250" dirty="0"/>
          </a:p>
        </p:txBody>
      </p:sp>
      <p:sp>
        <p:nvSpPr>
          <p:cNvPr id="8" name="Shape 6"/>
          <p:cNvSpPr/>
          <p:nvPr/>
        </p:nvSpPr>
        <p:spPr>
          <a:xfrm>
            <a:off x="4279392" y="1691640"/>
            <a:ext cx="3639312" cy="4297680"/>
          </a:xfrm>
          <a:prstGeom prst="roundRect">
            <a:avLst>
              <a:gd name="adj" fmla="val 3015"/>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9" name="Shape 7"/>
          <p:cNvSpPr/>
          <p:nvPr/>
        </p:nvSpPr>
        <p:spPr>
          <a:xfrm>
            <a:off x="4553712" y="1965960"/>
            <a:ext cx="384048" cy="384048"/>
          </a:xfrm>
          <a:prstGeom prst="ellipse">
            <a:avLst/>
          </a:prstGeom>
          <a:solidFill>
            <a:srgbClr val="B45309"/>
          </a:solidFill>
          <a:ln/>
        </p:spPr>
      </p:sp>
      <p:sp>
        <p:nvSpPr>
          <p:cNvPr id="10" name="Text 8"/>
          <p:cNvSpPr/>
          <p:nvPr/>
        </p:nvSpPr>
        <p:spPr>
          <a:xfrm>
            <a:off x="5056632" y="1947672"/>
            <a:ext cx="2724912" cy="41148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Risks to watch</a:t>
            </a:r>
            <a:endParaRPr lang="en-US" sz="1600" dirty="0"/>
          </a:p>
        </p:txBody>
      </p:sp>
      <p:sp>
        <p:nvSpPr>
          <p:cNvPr id="11" name="Text 9"/>
          <p:cNvSpPr/>
          <p:nvPr/>
        </p:nvSpPr>
        <p:spPr>
          <a:xfrm>
            <a:off x="4572000" y="2560320"/>
            <a:ext cx="3072384" cy="3200400"/>
          </a:xfrm>
          <a:prstGeom prst="rect">
            <a:avLst/>
          </a:prstGeom>
          <a:noFill/>
          <a:ln/>
        </p:spPr>
        <p:txBody>
          <a:bodyPr wrap="square" lIns="0" tIns="0" rIns="0" bIns="0" rtlCol="0" anchor="t"/>
          <a:lstStyle/>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Costs are modeled from provider pricing, not yet measured from live logs.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AI is billed in USD (≈ RM4.09); a weaker ringgit raises real cost of goods.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Video (Daily.co) is the next-largest cost after AI; interview-heavy Elite accounts compress margin.</a:t>
            </a:r>
            <a:endParaRPr lang="en-US" sz="1250" dirty="0"/>
          </a:p>
        </p:txBody>
      </p:sp>
      <p:sp>
        <p:nvSpPr>
          <p:cNvPr id="12" name="Shape 10"/>
          <p:cNvSpPr/>
          <p:nvPr/>
        </p:nvSpPr>
        <p:spPr>
          <a:xfrm>
            <a:off x="8010144" y="1691640"/>
            <a:ext cx="3639312" cy="4297680"/>
          </a:xfrm>
          <a:prstGeom prst="roundRect">
            <a:avLst>
              <a:gd name="adj" fmla="val 3015"/>
            </a:avLst>
          </a:prstGeom>
          <a:solidFill>
            <a:srgbClr val="FFFFFF"/>
          </a:solidFill>
          <a:ln w="12700">
            <a:solidFill>
              <a:srgbClr val="DEDEE3"/>
            </a:solidFill>
            <a:prstDash val="solid"/>
          </a:ln>
          <a:effectLst>
            <a:outerShdw sx="100000" sy="100000" kx="0" ky="0" algn="bl" rotWithShape="0" blurRad="101600" dist="25400" dir="5400000">
              <a:srgbClr val="9AA0B5">
                <a:alpha val="18000"/>
              </a:srgbClr>
            </a:outerShdw>
          </a:effectLst>
        </p:spPr>
      </p:sp>
      <p:sp>
        <p:nvSpPr>
          <p:cNvPr id="13" name="Shape 11"/>
          <p:cNvSpPr/>
          <p:nvPr/>
        </p:nvSpPr>
        <p:spPr>
          <a:xfrm>
            <a:off x="8284464" y="1965960"/>
            <a:ext cx="384048" cy="384048"/>
          </a:xfrm>
          <a:prstGeom prst="ellipse">
            <a:avLst/>
          </a:prstGeom>
          <a:solidFill>
            <a:srgbClr val="16A34A"/>
          </a:solidFill>
          <a:ln/>
        </p:spPr>
      </p:sp>
      <p:sp>
        <p:nvSpPr>
          <p:cNvPr id="14" name="Text 12"/>
          <p:cNvSpPr/>
          <p:nvPr/>
        </p:nvSpPr>
        <p:spPr>
          <a:xfrm>
            <a:off x="8787384" y="1947672"/>
            <a:ext cx="2724912" cy="41148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Recommendations</a:t>
            </a:r>
            <a:endParaRPr lang="en-US" sz="1600" dirty="0"/>
          </a:p>
        </p:txBody>
      </p:sp>
      <p:sp>
        <p:nvSpPr>
          <p:cNvPr id="15" name="Text 13"/>
          <p:cNvSpPr/>
          <p:nvPr/>
        </p:nvSpPr>
        <p:spPr>
          <a:xfrm>
            <a:off x="8302752" y="2560320"/>
            <a:ext cx="3072384" cy="3200400"/>
          </a:xfrm>
          <a:prstGeom prst="rect">
            <a:avLst/>
          </a:prstGeom>
          <a:noFill/>
          <a:ln/>
        </p:spPr>
        <p:txBody>
          <a:bodyPr wrap="square" lIns="0" tIns="0" rIns="0" bIns="0" rtlCol="0" anchor="t"/>
          <a:lstStyle/>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Log per-action token spend to replace these estimates with measured COGS.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Lead growth accounts to top-ups; that is where blended margin expands.</a:t>
            </a:r>
            <a:endParaRPr lang="en-US" sz="1250" dirty="0"/>
          </a:p>
          <a:p>
            <a:pPr algn="l" marL="177800" indent="-177800">
              <a:spcAft>
                <a:spcPts val="1000"/>
              </a:spcAft>
              <a:buSzPct val="100000"/>
              <a:buChar char="•"/>
            </a:pPr>
            <a:r>
              <a:rPr lang="en-US" sz="1250" dirty="0">
                <a:solidFill>
                  <a:srgbClr val="4A5568"/>
                </a:solidFill>
                <a:latin typeface="Calibri" pitchFamily="34" charset="0"/>
                <a:ea typeface="Calibri" pitchFamily="34" charset="-122"/>
                <a:cs typeface="Calibri" pitchFamily="34" charset="-120"/>
              </a:rPr>
              <a:t>Hold unlimited seats as the headline differentiator versus per-seat ATS rivals.</a:t>
            </a:r>
            <a:endParaRPr lang="en-US" sz="1250" dirty="0"/>
          </a:p>
        </p:txBody>
      </p:sp>
      <p:sp>
        <p:nvSpPr>
          <p:cNvPr id="16" name="Text 14"/>
          <p:cNvSpPr/>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Pricing model</a:t>
            </a:r>
            <a:endParaRPr lang="en-US" sz="900" dirty="0"/>
          </a:p>
        </p:txBody>
      </p:sp>
      <p:sp>
        <p:nvSpPr>
          <p:cNvPr id="17" name="Text 15"/>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7772400" y="-2286000"/>
            <a:ext cx="6400800" cy="6400800"/>
          </a:xfrm>
          <a:prstGeom prst="ellipse">
            <a:avLst/>
          </a:prstGeom>
          <a:solidFill>
            <a:srgbClr val="0B2AE0">
              <a:alpha val="38000"/>
            </a:srgbClr>
          </a:solidFill>
          <a:ln/>
        </p:spPr>
      </p:sp>
      <p:sp>
        <p:nvSpPr>
          <p:cNvPr id="3" name="Shape 1"/>
          <p:cNvSpPr/>
          <p:nvPr/>
        </p:nvSpPr>
        <p:spPr>
          <a:xfrm>
            <a:off x="-2286000" y="3200400"/>
            <a:ext cx="5943600" cy="5943600"/>
          </a:xfrm>
          <a:prstGeom prst="ellipse">
            <a:avLst/>
          </a:prstGeom>
          <a:solidFill>
            <a:srgbClr val="5570F5">
              <a:alpha val="26000"/>
            </a:srgbClr>
          </a:solidFill>
          <a:ln/>
        </p:spPr>
      </p:sp>
      <p:pic>
        <p:nvPicPr>
          <p:cNvPr id="4" name="Image 0" descr="preencoded.png">    </p:cNvPr>
          <p:cNvPicPr>
            <a:picLocks noChangeAspect="1"/>
          </p:cNvPicPr>
          <p:nvPr/>
        </p:nvPicPr>
        <p:blipFill>
          <a:blip r:embed="rId1"/>
          <a:stretch>
            <a:fillRect/>
          </a:stretch>
        </p:blipFill>
        <p:spPr>
          <a:xfrm>
            <a:off x="777240" y="621792"/>
            <a:ext cx="1874520" cy="453009"/>
          </a:xfrm>
          <a:prstGeom prst="rect">
            <a:avLst/>
          </a:prstGeom>
        </p:spPr>
      </p:pic>
      <p:sp>
        <p:nvSpPr>
          <p:cNvPr id="5" name="Text 2"/>
          <p:cNvSpPr/>
          <p:nvPr/>
        </p:nvSpPr>
        <p:spPr>
          <a:xfrm>
            <a:off x="777240" y="2103120"/>
            <a:ext cx="10058400" cy="45720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The decision in one line</a:t>
            </a:r>
            <a:endParaRPr lang="en-US" sz="1800" dirty="0"/>
          </a:p>
        </p:txBody>
      </p:sp>
      <p:sp>
        <p:nvSpPr>
          <p:cNvPr id="6" name="Text 3"/>
          <p:cNvSpPr/>
          <p:nvPr/>
        </p:nvSpPr>
        <p:spPr>
          <a:xfrm>
            <a:off x="777240" y="2606040"/>
            <a:ext cx="10332720" cy="13716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 four-tier subscription with unlimited seats, a generous AI allowance, and high-margin credit top-ups on top.</a:t>
            </a:r>
            <a:endParaRPr lang="en-US" sz="3200" dirty="0"/>
          </a:p>
        </p:txBody>
      </p:sp>
      <p:sp>
        <p:nvSpPr>
          <p:cNvPr id="7" name="Shape 4"/>
          <p:cNvSpPr/>
          <p:nvPr/>
        </p:nvSpPr>
        <p:spPr>
          <a:xfrm>
            <a:off x="822960" y="4663440"/>
            <a:ext cx="2633472" cy="548640"/>
          </a:xfrm>
          <a:prstGeom prst="roundRect">
            <a:avLst>
              <a:gd name="adj" fmla="val 50000"/>
            </a:avLst>
          </a:prstGeom>
          <a:solidFill>
            <a:srgbClr val="FFFFFF">
              <a:alpha val="12000"/>
            </a:srgbClr>
          </a:solidFill>
          <a:ln w="12700">
            <a:solidFill>
              <a:srgbClr val="FFFFFF">
                <a:alpha val="45000"/>
              </a:srgbClr>
            </a:solidFill>
            <a:prstDash val="solid"/>
          </a:ln>
        </p:spPr>
      </p:sp>
      <p:sp>
        <p:nvSpPr>
          <p:cNvPr id="8" name="Text 5"/>
          <p:cNvSpPr/>
          <p:nvPr/>
        </p:nvSpPr>
        <p:spPr>
          <a:xfrm>
            <a:off x="822960" y="4663440"/>
            <a:ext cx="2633472"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  Confirm list prices</a:t>
            </a:r>
            <a:endParaRPr lang="en-US" sz="1350" dirty="0"/>
          </a:p>
        </p:txBody>
      </p:sp>
      <p:sp>
        <p:nvSpPr>
          <p:cNvPr id="9" name="Shape 6"/>
          <p:cNvSpPr/>
          <p:nvPr/>
        </p:nvSpPr>
        <p:spPr>
          <a:xfrm>
            <a:off x="3685032" y="4663440"/>
            <a:ext cx="2633472" cy="548640"/>
          </a:xfrm>
          <a:prstGeom prst="roundRect">
            <a:avLst>
              <a:gd name="adj" fmla="val 50000"/>
            </a:avLst>
          </a:prstGeom>
          <a:solidFill>
            <a:srgbClr val="FFFFFF">
              <a:alpha val="12000"/>
            </a:srgbClr>
          </a:solidFill>
          <a:ln w="12700">
            <a:solidFill>
              <a:srgbClr val="FFFFFF">
                <a:alpha val="45000"/>
              </a:srgbClr>
            </a:solidFill>
            <a:prstDash val="solid"/>
          </a:ln>
        </p:spPr>
      </p:sp>
      <p:sp>
        <p:nvSpPr>
          <p:cNvPr id="10" name="Text 7"/>
          <p:cNvSpPr/>
          <p:nvPr/>
        </p:nvSpPr>
        <p:spPr>
          <a:xfrm>
            <a:off x="3685032" y="4663440"/>
            <a:ext cx="2633472"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  Log live token cost</a:t>
            </a:r>
            <a:endParaRPr lang="en-US" sz="1350" dirty="0"/>
          </a:p>
        </p:txBody>
      </p:sp>
      <p:sp>
        <p:nvSpPr>
          <p:cNvPr id="11" name="Shape 8"/>
          <p:cNvSpPr/>
          <p:nvPr/>
        </p:nvSpPr>
        <p:spPr>
          <a:xfrm>
            <a:off x="6547104" y="4663440"/>
            <a:ext cx="3511296" cy="548640"/>
          </a:xfrm>
          <a:prstGeom prst="roundRect">
            <a:avLst>
              <a:gd name="adj" fmla="val 50000"/>
            </a:avLst>
          </a:prstGeom>
          <a:solidFill>
            <a:srgbClr val="FFFFFF">
              <a:alpha val="12000"/>
            </a:srgbClr>
          </a:solidFill>
          <a:ln w="12700">
            <a:solidFill>
              <a:srgbClr val="FFFFFF">
                <a:alpha val="45000"/>
              </a:srgbClr>
            </a:solidFill>
            <a:prstDash val="solid"/>
          </a:ln>
        </p:spPr>
      </p:sp>
      <p:sp>
        <p:nvSpPr>
          <p:cNvPr id="12" name="Text 9"/>
          <p:cNvSpPr/>
          <p:nvPr/>
        </p:nvSpPr>
        <p:spPr>
          <a:xfrm>
            <a:off x="6547104" y="4663440"/>
            <a:ext cx="3511296"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  Re-run margins on real data</a:t>
            </a:r>
            <a:endParaRPr lang="en-US" sz="1350" dirty="0"/>
          </a:p>
        </p:txBody>
      </p:sp>
      <p:sp>
        <p:nvSpPr>
          <p:cNvPr id="13" name="Text 10"/>
          <p:cNvSpPr/>
          <p:nvPr/>
        </p:nvSpPr>
        <p:spPr>
          <a:xfrm>
            <a:off x="822960" y="6126480"/>
            <a:ext cx="10058400" cy="365760"/>
          </a:xfrm>
          <a:prstGeom prst="rect">
            <a:avLst/>
          </a:prstGeom>
          <a:noFill/>
          <a:ln/>
        </p:spPr>
        <p:txBody>
          <a:bodyPr wrap="square" lIns="0" tIns="0" rIns="0" bIns="0" rtlCol="0" anchor="ctr"/>
          <a:lstStyle/>
          <a:p>
            <a:pPr algn="l" indent="0" marL="0">
              <a:buNone/>
            </a:pPr>
            <a:r>
              <a:rPr lang="en-US" sz="1200" i="1" dirty="0">
                <a:solidFill>
                  <a:srgbClr val="9FB0F0"/>
                </a:solidFill>
                <a:latin typeface="Calibri" pitchFamily="34" charset="0"/>
                <a:ea typeface="Calibri" pitchFamily="34" charset="-122"/>
                <a:cs typeface="Calibri" pitchFamily="34" charset="-120"/>
              </a:rPr>
              <a:t>Proposed figures for internal discussion · August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2026-08-11T02:13:30Z</dcterms:created>
  <dcterms:modified xsi:type="dcterms:W3CDTF">2026-08-11T02:13:30Z</dcterms:modified>
</cp:coreProperties>
</file>