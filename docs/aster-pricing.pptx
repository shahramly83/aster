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pricing proposal: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56–61%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80–98%</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~3×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RM0.37–RM2.82 per action against a few sen of AI cost.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RM599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RM499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RM5,990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never bundled, so drafting is pure add-on revenue. Enterprise runs AI on its own account.</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~3×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RM337</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RM1,881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RM599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2.9×</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RM4,119</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(RM2.82 screening · RM2.45 AI Rank / Insight · RM0.37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017520"/>
                <a:gridCol w="1371600"/>
                <a:gridCol w="1371600"/>
              </a:tblGrid>
              <a:tr h="512064">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Credit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Price (MYR)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Min top-up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Applicant / resume screening</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12064">
                <a:tc>
                  <a:txBody>
                    <a:bodyPr/>
                    <a:lstStyle/>
                    <a:p>
                      <a:pPr algn="l" indent="0" marL="0">
                        <a:buNone/>
                      </a:pPr>
                      <a:r>
                        <a:rPr lang="en-US" sz="1250" dirty="0">
                          <a:solidFill>
                            <a:srgbClr val="12132A"/>
                          </a:solidFill>
                          <a:latin typeface="Calibri" pitchFamily="34" charset="0"/>
                          <a:ea typeface="Calibri" pitchFamily="34" charset="-122"/>
                          <a:cs typeface="Calibri" pitchFamily="34" charset="-120"/>
                        </a:rPr>
                        <a:t>Job draft (Opus)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0B2AE0"/>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2132A"/>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charged  =  list price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249424"/>
            <a:ext cx="1828800" cy="292608"/>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8686800" y="2249424"/>
            <a:ext cx="2743200" cy="292608"/>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587752"/>
            <a:ext cx="1828800" cy="292608"/>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8686800" y="2587752"/>
            <a:ext cx="2743200" cy="292608"/>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2926080"/>
            <a:ext cx="1828800" cy="292608"/>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a:t>
            </a:r>
            <a:endParaRPr lang="en-US" sz="1300" dirty="0"/>
          </a:p>
        </p:txBody>
      </p:sp>
      <p:sp>
        <p:nvSpPr>
          <p:cNvPr id="15" name="Text 12"/>
          <p:cNvSpPr/>
          <p:nvPr/>
        </p:nvSpPr>
        <p:spPr>
          <a:xfrm>
            <a:off x="8686800" y="2926080"/>
            <a:ext cx="2743200" cy="292608"/>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Text 13"/>
          <p:cNvSpPr/>
          <p:nvPr/>
        </p:nvSpPr>
        <p:spPr>
          <a:xfrm>
            <a:off x="6858000" y="3264408"/>
            <a:ext cx="1828800" cy="292608"/>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Enterprise</a:t>
            </a:r>
            <a:endParaRPr lang="en-US" sz="1300" dirty="0"/>
          </a:p>
        </p:txBody>
      </p:sp>
      <p:sp>
        <p:nvSpPr>
          <p:cNvPr id="17" name="Text 14"/>
          <p:cNvSpPr/>
          <p:nvPr/>
        </p:nvSpPr>
        <p:spPr>
          <a:xfrm>
            <a:off x="8686800" y="3264408"/>
            <a:ext cx="2743200" cy="292608"/>
          </a:xfrm>
          <a:prstGeom prst="rect">
            <a:avLst/>
          </a:prstGeom>
          <a:noFill/>
          <a:ln/>
        </p:spPr>
        <p:txBody>
          <a:bodyPr wrap="square" lIns="0" tIns="0" rIns="0" bIns="0" rtlCol="0" anchor="ctr"/>
          <a:lstStyle/>
          <a:p>
            <a:pPr algn="r" indent="0" marL="0">
              <a:buNone/>
            </a:pPr>
            <a:r>
              <a:rPr lang="en-US" sz="1200" b="1" dirty="0">
                <a:solidFill>
                  <a:srgbClr val="0B2AE0"/>
                </a:solidFill>
                <a:latin typeface="Calibri" pitchFamily="34" charset="0"/>
                <a:ea typeface="Calibri" pitchFamily="34" charset="-122"/>
                <a:cs typeface="Calibri" pitchFamily="34" charset="-120"/>
              </a:rPr>
              <a:t>own AI account</a:t>
            </a:r>
            <a:endParaRPr lang="en-US" sz="1200" dirty="0"/>
          </a:p>
        </p:txBody>
      </p:sp>
      <p:sp>
        <p:nvSpPr>
          <p:cNvPr id="18" name="Shape 15"/>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9" name="Text 16"/>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20" name="Text 17"/>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21" name="Text 18"/>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2" name="Text 19"/>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3" name="Text 20"/>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4" name="Text 21"/>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5" name="Text 22"/>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6" name="Text 23"/>
          <p:cNvSpPr/>
          <p:nvPr/>
        </p:nvSpPr>
        <p:spPr>
          <a:xfrm>
            <a:off x="548640" y="5989320"/>
            <a:ext cx="11064240" cy="36576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Prices stored as USD cents, shown in MYR. Enterprise connects its own AI account (billed directly by Anthropic), so it takes no credit discount. Min top-up per credit is above; each top-up is one Stripe charge, folded into slide 11's margins.</a:t>
            </a:r>
            <a:endParaRPr lang="en-US" sz="950" dirty="0"/>
          </a:p>
        </p:txBody>
      </p:sp>
      <p:sp>
        <p:nvSpPr>
          <p:cNvPr id="27"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8"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RM2.82</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80%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7863840" cy="914400"/>
        </p:xfrm>
        <a:graphic>
          <a:graphicData uri="http://schemas.openxmlformats.org/drawingml/2006/table">
            <a:tbl>
              <a:tblPr/>
              <a:tblGrid>
                <a:gridCol w="2194560"/>
                <a:gridCol w="1783080"/>
                <a:gridCol w="2514600"/>
                <a:gridCol w="1371600"/>
              </a:tblGrid>
              <a:tr h="402336">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 Enterprise: own AI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Partner revenue share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Channel partner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10% of each plan sale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7680960" cy="914400"/>
        </p:xfrm>
        <a:graphic>
          <a:graphicData uri="http://schemas.openxmlformats.org/drawingml/2006/table">
            <a:tbl>
              <a:tblPr/>
              <a:tblGrid>
                <a:gridCol w="2743200"/>
                <a:gridCol w="1645920"/>
                <a:gridCol w="1645920"/>
                <a:gridCol w="164592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Partner share (10%)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RM140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4747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RM541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02336">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56%</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Partner share = 10% of each subscription sale (not credit top-ups). Assumes typical AI usage at the plan allowance and ~5 / 25 / 70 video interviews/mo;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0876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sen of AI plus one Stripe fee per top-up. The 10% partner share applies to plan sales only, not top-ups, so credits are the highest-margin revenue.</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7680960" cy="914400"/>
        </p:xfrm>
        <a:graphic>
          <a:graphicData uri="http://schemas.openxmlformats.org/drawingml/2006/table">
            <a:tbl>
              <a:tblPr/>
              <a:tblGrid>
                <a:gridCol w="2743200"/>
                <a:gridCol w="1371600"/>
                <a:gridCol w="2194560"/>
                <a:gridCol w="1371600"/>
              </a:tblGrid>
              <a:tr h="54864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Credit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Cost (AI +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Gross margin</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RM2.82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88%</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RM2.45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RM0.46</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A34A"/>
                          </a:solidFill>
                          <a:latin typeface="Calibri" pitchFamily="34" charset="0"/>
                          <a:ea typeface="Calibri" pitchFamily="34" charset="-122"/>
                          <a:cs typeface="Calibri" pitchFamily="34" charset="-120"/>
                        </a:rPr>
                        <a:t>80%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12480" y="2286000"/>
            <a:ext cx="3227832" cy="3291840"/>
          </a:xfrm>
          <a:prstGeom prst="roundRect">
            <a:avLst>
              <a:gd name="adj" fmla="val 33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41080" y="2487168"/>
            <a:ext cx="2743200" cy="274320"/>
          </a:xfrm>
          <a:prstGeom prst="rect">
            <a:avLst/>
          </a:prstGeom>
          <a:noFill/>
          <a:ln/>
        </p:spPr>
        <p:txBody>
          <a:bodyPr wrap="square" lIns="0" tIns="0" rIns="0" bIns="0" rtlCol="0" anchor="ctr"/>
          <a:lstStyle/>
          <a:p>
            <a:pPr algn="l" indent="0" marL="0">
              <a:buNone/>
            </a:pPr>
            <a:r>
              <a:rPr lang="en-US" sz="1100" b="1" spc="150" kern="0" dirty="0">
                <a:solidFill>
                  <a:srgbClr val="CADCFC"/>
                </a:solidFill>
                <a:latin typeface="Calibri" pitchFamily="34" charset="0"/>
                <a:ea typeface="Calibri" pitchFamily="34" charset="-122"/>
                <a:cs typeface="Calibri" pitchFamily="34" charset="-120"/>
              </a:rPr>
              <a:t>EVERY TOP-UP</a:t>
            </a:r>
            <a:endParaRPr lang="en-US" sz="1100" dirty="0"/>
          </a:p>
        </p:txBody>
      </p:sp>
      <p:sp>
        <p:nvSpPr>
          <p:cNvPr id="8" name="Text 5"/>
          <p:cNvSpPr/>
          <p:nvPr/>
        </p:nvSpPr>
        <p:spPr>
          <a:xfrm>
            <a:off x="8641080" y="278892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80–91%</a:t>
            </a:r>
            <a:endParaRPr lang="en-US" sz="4000" dirty="0"/>
          </a:p>
        </p:txBody>
      </p:sp>
      <p:sp>
        <p:nvSpPr>
          <p:cNvPr id="9" name="Text 6"/>
          <p:cNvSpPr/>
          <p:nvPr/>
        </p:nvSpPr>
        <p:spPr>
          <a:xfrm>
            <a:off x="8641080" y="35661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gross margin</a:t>
            </a:r>
            <a:endParaRPr lang="en-US" sz="1300" dirty="0"/>
          </a:p>
        </p:txBody>
      </p:sp>
      <p:sp>
        <p:nvSpPr>
          <p:cNvPr id="10" name="Shape 7"/>
          <p:cNvSpPr/>
          <p:nvPr/>
        </p:nvSpPr>
        <p:spPr>
          <a:xfrm>
            <a:off x="8641080" y="4005072"/>
            <a:ext cx="2788920" cy="0"/>
          </a:xfrm>
          <a:prstGeom prst="line">
            <a:avLst/>
          </a:prstGeom>
          <a:noFill/>
          <a:ln w="12700">
            <a:solidFill>
              <a:srgbClr val="3550EE"/>
            </a:solidFill>
            <a:prstDash val="solid"/>
          </a:ln>
        </p:spPr>
      </p:sp>
      <p:sp>
        <p:nvSpPr>
          <p:cNvPr id="11" name="Text 8"/>
          <p:cNvSpPr/>
          <p:nvPr/>
        </p:nvSpPr>
        <p:spPr>
          <a:xfrm>
            <a:off x="8641080" y="4160520"/>
            <a:ext cx="2788920" cy="1280160"/>
          </a:xfrm>
          <a:prstGeom prst="rect">
            <a:avLst/>
          </a:prstGeom>
          <a:noFill/>
          <a:ln/>
        </p:spPr>
        <p:txBody>
          <a:bodyPr wrap="square" lIns="0" tIns="0" rIns="0" bIns="0" rtlCol="0" anchor="t"/>
          <a:lstStyle/>
          <a:p>
            <a:pPr algn="l" indent="0" marL="0">
              <a:buNone/>
            </a:pPr>
            <a:r>
              <a:rPr lang="en-US" sz="1250" dirty="0">
                <a:solidFill>
                  <a:srgbClr val="CADCFC"/>
                </a:solidFill>
                <a:latin typeface="Calibri" pitchFamily="34" charset="0"/>
                <a:ea typeface="Calibri" pitchFamily="34" charset="-122"/>
                <a:cs typeface="Calibri" pitchFamily="34" charset="-120"/>
              </a:rPr>
              <a:t>The 10% partner share is not charged on top-ups, so credit sales carry the fattest margin of any revenue line.</a:t>
            </a:r>
            <a:endParaRPr lang="en-US" sz="1250" dirty="0"/>
          </a:p>
        </p:txBody>
      </p:sp>
      <p:sp>
        <p:nvSpPr>
          <p:cNvPr id="12" name="Text 9"/>
          <p:cNvSpPr/>
          <p:nvPr/>
        </p:nvSpPr>
        <p:spPr>
          <a:xfrm>
            <a:off x="548640" y="58521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Cost = AI inference + Stripe (3% + RM1 on each credit's minimum top-up: 10 / 10 / 10 / 50 / 10). Prices stored as USD cents, shown in MYR.</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CUSTOM LICENSING</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Enterprise pricing</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50" dirty="0">
                <a:solidFill>
                  <a:srgbClr val="4A5568"/>
                </a:solidFill>
                <a:latin typeface="Calibri" pitchFamily="34" charset="0"/>
                <a:ea typeface="Calibri" pitchFamily="34" charset="-122"/>
                <a:cs typeface="Calibri" pitchFamily="34" charset="-120"/>
              </a:rPr>
              <a:t>Enterprise is a custom annual licence, floored at RM30,000 / mo and scaled by volume. The customer runs AI on its own account, so we license the platform, compliance and support, not usage.</a:t>
            </a:r>
            <a:endParaRPr lang="en-US" sz="1350" dirty="0"/>
          </a:p>
        </p:txBody>
      </p:sp>
      <p:sp>
        <p:nvSpPr>
          <p:cNvPr id="5" name="Shape 3"/>
          <p:cNvSpPr/>
          <p:nvPr/>
        </p:nvSpPr>
        <p:spPr>
          <a:xfrm>
            <a:off x="594360" y="2167128"/>
            <a:ext cx="384048" cy="384048"/>
          </a:xfrm>
          <a:prstGeom prst="ellipse">
            <a:avLst/>
          </a:prstGeom>
          <a:solidFill>
            <a:srgbClr val="0B2AE0"/>
          </a:solidFill>
          <a:ln/>
        </p:spPr>
      </p:sp>
      <p:sp>
        <p:nvSpPr>
          <p:cNvPr id="6" name="Text 4"/>
          <p:cNvSpPr/>
          <p:nvPr/>
        </p:nvSpPr>
        <p:spPr>
          <a:xfrm>
            <a:off x="594360" y="21579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143000" y="2103120"/>
            <a:ext cx="5943600" cy="274320"/>
          </a:xfrm>
          <a:prstGeom prst="rect">
            <a:avLst/>
          </a:prstGeom>
          <a:noFill/>
          <a:ln/>
        </p:spPr>
        <p:txBody>
          <a:bodyPr wrap="square" lIns="0" tIns="0" rIns="0" bIns="0" rtlCol="0" anchor="ctr"/>
          <a:lstStyle/>
          <a:p>
            <a:pPr algn="l" indent="0" marL="0">
              <a:buNone/>
            </a:pPr>
            <a:r>
              <a:rPr lang="en-US" sz="1450" b="1" dirty="0">
                <a:solidFill>
                  <a:srgbClr val="12132A"/>
                </a:solidFill>
                <a:latin typeface="Calibri" pitchFamily="34" charset="0"/>
                <a:ea typeface="Calibri" pitchFamily="34" charset="-122"/>
                <a:cs typeface="Calibri" pitchFamily="34" charset="-120"/>
              </a:rPr>
              <a:t>Floor</a:t>
            </a:r>
            <a:endParaRPr lang="en-US" sz="1450" dirty="0"/>
          </a:p>
        </p:txBody>
      </p:sp>
      <p:sp>
        <p:nvSpPr>
          <p:cNvPr id="8" name="Text 6"/>
          <p:cNvSpPr/>
          <p:nvPr/>
        </p:nvSpPr>
        <p:spPr>
          <a:xfrm>
            <a:off x="1143000" y="2404872"/>
            <a:ext cx="5943600" cy="5029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RM30,000 / mo (RM360k / yr), annual commitment.</a:t>
            </a:r>
            <a:endParaRPr lang="en-US" sz="1200" dirty="0"/>
          </a:p>
        </p:txBody>
      </p:sp>
      <p:sp>
        <p:nvSpPr>
          <p:cNvPr id="9" name="Shape 7"/>
          <p:cNvSpPr/>
          <p:nvPr/>
        </p:nvSpPr>
        <p:spPr>
          <a:xfrm>
            <a:off x="594360" y="3035808"/>
            <a:ext cx="384048" cy="384048"/>
          </a:xfrm>
          <a:prstGeom prst="ellipse">
            <a:avLst/>
          </a:prstGeom>
          <a:solidFill>
            <a:srgbClr val="0B2AE0"/>
          </a:solidFill>
          <a:ln/>
        </p:spPr>
      </p:sp>
      <p:sp>
        <p:nvSpPr>
          <p:cNvPr id="10" name="Text 8"/>
          <p:cNvSpPr/>
          <p:nvPr/>
        </p:nvSpPr>
        <p:spPr>
          <a:xfrm>
            <a:off x="594360" y="30266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143000" y="2971800"/>
            <a:ext cx="5943600" cy="274320"/>
          </a:xfrm>
          <a:prstGeom prst="rect">
            <a:avLst/>
          </a:prstGeom>
          <a:noFill/>
          <a:ln/>
        </p:spPr>
        <p:txBody>
          <a:bodyPr wrap="square" lIns="0" tIns="0" rIns="0" bIns="0" rtlCol="0" anchor="ctr"/>
          <a:lstStyle/>
          <a:p>
            <a:pPr algn="l" indent="0" marL="0">
              <a:buNone/>
            </a:pPr>
            <a:r>
              <a:rPr lang="en-US" sz="1450" b="1" dirty="0">
                <a:solidFill>
                  <a:srgbClr val="12132A"/>
                </a:solidFill>
                <a:latin typeface="Calibri" pitchFamily="34" charset="0"/>
                <a:ea typeface="Calibri" pitchFamily="34" charset="-122"/>
                <a:cs typeface="Calibri" pitchFamily="34" charset="-120"/>
              </a:rPr>
              <a:t>Scales by volume</a:t>
            </a:r>
            <a:endParaRPr lang="en-US" sz="1450" dirty="0"/>
          </a:p>
        </p:txBody>
      </p:sp>
      <p:sp>
        <p:nvSpPr>
          <p:cNvPr id="12" name="Text 10"/>
          <p:cNvSpPr/>
          <p:nvPr/>
        </p:nvSpPr>
        <p:spPr>
          <a:xfrm>
            <a:off x="1143000" y="3273552"/>
            <a:ext cx="5943600" cy="5029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Open roles / annual hires, hiring seats, number of entities &amp; regions.</a:t>
            </a:r>
            <a:endParaRPr lang="en-US" sz="1200" dirty="0"/>
          </a:p>
        </p:txBody>
      </p:sp>
      <p:sp>
        <p:nvSpPr>
          <p:cNvPr id="13" name="Shape 11"/>
          <p:cNvSpPr/>
          <p:nvPr/>
        </p:nvSpPr>
        <p:spPr>
          <a:xfrm>
            <a:off x="594360" y="3904488"/>
            <a:ext cx="384048" cy="384048"/>
          </a:xfrm>
          <a:prstGeom prst="ellipse">
            <a:avLst/>
          </a:prstGeom>
          <a:solidFill>
            <a:srgbClr val="0B2AE0"/>
          </a:solidFill>
          <a:ln/>
        </p:spPr>
      </p:sp>
      <p:sp>
        <p:nvSpPr>
          <p:cNvPr id="14" name="Text 12"/>
          <p:cNvSpPr/>
          <p:nvPr/>
        </p:nvSpPr>
        <p:spPr>
          <a:xfrm>
            <a:off x="594360" y="38953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143000" y="3840480"/>
            <a:ext cx="5943600" cy="274320"/>
          </a:xfrm>
          <a:prstGeom prst="rect">
            <a:avLst/>
          </a:prstGeom>
          <a:noFill/>
          <a:ln/>
        </p:spPr>
        <p:txBody>
          <a:bodyPr wrap="square" lIns="0" tIns="0" rIns="0" bIns="0" rtlCol="0" anchor="ctr"/>
          <a:lstStyle/>
          <a:p>
            <a:pPr algn="l" indent="0" marL="0">
              <a:buNone/>
            </a:pPr>
            <a:r>
              <a:rPr lang="en-US" sz="1450" b="1" dirty="0">
                <a:solidFill>
                  <a:srgbClr val="12132A"/>
                </a:solidFill>
                <a:latin typeface="Calibri" pitchFamily="34" charset="0"/>
                <a:ea typeface="Calibri" pitchFamily="34" charset="-122"/>
                <a:cs typeface="Calibri" pitchFamily="34" charset="-120"/>
              </a:rPr>
              <a:t>Included</a:t>
            </a:r>
            <a:endParaRPr lang="en-US" sz="1450" dirty="0"/>
          </a:p>
        </p:txBody>
      </p:sp>
      <p:sp>
        <p:nvSpPr>
          <p:cNvPr id="16" name="Text 14"/>
          <p:cNvSpPr/>
          <p:nvPr/>
        </p:nvSpPr>
        <p:spPr>
          <a:xfrm>
            <a:off x="1143000" y="4142232"/>
            <a:ext cx="5943600" cy="5029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Unlimited jobs &amp; seats, SSO, audit logs, white-label career site, dedicated CSM + SLA.</a:t>
            </a:r>
            <a:endParaRPr lang="en-US" sz="1200" dirty="0"/>
          </a:p>
        </p:txBody>
      </p:sp>
      <p:sp>
        <p:nvSpPr>
          <p:cNvPr id="17" name="Shape 15"/>
          <p:cNvSpPr/>
          <p:nvPr/>
        </p:nvSpPr>
        <p:spPr>
          <a:xfrm>
            <a:off x="594360" y="4773168"/>
            <a:ext cx="384048" cy="384048"/>
          </a:xfrm>
          <a:prstGeom prst="ellipse">
            <a:avLst/>
          </a:prstGeom>
          <a:solidFill>
            <a:srgbClr val="0B2AE0"/>
          </a:solidFill>
          <a:ln/>
        </p:spPr>
      </p:sp>
      <p:sp>
        <p:nvSpPr>
          <p:cNvPr id="18" name="Text 16"/>
          <p:cNvSpPr/>
          <p:nvPr/>
        </p:nvSpPr>
        <p:spPr>
          <a:xfrm>
            <a:off x="594360" y="4764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143000" y="4709160"/>
            <a:ext cx="5943600" cy="274320"/>
          </a:xfrm>
          <a:prstGeom prst="rect">
            <a:avLst/>
          </a:prstGeom>
          <a:noFill/>
          <a:ln/>
        </p:spPr>
        <p:txBody>
          <a:bodyPr wrap="square" lIns="0" tIns="0" rIns="0" bIns="0" rtlCol="0" anchor="ctr"/>
          <a:lstStyle/>
          <a:p>
            <a:pPr algn="l" indent="0" marL="0">
              <a:buNone/>
            </a:pPr>
            <a:r>
              <a:rPr lang="en-US" sz="1450" b="1" dirty="0">
                <a:solidFill>
                  <a:srgbClr val="12132A"/>
                </a:solidFill>
                <a:latin typeface="Calibri" pitchFamily="34" charset="0"/>
                <a:ea typeface="Calibri" pitchFamily="34" charset="-122"/>
                <a:cs typeface="Calibri" pitchFamily="34" charset="-120"/>
              </a:rPr>
              <a:t>Own AI account</a:t>
            </a:r>
            <a:endParaRPr lang="en-US" sz="1450" dirty="0"/>
          </a:p>
        </p:txBody>
      </p:sp>
      <p:sp>
        <p:nvSpPr>
          <p:cNvPr id="20" name="Text 18"/>
          <p:cNvSpPr/>
          <p:nvPr/>
        </p:nvSpPr>
        <p:spPr>
          <a:xfrm>
            <a:off x="1143000" y="5010912"/>
            <a:ext cx="5943600" cy="5029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AI billed directly to the customer by Anthropic, so no AI COGS to Aster.</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52360" y="2148840"/>
          <a:ext cx="4187952" cy="914400"/>
        </p:xfrm>
        <a:graphic>
          <a:graphicData uri="http://schemas.openxmlformats.org/drawingml/2006/table">
            <a:tbl>
              <a:tblPr/>
              <a:tblGrid>
                <a:gridCol w="2907792"/>
                <a:gridCol w="12801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Licence / mo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502920">
                <a:tc>
                  <a:txBody>
                    <a:bodyPr/>
                    <a:lstStyle/>
                    <a:p>
                      <a:pPr algn="l" indent="0" marL="0">
                        <a:buNone/>
                      </a:pPr>
                      <a:r>
                        <a:rPr lang="en-US" sz="1150" dirty="0">
                          <a:solidFill>
                            <a:srgbClr val="12132A"/>
                          </a:solidFill>
                          <a:latin typeface="Calibri" pitchFamily="34" charset="0"/>
                          <a:ea typeface="Calibri" pitchFamily="34" charset="-122"/>
                          <a:cs typeface="Calibri" pitchFamily="34" charset="-120"/>
                        </a:rPr>
                        <a:t>Standard — 1 entity, ≤ ~50 roles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B2AE0"/>
                          </a:solidFill>
                          <a:latin typeface="Calibri" pitchFamily="34" charset="0"/>
                          <a:ea typeface="Calibri" pitchFamily="34" charset="-122"/>
                          <a:cs typeface="Calibri" pitchFamily="34" charset="-120"/>
                        </a:rPr>
                        <a:t>RM30k</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12132A"/>
                          </a:solidFill>
                          <a:latin typeface="Calibri" pitchFamily="34" charset="0"/>
                          <a:ea typeface="Calibri" pitchFamily="34" charset="-122"/>
                          <a:cs typeface="Calibri" pitchFamily="34" charset="-120"/>
                        </a:rPr>
                        <a:t>Growth — multi-team, ≤ ~150 roles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150" b="1" dirty="0">
                          <a:solidFill>
                            <a:srgbClr val="0B2AE0"/>
                          </a:solidFill>
                          <a:latin typeface="Calibri" pitchFamily="34" charset="0"/>
                          <a:ea typeface="Calibri" pitchFamily="34" charset="-122"/>
                          <a:cs typeface="Calibri" pitchFamily="34" charset="-120"/>
                        </a:rPr>
                        <a:t>RM45–60k</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150" dirty="0">
                          <a:solidFill>
                            <a:srgbClr val="12132A"/>
                          </a:solidFill>
                          <a:latin typeface="Calibri" pitchFamily="34" charset="0"/>
                          <a:ea typeface="Calibri" pitchFamily="34" charset="-122"/>
                          <a:cs typeface="Calibri" pitchFamily="34" charset="-120"/>
                        </a:rPr>
                        <a:t>Group — multi-entity, 250+ roles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B2AE0"/>
                          </a:solidFill>
                          <a:latin typeface="Calibri" pitchFamily="34" charset="0"/>
                          <a:ea typeface="Calibri" pitchFamily="34" charset="-122"/>
                          <a:cs typeface="Calibri" pitchFamily="34" charset="-120"/>
                        </a:rPr>
                        <a:t>RM75k+</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22" name="Shape 19"/>
          <p:cNvSpPr/>
          <p:nvPr/>
        </p:nvSpPr>
        <p:spPr>
          <a:xfrm>
            <a:off x="7452360" y="4297680"/>
            <a:ext cx="4187952" cy="1417320"/>
          </a:xfrm>
          <a:prstGeom prst="roundRect">
            <a:avLst>
              <a:gd name="adj" fmla="val 7742"/>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23" name="Text 20"/>
          <p:cNvSpPr/>
          <p:nvPr/>
        </p:nvSpPr>
        <p:spPr>
          <a:xfrm>
            <a:off x="7680960" y="4480560"/>
            <a:ext cx="3749040" cy="411480"/>
          </a:xfrm>
          <a:prstGeom prst="rect">
            <a:avLst/>
          </a:prstGeom>
          <a:noFill/>
          <a:ln/>
        </p:spPr>
        <p:txBody>
          <a:bodyPr wrap="square" lIns="0" tIns="0" rIns="0" bIns="0" rtlCol="0" anchor="ctr"/>
          <a:lstStyle/>
          <a:p>
            <a:pPr algn="l" indent="0" marL="0">
              <a:buNone/>
            </a:pPr>
            <a:r>
              <a:rPr lang="en-US" sz="1700" b="1" dirty="0">
                <a:solidFill>
                  <a:srgbClr val="166534"/>
                </a:solidFill>
                <a:latin typeface="Calibri" pitchFamily="34" charset="0"/>
                <a:ea typeface="Calibri" pitchFamily="34" charset="-122"/>
                <a:cs typeface="Calibri" pitchFamily="34" charset="-120"/>
              </a:rPr>
              <a:t>~75–85% gross margin</a:t>
            </a:r>
            <a:endParaRPr lang="en-US" sz="1700" dirty="0"/>
          </a:p>
        </p:txBody>
      </p:sp>
      <p:sp>
        <p:nvSpPr>
          <p:cNvPr id="24" name="Text 21"/>
          <p:cNvSpPr/>
          <p:nvPr/>
        </p:nvSpPr>
        <p:spPr>
          <a:xfrm>
            <a:off x="7680960" y="4919472"/>
            <a:ext cx="3749040" cy="73152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No AI COGS (customer's own account). The main cost is dedicated support, so the licence is near-pure margin.</a:t>
            </a:r>
            <a:endParaRPr lang="en-US" sz="1200" dirty="0"/>
          </a:p>
        </p:txBody>
      </p:sp>
      <p:sp>
        <p:nvSpPr>
          <p:cNvPr id="25" name="Text 22"/>
          <p:cNvSpPr/>
          <p:nvPr/>
        </p:nvSpPr>
        <p:spPr>
          <a:xfrm>
            <a:off x="548640" y="6035040"/>
            <a:ext cx="1106424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Floor and bands are internal targets for negotiation; the customer-facing plan stays "custom / contact sales". Partner share (10%) applies only if the deal comes through a channel partner.</a:t>
            </a:r>
            <a:endParaRPr lang="en-US" sz="1000" dirty="0"/>
          </a:p>
        </p:txBody>
      </p:sp>
      <p:sp>
        <p:nvSpPr>
          <p:cNvPr id="26" name="Text 2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27" name="Text 2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RM67,900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RM178,785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RM438,540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 of SMB)</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RM5,685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RM13,318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RM29,781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RM73,585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RM192,103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RM468,321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RM883K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RM2.31M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RM5.62M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RM2.31M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218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RM881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~68%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modelled at the RM30k/mo floor (slide 12); Enterprise buys no credit top-ups (own AI), so uplift is 15% of SMB subscription only. ARR is gross; the 10% partner share sits in the plan margins on slide 10.</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(RM99 / RM599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Enterprise floor (RM30k/mo) and volume bands on slide 12.</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2026-08-11T03:22:04Z</dcterms:created>
  <dcterms:modified xsi:type="dcterms:W3CDTF">2026-08-11T03:22:04Z</dcterms:modified>
</cp:coreProperties>
</file>