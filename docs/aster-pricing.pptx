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pic>
        <p:nvPicPr>
          <p:cNvPr id="4" name="Image 0" descr="preencoded.png">    </p:cNvPr>
          <p:cNvPicPr>
            <a:picLocks noChangeAspect="1"/>
          </p:cNvPicPr>
          <p:nvPr/>
        </p:nvPicPr>
        <p:blipFill>
          <a:blip r:embed="rId1"/>
          <a:stretch>
            <a:fillRect/>
          </a:stretch>
        </p:blipFill>
        <p:spPr>
          <a:xfrm>
            <a:off x="777240" y="566928"/>
            <a:ext cx="2148840" cy="519303"/>
          </a:xfrm>
          <a:prstGeom prst="rect">
            <a:avLst/>
          </a:prstGeom>
        </p:spPr>
      </p:pic>
      <p:sp>
        <p:nvSpPr>
          <p:cNvPr id="5" name="Text 2"/>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6" name="Text 3"/>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pricing proposal: tiers, credit economics, and margins</a:t>
            </a:r>
            <a:endParaRPr lang="en-US" sz="2000" dirty="0"/>
          </a:p>
        </p:txBody>
      </p:sp>
      <p:sp>
        <p:nvSpPr>
          <p:cNvPr id="7" name="Shape 4"/>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8" name="Text 5"/>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9" name="Shape 6"/>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0" name="Text 7"/>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1" name="Shape 8"/>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2" name="Text 9"/>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3" name="Text 10"/>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56–61%</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all-in gross margin per plan*</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70–97%</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4–5×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RM4.09 / RM1.64 / RM2.05 per action against an AI cost of a few sen.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88136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All-in = AI + email + video + payment fees + platform share (slide 10), at typical usage. From published provider pricing; confirm with live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All prices in Malaysian Ringgit (MYR), the workspace default.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RM83 / mo on annual</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RM990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RM599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0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RM499 / mo on annual</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RM5,990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RM1,399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RM1,166 / mo on annual</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RM13,990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Custom solution</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Tailored pricing</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on every tier, including Enterprise, so drafting is pure add-on revenue.</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4–5×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4.8×</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RM474</a:t>
            </a:r>
            <a:endParaRPr lang="en-US" sz="28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RM99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4.2×</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RM2,511</a:t>
            </a:r>
            <a:endParaRPr lang="en-US" sz="28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RM599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3.8×</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RM5,317</a:t>
            </a:r>
            <a:endParaRPr lang="en-US" sz="28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RM1,399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(RM4.09 screening · RM1.64 AI Rank / Insight / Questions).</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749040"/>
                <a:gridCol w="201168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Credit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List price (MYR)</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Applicant / resume screening</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RM4.09</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Rank</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Insight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Interview questions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Job draft (Opus)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RM2.05</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price  =  base USD  ×  FX rate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33172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10058400" y="2331720"/>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71576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10058400" y="2715768"/>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309981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 / Enterprise</a:t>
            </a:r>
            <a:endParaRPr lang="en-US" sz="1300" dirty="0"/>
          </a:p>
        </p:txBody>
      </p:sp>
      <p:sp>
        <p:nvSpPr>
          <p:cNvPr id="15" name="Text 12"/>
          <p:cNvSpPr/>
          <p:nvPr/>
        </p:nvSpPr>
        <p:spPr>
          <a:xfrm>
            <a:off x="10058400" y="3099816"/>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Shape 13"/>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7" name="Text 14"/>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18" name="Text 15"/>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19" name="Text 16"/>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0" name="Text 17"/>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1" name="Text 18"/>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2" name="Text 19"/>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3" name="Text 20"/>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4" name="Text 21"/>
          <p:cNvSpPr/>
          <p:nvPr/>
        </p:nvSpPr>
        <p:spPr>
          <a:xfrm>
            <a:off x="548640" y="6035040"/>
            <a:ext cx="1106424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Top-ups are sold in a minimum of 20 credits, billed as one Stripe charge. That processing fee is folded into the credit margins on slide 11.</a:t>
            </a:r>
            <a:endParaRPr lang="en-US" sz="1000" dirty="0"/>
          </a:p>
        </p:txBody>
      </p:sp>
      <p:sp>
        <p:nvSpPr>
          <p:cNvPr id="25"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26"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7635240" cy="914400"/>
        </p:xfrm>
        <a:graphic>
          <a:graphicData uri="http://schemas.openxmlformats.org/drawingml/2006/table">
            <a:tbl>
              <a:tblPr/>
              <a:tblGrid>
                <a:gridCol w="2286000"/>
                <a:gridCol w="960120"/>
                <a:gridCol w="914400"/>
                <a:gridCol w="1097280"/>
                <a:gridCol w="1005840"/>
                <a:gridCol w="137160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RM4.09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~RM0.16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~RM0.57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Insight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~RM0.16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~RM0.57</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RM4.09</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86% even in the worst case.</a:t>
            </a:r>
            <a:endParaRPr lang="en-US" sz="1250" dirty="0"/>
          </a:p>
        </p:txBody>
      </p:sp>
      <p:sp>
        <p:nvSpPr>
          <p:cNvPr id="10" name="Shape 7"/>
          <p:cNvSpPr/>
          <p:nvPr/>
        </p:nvSpPr>
        <p:spPr>
          <a:xfrm>
            <a:off x="548640" y="4956048"/>
            <a:ext cx="7635240" cy="749808"/>
          </a:xfrm>
          <a:prstGeom prst="roundRect">
            <a:avLst>
              <a:gd name="adj" fmla="val 1463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1" name="Text 8"/>
          <p:cNvSpPr/>
          <p:nvPr/>
        </p:nvSpPr>
        <p:spPr>
          <a:xfrm>
            <a:off x="777240" y="4956048"/>
            <a:ext cx="7178040" cy="749808"/>
          </a:xfrm>
          <a:prstGeom prst="rect">
            <a:avLst/>
          </a:prstGeom>
          <a:noFill/>
          <a:ln/>
        </p:spPr>
        <p:txBody>
          <a:bodyPr wrap="square" lIns="0" tIns="0" rIns="0" bIns="0" rtlCol="0" anchor="ctr"/>
          <a:lstStyle/>
          <a:p>
            <a:pPr algn="l" indent="0" marL="0">
              <a:buNone/>
            </a:pPr>
            <a:r>
              <a:rPr lang="en-US" sz="1150" b="1" dirty="0">
                <a:solidFill>
                  <a:srgbClr val="0B2AE0"/>
                </a:solidFill>
                <a:latin typeface="Calibri" pitchFamily="34" charset="0"/>
                <a:ea typeface="Calibri" pitchFamily="34" charset="-122"/>
                <a:cs typeface="Calibri" pitchFamily="34" charset="-120"/>
              </a:rPr>
              <a:t>How AI Rank is metered:  </a:t>
            </a:r>
            <a:pPr algn="l" indent="0" marL="0">
              <a:buNone/>
            </a:pPr>
            <a:r>
              <a:rPr lang="en-US" sz="1150" dirty="0">
                <a:solidFill>
                  <a:srgbClr val="4A5568"/>
                </a:solidFill>
                <a:latin typeface="Calibri" pitchFamily="34" charset="0"/>
                <a:ea typeface="Calibri" pitchFamily="34" charset="-122"/>
                <a:cs typeface="Calibri" pitchFamily="34" charset="-120"/>
              </a:rPr>
              <a:t>1 credit per 10 candidates (50 in Candidate Search). Re-ranking re-scores the whole pool as one Claude call, so it re-charges by batch size, 11 candidates = 2 credits. One call covers a batch, so margin rises with batch size.</a:t>
            </a:r>
            <a:endParaRPr lang="en-US" sz="1150" dirty="0"/>
          </a:p>
        </p:txBody>
      </p:sp>
      <p:sp>
        <p:nvSpPr>
          <p:cNvPr id="12" name="Text 9"/>
          <p:cNvSpPr/>
          <p:nvPr/>
        </p:nvSpPr>
        <p:spPr>
          <a:xfrm>
            <a:off x="548640" y="585216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Claude API is billed in USD (Sonnet 5 $3/$15, Opus 5 $5/$25, Haiku 4.5 $1/$5 per 1M tokens), converted here at RM4.09/USD. Web search ≈ RM0.04 per lookup. Sonnet's intro $2/$10 rate (through 31 Aug) is a near-term tailwind; a weaker ringgit is a risk (see slide 13).</a:t>
            </a:r>
            <a:endParaRPr lang="en-US" sz="1000" dirty="0"/>
          </a:p>
        </p:txBody>
      </p:sp>
      <p:sp>
        <p:nvSpPr>
          <p:cNvPr id="13" name="Text 10"/>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4" name="Text 11"/>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WHAT IT COSTS TO RUN A WORKSPACE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full cost stack</a:t>
            </a:r>
            <a:endParaRPr lang="en-US" sz="3400" dirty="0"/>
          </a:p>
        </p:txBody>
      </p:sp>
      <p:sp>
        <p:nvSpPr>
          <p:cNvPr id="4" name="Text 2"/>
          <p:cNvSpPr/>
          <p:nvPr/>
        </p:nvSpPr>
        <p:spPr>
          <a:xfrm>
            <a:off x="548640" y="1463040"/>
            <a:ext cx="1106424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Every workspace draws on a handful of paid services. All are Aster's cost except WhatsApp, which runs on the customer's own Meta account.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7863840" cy="914400"/>
        </p:xfrm>
        <a:graphic>
          <a:graphicData uri="http://schemas.openxmlformats.org/drawingml/2006/table">
            <a:tbl>
              <a:tblPr/>
              <a:tblGrid>
                <a:gridCol w="2194560"/>
                <a:gridCol w="1783080"/>
                <a:gridCol w="2514600"/>
                <a:gridCol w="1371600"/>
              </a:tblGrid>
              <a:tr h="402336">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driver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Provider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Who pays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AI inference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Anthropic (Claude)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Per action, from tokens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Transactional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Resend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 RM0.004 /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Video interviews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Daily.co</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RM0.016 / participant-min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Database + file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Supabase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 base +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Hosting / CDN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Vercel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Payment processing</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Stripe (Malaysia)</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3% + RM1 / charge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Partner revenue share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Channel partner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10% of each sale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WhatsApp reminders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Meta Cloud API</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Customer's own account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b="1" dirty="0">
                          <a:solidFill>
                            <a:srgbClr val="16A34A"/>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6" name="Shape 3"/>
          <p:cNvSpPr/>
          <p:nvPr/>
        </p:nvSpPr>
        <p:spPr>
          <a:xfrm>
            <a:off x="8595360" y="2011680"/>
            <a:ext cx="3044952" cy="1691640"/>
          </a:xfrm>
          <a:prstGeom prst="roundRect">
            <a:avLst>
              <a:gd name="adj" fmla="val 6486"/>
            </a:avLst>
          </a:prstGeom>
          <a:solidFill>
            <a:srgbClr val="DCFCE7"/>
          </a:solidFill>
          <a:ln w="12700">
            <a:solidFill>
              <a:srgbClr val="BBE6C6"/>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823960" y="2212848"/>
            <a:ext cx="2606040" cy="548640"/>
          </a:xfrm>
          <a:prstGeom prst="rect">
            <a:avLst/>
          </a:prstGeom>
          <a:noFill/>
          <a:ln/>
        </p:spPr>
        <p:txBody>
          <a:bodyPr wrap="square" lIns="0" tIns="0" rIns="0" bIns="0" rtlCol="0" anchor="ctr"/>
          <a:lstStyle/>
          <a:p>
            <a:pPr algn="l" indent="0" marL="0">
              <a:buNone/>
            </a:pPr>
            <a:r>
              <a:rPr lang="en-US" sz="1500" b="1" dirty="0">
                <a:solidFill>
                  <a:srgbClr val="166534"/>
                </a:solidFill>
                <a:latin typeface="Calibri" pitchFamily="34" charset="0"/>
                <a:ea typeface="Calibri" pitchFamily="34" charset="-122"/>
                <a:cs typeface="Calibri" pitchFamily="34" charset="-120"/>
              </a:rPr>
              <a:t>WhatsApp: billed to customer</a:t>
            </a:r>
            <a:endParaRPr lang="en-US" sz="1500" dirty="0"/>
          </a:p>
        </p:txBody>
      </p:sp>
      <p:sp>
        <p:nvSpPr>
          <p:cNvPr id="8" name="Text 5"/>
          <p:cNvSpPr/>
          <p:nvPr/>
        </p:nvSpPr>
        <p:spPr>
          <a:xfrm>
            <a:off x="8823960" y="2761488"/>
            <a:ext cx="2606040" cy="822960"/>
          </a:xfrm>
          <a:prstGeom prst="rect">
            <a:avLst/>
          </a:prstGeom>
          <a:noFill/>
          <a:ln/>
        </p:spPr>
        <p:txBody>
          <a:bodyPr wrap="square" lIns="0" tIns="0" rIns="0" bIns="0" rtlCol="0" anchor="ctr"/>
          <a:lstStyle/>
          <a:p>
            <a:pPr algn="l" indent="0" marL="0">
              <a:buNone/>
            </a:pPr>
            <a:r>
              <a:rPr lang="en-US" sz="1200" dirty="0">
                <a:solidFill>
                  <a:srgbClr val="1E6B3A"/>
                </a:solidFill>
                <a:latin typeface="Calibri" pitchFamily="34" charset="0"/>
                <a:ea typeface="Calibri" pitchFamily="34" charset="-122"/>
                <a:cs typeface="Calibri" pitchFamily="34" charset="-120"/>
              </a:rPr>
              <a:t>Customers connect their own WhatsApp Business account and pay Meta directly, so reminder volume never lands on our bill.</a:t>
            </a:r>
            <a:endParaRPr lang="en-US" sz="1200" dirty="0"/>
          </a:p>
        </p:txBody>
      </p:sp>
      <p:sp>
        <p:nvSpPr>
          <p:cNvPr id="9" name="Shape 6"/>
          <p:cNvSpPr/>
          <p:nvPr/>
        </p:nvSpPr>
        <p:spPr>
          <a:xfrm>
            <a:off x="8595360" y="3886200"/>
            <a:ext cx="3044952" cy="1783080"/>
          </a:xfrm>
          <a:prstGeom prst="roundRect">
            <a:avLst>
              <a:gd name="adj" fmla="val 615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823960" y="4087368"/>
            <a:ext cx="260604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Fixed platform cost</a:t>
            </a:r>
            <a:endParaRPr lang="en-US" sz="1400" dirty="0"/>
          </a:p>
        </p:txBody>
      </p:sp>
      <p:sp>
        <p:nvSpPr>
          <p:cNvPr id="11" name="Text 8"/>
          <p:cNvSpPr/>
          <p:nvPr/>
        </p:nvSpPr>
        <p:spPr>
          <a:xfrm>
            <a:off x="8823960" y="4389120"/>
            <a:ext cx="2606040" cy="457200"/>
          </a:xfrm>
          <a:prstGeom prst="rect">
            <a:avLst/>
          </a:prstGeom>
          <a:noFill/>
          <a:ln/>
        </p:spPr>
        <p:txBody>
          <a:bodyPr wrap="square" lIns="0" tIns="0" rIns="0" bIns="0" rtlCol="0" anchor="ctr"/>
          <a:lstStyle/>
          <a:p>
            <a:pPr algn="l" indent="0" marL="0">
              <a:buNone/>
            </a:pPr>
            <a:r>
              <a:rPr lang="en-US" sz="2400" b="1" dirty="0">
                <a:solidFill>
                  <a:srgbClr val="0B2AE0"/>
                </a:solidFill>
                <a:latin typeface="Calibri" pitchFamily="34" charset="0"/>
                <a:ea typeface="Calibri" pitchFamily="34" charset="-122"/>
                <a:cs typeface="Calibri" pitchFamily="34" charset="-120"/>
              </a:rPr>
              <a:t>≈ RM270 / mo</a:t>
            </a:r>
            <a:endParaRPr lang="en-US" sz="2400" dirty="0"/>
          </a:p>
        </p:txBody>
      </p:sp>
      <p:sp>
        <p:nvSpPr>
          <p:cNvPr id="12" name="Text 9"/>
          <p:cNvSpPr/>
          <p:nvPr/>
        </p:nvSpPr>
        <p:spPr>
          <a:xfrm>
            <a:off x="8823960" y="4864608"/>
            <a:ext cx="2606040" cy="77724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Supabase Pro + Vercel + Resend base, shared across every workspace. Per-company overhead shrinks toward zero as you grow.</a:t>
            </a:r>
            <a:endParaRPr lang="en-US" sz="1100" dirty="0"/>
          </a:p>
        </p:txBody>
      </p:sp>
      <p:sp>
        <p:nvSpPr>
          <p:cNvPr id="13" name="Text 10"/>
          <p:cNvSpPr/>
          <p:nvPr/>
        </p:nvSpPr>
        <p:spPr>
          <a:xfrm>
            <a:off x="548640" y="5943600"/>
            <a:ext cx="11064240" cy="45720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Provider list prices (Aug 2026): Resend Pro $20/50K emails then $0.90/1K · Daily.co $0.004/participant-min after 10K free · Supabase Pro $25 · Stripe MY 3% + RM1. Converted at RM4.09/USD.</a:t>
            </a:r>
            <a:endParaRPr lang="en-US" sz="950" dirty="0"/>
          </a:p>
        </p:txBody>
      </p:sp>
      <p:sp>
        <p:nvSpPr>
          <p:cNvPr id="14" name="Text 1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5" name="Text 1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ALL-IN 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Cost to serve, per company / month</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7680960" cy="914400"/>
        </p:xfrm>
        <a:graphic>
          <a:graphicData uri="http://schemas.openxmlformats.org/drawingml/2006/table">
            <a:tbl>
              <a:tblPr/>
              <a:tblGrid>
                <a:gridCol w="2743200"/>
                <a:gridCol w="1645920"/>
                <a:gridCol w="1645920"/>
                <a:gridCol w="1645920"/>
              </a:tblGrid>
              <a:tr h="384048">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line / mo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Launch</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Elite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inference (typical)</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Email (Resend)</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RM3.00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Video (Daily.co)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Payment fee (Stripe)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Partner share (10%)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RM140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Platform share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WhatsApp (billed to 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Total cost to serve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RM44</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RM231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RM541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Plan price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RM599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RM1,399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All-in gross margin</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56%</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61%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61%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412480" y="1874520"/>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641080" y="200253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7" name="Text 4"/>
          <p:cNvSpPr/>
          <p:nvPr/>
        </p:nvSpPr>
        <p:spPr>
          <a:xfrm>
            <a:off x="8641080" y="2404872"/>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8" name="Text 5"/>
          <p:cNvSpPr/>
          <p:nvPr/>
        </p:nvSpPr>
        <p:spPr>
          <a:xfrm>
            <a:off x="10314432" y="2093976"/>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56%</a:t>
            </a:r>
            <a:endParaRPr lang="en-US" sz="3000" dirty="0"/>
          </a:p>
        </p:txBody>
      </p:sp>
      <p:sp>
        <p:nvSpPr>
          <p:cNvPr id="9" name="Shape 6"/>
          <p:cNvSpPr/>
          <p:nvPr/>
        </p:nvSpPr>
        <p:spPr>
          <a:xfrm>
            <a:off x="8412480" y="3044952"/>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641080" y="317296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1" name="Text 8"/>
          <p:cNvSpPr/>
          <p:nvPr/>
        </p:nvSpPr>
        <p:spPr>
          <a:xfrm>
            <a:off x="8641080" y="3575304"/>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2" name="Text 9"/>
          <p:cNvSpPr/>
          <p:nvPr/>
        </p:nvSpPr>
        <p:spPr>
          <a:xfrm>
            <a:off x="10314432" y="3264408"/>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61%</a:t>
            </a:r>
            <a:endParaRPr lang="en-US" sz="3000" dirty="0"/>
          </a:p>
        </p:txBody>
      </p:sp>
      <p:sp>
        <p:nvSpPr>
          <p:cNvPr id="13" name="Shape 10"/>
          <p:cNvSpPr/>
          <p:nvPr/>
        </p:nvSpPr>
        <p:spPr>
          <a:xfrm>
            <a:off x="8412480" y="4215384"/>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4" name="Text 11"/>
          <p:cNvSpPr/>
          <p:nvPr/>
        </p:nvSpPr>
        <p:spPr>
          <a:xfrm>
            <a:off x="8641080" y="434340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5" name="Text 12"/>
          <p:cNvSpPr/>
          <p:nvPr/>
        </p:nvSpPr>
        <p:spPr>
          <a:xfrm>
            <a:off x="8641080" y="4745736"/>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6" name="Text 13"/>
          <p:cNvSpPr/>
          <p:nvPr/>
        </p:nvSpPr>
        <p:spPr>
          <a:xfrm>
            <a:off x="10314432" y="4434840"/>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61%</a:t>
            </a:r>
            <a:endParaRPr lang="en-US" sz="3000" dirty="0"/>
          </a:p>
        </p:txBody>
      </p:sp>
      <p:sp>
        <p:nvSpPr>
          <p:cNvPr id="17" name="Text 14"/>
          <p:cNvSpPr/>
          <p:nvPr/>
        </p:nvSpPr>
        <p:spPr>
          <a:xfrm>
            <a:off x="548640" y="6144768"/>
            <a:ext cx="1106424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Partner share = 10% of every sale. Assumes typical AI usage at the plan allowance and ~5 / 25 / 70 video interviews/mo; monthly card billing (annual lowers the Stripe fee). Platform share amortises toward zero with scale. Realistic usage runs lower, so margins run higher.</a:t>
            </a:r>
            <a:endParaRPr lang="en-US" sz="950" dirty="0"/>
          </a:p>
        </p:txBody>
      </p:sp>
      <p:sp>
        <p:nvSpPr>
          <p:cNvPr id="18" name="Text 15"/>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9" name="Text 16"/>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Cost here includes AI inference, the one-time Stripe fee (min 20-credit top-up) and the 10% partner share. Growth accounts that buy top-ups lift blended margin.</a:t>
            </a:r>
            <a:endParaRPr lang="en-US" sz="1400" dirty="0"/>
          </a:p>
        </p:txBody>
      </p:sp>
      <p:sp>
        <p:nvSpPr>
          <p:cNvPr id="5" name="Shape 3"/>
          <p:cNvSpPr/>
          <p:nvPr/>
        </p:nvSpPr>
        <p:spPr>
          <a:xfrm>
            <a:off x="86868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2471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Screening</a:t>
            </a:r>
            <a:endParaRPr lang="en-US" sz="1550" dirty="0"/>
          </a:p>
        </p:txBody>
      </p:sp>
      <p:sp>
        <p:nvSpPr>
          <p:cNvPr id="7" name="Text 5"/>
          <p:cNvSpPr/>
          <p:nvPr/>
        </p:nvSpPr>
        <p:spPr>
          <a:xfrm>
            <a:off x="112471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82%</a:t>
            </a:r>
            <a:endParaRPr lang="en-US" sz="4600" dirty="0"/>
          </a:p>
        </p:txBody>
      </p:sp>
      <p:sp>
        <p:nvSpPr>
          <p:cNvPr id="8" name="Text 6"/>
          <p:cNvSpPr/>
          <p:nvPr/>
        </p:nvSpPr>
        <p:spPr>
          <a:xfrm>
            <a:off x="112471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9" name="Shape 7"/>
          <p:cNvSpPr/>
          <p:nvPr/>
        </p:nvSpPr>
        <p:spPr>
          <a:xfrm>
            <a:off x="1124712" y="4370832"/>
            <a:ext cx="2871216" cy="0"/>
          </a:xfrm>
          <a:prstGeom prst="line">
            <a:avLst/>
          </a:prstGeom>
          <a:noFill/>
          <a:ln w="12700">
            <a:solidFill>
              <a:srgbClr val="DEDEE3"/>
            </a:solidFill>
            <a:prstDash val="solid"/>
          </a:ln>
        </p:spPr>
      </p:sp>
      <p:sp>
        <p:nvSpPr>
          <p:cNvPr id="10" name="Text 8"/>
          <p:cNvSpPr/>
          <p:nvPr/>
        </p:nvSpPr>
        <p:spPr>
          <a:xfrm>
            <a:off x="112471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RM4.09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RM0.74</a:t>
            </a:r>
            <a:endParaRPr lang="en-US" sz="1300" dirty="0"/>
          </a:p>
        </p:txBody>
      </p:sp>
      <p:sp>
        <p:nvSpPr>
          <p:cNvPr id="11" name="Shape 9"/>
          <p:cNvSpPr/>
          <p:nvPr/>
        </p:nvSpPr>
        <p:spPr>
          <a:xfrm>
            <a:off x="457200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482803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AI Rank / Insight / Q</a:t>
            </a:r>
            <a:endParaRPr lang="en-US" sz="1550" dirty="0"/>
          </a:p>
        </p:txBody>
      </p:sp>
      <p:sp>
        <p:nvSpPr>
          <p:cNvPr id="13" name="Text 11"/>
          <p:cNvSpPr/>
          <p:nvPr/>
        </p:nvSpPr>
        <p:spPr>
          <a:xfrm>
            <a:off x="482803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72%</a:t>
            </a:r>
            <a:endParaRPr lang="en-US" sz="4600" dirty="0"/>
          </a:p>
        </p:txBody>
      </p:sp>
      <p:sp>
        <p:nvSpPr>
          <p:cNvPr id="14" name="Text 12"/>
          <p:cNvSpPr/>
          <p:nvPr/>
        </p:nvSpPr>
        <p:spPr>
          <a:xfrm>
            <a:off x="482803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15" name="Shape 13"/>
          <p:cNvSpPr/>
          <p:nvPr/>
        </p:nvSpPr>
        <p:spPr>
          <a:xfrm>
            <a:off x="4828032" y="4370832"/>
            <a:ext cx="2871216" cy="0"/>
          </a:xfrm>
          <a:prstGeom prst="line">
            <a:avLst/>
          </a:prstGeom>
          <a:noFill/>
          <a:ln w="12700">
            <a:solidFill>
              <a:srgbClr val="DEDEE3"/>
            </a:solidFill>
            <a:prstDash val="solid"/>
          </a:ln>
        </p:spPr>
      </p:sp>
      <p:sp>
        <p:nvSpPr>
          <p:cNvPr id="16" name="Text 14"/>
          <p:cNvSpPr/>
          <p:nvPr/>
        </p:nvSpPr>
        <p:spPr>
          <a:xfrm>
            <a:off x="482803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RM1.64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RM0.46</a:t>
            </a:r>
            <a:endParaRPr lang="en-US" sz="1300" dirty="0"/>
          </a:p>
        </p:txBody>
      </p:sp>
      <p:sp>
        <p:nvSpPr>
          <p:cNvPr id="17" name="Shape 15"/>
          <p:cNvSpPr/>
          <p:nvPr/>
        </p:nvSpPr>
        <p:spPr>
          <a:xfrm>
            <a:off x="827532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8" name="Text 16"/>
          <p:cNvSpPr/>
          <p:nvPr/>
        </p:nvSpPr>
        <p:spPr>
          <a:xfrm>
            <a:off x="853135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Job draft (Opus)</a:t>
            </a:r>
            <a:endParaRPr lang="en-US" sz="1550" dirty="0"/>
          </a:p>
        </p:txBody>
      </p:sp>
      <p:sp>
        <p:nvSpPr>
          <p:cNvPr id="19" name="Text 17"/>
          <p:cNvSpPr/>
          <p:nvPr/>
        </p:nvSpPr>
        <p:spPr>
          <a:xfrm>
            <a:off x="853135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81%</a:t>
            </a:r>
            <a:endParaRPr lang="en-US" sz="4600" dirty="0"/>
          </a:p>
        </p:txBody>
      </p:sp>
      <p:sp>
        <p:nvSpPr>
          <p:cNvPr id="20" name="Text 18"/>
          <p:cNvSpPr/>
          <p:nvPr/>
        </p:nvSpPr>
        <p:spPr>
          <a:xfrm>
            <a:off x="853135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21" name="Shape 19"/>
          <p:cNvSpPr/>
          <p:nvPr/>
        </p:nvSpPr>
        <p:spPr>
          <a:xfrm>
            <a:off x="8531352" y="4370832"/>
            <a:ext cx="2871216" cy="0"/>
          </a:xfrm>
          <a:prstGeom prst="line">
            <a:avLst/>
          </a:prstGeom>
          <a:noFill/>
          <a:ln w="12700">
            <a:solidFill>
              <a:srgbClr val="DEDEE3"/>
            </a:solidFill>
            <a:prstDash val="solid"/>
          </a:ln>
        </p:spPr>
      </p:sp>
      <p:sp>
        <p:nvSpPr>
          <p:cNvPr id="22" name="Text 20"/>
          <p:cNvSpPr/>
          <p:nvPr/>
        </p:nvSpPr>
        <p:spPr>
          <a:xfrm>
            <a:off x="853135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RM2.05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RM0.39</a:t>
            </a:r>
            <a:endParaRPr lang="en-US" sz="1300" dirty="0"/>
          </a:p>
        </p:txBody>
      </p:sp>
      <p:sp>
        <p:nvSpPr>
          <p:cNvPr id="23" name="Text 21"/>
          <p:cNvSpPr/>
          <p:nvPr/>
        </p:nvSpPr>
        <p:spPr>
          <a:xfrm>
            <a:off x="548640" y="5577840"/>
            <a:ext cx="109728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Cost = AI inference + Stripe (3% + RM1 per top-up, min 20 credits) + 10% partner share. Even after all three, top-ups stay the highest-margin revenue at 70%+.</a:t>
            </a:r>
            <a:endParaRPr lang="en-US" sz="1100" dirty="0"/>
          </a:p>
        </p:txBody>
      </p:sp>
      <p:sp>
        <p:nvSpPr>
          <p:cNvPr id="24"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25"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RM49,900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RM124,785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RM288,540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RM7,485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RM18,718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RM43,281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RM57,385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RM143,503</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RM331,821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RM689K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RM1.72M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RM3.98M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RM1.72M</a:t>
            </a:r>
            <a:endParaRPr lang="en-US" sz="40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221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RM649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~62% </a:t>
            </a:r>
            <a:pPr algn="l" indent="0" marL="0">
              <a:buNone/>
            </a:pPr>
            <a:r>
              <a:rPr lang="en-US" sz="1300" dirty="0">
                <a:solidFill>
                  <a:srgbClr val="CADCFC"/>
                </a:solidFill>
                <a:latin typeface="Calibri" pitchFamily="34" charset="0"/>
                <a:ea typeface="Calibri" pitchFamily="34" charset="-122"/>
                <a:cs typeface="Calibri" pitchFamily="34" charset="-120"/>
              </a:rPr>
              <a:t>blended all-in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Enterprise is a custom plan with no list price; modelled here at an assumed ~RM6,000/mo for the scenario only. ARR is gross revenue; the 10% partner share is captured in the margins on slide 10. Adjust mix, Enterprise deal size, and top-up rate as pricing is finalised.</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(RM99 / RM599 / RM1,399)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Set the Enterprise floor and what the premium buys (SSO, audit, white-label).</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Costs are modeled from provider pricing, not yet measured from live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AI is billed in USD (≈ RM4.09); a weaker ringgit raises real cost of goods.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Video (Daily.co) is the next-largest cost after AI; interview-heavy Elite accounts compress margin.</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pic>
        <p:nvPicPr>
          <p:cNvPr id="4" name="Image 0" descr="preencoded.png">    </p:cNvPr>
          <p:cNvPicPr>
            <a:picLocks noChangeAspect="1"/>
          </p:cNvPicPr>
          <p:nvPr/>
        </p:nvPicPr>
        <p:blipFill>
          <a:blip r:embed="rId1"/>
          <a:stretch>
            <a:fillRect/>
          </a:stretch>
        </p:blipFill>
        <p:spPr>
          <a:xfrm>
            <a:off x="777240" y="621792"/>
            <a:ext cx="1874520" cy="453009"/>
          </a:xfrm>
          <a:prstGeom prst="rect">
            <a:avLst/>
          </a:prstGeom>
        </p:spPr>
      </p:pic>
      <p:sp>
        <p:nvSpPr>
          <p:cNvPr id="5" name="Text 2"/>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3"/>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4"/>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5"/>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6"/>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7"/>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8"/>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9"/>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0"/>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2026-08-11T02:17:33Z</dcterms:created>
  <dcterms:modified xsi:type="dcterms:W3CDTF">2026-08-11T02:17:33Z</dcterms:modified>
</cp:coreProperties>
</file>